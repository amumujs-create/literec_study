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</a:rPr>
              <a:t>외삽 완전 정복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이론 → 현상 → 적응 → 실전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맑은 고딕"/>
              </a:rPr>
              <a:t>엄밀한 측정(Hull·Extra R²) · 구조(MoE·Adapter) · 적응(TTA)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맑은 고딕"/>
              </a:rPr>
              <a:t>핵심 메시지: 외삽은 피할 수 없다. 측정 + 구조 + 적응으로 방어한다.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맑은 고딕"/>
              </a:rPr>
              <a:t>v4 | 50분 · 국민대 IE Lab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왜 지금 외삽인가  ·  산업·센서·극한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동기 프레임 (학술 정의는 Pfister 2024 · OOD는 Ye/Liu)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공정·센서·극한 조건은 항상 train 범위를 벗어난다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운영 조건(부하·온도·수명 구간)은 실험실 train 분포와 다름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일반 ML/DL은 train 분포 안에서 최적화된 모델 → 범위 밖은 ‘보너스’가 아님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범위 밖 예측을 그냥 연장하면 오차·위험 급증 (다변량 CI 붕괴: Bartley 2019 보조)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오늘 흐름: 측정(Hull) → 현상(OOD/spurious) → 한계(ReLU·PINN) → 해법(MoE·Adapter·TTA) → 실전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Pfister2024 · Ye2021 · Bartley2019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도입 — 외삽은 선택이 아니라 운영 현실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123831"/>
            <a:ext cx="6509547" cy="3552168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발표 로드맵  ·  50분 스토리라인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outline_v4 — 하이브리드(Hull·OOD·구조·적응)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측정 → 현상 → 한계 → MoE/Adapter/TTA → Extra R² / strict holdout</a:t>
            </a:r>
          </a:p>
        </p:txBody>
      </p:sp>
      <p:pic>
        <p:nvPicPr>
          <p:cNvPr id="9" name="Picture 8" descr="storylin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136531"/>
            <a:ext cx="6484147" cy="3526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9907" y="1572768"/>
            <a:ext cx="5140619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Part 0 (8′): Hull · 보간/외삽 · UQ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Part 1 (10′): OOD · ERM 실패 · Flip/Regime · IRM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Part 2 (5′): ReLU · PINN 한계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Part 3 (15′): MoE · Adapter · TTA ← 핵심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Part 4–5 (12′): Extra R² · N-CMAPSS ·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시간 배분: 해법(Part 3)에 가장 많이 투자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382191"/>
            <a:ext cx="7099015" cy="3035449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보간 ≠ 외삽  ·  Convex Hull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Pfister &amp; Bühlmann (2024) · Fig.2 — Extrapolation-aware nonparametric 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train convex hull 안 = 보간, 밖 = 외삽</a:t>
            </a:r>
          </a:p>
        </p:txBody>
      </p:sp>
      <p:pic>
        <p:nvPicPr>
          <p:cNvPr id="9" name="Picture 8" descr="pfister_extrapolation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394891"/>
            <a:ext cx="7073615" cy="30100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39375" y="1572768"/>
            <a:ext cx="4551151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보간: 추가 가정 없이 조건부기댓값을 논할 수 있는 영역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외삽: hull 밖 — 추정·예측이 본질적으로 어려워짐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test가 hull 안이면 ‘외삽 성공’이라고 부르면 안 됨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실무: 먼저 ‘어디가 밖인가’를 정의해야 평가가 성립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Pfister2024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Pfister &amp; Bühlmann (2024) Fig.2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6151727" y="2025250"/>
            <a:ext cx="5851499" cy="2353224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8468" y="1560068"/>
            <a:ext cx="4886103" cy="328359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Convex Hull + UQ  ·  고차원 · 외삽 오차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Bonnasse-Gahot et al. (2022) Fig.1 · Pfister &amp; Bühlmann (2024) Fig.3 · (보조) Bartley 2019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고차원일수록 hull 밖이 다수 · 외삽 구간에서 오차·불확실성 폭증</a:t>
            </a:r>
          </a:p>
        </p:txBody>
      </p:sp>
      <p:pic>
        <p:nvPicPr>
          <p:cNvPr id="9" name="Picture 8" descr="bonnasse_convex_hull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72768"/>
            <a:ext cx="4860703" cy="3258190"/>
          </a:xfrm>
          <a:prstGeom prst="rect">
            <a:avLst/>
          </a:prstGeom>
        </p:spPr>
      </p:pic>
      <p:pic>
        <p:nvPicPr>
          <p:cNvPr id="11" name="Picture 10" descr="pfister_rmse_extrap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427" y="2037950"/>
            <a:ext cx="5826099" cy="2327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" y="4885822"/>
            <a:ext cx="97776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Bonnasse: 내재 공간 hull ≠ 임베딩 공간 hull (A–D)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Pfister: 외삽 거리↑ → RMSE / UQ 폭↑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다변량 CI는 쉽게 붕괴 (Bartley 보조 인용)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Bonnasse-Gahot2022 · Pfister2024 · Bartley2019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Bonnasse-Gahot et al. (2022) Fig.1 · Pfister &amp; Bühlmann (2024) Fig.3 · (보조) Bartley 2019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OOD 물리/구조 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분포 이동 · ERM 실패 · spurious · regime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081937"/>
            <a:ext cx="6863228" cy="3635957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OOD란?  ·  Out-of-Distribution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Liu et al. (2023) — Out-of-Distribution Generalization survey (정의·분류)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train과 다른 test 분포 = OOD</a:t>
            </a:r>
          </a:p>
        </p:txBody>
      </p:sp>
      <p:pic>
        <p:nvPicPr>
          <p:cNvPr id="9" name="Picture 8" descr="ood_shif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094637"/>
            <a:ext cx="6837828" cy="361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P_test ≠ P_train 이면 OOD (세부 유형은 아래 장표)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외삽과 직결: covariate shift — 입력 지지가 이동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산업 데이터: 센서/운전점 이동이 곧 OOD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‘정확도 높음’만으로는 OOD 안전성을 보장하지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Liu2023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Liu et al. (2023) OOD Survey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1944439"/>
            <a:ext cx="6863228" cy="3910952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Covariate Shift vs Concept Drift  ·  분포 이동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Liu et al. (2023) survey 정리 · (서적) Quinonero-Candela 2009는 비공개 → survey로 대체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P(X) 변화 vs P(Y|X) 변화 — 대응 전략이 달라진다</a:t>
            </a:r>
          </a:p>
        </p:txBody>
      </p:sp>
      <p:pic>
        <p:nvPicPr>
          <p:cNvPr id="9" name="Picture 8" descr="distribution_shif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957139"/>
            <a:ext cx="6837828" cy="3885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Covariate shift: 입력 분포만 이동 — Hull/외삽과 가장 직접 연결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Label / concept shift: 라벨 규칙 자체가 변화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운영: 두 유형이 섞여 나타남 → 단일 ‘보정’으로 해결하기 어려움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오늘 해법(MoE·Adapter·TTA)은 주로 covariate/regime 이동을 겨냥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Liu2023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Liu et al. (2023) survey 정리 · (서적) Quinonero-Candela 2009는 비공개 → survey로 대체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1560068"/>
            <a:ext cx="4770560" cy="467969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ERM이 OOD에서 실패  ·  평균 최적 ≠ 환경 일반화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Ye et al. (2021) Fig.2 · 관련: Krueger et al. (2021) Risk Extrapolation (REx)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train 평균 손실 최소화 ≠ 다른 도메인/환경에서의 성공</a:t>
            </a:r>
          </a:p>
        </p:txBody>
      </p:sp>
      <p:pic>
        <p:nvPicPr>
          <p:cNvPr id="9" name="Picture 8" descr="ye_ood_failure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72768"/>
            <a:ext cx="4745160" cy="4654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ERM은 관측된 train 환경의 평균에 맞춰짐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도메인/환경이 바뀌면 같은 feature라도 성능이 붕괴할 수 있음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REx: 환경 간 risk를 맞추려는 방향 (보조 인용)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실무 함의: in-distribution CV 점수만 보고 배포하면 위험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Ye2021 · Krueger2021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Ye et al. (2021) · Krueger et al. (2021)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617333"/>
            <a:ext cx="6863228" cy="2565164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Partial Correlation Flip  ·  환경이 바뀌면 부호가 뒤집힐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개념 정리 — Yuan et al. (2022) mechanism/environment · Arjovsky IRM spurious · Schölkopf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정상 regime에서 보인 상관이 극한 regime에서 역전될 수 있다</a:t>
            </a:r>
          </a:p>
        </p:txBody>
      </p:sp>
      <p:pic>
        <p:nvPicPr>
          <p:cNvPr id="9" name="Picture 8" descr="v4_correlation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630033"/>
            <a:ext cx="6837828" cy="25397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단일 전역 회귀/NN은 ‘평균 상관’을 학습하기 쉬움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Flip이 있는 구간을 섞어 학습하면 상쇄·왜곡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해결 방향: regime 분할(MoE) 또는 불변 표현(IRM 계열)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※ 수치 예시는 도메인별로 별도 검증 필요 (이 장표는 개념)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Yuan2022 · Arjovsky2019 · Scholkopf2021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Yuan 2022 · IRM 2019 (개념도)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1560068"/>
            <a:ext cx="5680040" cy="467969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Spurious correlation  ·  IRM · Colored MNIST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Arjovsky et al. (2019) — Invariant Risk Minimization · Fig.3 (Colored MNIST 설정)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우연 상관(색–라벨)을 배우면 환경이 바뀌는 순간 붕괴한다</a:t>
            </a:r>
          </a:p>
        </p:txBody>
      </p:sp>
      <p:pic>
        <p:nvPicPr>
          <p:cNvPr id="9" name="Picture 8" descr="irm_fig3_colored_mnist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72768"/>
            <a:ext cx="5654640" cy="4654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Train: 색이 라벨과 강하게 상관 → ERM이 색을 암기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Test: 색–라벨 상관이 바뀌면 정확도 급락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IRM 메시지: 환경마다 변하지 않는 예측기를 찾자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산업 비유: 센서 drift·운전점이 ‘색’ 역할 → spurious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Arjovsky2019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Arjovsky et al. (2019) Fig.3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6151727" y="2315248"/>
            <a:ext cx="5851499" cy="1773229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8468" y="1560068"/>
            <a:ext cx="3134876" cy="328359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Regime / Mechanism Shift  ·  환경 파라미터 s가 바뀌면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Yuan et al. (2022) Fig.1 · (시계열) Wu (2025) OOD Time Series survey · 우: 개념도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동일 과제라도 환경(s)·regime이 바뀌면 입·출력 통계가 함께 이동</a:t>
            </a:r>
          </a:p>
        </p:txBody>
      </p:sp>
      <p:pic>
        <p:nvPicPr>
          <p:cNvPr id="9" name="Picture 8" descr="yuan_ood_mechanics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72768"/>
            <a:ext cx="3109476" cy="3258190"/>
          </a:xfrm>
          <a:prstGeom prst="rect">
            <a:avLst/>
          </a:prstGeom>
        </p:spPr>
      </p:pic>
      <p:pic>
        <p:nvPicPr>
          <p:cNvPr id="11" name="Picture 10" descr="v4_regime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427" y="2327948"/>
            <a:ext cx="5826099" cy="17478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" y="4885822"/>
            <a:ext cx="97776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Train env ≠ Test env → mechanism shift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시계열/공정: 저부하→고부하 전이가 비선형일 수 있음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맑은 고딕"/>
              </a:rPr>
              <a:t>단일 전역 모델 취약 → 분할·적응 해법으로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Yuan2022 · Wu2025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Yuan et al. (2022) Fig.1 · (시계열) Wu (2025) OOD Time Series survey · 우: 개념도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왜 단순 모델로는 부족한가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ReLU · PINN — 구조 없이는 외삽이 깨진다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188468" y="3598840"/>
            <a:ext cx="11037519" cy="2147487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ReLU MLP 외삽 실패  ·  조각별 직선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Xu et al. (2021) ICLR — How Neural Networks Extrapolate · Fig.1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훈련 영역(파란 영역) 밖에서는 ReLU MLP가 조각별 affine으로 직선 연장된다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096639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학습 구간에서는 복잡한 곡면도 근사 가능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hull 밖: 마지막 선형 조각이 무한히 연장 → 목표 함수와 어긋남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‘더 깊게’만으로는 외삽 형태가 자동으로 좋아지지 않음</a:t>
            </a:r>
          </a:p>
        </p:txBody>
      </p:sp>
      <p:pic>
        <p:nvPicPr>
          <p:cNvPr id="10" name="Picture 9" descr="xu_relu_extrapolation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3611540"/>
            <a:ext cx="11012119" cy="21220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Xu2021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Xu et al. (2021) ICLR — How Neural Networks Extrapolate · Fig.1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860347"/>
            <a:ext cx="6863228" cy="207913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PINN도 외삽에서 깨짐  ·  물리 제약이 만능은 아님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Fesser et al. (2023) Fig.1 · PINN 원형: Raissi et al. (2019)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물리 손실을 넣어도 외삽 구간 잔차·오차가 급증할 수 있다</a:t>
            </a:r>
          </a:p>
        </p:txBody>
      </p:sp>
      <p:pic>
        <p:nvPicPr>
          <p:cNvPr id="9" name="Picture 8" descr="fesser_pinn_failure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873047"/>
            <a:ext cx="6837828" cy="2053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PINN: PDE/물리 잔차를 loss에 포함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그래도 학습 지지 밖에서는 해가 불안정해질 수 있음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함의: ‘제약만’이 아니라 평가·분할·적응이 함께 필요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다음: MoE(분할) · Adapter(잔차) · TTA(적응)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Fesser2023 · Raissi2019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Fesser 2023 · Raissi 2019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3053539"/>
            <a:ext cx="6509547" cy="1692752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해법 예고  ·  세 축으로 방어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모듈별 근거 — MoE: Shazeer 2017 · Adapter: Rebuffi 2017 · TTA: Wang 2021 (Tent)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분할(MoE) · 잔차(Adapter) · 적응(TTA) — Part 3에서 논문 Figure로 확인</a:t>
            </a:r>
          </a:p>
        </p:txBody>
      </p:sp>
      <p:pic>
        <p:nvPicPr>
          <p:cNvPr id="9" name="Picture 8" descr="v4_solution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3066239"/>
            <a:ext cx="6484147" cy="1667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9907" y="1572768"/>
            <a:ext cx="5140619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MoE: regime별로 다른 Expert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Adapter: 공유 backbone + 작은 잔차만 학습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TTA: 배포 후 unlabeled stream에서 소수 파라미터 적응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결합은 설계 제안 — 결합 Extra R² 우위는 이 자료에서 주장하지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Shazeer2017 · Rebuffi2017 · Wang2021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Part 3 예고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해법 딥다이브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MoE · Adapter · TTA — 역할 분담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927856"/>
            <a:ext cx="7334802" cy="1944118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결합 아키텍처 (제안)  ·  역할 분담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제안 구조 — 개별 모듈만 논문 근거 (Shazeer / Rebuffi / Wang Tent)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Gating → Expert + Residual Adapter → (고엔트로피 시) Tent-style TTA</a:t>
            </a:r>
          </a:p>
        </p:txBody>
      </p:sp>
      <p:pic>
        <p:nvPicPr>
          <p:cNvPr id="9" name="Picture 8" descr="v4_combin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940556"/>
            <a:ext cx="7309402" cy="19187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75162" y="1572768"/>
            <a:ext cx="4315364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입력 x → Gating이 regime/expert 선택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선택된 Expert + 해당 Adapter로 예측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불확실/OOD면 TTA로 BN 등 소수 파라미터만 업데이트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비교 시 항상 ERM baseline 포함 (DomainBed)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Shazeer2017 · Rebuffi2017 · Wang2021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설계 제안 · 모듈별 논문 근거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151526"/>
            <a:ext cx="6863228" cy="3496778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MoE 원리  ·  Sparsely-Gated MoE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Shazeer et al. (2017) — Outrageously Large Neural Networks · Fig.1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Gating이 Expert를 선택 · Sparse 조건부 계산으로 용량을 나눈다</a:t>
            </a:r>
          </a:p>
        </p:txBody>
      </p:sp>
      <p:pic>
        <p:nvPicPr>
          <p:cNvPr id="9" name="Picture 8" descr="shazeer_moe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164226"/>
            <a:ext cx="6837828" cy="34713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입력마다 소수 Expert만 활성화 (sparse)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regime/패턴별로 다른 함수를 학습하기 유리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외삽 관점: ‘전 구간 단일 모델’ 부담을 분할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원 논문 맥락은 대규모 언어/번역 — 아이디어를 공정 외삽에 이식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Shazeer2017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Shazeer et al. (2017) Fig.1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637175"/>
            <a:ext cx="6863228" cy="252548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MoE 함정  ·  Gating이 틀리면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Shazeer et al. (2017) — load balancing / expert utilization 이슈 · Fig.2(관련)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Gating이 OOD에서 잘못 고르면 Expert 선택 자체가 위험하다</a:t>
            </a:r>
          </a:p>
        </p:txBody>
      </p:sp>
      <p:pic>
        <p:nvPicPr>
          <p:cNvPr id="9" name="Picture 8" descr="shazeer_moe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649875"/>
            <a:ext cx="6837828" cy="250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Expert collapse / load imbalance — 학습 자체가 깨질 수 있음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train에 없던 regime → gating 오분류 가능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MoE만으로 ‘외삽 해결’이라 말하기 어려움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→ Adapter(미세 보정) · TTA(배포 후 적응)와 역할 분담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Shazeer2017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Shazeer et al. (2017)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775622"/>
            <a:ext cx="7334802" cy="224858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Residual Adapter  ·  작은 잔차만 학습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Rebuffi, Bilen, Vedaldi (2017) — Learning multiple visual domains with residual adapters · Fig.2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공유 backbone(w)은 고정하고, 파란 adapter 파라미터만 도메인별로 학습</a:t>
            </a:r>
          </a:p>
        </p:txBody>
      </p:sp>
      <p:pic>
        <p:nvPicPr>
          <p:cNvPr id="9" name="Picture 8" descr="rebuffi_adapt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788322"/>
            <a:ext cx="7309402" cy="22231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75162" y="1572768"/>
            <a:ext cx="4315364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Visual Decathlon: 다중 도메인에서 residual adapter로 조향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장점: full fine-tune 대비 파라미터·안정성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외삽/새 regime: 작은 adapter 추가로 보정하는 설계에 대응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한계: regime·도메인 구분이 애매하면 부착 전략이 어려움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Rebuffi2017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Rebuffi et al. (2017) Fig.2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Adapter × Regime  ·  MoE expert와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설계 연결 — Rebuffi 2017(잔차) · Shazeer 2017(분할) · 결합은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새 regime ≈ 작은 adapter (또는 expert 헤드) 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MoE: 큰 용량을 expert로 분할 — ‘어느 함수’를 쓸지 선택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Adapter: 공유 표현 위에 가벼운 잔차 보정 — ‘얼마나 조향’할지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실무 설계: gating/regime 추정 → 해당 expert·adapter 활성화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둘 다 전 모델 재학습을 피하려는 방향 (각 논문 설정에서 검증)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주의: ‘MoE+Adapter가 항상 이긴다’는 실험 결과는 아직 이 자료의 증거가 아님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Rebuffi2017 · Shazeer2017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설계 연결 — Rebuffi 2017(잔차) · Shazeer 2017(분할) · 결합은 제안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782643"/>
            <a:ext cx="6863228" cy="2234544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TTA — Tent  ·  Test-time Entropy Minimization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Wang et al. (2021) — Tent: Fully Test-Time Adaptation by Entropy Minimization · Fig.1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라벨 없는 test stream에서 entropy를 낮추도록 소수 파라미터를 적응</a:t>
            </a:r>
          </a:p>
        </p:txBody>
      </p:sp>
      <p:pic>
        <p:nvPicPr>
          <p:cNvPr id="9" name="Picture 8" descr="wang_tent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795343"/>
            <a:ext cx="6837828" cy="2209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고엔트로피 ≈ 모델이 불확실한 영역 (오차와 상관)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주로 BN 통계/affine 등 소수 파라미터만 업데이트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배포 후 분포 이동에 대응하는 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외삽 운영: Hull/OOD 경보와 결합해 on/off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Wang2021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Wang et al. (2021) Tent Fig.1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730229"/>
            <a:ext cx="6863228" cy="2339372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TTA 한계  ·  적응은 공짜가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Wang et al. (2021) Tent · Fig.3 및 논문 논의 · 실무 제약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latency · forgetting · noisy stream — 켜는 조건을 명시해야 한다</a:t>
            </a:r>
          </a:p>
        </p:txBody>
      </p:sp>
      <p:pic>
        <p:nvPicPr>
          <p:cNvPr id="9" name="Picture 8" descr="wang_tent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742929"/>
            <a:ext cx="6837828" cy="23139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매 배치 업데이트 → 지연·불안정 가능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긴 스트림에서 이전 적응을 잊을 수 있음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노이즈·이상치에 entropy 신호가 오염되면 오적응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실무 규칙: 고엔트로피/OOD 경보 시에만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Wang2021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Wang et al. (2021) Tent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왜 셋이 필요한가  ·  역할 분담 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MoE: Shazeer 2017 · Adapter: Rebuffi 2017 · TTA: Wang 2021 · ERM 비교: Gulrajani &amp; Lopez-Paz 2020 DomainBed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비교 실험에는 항상 ERM baseline을 넣는다 (DomainBed 원칙)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1168" y="1572768"/>
          <a:ext cx="117893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7339"/>
                <a:gridCol w="2947339"/>
                <a:gridCol w="2947339"/>
                <a:gridCol w="2947342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푸는 문제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실패 모드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근거 논문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MoE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단일 모델 전 regime 과적합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gating 오분류 ·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Shazeer 2017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full fine-tune 비용·불안정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regime 라벨 애매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Rebuffi 2017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배포 후 분포 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latency · drift · 오적응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Wang 2021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공정 비교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spurious 암기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맑은 고딕"/>
                        </a:rPr>
                        <a:t>Gulrajani 2020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Shazeer2017 · Rebuffi2017 · Wang2021 · Gulrajani2020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Gulrajani &amp; Lopez-Paz (2020) DomainBed — ERM을 빼면 주장을 믿기 어렵다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실험·검증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평가 철학 · Extra R² · N-CMAPSS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975505"/>
            <a:ext cx="6863228" cy="184882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평가 철학  ·  random split의 함정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Ye et al. (2021) · Pfister &amp; Bühlmann (2024) · Gulrajani &amp; Lopez-Paz (2020) DomainBed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random split만으로는 보간 평가일 수 있다 — holdout 축과 hull을 명시</a:t>
            </a:r>
          </a:p>
        </p:txBody>
      </p:sp>
      <p:pic>
        <p:nvPicPr>
          <p:cNvPr id="9" name="Picture 8" descr="v4_eval_philos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988205"/>
            <a:ext cx="6837828" cy="18234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Holdout 축: 고부하 · late cycle · 미관측 unit 등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Train hull 밖 test를 따로 리포트 (Pfister)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OOD 주장 시 ERM과 동일 HP·모델로 비교 (DomainBed)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Ablation: 모듈을 하나씩 켠 결과만 ‘기여’로 인정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Ye2021 · Pfister2024 · Gulrajani2020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평가 설계 원칙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Extra R²  ·  순수 외삽 구간 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운영 지표 정의 — 정신은 Pfister(hull) · Ye(OOD 실험) · 수식은 랩 프로토콜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전체 R²와 별도로, hull 밖(또는 holdout 축)만의 R²를 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운영 정의: Extra R² = R²( { (x,y) | x ∉ Conv(X_train) } 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또는 프로토콜 holdout 축(예: 고 TRA · strict_late)만 사용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전체 R²↑ 만으로 외삽 성공을 주장하지 않음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체크리스트: Holdout 축 · Hull 밖 · ERM baseline · Ablation · Flip/Regime 구간별 리포트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※ 아래 N-CMAPSS는 이 철학을 적용한 랩 실험 예시 (공개 논문 수치 아님)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Pfister2024 · Ye2021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운영 지표 정의 — 정신은 Pfister(hull) · Ye(OOD 실험) · 수식은 랩 프로토콜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데이터셋 · Holdout 축  ·  무엇을 막을지 먼저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일반론: Ye / Pfister · 적용 예: N-CMAPSS (랩 프로토콜)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벤치마크마다 holdout 축이 있어야 ‘외삽 실험’이 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공개 벤치 예: 부하/온도 구간 holdout (UCI Naval / CCPP 등 — 축만 정의하면 됨)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본 랩: N-CMAPSS — TRA(고부하) · unit · strict_late holdout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Train: 저 TRA / Test: 고 TRA → covariate shift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random unit split만 하면 보간에 가까운 평가가 될 수 있음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Naval/CCPP 수치 비교표는 이 자료에서 확정 결과로 제시하지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Ye2021 · Pfister2024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일반론: Ye / Pfister · 적용 예: N-CMAPSS (랩 프로토콜)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208875"/>
            <a:ext cx="6863228" cy="3382081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N-CMAPSS 결과 예시  ·  랩 실험 (APEX-Guard)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랩 내부 strict_extrap — 공개 논문 수치 아님 · MoE+TTA 결합 승리가 아님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strict holdout에서 구조·제약 모델 vs 강한 in-dist 모델</a:t>
            </a:r>
          </a:p>
        </p:txBody>
      </p:sp>
      <p:pic>
        <p:nvPicPr>
          <p:cNvPr id="9" name="Picture 8" descr="ncmapss_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221575"/>
            <a:ext cx="6837828" cy="33566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3588" y="1572768"/>
            <a:ext cx="478693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목적: ‘엄밀한 holdout이 순위를 바꾼다’는 교훈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in-dist에 강한 모델이 OOD에서 질 수 있음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MoE+Adapter+TTA 결합 Extra R² 우위는 추가 실험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랩 내부 strict_extrap — 공개 논문 수치 아님 · MoE+TTA 결합 승리가 아님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실전 교훈  ·  측정이 모델보다 먼저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평가 철학 + 랩 사례 정리 · 결합 Extra R² 우위는 미주장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strict split 없으면 승리는 환상이다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L1: strict holdout으로 ‘순수 외삽’ 구간을 정의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L2: 도메인 지식 제약(단조·물리)으로 구조를 박음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L3: 배포 후 적응(TTA)은 옵션 — 켜는 조건을 명시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다음 실험: Naval/CCPP·N-CMAPSS에서 MoE / Adapter / TTA ablation + Extra R²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오늘 주장: 측정 프로토콜 + 역할 분담 설계 — ‘결합 완승’ 아님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Pfister2024 · Ye2021 · Gulrajani2020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평가 철학 + 랩 사례 정리 · 결합 Extra R² 우위는 미주장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Takeaways · 필독 · Q&amp;A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Key Takeaways  ·  네 줄로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Pfister · Ye/IRM/Yuan · Shazeer/Rebuffi/Wang · DomainBed/Extra R²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측정 + 현상 이해 + 구조/적응 + 엄밀한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맑은 고딕"/>
              </a:rPr>
              <a:t>① Hull: 보간≠외삽 — hull 밖을 따로 측정 (Pfister 2024)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맑은 고딕"/>
              </a:rPr>
              <a:t>② Spurious/Regime: 환경이 바뀌면 상관·역학이 흔들림 (IRM · Yuan)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맑은 고딕"/>
              </a:rPr>
              <a:t>③ MoE·Adapter·TTA: 분할·잔차·적응 — 각각 논문으로 검증된 역할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맑은 고딕"/>
              </a:rPr>
              <a:t>④ Extra R² / strict holdout: 전체 R²만 보고 외삽 성공을 말하지 말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Pfister2024 · Arjovsky2019 · Shazeer2017 · Xu2021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한계·Future는 다음 장표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한계 · Future  ·  오늘 주장하지 않은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열린 문제 — Tent latency · MoE gating OOD · Adapter 라벨 · 인과(Schölkopf)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결합 파이프라인의 대규모 Extra R² 우위는 아직 이 자료의 증거가 아님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TTA: latency · forgetting · noisy stream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MoE: Gating OOD 오분류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Adapter: 부착을 위한 regime 라벨 문제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인과 표현(Schölkopf 2021)과의 결합은 열린 문제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다음: Naval/CCPP·N-CMAPSS ablation + Extra R² + Flip 구간 리포트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Wang2021 · Shazeer2017 · Rebuffi2017 · Scholkopf2021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열린 문제 — Tent latency · MoE gating OOD · Adapter 라벨 · 인과(Schölkopf)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필독 논문 Top 8  ·  슬라이드 주장의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필수 8편 + 보조 · EQL/NALU/Monotonic은 구조 외삽 보조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발표에서 쓴 주장은 아래 논문으로만 뒷받침한다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1 Pfister 2024 — Hull·외삽 정의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2 Xu 2021 — ReLU MLP 외삽 한계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3 Ye 2021 — OOD framework / ERM 실패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4 Arjovsky 2019 — IRM / spurious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5 Shazeer 2017 — Sparse MoE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6 Wang 2021 — Tent (TTA)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7 Rebuffi 2017 — Residual Adapters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8 Gulrajani 2020 — DomainBed / ERM baseline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보조: Bonnasse-Gahot · Fesser · Yuan · Bartley · Krueger REx · Raissi · Liu survey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구조 NN 보조(필독 강등): Martius EQL · Trask NALU · Runje Monotonic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→ 다음 슬라이드에서 필수 8편 PDF 전부 더블클릭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E7490"/>
                </a:solidFill>
                <a:latin typeface="맑은 고딕"/>
              </a:rPr>
              <a:t>PDF: ppt_v3/papers/ · Pfister2024 · Xu2021 · Ye2021 · Arjovsky2019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다음 슬라이드: PDF 더블클릭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필독 논문 PDF (필수 8)  ·  아이콘 더블클릭 → 원문 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필수 8편 — 각 콘텐츠 장표에도 동일 PDF가 첨부되어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발표 중에도 우하단 PDF 아이콘으로 바로 열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1. Pfister 2024
Hull·외삽 정의
→ papers/Pfister2024_Extrapolation-Aware_Nonparametric_Inference.pdf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2. Xu 2021
NN 외삽 한계
→ papers/Xu2021_How_Neural_Networks_Extrapolate.pdf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3. Ye 2021
OOD·ERM 실패
→ papers/Ye2021_Theoretical_Framework_OOD.pdf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920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4. Arjovsky 2019
IRM / spurious
→ papers/Arjovsky2019_Invariant_Risk_Minimization.pdf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9776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5. Shazeer 2017
Sparse MoE
→ papers/Shazeer2017_Sparsely_Gated_MoE.pdf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9776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6. Wang 2021
Tent TTA
→ papers/Wang2021_Tent_Test_Time_Adaptation.pdf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9776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7. Rebuffi 2017
Residual Adapter
→ papers/Rebuffi2017_Residual_Adapters.pdf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9776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8. Gulrajani 2020
DomainBed / ERM
→ papers/Gulrajani2020_In_Search_of_Lost_Domain_Generalization.pdf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복사본: ppt_v3/papers/  (GitHub용: OLE 미첨부)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보조 인용 논문 PDF  ·  경로: ppt_v3/papers/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0F766E"/>
                </a:solidFill>
                <a:latin typeface="맑은 고딕"/>
              </a:rPr>
              <a:t>SOURCE  Bonnasse · Fesser · Yuan · Liu · REx · Bartley · Raissi · Wu · Schölkopf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콘텐츠 장표 SOURCE에 나온 보조 논문도 여기에 모음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7451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Bonnasse 2022
Convex Hull
→ Bonnasse-Gahot2022_Interpolation_Extrapolation_NN.pdf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Fesser 2023
PINN 외삽 실패
→ Fesser2023_Extrapolation_Failures_PINNs.pdf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187451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Yuan 2022
OOD Mechanics
→ Yuan2022_OOD_Mechanics.pdf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9" y="187451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Liu 2023
OOD Survey
→ Liu2023_OOD_Generalization_Survey.pdf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187451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Krueger 2021
REx
→ Krueger2021_Risk_Extrapolation_REx.pdf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2335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Bartley 2019
다변량 CI
→ Bartley2019_Characterizing_Extrapolation_Multivariate.pdf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02335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Raissi 2019
PINN
→ Raissi2019_Physics_Informed_Neural_Networks.pdf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402335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Wu 2025
OOD Time Series
→ Wu2025_OOD_Time_Series_Survey.pdf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402335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406E"/>
                </a:solidFill>
                <a:latin typeface="맑은 고딕"/>
              </a:rPr>
              <a:t>Schölkopf 2021
인과 표현
→ Scholkopf2021_Toward_Causal_Representation_Learning.pdf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맑은 고딕"/>
              </a:rPr>
              <a:t>총 17편 · ppt_v3/papers/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383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맑은 고딕"/>
              </a:rPr>
              <a:t>질문 · 토론 · 다음 실험 아이디어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