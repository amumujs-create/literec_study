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오프닝 30초. 오늘 목표: 외삽이 왜 어려운지 → 어떻게 방어하는지 → 실전 적용으로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핵심 메시지: '잘 맞는 테스트'가 보간일 수 있다. 외삽은 별도 프로토콜이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30초. 시간 배분 고지. Part3가 가장 김. Part4에서 우리 실험 숫자.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그림 (a)보간 (b)외삽 (c)hull. test∈hull이면 보간 평가.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그림 가리키며 훈련 범위/외삽 영역 구분. 차수 올릴수록 밖이 더 위험.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2.5분. 발표 핵심 슬라이드. Pfister '가정 없이 식별 불가'로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(A)온도분포 (B)기상클러스터 (C)confidence≠accuracy.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2.5분. Pfister: 가정 없으면 밖은 식별 불가. 물리 제약이 왜 등장하는지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X 표시가 외삽. 실전에선 특정 운용축이 이 X에 해당.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그림(a)(b) → 표로 요약.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그림 (a)(b)(c)를 손가락으로 가리키며 설명.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그림(a)(b) → 세 카드 수식·예시. 예측값 &lt; UQ.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support mismatch → mean vs worst-case → formal objective.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네 유형 taxonomy. 실전은 covariate(+concept) 혼합이 흔함.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ERM vs worst-case. 수식은 직관만.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IRM 직관만. DomainBed로 바로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가장 중요한 슬라이드 중 하나. '새 방법' 주장 전 ERM 재검증.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Part2 마무리. 시계열 OOD → Part4 실전.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가지마다 수식 가정을 명시.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6패널 케이스 가리키며 수식 요약.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수식 박스 + 예시(sin/매출/커피).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σ→A(x)→Ax+b 체인 + 예시.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MAPE 정의 + φ↔y* + 예시.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U 집합 수식 + sin/매출 예시 + MLP 대비.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NAC vs NALU. 수식과 외삽 기제.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clip 실패 → CMNN.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레이어 구조 → Part4.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시간 분할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abstain과 Part1 UQ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플로우차트 → Mono 하이라이트 → Part4.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Altitude/Mach/TRA/Temp. TRA가 외삽축.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스토리 완성.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3층 방어 프레임 먼저.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프로토콜 3겹 + 재설계 근거.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Dual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Part3 Mono와 동일 철학.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메인 비교표.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2.5분. ablation + nasa_drop14 한계.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1분. Part4 클로징.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1분. 흐름만.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버튼 클릭으로 PDF 열기.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클로징 메시지.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1분. 교수님 반응 좋은 마무리 방향.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Q&amp;A. paper_pdfs/에 전체 39편. INDEX.md 목록 참고.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paper_pdfs/Pfister2024_Extrapolation-Aware_Nonparametric_Inference.pdf" TargetMode="External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paper_pdfs/Teckentrup2024_Probabilistic_Richardson_Extrapolation.pdf" TargetMode="External"/><Relationship Id="rId4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hyperlink" Target="paper_pdfs/Ghahramani2013_Bayesian_Nonparametrics.pdf" TargetMode="External"/><Relationship Id="rId4" Type="http://schemas.openxmlformats.org/officeDocument/2006/relationships/hyperlink" Target="paper_pdfs/Pfister2024_Extrapolation-Aware_Nonparametric_Inference.pdf" TargetMode="External"/><Relationship Id="rId5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hyperlink" Target="paper_pdfs/Arjovsky2019_Invariant_Risk_Minimization.pdf" TargetMode="External"/><Relationship Id="rId4" Type="http://schemas.openxmlformats.org/officeDocument/2006/relationships/hyperlink" Target="paper_pdfs/Arjovsky2021_OOD_Generalization_in_ML.pdf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hyperlink" Target="paper_pdfs/Gulrajani2020_In_Search_of_Lost_Domain_Generalization.pdf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hyperlink" Target="paper_pdfs/Xu2021_How_Neural_Networks_Extrapolate.pdf" TargetMode="External"/><Relationship Id="rId4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hyperlink" Target="paper_pdfs/Xu2021_How_Neural_Networks_Extrapolate.pdf" TargetMode="External"/><Relationship Id="rId4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hyperlink" Target="paper_pdfs/Xu2021_How_Neural_Networks_Extrapolate.pdf" TargetMode="External"/><Relationship Id="rId4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hyperlink" Target="paper_pdfs/Martius2016_Extrapolation_Learning_Equations_EQL.pdf" TargetMode="External"/><Relationship Id="rId5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hyperlink" Target="paper_pdfs/Trask2018_Neural_Arithmetic_Logic_Units_NALU.pdf" TargetMode="External"/><Relationship Id="rId4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hyperlink" Target="paper_pdfs/Runje2023_Constrained_Monotonic_NN.pdf" TargetMode="External"/><Relationship Id="rId4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hyperlink" Target="paper_pdfs/Runje2023_Constrained_Monotonic_NN.pdf" TargetMode="External"/><Relationship Id="rId4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hyperlink" Target="paper_pdfs/Fesser2023_Extrapolation_Failures_PINNs.pdf" TargetMode="External"/><Relationship Id="rId4" Type="http://schemas.openxmlformats.org/officeDocument/2006/relationships/hyperlink" Target="paper_pdfs/Raissi2019_Physics_Informed_Neural_Networks.pdf" TargetMode="External"/><Relationship Id="rId5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hyperlink" Target="paper_pdfs/Zhu2022_Reliable_Extrapolation_DeepONet.pdf" TargetMode="External"/><Relationship Id="rId4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3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hyperlink" Target="paper_pdfs/Xu2021_How_Neural_Networks_Extrapolate.pdf" TargetMode="External"/><Relationship Id="rId4" Type="http://schemas.openxmlformats.org/officeDocument/2006/relationships/hyperlink" Target="paper_pdfs/Runje2023_Constrained_Monotonic_NN.pdf" TargetMode="External"/><Relationship Id="rId5" Type="http://schemas.openxmlformats.org/officeDocument/2006/relationships/hyperlink" Target="paper_pdfs/Gulrajani2020_In_Search_of_Lost_Domain_Generalization.pdf" TargetMode="External"/><Relationship Id="rId6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3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paper_pdfs/Xu2021_How_Neural_Networks_Extrapolate.pdf" TargetMode="External"/><Relationship Id="rId3" Type="http://schemas.openxmlformats.org/officeDocument/2006/relationships/hyperlink" Target="paper_pdfs/Gulrajani2020_In_Search_of_Lost_Domain_Generalization.pdf" TargetMode="External"/><Relationship Id="rId4" Type="http://schemas.openxmlformats.org/officeDocument/2006/relationships/hyperlink" Target="paper_pdfs/Liu2023_OOD_Generalization_Survey.pdf" TargetMode="External"/><Relationship Id="rId5" Type="http://schemas.openxmlformats.org/officeDocument/2006/relationships/hyperlink" Target="paper_pdfs/Arjovsky2019_Invariant_Risk_Minimization.pdf" TargetMode="External"/><Relationship Id="rId6" Type="http://schemas.openxmlformats.org/officeDocument/2006/relationships/hyperlink" Target="paper_pdfs/Trask2018_Neural_Arithmetic_Logic_Units_NALU.pdf" TargetMode="External"/><Relationship Id="rId7" Type="http://schemas.openxmlformats.org/officeDocument/2006/relationships/hyperlink" Target="paper_pdfs/Runje2023_Constrained_Monotonic_NN.pdf" TargetMode="External"/><Relationship Id="rId8" Type="http://schemas.openxmlformats.org/officeDocument/2006/relationships/hyperlink" Target="paper_pdfs/Fesser2023_Extrapolation_Failures_PINNs.pdf" TargetMode="External"/><Relationship Id="rId9" Type="http://schemas.openxmlformats.org/officeDocument/2006/relationships/hyperlink" Target="paper_pdfs/Raissi2019_Physics_Informed_Neural_Networks.pdf" TargetMode="External"/><Relationship Id="rId10" Type="http://schemas.openxmlformats.org/officeDocument/2006/relationships/hyperlink" Target="paper_pdfs/Zhu2022_Reliable_Extrapolation_DeepONet.pdf" TargetMode="External"/><Relationship Id="rId11" Type="http://schemas.openxmlformats.org/officeDocument/2006/relationships/hyperlink" Target="paper_pdfs/Martius2016_Extrapolation_Learning_Equations_EQL.pdf" TargetMode="External"/><Relationship Id="rId1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paper_pdfs/Xu2021_How_Neural_Networks_Extrapolate.pdf" TargetMode="External"/><Relationship Id="rId3" Type="http://schemas.openxmlformats.org/officeDocument/2006/relationships/hyperlink" Target="paper_pdfs/Gulrajani2020_In_Search_of_Lost_Domain_Generalization.pdf" TargetMode="External"/><Relationship Id="rId4" Type="http://schemas.openxmlformats.org/officeDocument/2006/relationships/hyperlink" Target="paper_pdfs/Liu2023_OOD_Generalization_Survey.pdf" TargetMode="External"/><Relationship Id="rId5" Type="http://schemas.openxmlformats.org/officeDocument/2006/relationships/hyperlink" Target="paper_pdfs/Arjovsky2019_Invariant_Risk_Minimization.pdf" TargetMode="External"/><Relationship Id="rId6" Type="http://schemas.openxmlformats.org/officeDocument/2006/relationships/hyperlink" Target="paper_pdfs/Arjovsky2021_OOD_Generalization_in_ML.pdf" TargetMode="External"/><Relationship Id="rId7" Type="http://schemas.openxmlformats.org/officeDocument/2006/relationships/hyperlink" Target="paper_pdfs/Martius2016_Extrapolation_Learning_Equations_EQL.pdf" TargetMode="External"/><Relationship Id="rId8" Type="http://schemas.openxmlformats.org/officeDocument/2006/relationships/hyperlink" Target="paper_pdfs/Trask2018_Neural_Arithmetic_Logic_Units_NALU.pdf" TargetMode="External"/><Relationship Id="rId9" Type="http://schemas.openxmlformats.org/officeDocument/2006/relationships/hyperlink" Target="paper_pdfs/Runje2023_Constrained_Monotonic_NN.pdf" TargetMode="External"/><Relationship Id="rId10" Type="http://schemas.openxmlformats.org/officeDocument/2006/relationships/hyperlink" Target="paper_pdfs/Fesser2023_Extrapolation_Failures_PINNs.pdf" TargetMode="External"/><Relationship Id="rId11" Type="http://schemas.openxmlformats.org/officeDocument/2006/relationships/hyperlink" Target="paper_pdfs/Raissi2019_Physics_Informed_Neural_Networks.pdf" TargetMode="External"/><Relationship Id="rId12" Type="http://schemas.openxmlformats.org/officeDocument/2006/relationships/hyperlink" Target="paper_pdfs/Zhu2022_Reliable_Extrapolation_DeepONet.pdf" TargetMode="External"/><Relationship Id="rId13" Type="http://schemas.openxmlformats.org/officeDocument/2006/relationships/hyperlink" Target="paper_pdfs/Pfister2024_Extrapolation-Aware_Nonparametric_Inference.pdf" TargetMode="External"/><Relationship Id="rId14" Type="http://schemas.openxmlformats.org/officeDocument/2006/relationships/hyperlink" Target="paper_pdfs/Teckentrup2024_Probabilistic_Richardson_Extrapolation.pdf" TargetMode="External"/><Relationship Id="rId15" Type="http://schemas.openxmlformats.org/officeDocument/2006/relationships/hyperlink" Target="paper_pdfs/Wu2025_OOD_Time_Series_Survey.pdf" TargetMode="External"/><Relationship Id="rId16" Type="http://schemas.openxmlformats.org/officeDocument/2006/relationships/hyperlink" Target="paper_pdfs/Ye2021_Theoretical_Framework_OOD.pdf" TargetMode="External"/><Relationship Id="rId17" Type="http://schemas.openxmlformats.org/officeDocument/2006/relationships/hyperlink" Target="paper_pdfs/Bartley2019_Characterizing_Extrapolation_Multivariate.pdf" TargetMode="External"/><Relationship Id="rId18" Type="http://schemas.openxmlformats.org/officeDocument/2006/relationships/hyperlink" Target="paper_pdfs/Aykol2021_Physics_ML_Battery_Lifetime.pdf" TargetMode="External"/><Relationship Id="rId19" Type="http://schemas.openxmlformats.org/officeDocument/2006/relationships/hyperlink" Target="paper_pdfs/&#50808;&#49341;_&#50756;&#51204;&#51221;&#48373;_&#54617;&#49845;&#45432;&#53944;.pdf" TargetMode="External"/><Relationship Id="rId20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8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321808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논문 기반 심화 세미나  ·  50분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pple SD Gothic Neo"/>
                <a:ea typeface="Apple SD Gothic Neo"/>
              </a:rPr>
              <a:t>외삽 (Extrapolation)
완전 정복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기초 이론  ·  OOD 일반화  ·  신경망 외삽 방법론  ·  실전 응용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15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</a:rPr>
              <a:t>Kookmin Univ. IE Lab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6E7C8C"/>
                </a:solidFill>
                <a:latin typeface="Apple SD Gothic Neo"/>
                <a:ea typeface="Apple SD Gothic Neo"/>
              </a:rPr>
              <a:t>literec_study · 36편 논문  ·  2026.07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들어가며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외삽 연구의 동기와 필요성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3657600" cy="40233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54864" cy="40233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499616"/>
            <a:ext cx="3310128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01  데이터가 항상 불완전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사례: 시계열 수요의 미래 시점 추정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사례: 계절 부분표본으로 성수기 예측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사례: 성장곡선으로 성인기 외삽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측정 못한 구간을 추정해야 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371600"/>
            <a:ext cx="3657600" cy="40233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371600"/>
            <a:ext cx="54864" cy="40233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499616"/>
            <a:ext cx="3310128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02  ML의 근본 한계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다수 모형이 in-distribution 전제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범위 밖 오차는 급격히 증가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표준 평가 우수 ≠ 외삽 성능 보증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외삽은 별도 평가가 필요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71600"/>
            <a:ext cx="3657600" cy="40233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371600"/>
            <a:ext cx="54864" cy="40233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499616"/>
            <a:ext cx="3310128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03  현장 리스크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사례: 기상 ID 조건만 학습한 자율주행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사례: 평시 분포만 학습한 임상 예측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오예측임에도 고신뢰 출력 (silent failure)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점추정 대비 불확실성 보고가 우선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Intro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 / 51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50분 구성 (Q&amp;A 별도)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1064240" cy="36459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3063240"/>
            <a:ext cx="11247120" cy="475488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363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Part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13639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외삽 기초 이론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13639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보간 vs 외삽 · Convex Hull · Richardson · UQ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31363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11분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93592"/>
            <a:ext cx="11247120" cy="475488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6674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Part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66674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OOD 일반화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666744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분포 이동 · IRM · DomainBed · 인과 · 시계열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366674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11분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23944"/>
            <a:ext cx="11247120" cy="475488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9709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Part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19709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신경망 외삽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197096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Xu · EQL · NALU · Monotonic · PINN · DeepONet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419709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14분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654295"/>
            <a:ext cx="11247120" cy="475488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727447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Part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727447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실전 응용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727447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우리 데이터·프로토콜·모델·결과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4727447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10분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184648"/>
            <a:ext cx="11247120" cy="475488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257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Part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257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동향 &amp; 가이드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525780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타임라인 · 필독 논문 · 연구 적용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5257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4분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 / 51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PART 1  ·  11분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</a:rPr>
              <a:t>외삽이란 무엇인가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기초 이론 · Convex Hull · Richardson · 불확실성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보간≠외삽 — 테스트가 hull 안이면 착시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데이터만으론 밖을 식별 불가 (가정 필요)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예측값보다 UQ·가정이 먼저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E7C8C"/>
                </a:solidFill>
                <a:latin typeface="Apple SD Gothic Neo"/>
                <a:ea typeface="Apple SD Gothic Neo"/>
              </a:rPr>
              <a:t>4 / 51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1 · 기초 이론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보간(Interpolation) vs 외삽(Extrapolation)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interp_ex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05840"/>
            <a:ext cx="6766903" cy="2743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28600" y="3886200"/>
            <a:ext cx="5760720" cy="16459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3886200"/>
            <a:ext cx="54864" cy="16459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4014216"/>
            <a:ext cx="541324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보간 — Interpolation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정의: x ∈ Conv(X_train)  (지지집합 내부)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그림 (a)(c★): 관측 범위·hull 안 질의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신뢰도 상대적으로 높음 · 표준 test의 위치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사례: 10·20·30℃ → 25℃  ·  평일→목요일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86200"/>
            <a:ext cx="5669280" cy="16459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3886200"/>
            <a:ext cx="54864" cy="16459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4014216"/>
            <a:ext cx="532180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외삽 — Extrapolation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정의: x ∉ Conv(X_train)  (지지집합 외부)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그림 (b)(c✗): 범위 밖 · 불확실성 대역 확대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신뢰도 급감 · 가정 없으면 식별 불가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사례: 0~30℃ → 45℃  ·  평일→성수기  ·  서울→부산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5 / 51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test ∈ Conv(X_train) 이면 보간 평가일 뿐 — 외삽은 별도 프로토콜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그림 (c): ★=보간, ✗=외삽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1 · 고전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다항식 피팅의 외삽 실패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poly_ex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7498079" cy="384436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38160" y="1325880"/>
            <a:ext cx="3566160" cy="42062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38160" y="1325880"/>
            <a:ext cx="54864" cy="420624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8" y="1453896"/>
            <a:ext cx="3218688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해석 사례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지지집합 내부: 적합 양호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지지집합 외부: 급격한 발산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── 해석 사례 ──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단기 관측으로 고차 곡선 적합 시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  → 장기 시점에서 비물리적 예측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성장기 부분곡선만으로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  → 성인기 값을 비현실적으로 외삽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차수↑ → 원거리 불안정성 심화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6 / 51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지지집합 내부 적합 ≠ 외부 일반화 — 고차 피팅일수록 원거리 위험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공학·시계열 OOD도 같은 구조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1 · 핵심 통찰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원리적으로 왜 식별이 불가능한가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identif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7955279" cy="411022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0" y="1188720"/>
            <a:ext cx="3383280" cy="4480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0" y="1188720"/>
            <a:ext cx="54864" cy="44805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13648" y="1316736"/>
            <a:ext cx="3035808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해석 사례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유한 관측만으로는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선형·이차·주기 함수 등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지지집합 내부에서는 동등하게 적합 가능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지지집합 밖에서 궤적이 분기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── 해석 사례 ──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냉각 과정의 온도 궤적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  선형·지수 모두 국소적으로는 적합 가능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성장곡선 → 성인기 값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  지속 증가 vs 포화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→ 가정 없이는 식별 불가</a:t>
            </a:r>
          </a:p>
        </p:txBody>
      </p:sp>
      <p:sp>
        <p:nvSpPr>
          <p:cNvPr id="11" name="Rounded Rectangle 10">
            <a:hlinkClick r:id="rId3"/>
          </p:cNvPr>
          <p:cNvSpPr/>
          <p:nvPr/>
        </p:nvSpPr>
        <p:spPr>
          <a:xfrm>
            <a:off x="8549640" y="256032"/>
            <a:ext cx="123444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Pfister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163056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E7C8C"/>
                </a:solidFill>
                <a:latin typeface="Apple SD Gothic Neo"/>
                <a:ea typeface="Apple SD Gothic Neo"/>
              </a:rPr>
              <a:t>핵심: 외삽은 데이터 문제가 아니라 가정(Assumption)의 문제다  ·  Pfister &amp; Bühlmann (2024)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7 / 51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외삽은 데이터 문제가 아니라 가정(Assumption)의 문제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sin/exp/x²가 훈련점에선 다 맞고, 밖에선 갈라진다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1 · 동기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외삽 실패는 실험실 밖에서도 재현된다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fail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10816590" cy="3657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74320" y="4800600"/>
            <a:ext cx="11612880" cy="777240"/>
          </a:xfrm>
          <a:prstGeom prst="roundRect">
            <a:avLst>
              <a:gd name="adj" fmla="val 6000"/>
            </a:avLst>
          </a:prstGeom>
          <a:solidFill>
            <a:srgbClr val="0B1016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892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CF1F7"/>
                </a:solidFill>
                <a:latin typeface="Apple SD Gothic Neo"/>
                <a:ea typeface="Apple SD Gothic Neo"/>
              </a:rPr>
              <a:t>Train ≠ Deploy  →  high confidence, low accuracy  (silent failure)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A0ADBC"/>
                </a:solidFill>
                <a:latin typeface="Apple SD Gothic Neo"/>
                <a:ea typeface="Apple SD Gothic Neo"/>
              </a:rPr>
              <a:t>동일 구조: 기상 OOD · 기관 전이 · 성수기 수요 전이  —  그림 (C)가 핵심 메커니즘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8 / 51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Train≠Deploy이면 모델은 자신 있게 틀린다 (silent failure)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산업 사고의 상당수가 이 패턴 — 평균 성능만으로는 감지 불가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1 · 수학적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볼록 껍질(Convex Hull)과 외삽 영역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54864" cy="2286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408176"/>
            <a:ext cx="5230368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정의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x ∈ Conv(X_train) → 보간 영역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x ∉ Conv(X_train) → 외삽 영역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Pfister 2024: support 밖은 추가 가정 없이 추론 불가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4864" cy="22860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408176"/>
            <a:ext cx="5138928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차원의 저주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축이 늘수록 '안쪽' 비율 급감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고차원: 테스트 대부분 외삽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사례: 다변량 운용조건 (고차원 hull)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  → 4축만 돼도 '밖'이 대부분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794760"/>
            <a:ext cx="5577840" cy="2011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794760"/>
            <a:ext cx="54864" cy="2011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922776"/>
            <a:ext cx="5230368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불확실성 폭발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인근 관측 없을수록 bounds 확장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기존 CI는 coverage 보장 상실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→ extrapolation-aware CI 필요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94760"/>
            <a:ext cx="5486400" cy="2011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794760"/>
            <a:ext cx="54864" cy="2011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922776"/>
            <a:ext cx="5138928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물리 지식 = 외삽 가정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단조성 · PDE · smoothness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가정이 hull을 '논리적으로' 확장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도메인 지식이 최고의 외삽 도구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9 / 51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Convex Hull 밖 = 외삽 영역. 고차원에선 대부분 밖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물리·단조 가정이 hull을 논리적으로 확장한다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1 · 시각화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2D Convex Hull로 보간/외삽 구분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convex_h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7589520" cy="437805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0" y="1325880"/>
            <a:ext cx="3474720" cy="42062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0" y="1325880"/>
            <a:ext cx="54864" cy="42062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30768" y="1453896"/>
            <a:ext cx="3127248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진단 기준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hull 내부: 상대적 안정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hull 외부: epistemic 불확실성↑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d≫10: 대부분의 점이 외삽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대응: 물리 제약 도입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또는 외삽축을 분리 설계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Bartley · Pfister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10 / 51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Convex hull 내부=보간, 외부(X)=외삽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실전에서는 특정 운용조건 축이 이 X에 대응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1 · 오차 분해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외삽 오차의 폭증 메커니즘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error_de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6758152" cy="2788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3977639"/>
            <a:ext cx="1408176" cy="292608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3995927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DD6C6"/>
                </a:solidFill>
                <a:latin typeface="Apple SD Gothic Neo"/>
                <a:ea typeface="Apple SD Gothic Neo"/>
              </a:rPr>
              <a:t>요인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83080" y="3977639"/>
            <a:ext cx="1773936" cy="292608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83080" y="3995927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DD6C6"/>
                </a:solidFill>
                <a:latin typeface="Apple SD Gothic Neo"/>
                <a:ea typeface="Apple SD Gothic Neo"/>
              </a:rPr>
              <a:t>보간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3977639"/>
            <a:ext cx="2231136" cy="292608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3995927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DD6C6"/>
                </a:solidFill>
                <a:latin typeface="Apple SD Gothic Neo"/>
                <a:ea typeface="Apple SD Gothic Neo"/>
              </a:rPr>
              <a:t>외삽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79" y="3977639"/>
            <a:ext cx="1956816" cy="292608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79" y="3995927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DD6C6"/>
                </a:solidFill>
                <a:latin typeface="Apple SD Gothic Neo"/>
                <a:ea typeface="Apple SD Gothic Neo"/>
              </a:rPr>
              <a:t>대책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306824"/>
            <a:ext cx="1408176" cy="329184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" y="4352544"/>
            <a:ext cx="1353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CF1F7"/>
                </a:solidFill>
                <a:latin typeface="Apple SD Gothic Neo"/>
                <a:ea typeface="Apple SD Gothic Neo"/>
              </a:rPr>
              <a:t>Bias²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83080" y="4306824"/>
            <a:ext cx="1773936" cy="329184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19656" y="4352544"/>
            <a:ext cx="1719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복잡도 제어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4306824"/>
            <a:ext cx="2231136" cy="329184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48456" y="4352544"/>
            <a:ext cx="2176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가정 위반 시 누적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97879" y="4306824"/>
            <a:ext cx="1956816" cy="329184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34455" y="4352544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물리·smooth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4654296"/>
            <a:ext cx="1408176" cy="329184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" y="4700016"/>
            <a:ext cx="1353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CF1F7"/>
                </a:solidFill>
                <a:latin typeface="Apple SD Gothic Neo"/>
                <a:ea typeface="Apple SD Gothic Neo"/>
              </a:rPr>
              <a:t>Variance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83080" y="4654296"/>
            <a:ext cx="1773936" cy="329184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19656" y="4700016"/>
            <a:ext cx="1719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인근 데이터多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11880" y="4654296"/>
            <a:ext cx="2231136" cy="329184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48456" y="4700016"/>
            <a:ext cx="2176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관측∅ → 급증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97879" y="4654296"/>
            <a:ext cx="1956816" cy="329184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34455" y="4700016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extrap CI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" y="5001768"/>
            <a:ext cx="1408176" cy="329184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" y="5047488"/>
            <a:ext cx="1353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CF1F7"/>
                </a:solidFill>
                <a:latin typeface="Apple SD Gothic Neo"/>
                <a:ea typeface="Apple SD Gothic Neo"/>
              </a:rPr>
              <a:t>Noise σ²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783080" y="5001768"/>
            <a:ext cx="1773936" cy="329184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19656" y="5047488"/>
            <a:ext cx="1719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분리 측정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11880" y="5001768"/>
            <a:ext cx="2231136" cy="329184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48456" y="5047488"/>
            <a:ext cx="2176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epistemic과 혼재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97879" y="5001768"/>
            <a:ext cx="1956816" cy="329184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34455" y="5047488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Bayesian UQ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0" y="3977639"/>
            <a:ext cx="3611880" cy="15544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29600" y="3977639"/>
            <a:ext cx="54864" cy="15544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30768" y="4105655"/>
            <a:ext cx="326440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해석 포인트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지지집합 밖: Variance가 지배항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점추정만으로는 의사결정 위험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UQ(신뢰구간)를 병기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11 / 51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밖에서는 Variance(epistemic)가 폭발한다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점추정만 보고 결정하지 말고 UQ를 함께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1 · 수치해석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Richardson 외삽 → Probabilistic Richardson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richard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05840"/>
            <a:ext cx="7992334" cy="2788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28600" y="3931920"/>
            <a:ext cx="5760720" cy="16002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3931920"/>
            <a:ext cx="54864" cy="1600200"/>
          </a:xfrm>
          <a:prstGeom prst="rect">
            <a:avLst/>
          </a:prstGeom>
          <a:solidFill>
            <a:srgbClr val="6E7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4059936"/>
            <a:ext cx="5413248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E7C8C"/>
                </a:solidFill>
                <a:latin typeface="Apple SD Gothic Neo"/>
                <a:ea typeface="Apple SD Gothic Neo"/>
              </a:rPr>
              <a:t>고전 Richardson — 점추정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모형: A(h)=A* + c·h^p + O(h^{p+1})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추정: Â = (2^p A(h/2) − A(h)) / (2^p − 1)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그림 (a): h→0 외삽이 다이아몬드 한 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한계: 불확실성 대역·CI 없음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931920"/>
            <a:ext cx="5669280" cy="16002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3931920"/>
            <a:ext cx="54864" cy="16002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4059936"/>
            <a:ext cx="5321808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Probabilistic (Teckentrup 2024)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Richardson + GP prior → A* 사후분포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그림 (b): GP band + A* 95% CI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그림 (c): 점값 vs 구간(안전장치)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의의: 수치해석 × Bayesian UQ</a:t>
            </a:r>
          </a:p>
        </p:txBody>
      </p:sp>
      <p:sp>
        <p:nvSpPr>
          <p:cNvPr id="14" name="Rounded Rectangle 13">
            <a:hlinkClick r:id="rId3"/>
          </p:cNvPr>
          <p:cNvSpPr/>
          <p:nvPr/>
        </p:nvSpPr>
        <p:spPr>
          <a:xfrm>
            <a:off x="9875520" y="256032"/>
            <a:ext cx="192024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Teckentrup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12 / 51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고전 = 점추정 Â · Probabilistic = 사후분포·구간 (그림 b·c)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공학 외삽에서는 점값보다 신뢰구간이 의사결정에 안전하다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1 · UQ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불확실성 정량화 — 외삽에서의 필연성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uq_aleatoric_episte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4577963" cy="187451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3063240"/>
            <a:ext cx="3794760" cy="2514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3063240"/>
            <a:ext cx="54864" cy="2514600"/>
          </a:xfrm>
          <a:prstGeom prst="rect">
            <a:avLst/>
          </a:prstGeom>
          <a:solidFill>
            <a:srgbClr val="6E7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3191256"/>
            <a:ext cx="3447288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E7C8C"/>
                </a:solidFill>
                <a:latin typeface="Apple SD Gothic Neo"/>
                <a:ea typeface="Apple SD Gothic Neo"/>
              </a:rPr>
              <a:t>Aleatoric  σ²_a  — 관측 노이즈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정의: y = f(x) + ε,  ε~P_noise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데이터↑로도 σ²_a 안 사라짐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수식:  irreducible noise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사례: 센서 계측 잡음 ±δ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사례: 배치 간 공정 변동성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사례: 동일 조건 반복측정의 분산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보간·외삽 모두 존재 (거의 평탄)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3063240"/>
            <a:ext cx="3794760" cy="2514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3063240"/>
            <a:ext cx="54864" cy="25146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3191256"/>
            <a:ext cx="3447288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Epistemic  σ²_e  — 지식 부족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정의: 모델/데이터 부족 불확실성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데이터↑·가정↑로 줄일 수 있음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수식: Var_θ[f_θ(x)]  (사후분산)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외삽: x∉Conv(X) 에서 σ²_e ≫ σ²_a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사례: 학습 온도 지지집합 밖 질의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사례: 신규 기관·시즌으로의 배포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핵심 질문: 얼마나 틀릴 수 있나?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063240"/>
            <a:ext cx="3794760" cy="2514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3063240"/>
            <a:ext cx="54864" cy="25146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3191256"/>
            <a:ext cx="3447288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외삽 UQ — 점추정의 한계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σ²_tot = σ²_a + σ²_e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밖에서는 epistemic이 지배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기존 CI: coverage 붕괴 가능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(i.i.d./hull 안 가정 깨짐)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대안: bounds + CI + 가정 명시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Ghahramani'13: Bayesian ML 관점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Pfister'24: 가정 없으면 식별 불가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함의: σ²_e↑ → 예측 보류 / 추가 관측</a:t>
            </a:r>
          </a:p>
        </p:txBody>
      </p:sp>
      <p:sp>
        <p:nvSpPr>
          <p:cNvPr id="17" name="Rounded Rectangle 16">
            <a:hlinkClick r:id="rId3"/>
          </p:cNvPr>
          <p:cNvSpPr/>
          <p:nvPr/>
        </p:nvSpPr>
        <p:spPr>
          <a:xfrm>
            <a:off x="8229600" y="256032"/>
            <a:ext cx="173736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Ghahramani</a:t>
            </a:r>
          </a:p>
        </p:txBody>
      </p:sp>
      <p:sp>
        <p:nvSpPr>
          <p:cNvPr id="18" name="Rounded Rectangle 17">
            <a:hlinkClick r:id="rId4"/>
          </p:cNvPr>
          <p:cNvSpPr/>
          <p:nvPr/>
        </p:nvSpPr>
        <p:spPr>
          <a:xfrm>
            <a:off x="10104120" y="256032"/>
            <a:ext cx="173736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Pfister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13 / 51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외삽에선 예측값보다 불확실성(σ²_e)이 핵심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σ²_tot=σ²_a+σ²_e — 밖에서는 epistemic 지배, ↑면 STOP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PART 2  ·  11분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</a:rPr>
              <a:t>OOD 일반화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분포 이동 · IRM · DomainBed · 인과 · 시계열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i.i.d. 붕괴 = ERM 실패 시작점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IRM은 아이디어, DomainBed가 현실 점검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실전 배포 = 바로 OOD 사례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E7C8C"/>
                </a:solidFill>
                <a:latin typeface="Apple SD Gothic Neo"/>
                <a:ea typeface="Apple SD Gothic Neo"/>
              </a:rPr>
              <a:t>14 / 51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2 · 개념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OOD: 학습 분포와 배포 분포의 불일치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ood_intu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05840"/>
            <a:ext cx="5355836" cy="2788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28600" y="3886200"/>
            <a:ext cx="11704320" cy="502920"/>
          </a:xfrm>
          <a:prstGeom prst="roundRect">
            <a:avLst>
              <a:gd name="adj" fmla="val 6000"/>
            </a:avLst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395020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형식적 정의   P_train(X,Y)  ≠  P_test(X,Y)   ≡   min_h max_e R^e(h)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B8C4D0"/>
                </a:solidFill>
                <a:latin typeface="Apple SD Gothic Neo"/>
                <a:ea typeface="Apple SD Gothic Neo"/>
              </a:rPr>
              <a:t>사례: 기관 A→B 전이  ·  기상 조건 외삽  ·  평시→성수기 수요 전이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" y="4526280"/>
            <a:ext cx="3794760" cy="10058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4526280"/>
            <a:ext cx="54864" cy="100584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4654296"/>
            <a:ext cx="34472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리스크 구조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기대성능(평균)은 유지될 수 있음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꼬리 리스크(worst-case)에서 급락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4526280"/>
            <a:ext cx="3794760" cy="10058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4526280"/>
            <a:ext cx="54864" cy="1005840"/>
          </a:xfrm>
          <a:prstGeom prst="rect">
            <a:avLst/>
          </a:prstGeom>
          <a:solidFill>
            <a:srgbClr val="6E7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4654296"/>
            <a:ext cx="34472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E7C8C"/>
                </a:solidFill>
                <a:latin typeface="Apple SD Gothic Neo"/>
                <a:ea typeface="Apple SD Gothic Neo"/>
              </a:rPr>
              <a:t>평가의 함정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표준 test ⊂ 학습 지지집합(ID)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보간 성능일 뿐 OOD 보증 아님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4526280"/>
            <a:ext cx="3840480" cy="10058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4526280"/>
            <a:ext cx="54864" cy="10058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4654296"/>
            <a:ext cx="349300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대응 전략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불변표현 · 물리/단조 제약 · 최악환경 검증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엄밀 프로토콜은 Part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15 / 51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OOD = 학습·배포 분포 불일치 — ID 테스트 성능 ≠ 배포 강건성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평균 리스크와 함께 worst-case 리스크를 보고해야 한다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2 · 분류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분포 이동(Distribution Shift) 유형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shift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51560"/>
            <a:ext cx="8218090" cy="2880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74320" y="4069080"/>
            <a:ext cx="288036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4069080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4197096"/>
            <a:ext cx="253288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Covariate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P(X) 변화 · P(Y|X) 불변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대표 사례: 기관·지역·시즌 전이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유형 식별 → 해법 분기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4069080"/>
            <a:ext cx="288036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4069080"/>
            <a:ext cx="54864" cy="141732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4197096"/>
            <a:ext cx="253288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121A"/>
                </a:solidFill>
                <a:latin typeface="Apple SD Gothic Neo"/>
                <a:ea typeface="Apple SD Gothic Neo"/>
              </a:rPr>
              <a:t>Label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P(Y) 변화 · P(X|Y) 불변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대표 사례: 유병률·수요 비중 이동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유형 식별 → 해법 분기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69080"/>
            <a:ext cx="288036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069080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197096"/>
            <a:ext cx="253288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Concept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P(Y|X) 자체 변화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대표 사례: 정책·시스템 드리프트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유형 식별 → 해법 분기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4069080"/>
            <a:ext cx="288036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4069080"/>
            <a:ext cx="54864" cy="141732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90888" y="4197096"/>
            <a:ext cx="253288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121A"/>
                </a:solidFill>
                <a:latin typeface="Apple SD Gothic Neo"/>
                <a:ea typeface="Apple SD Gothic Neo"/>
              </a:rPr>
              <a:t>Domain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생성과정 전반 변화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대표 사례: 시뮬→실기 전이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유형 식별 → 해법 분기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16 / 51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Distribution shift 유형을 먼저 명명하면 해법이 달라진다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실전은 주로 Covariate(+Concept) Shift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2 ·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OOD 일반화의 공식 목표 (Ye et al., 2021)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11338560" cy="1645920"/>
          </a:xfrm>
          <a:prstGeom prst="roundRect">
            <a:avLst>
              <a:gd name="adj" fmla="val 6000"/>
            </a:avLst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ple SD Gothic Neo"/>
                <a:ea typeface="Apple SD Gothic Neo"/>
              </a:rPr>
              <a:t>min_h   max_{e ∈ E_all}   R^e(h)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B8C4D0"/>
                </a:solidFill>
                <a:latin typeface="Apple SD Gothic Neo"/>
                <a:ea typeface="Apple SD Gothic Neo"/>
              </a:rPr>
              <a:t>훈련 환경 E_train에서 학습 → 미지 e_test에서도 낮은 리스크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291840"/>
            <a:ext cx="5486400" cy="24688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3291840"/>
            <a:ext cx="54864" cy="24688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3419856"/>
            <a:ext cx="5138928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표준 ERM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min 평균_{e∈E_train} R^e(h)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훈련 분포 평균에 overfit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OOD에서 깨지기 쉬움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291840"/>
            <a:ext cx="5486400" cy="24688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3291840"/>
            <a:ext cx="54864" cy="24688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3419856"/>
            <a:ext cx="5138928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OOD 목표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min 최악 환경 리스크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robust / invariant 학습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Ye 2021 · Arjovsky 2021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17 / 51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ERM=평균, OOD=최악 환경 — 목표가 다르다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수식은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2 · 알고리즘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Invariant Risk Minimization (IRM)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557784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54864" cy="4297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408176"/>
            <a:ext cx="523036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핵심 아이디어 (Arjovsky)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모든 환경에서 동시에 최적인 w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그런 w를 유도하는 표현 Φ 학습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IRMv1: R + λ‖∇_{w=1} R‖²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Colored MNIST: 색 함정 vs 숫자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환경 정의가 애매하면 약해짐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48640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4864" cy="4297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408176"/>
            <a:ext cx="513892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비교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ERM — 평균 리스크, 단순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IRM — 불변 특징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GroupDRO — 최악 그룹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Causal ML — 진짜 원인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권장: ERM baseline을 선행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18 / 51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IRM: 모든 환경에서 같은 분류기가 최적이 되게 표현 학습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다음은 DomainBed — 실제로 ERM이 이긴다</a:t>
            </a:r>
          </a:p>
        </p:txBody>
      </p:sp>
      <p:sp>
        <p:nvSpPr>
          <p:cNvPr id="18" name="Rounded Rectangle 17">
            <a:hlinkClick r:id="rId3"/>
          </p:cNvPr>
          <p:cNvSpPr/>
          <p:nvPr/>
        </p:nvSpPr>
        <p:spPr>
          <a:xfrm>
            <a:off x="8686800" y="256032"/>
            <a:ext cx="155448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IRM 2019</a:t>
            </a:r>
          </a:p>
        </p:txBody>
      </p:sp>
      <p:sp>
        <p:nvSpPr>
          <p:cNvPr id="19" name="Rounded Rectangle 18">
            <a:hlinkClick r:id="rId4"/>
          </p:cNvPr>
          <p:cNvSpPr/>
          <p:nvPr/>
        </p:nvSpPr>
        <p:spPr>
          <a:xfrm>
            <a:off x="10378440" y="256032"/>
            <a:ext cx="146304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2021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2 · 벤치마크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DomainBed — 공정 평가에 의한 재평가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1133856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CF1F7"/>
                </a:solidFill>
                <a:latin typeface="Apple SD Gothic Neo"/>
                <a:ea typeface="Apple SD Gothic Neo"/>
              </a:rPr>
              <a:t>공정한 HP 탐색 하에서 ERM ≥ 대부분의 OOD 알고리즘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B8C4D0"/>
                </a:solidFill>
                <a:latin typeface="Apple SD Gothic Neo"/>
                <a:ea typeface="Apple SD Gothic Neo"/>
              </a:rPr>
              <a:t>Gulrajani &amp; Lopez-Paz (2020) · ICML 2021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017520"/>
            <a:ext cx="3657600" cy="27432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3017520"/>
            <a:ext cx="54864" cy="27432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3145536"/>
            <a:ext cx="3310128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모델 선택이 핵심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성능 차의 상당 부분 = HP·선택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알고리즘 자체보다 튜닝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3017520"/>
            <a:ext cx="3657600" cy="27432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3017520"/>
            <a:ext cx="54864" cy="27432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3145536"/>
            <a:ext cx="3310128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공정 비교 프로토콜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① ERM baseline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② 동일 HP budget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③ 동일 capacity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④ target val 전략 명시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017520"/>
            <a:ext cx="3657600" cy="27432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3017520"/>
            <a:ext cx="54864" cy="27432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3145536"/>
            <a:ext cx="3310128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실험 설계에의 함의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공정 비교: ERM baseline 필수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동일 HP·동일 capacity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평가 프로토콜이 결과 좌우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19 / 51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새 OOD 알고리즘 주장 전: ERM + 동일 HP budget 필수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공정 비교 없으면 성능 향상은 튜닝 착시일 수 있다</a:t>
            </a:r>
          </a:p>
        </p:txBody>
      </p:sp>
      <p:sp>
        <p:nvSpPr>
          <p:cNvPr id="23" name="Rounded Rectangle 22">
            <a:hlinkClick r:id="rId3"/>
          </p:cNvPr>
          <p:cNvSpPr/>
          <p:nvPr/>
        </p:nvSpPr>
        <p:spPr>
          <a:xfrm>
            <a:off x="10515600" y="256032"/>
            <a:ext cx="137160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DomainBed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2 · 관점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인과적 OOD · 시계열 OOD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365760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54864" cy="4297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408176"/>
            <a:ext cx="331012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통계적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상관 최대화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데이터↑ · 정규화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허위상관에 취약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280160"/>
            <a:ext cx="365760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280160"/>
            <a:ext cx="54864" cy="4297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408176"/>
            <a:ext cx="331012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불변성 / 인과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IRM · GroupDRO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SCM · 진짜 원인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개입에도 강건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80160"/>
            <a:ext cx="365760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280160"/>
            <a:ext cx="54864" cy="42976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408176"/>
            <a:ext cx="331012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시계열 OOD (Wu 2025)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① 시간적 분포 이동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② 주기적 분포 이동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시계열·공학 = 둘 다 해당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충방전/운전 주기 구조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20 / 51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시계열 OOD = 시간 이동 + 주기 이동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시계열·공학 문제는 둘 다 해당 → Part4 실전으로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PART 3  ·  14분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</a:rPr>
              <a:t>신경망 외삽 방법론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방법론 지도 · 논문 원도 · 언제 무엇을 쓸까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Q1. 실패 기제: ‖x‖→∞ ⇒ ReLU MLP → Ax+b  (Xu)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Q2. 구조적 처방: ŷ∈⟨U⟩ / ∂ŷ/∂x≥0 / PDE 잔차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Q3. 모르면?  σ²(x)↑ → STOP  (UQ)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E7C8C"/>
                </a:solidFill>
                <a:latin typeface="Apple SD Gothic Neo"/>
                <a:ea typeface="Apple SD Gothic Neo"/>
              </a:rPr>
              <a:t>21 / 51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3 · 방법론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외삽 해결법 — 방법론이 분기하는 이유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method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51560"/>
            <a:ext cx="7094618" cy="3108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78040" y="1051560"/>
            <a:ext cx="4663440" cy="31089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78040" y="1051560"/>
            <a:ext cx="54864" cy="31089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79208" y="1179576"/>
            <a:ext cx="4315968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가지 · 가정(수식) · 사례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① Activation · Xu'21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lim ‖x‖→∞ f_θ(x) = Affine / 포화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사례: 주기 신호를 ReLU MLP로 근사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② Equation · EQL / NALU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f ∈ span{sin, ×, …} 또는 ±×÷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사례: y=sin(ωt) 계절 성분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③ Constraint · CMNN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∂f/∂x_i ≥ 0  (단조)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사례: 가격–수요 단조관계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④ Physics · PINN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L = L_data + λ ‖N[u_θ]‖²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사례: 열전도 PDE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⑤ Operator+UQ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G: u(·)↦s(·),  Var↑→STOP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사례: 신용구간 이탈 시 배포 보류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297680"/>
            <a:ext cx="11430000" cy="12801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4297680"/>
            <a:ext cx="64008" cy="12801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4370832"/>
            <a:ext cx="111099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9A5C"/>
                </a:solidFill>
                <a:latin typeface="Apple SD Gothic Neo"/>
                <a:ea typeface="Apple SD Gothic Neo"/>
              </a:rPr>
              <a:t>Remarks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A0ADBC"/>
                </a:solidFill>
                <a:latin typeface="Apple SD Gothic Neo"/>
                <a:ea typeface="Apple SD Gothic Neo"/>
              </a:rPr>
              <a:t>–  진단→처방→안전장치: Activation → Equation/Constraint/Physics → UQ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A0ADBC"/>
                </a:solidFill>
                <a:latin typeface="Apple SD Gothic Neo"/>
                <a:ea typeface="Apple SD Gothic Neo"/>
              </a:rPr>
              <a:t>–  가정이 강할수록 외삽에 유리, 틀리면 오차도 큼 (assumption bias)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A0ADBC"/>
                </a:solidFill>
                <a:latin typeface="Apple SD Gothic Neo"/>
                <a:ea typeface="Apple SD Gothic Neo"/>
              </a:rPr>
              <a:t>–  실전: 부분 지식(단조·물리)을 제약으로 + 외삽 전용 평가 프로토콜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22 / 51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각 가지는 상이한 함수 가정 — 가정 수식을 명시할 수 있어야 한다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Activation → Equation → Constraint → Physics → Operator+UQ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3 · 한눈에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외삽 방법 — 작동 원리 (케이스 · 수식 · 한계)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method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6941128" cy="3657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732520" y="1005840"/>
            <a:ext cx="3154680" cy="45262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32520" y="1005840"/>
            <a:ext cx="54864" cy="45262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33688" y="1133856"/>
            <a:ext cx="2807208" cy="432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수식 요약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ReLU: ‖x‖→∞⇒Ax+b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Tanh: σ→±1 포화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EQL: ŷ∈⟨U⟩ 연장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Mono: ∂ŷ/∂x≥0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PINN: L+λ‖N[u]‖²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UQ: σ_e↑ → STOP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── 판독 기준 ──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초록 띠=훈련 구간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점선=참 함수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실선=모델 거동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── 한계 요약 ──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ReLU: 비선형 실패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EQL: U 밖 불가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PINN: 시간외삽弱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UQ: 경고만(수정X)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23 / 51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같은 데이터라도 구조가 다르면 밖 거동이 완전히 다르다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그림 (a)~(f) = 방법 선택의 기준 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3 · Xu et al. (2021)  Fig.1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ReLU MLP — 훈련 밖에서는 직선이 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051560"/>
            <a:ext cx="6986016" cy="1642608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xu_fig1_relu_ex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15568"/>
            <a:ext cx="6858000" cy="151459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269480" y="1051560"/>
            <a:ext cx="4572000" cy="45262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69480" y="1051560"/>
            <a:ext cx="54864" cy="45262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70648" y="1179576"/>
            <a:ext cx="4224528" cy="432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수식 · 사례 · 평가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Xu et al., ICLR 2021  Fig.1 / Thm.1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정의: x ∉ Conv(X_train) → 외삽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Thm.1 (핵심):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lim ‖x‖→∞  f_θ(x) = A_d x + b_d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(방향 d마다 Affine)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ReLU: σ(z)=max(0,z)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‖x‖↑ ⇒ 부호패턴 고정 ⇒ 선형합성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── 예시 ──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참: y*=sin(x), train: x∈[-π,π]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밖 |x|&gt;π 에서 MLP→접선(직선)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매출: y*=a+b sin(2πt/12)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ReLU 학습 → 내년은 직선 추세만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커피: T(t)=T∞+(T0-T∞)e^{-kt}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선형 외삽 → t↑ 시 T→-∞ 발산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── 평가 함정 ──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test ⊂ Conv(X_train) = 보간 착시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외삽 평가: X_test ∩ Conv=∅ 강제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" y="2926080"/>
            <a:ext cx="6858000" cy="2651760"/>
          </a:xfrm>
          <a:prstGeom prst="roundRect">
            <a:avLst>
              <a:gd name="adj" fmla="val 6000"/>
            </a:avLst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063240"/>
            <a:ext cx="6583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6C6"/>
                </a:solidFill>
                <a:latin typeface="Apple SD Gothic Neo"/>
                <a:ea typeface="Apple SD Gothic Neo"/>
              </a:rPr>
              <a:t>핵심 수식 (발표용)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pple SD Gothic Neo"/>
                <a:ea typeface="Apple SD Gothic Neo"/>
              </a:rPr>
              <a:t>외삽 영역:   x ∉ Conv(X_train)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pple SD Gothic Neo"/>
                <a:ea typeface="Apple SD Gothic Neo"/>
              </a:rPr>
              <a:t>Xu Thm.1:    ‖x‖→∞  ⇒  f_θ(x) → A x + b   (ReLU MLP)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pple SD Gothic Neo"/>
                <a:ea typeface="Apple SD Gothic Neo"/>
              </a:rPr>
              <a:t>예시 타깃:   y* = sin(x)   vs   모델 밖:  ŷ = αx+β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B8C4D0"/>
                </a:solidFill>
                <a:latin typeface="Apple SD Gothic Neo"/>
                <a:ea typeface="Apple SD Gothic Neo"/>
              </a:rPr>
              <a:t>시사점: 활성화 선택 = 외삽 시 함수족(function class) 선택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B8C4D0"/>
                </a:solidFill>
                <a:latin typeface="Apple SD Gothic Neo"/>
                <a:ea typeface="Apple SD Gothic Neo"/>
              </a:rPr>
              <a:t>다음: 왜 Affine이 되는지(부호패턴) → 활성화↔타깃 짝맞추기</a:t>
            </a:r>
          </a:p>
        </p:txBody>
      </p:sp>
      <p:sp>
        <p:nvSpPr>
          <p:cNvPr id="14" name="Rounded Rectangle 13">
            <a:hlinkClick r:id="rId3"/>
          </p:cNvPr>
          <p:cNvSpPr/>
          <p:nvPr/>
        </p:nvSpPr>
        <p:spPr>
          <a:xfrm>
            <a:off x="10515600" y="256032"/>
            <a:ext cx="137160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Xu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24 / 51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‖x‖→∞ ⇒ ReLU MLP는 Affine — 비선형 법칙은 구조 없이 외삽 불가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test∈Conv(X_train) 이면 보간 착시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3 · 메커니즘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ReLU의 원거리 Affine 수렴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relu_aff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05840"/>
            <a:ext cx="5738863" cy="2880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28600" y="4023360"/>
            <a:ext cx="3840480" cy="15544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4023360"/>
            <a:ext cx="54864" cy="15544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4151376"/>
            <a:ext cx="349300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① 부호 패턴 고정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σ(z)=max(0,z)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z≫0 ⇒ ON,  z≪0 ⇒ OFF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‖x‖↑ ⇒ 활성집합 A(x) 불변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함의: 원거리 입력에서 활성패턴 고정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4023360"/>
            <a:ext cx="3840480" cy="15544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4023360"/>
            <a:ext cx="54864" cy="15544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4151376"/>
            <a:ext cx="349300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② 층 선형화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A(x) 고정 구간에서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h^{(ℓ)} = W^{(ℓ)} h^{(ℓ-1)} + b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(비선형 굽힘 소멸)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함의: 조각선형이 단일 affine으로 붕괴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4023360"/>
            <a:ext cx="3840480" cy="15544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4023360"/>
            <a:ext cx="54864" cy="15544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4151376"/>
            <a:ext cx="349300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③ Affine 수렴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f = W_L … W_1 x + b_tot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즉 f(x)=A x + b  (Thm.1)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깊이·너비↑로도 동일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함의: 비선형 타깃의 원거리 접선 근사</a:t>
            </a:r>
          </a:p>
        </p:txBody>
      </p:sp>
      <p:sp>
        <p:nvSpPr>
          <p:cNvPr id="17" name="Rounded Rectangle 16">
            <a:hlinkClick r:id="rId3"/>
          </p:cNvPr>
          <p:cNvSpPr/>
          <p:nvPr/>
        </p:nvSpPr>
        <p:spPr>
          <a:xfrm>
            <a:off x="10515600" y="256032"/>
            <a:ext cx="128016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Xu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25 / 51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σ 부호패턴 고정 → 선형합성 → f(x)=Ax+b (Xu Thm.1)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다음: 활성화 φ와 타깃 y*의 짝이 맞아야 외삽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3 · Xu et al. Fig.5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활성화 = 외삽 가정 (타깃과 맞으면 성공)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2880" y="1005840"/>
            <a:ext cx="6528816" cy="1942528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xu_fig5_activ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069848"/>
            <a:ext cx="6400800" cy="181451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66560" y="1005840"/>
            <a:ext cx="5074920" cy="45720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66560" y="1005840"/>
            <a:ext cx="54864" cy="4572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133856"/>
            <a:ext cx="4727448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수식 · 실험 · 대응 · 함의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모델: ŷ = MLP_φ(x)  (φ=활성화)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타깃: y* ∈ {tanh, cos, quad, lin}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지표 (외삽):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MAPE = (1/n) Σ |ŷ-y*| / |y*|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관측: φ ≈ y* 족일 때만 MAPE↓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mismatch 시 MAPE ×10²~10³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해석: φ가 곧 외삽 시 함수족 가정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── φ ↔ y* 대응 ──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φ=cos, y*=cos(ωt): 계절 성분 — 일치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φ=ReLU, y*=sin: 밖은 직선 → 실패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φ=tanh, y*=성장곡선: 포화 — 일치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φ=ReLU, y*=성장곡선: 계속 증가 착각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φ=quad, y*=T(t)∝t²: 이차 성장 — 일치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── 설계 함의 ──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주기? → sin/cos 계열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포화? → tanh/σ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단조? → ∂ŷ/∂x≥0 제약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모름? → UQ (σ²↑ → STOP)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" y="3063240"/>
            <a:ext cx="6400800" cy="251460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154680"/>
            <a:ext cx="61264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짝맞추기:  φ (행)  ×  y* (열)   —  ✓=가정 일치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         tanh     cos     quad    linear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tanh        ✓        ✗       ✗        ✗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cos          ✗        ✓       ✗        ✗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quad        ✗        ✗       ✓        ✗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A0ADBC"/>
                </a:solidFill>
                <a:latin typeface="Apple SD Gothic Neo"/>
                <a:ea typeface="Apple SD Gothic Neo"/>
              </a:rPr>
              <a:t>ReLU       ✗        ✗       ✗     (선형만)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1">
                <a:solidFill>
                  <a:srgbClr val="E89A5C"/>
                </a:solidFill>
                <a:latin typeface="Apple SD Gothic Neo"/>
                <a:ea typeface="Apple SD Gothic Neo"/>
              </a:rPr>
              <a:t>명제:  φ ∈ F 이고  y* ∈ F  ⇒  외삽 가능 (가정 일치)</a:t>
            </a:r>
          </a:p>
        </p:txBody>
      </p:sp>
      <p:sp>
        <p:nvSpPr>
          <p:cNvPr id="14" name="Rounded Rectangle 13">
            <a:hlinkClick r:id="rId3"/>
          </p:cNvPr>
          <p:cNvSpPr/>
          <p:nvPr/>
        </p:nvSpPr>
        <p:spPr>
          <a:xfrm>
            <a:off x="10515600" y="256032"/>
            <a:ext cx="137160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Xu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26 / 51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φ와 y*가 같은 함수족일 때만 외삽 성립 — mismatch 시 MAPE 폭증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활성화 선택 = 외삽 시 함수족(F) 선택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3 · EQL  Fig.1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Equation Learner — 수식 유닛을 뉴런에 심는다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2880" y="1005840"/>
            <a:ext cx="5065776" cy="1450776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ql_fig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069848"/>
            <a:ext cx="4937760" cy="13227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303520" y="1005840"/>
            <a:ext cx="6537960" cy="24688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0" y="1005840"/>
            <a:ext cx="54864" cy="24688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04688" y="1133856"/>
            <a:ext cx="6190488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수식 · 구조 · 사례 · 한계  (Martius &amp; Lampert 2016)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은닉유닛 집합 U = {id, sin, cos, σ, ×, …}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층:  z = Σ_k w_k · u_k(·) ,  u_k ∈ U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목표: y* ≈ 닫힌 식 g(x) 를 구조로 학습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예1: y*=sin(x) → 학습식 ŷ≈sin(1.01x)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예2: 계절 매출 y*=a+b sin(2πt/12)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→ 밖에서도 주기 연장 (MLP는 직선)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외삽 기제: g∈⟨U⟩이면 정의역 전체에서 유효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한계: U에 없는 함수 / 고차원·잡음 / sparsity 필요</a:t>
            </a:r>
          </a:p>
        </p:txBody>
      </p:sp>
      <p:pic>
        <p:nvPicPr>
          <p:cNvPr id="12" name="Picture 11" descr="fig_eql_before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3611880"/>
            <a:ext cx="4763943" cy="19659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3611880"/>
            <a:ext cx="2971800" cy="19659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69680" y="3611880"/>
            <a:ext cx="54864" cy="19659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3739896"/>
            <a:ext cx="2624328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대비 (수식)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MLP: ŷ=조각선형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⇒ 밖 Ax+b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EQL: ŷ∈⟨U⟩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⇒ 밖도 같은 g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다음: NALU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(±×÷ 강제)</a:t>
            </a:r>
          </a:p>
        </p:txBody>
      </p:sp>
      <p:sp>
        <p:nvSpPr>
          <p:cNvPr id="16" name="Rounded Rectangle 15">
            <a:hlinkClick r:id="rId4"/>
          </p:cNvPr>
          <p:cNvSpPr/>
          <p:nvPr/>
        </p:nvSpPr>
        <p:spPr>
          <a:xfrm>
            <a:off x="10515600" y="256032"/>
            <a:ext cx="137160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EQL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27 / 51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EQL: ŷ∈⟨U⟩ 이면 정의역 전체에서 같은 식으로 연장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MLP 조각선형(밖=Ax+b)과 결정적으로 다름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3 · NALU  Fig.2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NAC / NALU — 산술 연산을 inductive bias로 고정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078992"/>
            <a:ext cx="6848856" cy="2427029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nalu_fig2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6720840" cy="229901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78992"/>
            <a:ext cx="4617720" cy="2194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78040" y="1078992"/>
            <a:ext cx="54864" cy="21945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79208" y="1207008"/>
            <a:ext cx="4270248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구조  ·  Trask et al. 2018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NAC:  W = tanh(Ŵ) ⊙ σ(M̂)  ∈ [−1, 1]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가산·감산만 허용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NALU:  y = g⊙a + (1−g)⊙m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a = Wx ,  m = exp(W log(|x|+ε))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g = σ(Gx) 가 ± 와 ×÷ 경로를 선택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3383280"/>
            <a:ext cx="4617720" cy="2194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8040" y="3383280"/>
            <a:ext cx="54864" cy="21945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9208" y="3511296"/>
            <a:ext cx="4270248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외삽 결과  ·  한계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소규모 정수 → 대규모 피연산자로 일반화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카운팅·누적합에서 MLP 대비 우위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수치 지지집합 밖에서도 연산 규칙 유지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한계: gate 불안정 · 0-나눗셈 · 가정 민감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" y="3588317"/>
            <a:ext cx="6720840" cy="2099251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6032" y="3588317"/>
            <a:ext cx="54864" cy="2099251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716333"/>
            <a:ext cx="6373368" cy="1898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해석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좌 NAC = ± 결합  ·  우 NALU = log-space 승산 + gate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Xu의 ‘밖 = Ax+b’와 대비 — 산술 함수족을 구조로 고정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형태 제약 계열(EQL同): 가정이 맞을 때만 외삽이 성립</a:t>
            </a:r>
          </a:p>
        </p:txBody>
      </p:sp>
      <p:sp>
        <p:nvSpPr>
          <p:cNvPr id="18" name="Rounded Rectangle 17">
            <a:hlinkClick r:id="rId3"/>
          </p:cNvPr>
          <p:cNvSpPr/>
          <p:nvPr/>
        </p:nvSpPr>
        <p:spPr>
          <a:xfrm>
            <a:off x="10469880" y="237744"/>
            <a:ext cx="123444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NALU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163056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E7C8C"/>
                </a:solidFill>
                <a:latin typeface="Apple SD Gothic Neo"/>
                <a:ea typeface="Apple SD Gothic Neo"/>
              </a:rPr>
              <a:t>Trask et al., Neural Arithmetic Logic Units, NeurIPS 2018, Fig.2  ·  arxiv:1808.00508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28 / 51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NAC/NALU — 산술을 가중치 공간에 제약하면 수치 범위 외삽이 성립한다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가정 불일치·게이트 실패 시에는 일반 MLP와 동일하게 붕괴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3 · CMNN  Fig.1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단조성 vs 표현력 — weight clip의 실패와 CMNN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078992"/>
            <a:ext cx="6848856" cy="1990512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unje_fig1_cub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6720840" cy="186249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78992"/>
            <a:ext cx="4617720" cy="2194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78040" y="1078992"/>
            <a:ext cx="54864" cy="21945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79208" y="1207008"/>
            <a:ext cx="4270248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실험 설정  ·  Runje &amp; Shankaranarayana 2023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목표: 단조 증가 함수  y = x³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unconstrained — 적합↑, 단조 위반 가능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(b) weight ≥ 0 clip — 단조↑, 표현력↓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사실상 선형, x³ 근사 실패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(c) CMNN — 단조 + 비선형을 동시 확보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3383280"/>
            <a:ext cx="4617720" cy="2194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8040" y="3383280"/>
            <a:ext cx="54864" cy="21945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9208" y="3511296"/>
            <a:ext cx="4270248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이론적 함의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단조 함수족에서도 universal approximation 필요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부호 clip ≠ 충분한 재매개화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외삽: ∂f/∂x 부호가 지지집합 밖에서도 유지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단조성은 페널티가 아니라 구조적 불변량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" y="3151800"/>
            <a:ext cx="6720840" cy="253576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6032" y="3151800"/>
            <a:ext cx="54864" cy="2535768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279816"/>
            <a:ext cx="6373368" cy="233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해석  ·  (a) → (b) → (c)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(b) 제약이 조악하면 단조성은 얻되 함수족이 붕괴한다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(c) 올바른 재매개화는 비선형 단조성까지 보존한다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대응 영역: 가격–수요, SOC–OCV 등 방향만 아는 외삽</a:t>
            </a:r>
          </a:p>
        </p:txBody>
      </p:sp>
      <p:sp>
        <p:nvSpPr>
          <p:cNvPr id="18" name="Rounded Rectangle 17">
            <a:hlinkClick r:id="rId3"/>
          </p:cNvPr>
          <p:cNvSpPr/>
          <p:nvPr/>
        </p:nvSpPr>
        <p:spPr>
          <a:xfrm>
            <a:off x="10469880" y="237744"/>
            <a:ext cx="123444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CMNN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163056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E7C8C"/>
                </a:solidFill>
                <a:latin typeface="Apple SD Gothic Neo"/>
                <a:ea typeface="Apple SD Gothic Neo"/>
              </a:rPr>
              <a:t>Runje &amp; Shankaranarayana, Constrained Monotonic Neural Networks, 2023, Fig.1  ·  arxiv:2205.11775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29 / 51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단순 weight clip은 x³조차 실패한다 — CMNN은 단조와 표현력을 동시에 만족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단조성은 손실 페널티가 아니라 구조적 불변량으로 강제해야 한다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3 · CMNN  Fig.3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Monotonic Dense Unit — 제약을 레이어에 내재화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078992"/>
            <a:ext cx="4889726" cy="2596896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unje_fig3_mono_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4761710" cy="2468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78992"/>
            <a:ext cx="4617720" cy="2194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78040" y="1078992"/>
            <a:ext cx="54864" cy="21945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79208" y="1207008"/>
            <a:ext cx="4270248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아키텍처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W → |·|_t → W′   (부호·크기 재매개화)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h = W′x + b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s = (s̆, ŝ, s̃) 로 채널 split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ρ̆ , ρ̂ , ρ̃  →  concat → y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단조성 by construction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3383280"/>
            <a:ext cx="4617720" cy="2194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8040" y="3383280"/>
            <a:ext cx="54864" cy="21945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9208" y="3511296"/>
            <a:ext cx="4270248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외삽에서의 역할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지지집합 밖에서도 ∂f/∂xᵢ 부호 역전 차단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점추정 오차와 무관하게 방향 오류 감소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Part 4: CA-CSS + isotonic calibration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구조(제약) ⊥ 크기(UQ) — 보완 관계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" y="3758184"/>
            <a:ext cx="6720840" cy="1929384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6032" y="3758184"/>
            <a:ext cx="54864" cy="192938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886200"/>
            <a:ext cx="6373368" cy="1728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블록 해독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|·|_t : 단조 허용 집합으로의 미분가능 투영 (hard clip 아님)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split + ρ : 국소 비선형을 유지하면서 전역 단조성 보존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Xu(진단) → CMNN(제약) → Part 4(프로토콜·모델)</a:t>
            </a:r>
          </a:p>
        </p:txBody>
      </p:sp>
      <p:sp>
        <p:nvSpPr>
          <p:cNvPr id="18" name="Rounded Rectangle 17">
            <a:hlinkClick r:id="rId3"/>
          </p:cNvPr>
          <p:cNvSpPr/>
          <p:nvPr/>
        </p:nvSpPr>
        <p:spPr>
          <a:xfrm>
            <a:off x="10469880" y="237744"/>
            <a:ext cx="123444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CMNN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163056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E7C8C"/>
                </a:solidFill>
                <a:latin typeface="Apple SD Gothic Neo"/>
                <a:ea typeface="Apple SD Gothic Neo"/>
              </a:rPr>
              <a:t>Runje &amp; Shankaranarayana (2023) Fig.3 — Monotonic Dense Unit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30 / 51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CMNN 레이어 — 단조성 by construction으로 외삽 시 부호 역전을 차단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제약은 구조를, UQ는 크기를 담당한다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3 · PINN  Fig.1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물리 잔차 ≠ 시간 외삽 보증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078992"/>
            <a:ext cx="6848856" cy="1829281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esser_fig1_pinn_ex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6720840" cy="170126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78992"/>
            <a:ext cx="4617720" cy="2194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78040" y="1078992"/>
            <a:ext cx="54864" cy="21945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79208" y="1207008"/>
            <a:ext cx="4270248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프로토콜  ·  Fesser et al. 2023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L = L_data + λ ‖N[u_θ]‖²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학습  t ∈ [0, T/2]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평가  t ∈ (T/2, T]  — 시간 축 외삽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Burgers · Allen–Cahn에서 L2·잔차 폭증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Raissi (2019) 성공 ≠ 외삽 일반 보증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3383280"/>
            <a:ext cx="4617720" cy="2194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8040" y="3383280"/>
            <a:ext cx="54864" cy="21945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9208" y="3511296"/>
            <a:ext cx="4270248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실패 기제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Spectral bias — 고주파·충격파 학습 지연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Loss balancing — 잔차↓ ≠ 해 오차↓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Collocation 희소 — 미래 시간 커버 부족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PDE prior는 필요조건일 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" y="2990569"/>
            <a:ext cx="6720840" cy="2696999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6032" y="2990569"/>
            <a:ext cx="54864" cy="2696999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118585"/>
            <a:ext cx="6373368" cy="2495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해석  ·  시간 hull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점선(t = 0.5): 공간이 아니라 시간 외삽의 경계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잔차가 작아 보여도 해는 발산할 수 있다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대응: 구간 재학습 · causality · UQ 기권 (→ Zhu)</a:t>
            </a:r>
          </a:p>
        </p:txBody>
      </p:sp>
      <p:sp>
        <p:nvSpPr>
          <p:cNvPr id="18" name="Rounded Rectangle 17">
            <a:hlinkClick r:id="rId3"/>
          </p:cNvPr>
          <p:cNvSpPr/>
          <p:nvPr/>
        </p:nvSpPr>
        <p:spPr>
          <a:xfrm>
            <a:off x="9006840" y="237744"/>
            <a:ext cx="132588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Fesser</a:t>
            </a:r>
          </a:p>
        </p:txBody>
      </p:sp>
      <p:sp>
        <p:nvSpPr>
          <p:cNvPr id="19" name="Rounded Rectangle 18">
            <a:hlinkClick r:id="rId4"/>
          </p:cNvPr>
          <p:cNvSpPr/>
          <p:nvPr/>
        </p:nvSpPr>
        <p:spPr>
          <a:xfrm>
            <a:off x="10424160" y="237744"/>
            <a:ext cx="137160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Raissi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163056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E7C8C"/>
                </a:solidFill>
                <a:latin typeface="Apple SD Gothic Neo"/>
                <a:ea typeface="Apple SD Gothic Neo"/>
              </a:rPr>
              <a:t>Fesser et al., Extrapolation Failures of PINNs, 2023, Fig.1  ·  arxiv:2306.09478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31 / 51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PINN — PDE 잔차 최소화는 시간 외삽 성능의 보증이 아니다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물리 prior와 외삽 평가 프로토콜은 분리해서 설계해야 한다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3 · DeepONet  Fig.1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Neural operator — 예측과 기권(abstain)의 분리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078992"/>
            <a:ext cx="4819360" cy="3008376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zhu_fig1_deepo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4691344" cy="2880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78992"/>
            <a:ext cx="4617720" cy="2194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78040" y="1078992"/>
            <a:ext cx="54864" cy="21945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79208" y="1207008"/>
            <a:ext cx="4270248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모형  ·  Zhu et al. 2022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G(u)(y) ≈ Σₖ bₖ(u) · tₖ(y)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Branch b(u): 입력 함수 인코딩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Trunk t(y): 질의 좌표 인코딩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점추정 NN — 분포 밖 붕괴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(B) Operator — 함수 공간 OOD 동일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3383280"/>
            <a:ext cx="4617720" cy="2194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8040" y="3383280"/>
            <a:ext cx="54864" cy="21945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9208" y="3511296"/>
            <a:ext cx="4270248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Reliable extrapolation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u ∉ supp(P_train) → 점추정만으로 위험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물리 잔차·관측 mismatch → 신뢰도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임계값 이하: abstain (기권)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성능 = 정확도 × 선택적 예측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" y="4169664"/>
            <a:ext cx="6720840" cy="1517904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6032" y="4169664"/>
            <a:ext cx="54864" cy="151790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297680"/>
            <a:ext cx="6373368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해석  ·  (A) vs (B)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high confidence, low accuracy — 조용한 실패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(B) UQ로 실패를 감지하고 기권할 수 있는가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제약 · 물리 · 기권 — 세 방어선이 보완 관계</a:t>
            </a:r>
          </a:p>
        </p:txBody>
      </p:sp>
      <p:sp>
        <p:nvSpPr>
          <p:cNvPr id="18" name="Rounded Rectangle 17">
            <a:hlinkClick r:id="rId3"/>
          </p:cNvPr>
          <p:cNvSpPr/>
          <p:nvPr/>
        </p:nvSpPr>
        <p:spPr>
          <a:xfrm>
            <a:off x="10469880" y="237744"/>
            <a:ext cx="123444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Zhu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163056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E7C8C"/>
                </a:solidFill>
                <a:latin typeface="Apple SD Gothic Neo"/>
                <a:ea typeface="Apple SD Gothic Neo"/>
              </a:rPr>
              <a:t>Zhu et al., Reliable Extrapolation of Deep Neural Operators, 2022, Fig.1  ·  arxiv:2212.06347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32 / 51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DeepONet + UQ — 함수 공간 외삽에서 기권 가능한가가 핵심이다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점추정 정확도만으로는 고위험 외삽을 방어할 수 없다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3 · 종합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언제 무엇을 쓰는가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method_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05840"/>
            <a:ext cx="5455624" cy="2743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3886200"/>
            <a:ext cx="1956816" cy="274320"/>
          </a:xfrm>
          <a:prstGeom prst="roundRect">
            <a:avLst>
              <a:gd name="adj" fmla="val 6000"/>
            </a:avLst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3904487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</a:rPr>
              <a:t>방법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3886200"/>
            <a:ext cx="2048255" cy="274320"/>
          </a:xfrm>
          <a:prstGeom prst="roundRect">
            <a:avLst>
              <a:gd name="adj" fmla="val 6000"/>
            </a:avLst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3904487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</a:rPr>
              <a:t>원리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886200"/>
            <a:ext cx="2231136" cy="274320"/>
          </a:xfrm>
          <a:prstGeom prst="roundRect">
            <a:avLst>
              <a:gd name="adj" fmla="val 6000"/>
            </a:avLst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3904487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</a:rPr>
              <a:t>언제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3886200"/>
            <a:ext cx="2139696" cy="274320"/>
          </a:xfrm>
          <a:prstGeom prst="roundRect">
            <a:avLst>
              <a:gd name="adj" fmla="val 6000"/>
            </a:avLst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3904487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</a:rPr>
              <a:t>한계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197096"/>
            <a:ext cx="1956816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" y="4233672"/>
            <a:ext cx="1901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C121A"/>
                </a:solidFill>
                <a:latin typeface="Apple SD Gothic Neo"/>
                <a:ea typeface="Apple SD Gothic Neo"/>
              </a:rPr>
              <a:t>EQL/NALU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31720" y="4197096"/>
            <a:ext cx="2048255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68296" y="4233672"/>
            <a:ext cx="19933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수식·산술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4197096"/>
            <a:ext cx="2231136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71416" y="4233672"/>
            <a:ext cx="21762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법칙 모양 앎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4197096"/>
            <a:ext cx="2139696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57416" y="4233672"/>
            <a:ext cx="20848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유닛/불안정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4526280"/>
            <a:ext cx="1956816" cy="310896"/>
          </a:xfrm>
          <a:prstGeom prst="roundRect">
            <a:avLst>
              <a:gd name="adj" fmla="val 6000"/>
            </a:avLst>
          </a:prstGeom>
          <a:solidFill>
            <a:srgbClr val="3DD6C6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" y="4562856"/>
            <a:ext cx="1901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</a:rPr>
              <a:t>Mono NN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31720" y="4526280"/>
            <a:ext cx="2048255" cy="310896"/>
          </a:xfrm>
          <a:prstGeom prst="roundRect">
            <a:avLst>
              <a:gd name="adj" fmla="val 6000"/>
            </a:avLst>
          </a:prstGeom>
          <a:solidFill>
            <a:srgbClr val="3DD6C6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68296" y="4562856"/>
            <a:ext cx="19933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</a:rPr>
              <a:t>단조 강제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4526280"/>
            <a:ext cx="2231136" cy="310896"/>
          </a:xfrm>
          <a:prstGeom prst="roundRect">
            <a:avLst>
              <a:gd name="adj" fmla="val 6000"/>
            </a:avLst>
          </a:prstGeom>
          <a:solidFill>
            <a:srgbClr val="3DD6C6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71416" y="4562856"/>
            <a:ext cx="21762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</a:rPr>
              <a:t>방향만 앎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20840" y="4526280"/>
            <a:ext cx="2139696" cy="310896"/>
          </a:xfrm>
          <a:prstGeom prst="roundRect">
            <a:avLst>
              <a:gd name="adj" fmla="val 6000"/>
            </a:avLst>
          </a:prstGeom>
          <a:solidFill>
            <a:srgbClr val="3DD6C6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57416" y="4562856"/>
            <a:ext cx="20848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</a:rPr>
              <a:t>부호 오용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" y="4855464"/>
            <a:ext cx="1956816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" y="4892040"/>
            <a:ext cx="1901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C121A"/>
                </a:solidFill>
                <a:latin typeface="Apple SD Gothic Neo"/>
                <a:ea typeface="Apple SD Gothic Neo"/>
              </a:rPr>
              <a:t>PINN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31720" y="4855464"/>
            <a:ext cx="2048255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68296" y="4892040"/>
            <a:ext cx="19933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PDE 잔차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34840" y="4855464"/>
            <a:ext cx="2231136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71416" y="4892040"/>
            <a:ext cx="21762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지배식 있음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20840" y="4855464"/>
            <a:ext cx="2139696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57416" y="4892040"/>
            <a:ext cx="20848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시간외삽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040" y="5184648"/>
            <a:ext cx="1956816" cy="310896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6616" y="5221224"/>
            <a:ext cx="1901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C121A"/>
                </a:solidFill>
                <a:latin typeface="Apple SD Gothic Neo"/>
                <a:ea typeface="Apple SD Gothic Neo"/>
              </a:rPr>
              <a:t>DeepONet+UQ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331720" y="5184648"/>
            <a:ext cx="2048255" cy="310896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68296" y="5221224"/>
            <a:ext cx="19933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연산자+경고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34840" y="5184648"/>
            <a:ext cx="2231136" cy="310896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71416" y="5221224"/>
            <a:ext cx="21762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모름/고위험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720840" y="5184648"/>
            <a:ext cx="2139696" cy="310896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57416" y="5221224"/>
            <a:ext cx="20848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비용·설계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06840" y="3886200"/>
            <a:ext cx="2834640" cy="16459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06840" y="3886200"/>
            <a:ext cx="54864" cy="16459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08008" y="4014216"/>
            <a:ext cx="248716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발표 연결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지식 종류 → 구조 선택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공통: 외삽 평가·ERM비교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우리: Mono/제약 → Part4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33 / 51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무엇을 아는가? → 구조 선택 → 가드(평가·UQ)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우리 연구에 가장 가까운 가지 = Monotonic / Constraint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PART 4  ·  10분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</a:rPr>
              <a:t>실전 응용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우리 데이터셋 · Strict 프로토콜 · APEX-Guard · 결과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외삽성: 4D regime + 고TRA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문헌→모델 연결 (Xu·Mono·DomainBed)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숫자: 3.26 vs 3.80 · ablation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E7C8C"/>
                </a:solidFill>
                <a:latin typeface="Apple SD Gothic Neo"/>
                <a:ea typeface="Apple SD Gothic Neo"/>
              </a:rPr>
              <a:t>34 / 51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4 · 외삽성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N-CMAPSS Operating Regime — 4차원 관점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ncmapss_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11247120" cy="731701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5349240"/>
            <a:ext cx="11338560" cy="640080"/>
          </a:xfrm>
          <a:prstGeom prst="roundRect">
            <a:avLst>
              <a:gd name="adj" fmla="val 6000"/>
            </a:avLst>
          </a:prstGeom>
          <a:solidFill>
            <a:srgbClr val="0B1016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440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Train: TRA≤q70  □□□□    Test: TRA&gt;q90 + unit holdout  X    → hull 밖 = 진짜 외삽 (보간 평가 아님)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35 / 51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4차원 중 TRA가 외삽축 — Test는 hull 밖 X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그래서 N-CMAPSS는 보간이 아니라 외삽 문제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4 · 스토리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문헌 → APEX-Guard 연결도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apex_lin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11247120" cy="426273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5212080"/>
            <a:ext cx="11338560" cy="777240"/>
          </a:xfrm>
          <a:prstGeom prst="roundRect">
            <a:avLst>
              <a:gd name="adj" fmla="val 6000"/>
            </a:avLst>
          </a:prstGeom>
          <a:solidFill>
            <a:srgbClr val="0B1016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349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CF1F7"/>
                </a:solidFill>
                <a:latin typeface="Apple SD Gothic Neo"/>
                <a:ea typeface="Apple SD Gothic Neo"/>
              </a:rPr>
              <a:t>Xu(실패 기제) → Monotonic(제약) → DomainBed(공정 평가) → CA-CSS → APEX-Guard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논문 세미나가 '우리 모델'로 수렴하는 한 장</a:t>
            </a:r>
          </a:p>
        </p:txBody>
      </p:sp>
      <p:sp>
        <p:nvSpPr>
          <p:cNvPr id="10" name="Rounded Rectangle 9">
            <a:hlinkClick r:id="rId3"/>
          </p:cNvPr>
          <p:cNvSpPr/>
          <p:nvPr/>
        </p:nvSpPr>
        <p:spPr>
          <a:xfrm>
            <a:off x="502920" y="256032"/>
            <a:ext cx="109728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Xu</a:t>
            </a:r>
          </a:p>
        </p:txBody>
      </p:sp>
      <p:sp>
        <p:nvSpPr>
          <p:cNvPr id="11" name="Rounded Rectangle 10">
            <a:hlinkClick r:id="rId4"/>
          </p:cNvPr>
          <p:cNvSpPr/>
          <p:nvPr/>
        </p:nvSpPr>
        <p:spPr>
          <a:xfrm>
            <a:off x="1737360" y="256032"/>
            <a:ext cx="11887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CMNN</a:t>
            </a:r>
          </a:p>
        </p:txBody>
      </p:sp>
      <p:sp>
        <p:nvSpPr>
          <p:cNvPr id="12" name="Rounded Rectangle 11">
            <a:hlinkClick r:id="rId5"/>
          </p:cNvPr>
          <p:cNvSpPr/>
          <p:nvPr/>
        </p:nvSpPr>
        <p:spPr>
          <a:xfrm>
            <a:off x="3063240" y="256032"/>
            <a:ext cx="146304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DomainBed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36 / 51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Xu→Mono→DomainBed→CA-CSS→APEX — 문헌이 모델이 된다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세미나 스토리의 클라이맥스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4 ·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APEX-Guard — 외삽을 설계한 RUL 모델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11338560" cy="1097280"/>
          </a:xfrm>
          <a:prstGeom prst="roundRect">
            <a:avLst>
              <a:gd name="adj" fmla="val 6000"/>
            </a:avLst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</a:rPr>
              <a:t>Adaptive Physics EXtrapolation Guard  ·  외삽은 피할 수 없다 → 설계로 방어한다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651760"/>
            <a:ext cx="3657600" cy="31089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651760"/>
            <a:ext cx="54864" cy="31089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779776"/>
            <a:ext cx="3310128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L1 평가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strict_late 프로토콜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순수 외삽만 측정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전이 window 제거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2651760"/>
            <a:ext cx="3657600" cy="31089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2651760"/>
            <a:ext cx="54864" cy="31089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2779776"/>
            <a:ext cx="3310128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L2 학습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CA-CSS 제약 발견·컴파일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TRA(−) + cycle_mono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hull을 논리적으로 확장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651760"/>
            <a:ext cx="3657600" cy="31089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2651760"/>
            <a:ext cx="54864" cy="31089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779776"/>
            <a:ext cx="3310128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L3 추론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unit별 isotonic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H1 위반 → 0%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단조 RUL 궤적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37 / 51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L1 평가 / L2 제약학습 / L3 단조추론 — 3층으로 말하라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외삽을 운이 아니라 설계로 막는다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4 · 프로토콜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Strict TRA Extrap — 3겹으로 강제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143000"/>
            <a:ext cx="3794760" cy="23317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54864" cy="23317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271016"/>
            <a:ext cx="3447288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① TRA shift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Train: tra_end≤q70 ∧ tra_mean≤q70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Test: tra_end&gt;q90 ∧ high_frac≥0.7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전이 window 오염 제거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143000"/>
            <a:ext cx="3794760" cy="23317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143000"/>
            <a:ext cx="54864" cy="23317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1271016"/>
            <a:ext cx="3447288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② Unit holdout (tra_rich)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train {5,18,16,11,15,14}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val {2}  ·  test {10,20}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고TRA share 상위 유닛 holdout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143000"/>
            <a:ext cx="3703320" cy="23317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143000"/>
            <a:ext cx="54864" cy="23317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271016"/>
            <a:ext cx="3355848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③ Late-life band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RUL ≤ 50만 측정 (strict_late)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n = 201  ·  seed = 42  ·  e15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all_rul 7.53 → late 3.26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3611880"/>
            <a:ext cx="11475720" cy="19659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611880"/>
            <a:ext cx="54864" cy="19659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3739896"/>
            <a:ext cx="11128248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왜 이 프로토콜인가 (근거)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이전 hard: tra_end만 보면 저→고 전이 window가 고TRA로 혼입 · unit 14는 고TRA 거의 없음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high_frac=(TRA&gt;q85 비율)로 순수 고부하만 남김 → 전이 필터 유효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말기(RUL≤50)가 핵심: all_rul 7.53 → strict_late 3.26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DomainBed 교훈 — 평가 프로토콜을 먼저 고정한 뒤 모델 비교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38 / 51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Strict = TRA shift × unit holdout × late band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프로토콜이 약하면 성능 숫자는 의미가 없다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4 ·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v4_disentangled — Dual Encoder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278892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54864" cy="4297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408176"/>
            <a:ext cx="244144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입력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OC-Norm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운용점 편차 분리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cycle channel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280160"/>
            <a:ext cx="278892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280160"/>
            <a:ext cx="54864" cy="4297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1408176"/>
            <a:ext cx="244144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Health Enc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TRA=0 masking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열화 패턴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TRA overfit 방지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280160"/>
            <a:ext cx="278892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280160"/>
            <a:ext cx="54864" cy="42976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1408176"/>
            <a:ext cx="244144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Load Enc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TRA, φ, T30, cycle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외삽 축 전담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1280160"/>
            <a:ext cx="246888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26880" y="1280160"/>
            <a:ext cx="54864" cy="4297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28048" y="1408176"/>
            <a:ext cx="212140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RUL 분해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RUL=health−damage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w≥0 제약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d=64, L=2, ep=15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39 / 51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Health(TRA=0) + Load(외삽축) — 역할을 분리했다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RUL = health − damage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4 · 학습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CA-CSS + Isotonic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365760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54864" cy="4297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408176"/>
            <a:ext cx="331012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CA-CSS 파이프라인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Discovery → Pseudo-extrap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→ Compile → Train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train-band만 (leakage 방지)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TRA(−) λ=0.05 adopt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cycle_mono adopt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280160"/>
            <a:ext cx="365760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280160"/>
            <a:ext cx="54864" cy="4297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408176"/>
            <a:ext cx="331012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손실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L = L_RUL + L_physics + L_TRA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TRA(−) hinge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cycle_mono hinge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물리 감독 = 외삽 가드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80160"/>
            <a:ext cx="365760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280160"/>
            <a:ext cx="54864" cy="42976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408176"/>
            <a:ext cx="331012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Isotonic 후처리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unit별 cycle 정렬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decreasing isotonic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H1: 28% → 0%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단조 궤적 보장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40 / 51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CA-CSS가 제약을 발견·컴파일하고 isotonic이 궤적을 지킨다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H1 위반 28%→0%가 물리 가드의 증거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4 ·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strict_late 비교 (tra_rich · seed=42 · n=201)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strict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078992"/>
            <a:ext cx="6812280" cy="358250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23760" y="1078992"/>
            <a:ext cx="4617720" cy="30632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23760" y="1078992"/>
            <a:ext cx="54864" cy="30632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4928" y="1207008"/>
            <a:ext cx="4270248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주결과 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APEX (v4_iso)   3.26   R² 0.947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TabPFN           3.80   R² 0.927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XGB              6.95   R² 0.757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Transformer      7.31   R² 0.732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TCN             14.09   R² 0.002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Δ vs TabPFN: −0.54 RMSE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4251960"/>
            <a:ext cx="4617720" cy="1371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23760" y="4251960"/>
            <a:ext cx="54864" cy="13716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24928" y="4379976"/>
            <a:ext cx="4270248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해석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제약+단조가 강 tabular baseline을 이김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순수 용량(TF/TCN)만으로는 외삽 실패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" y="4251960"/>
            <a:ext cx="6812280" cy="1371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4251960"/>
            <a:ext cx="54864" cy="13716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379976"/>
            <a:ext cx="6464808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실험 설정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epochs=15 · seed=42 · TabPFN max_train=2000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모델 키 v4_iso = APEX-Guard · 출처: strict_extrap_RESULTS.md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41 / 51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strict_late: APEX 3.26 &lt; TabPFN 3.80 (n=201) — 주결과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용량만 키운 모델(TF/TCN)은 외삽에서 붕괴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4 · Ablation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무엇이 성능을 만드는가 — 구성요소 제거 실험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51560"/>
            <a:ext cx="6903720" cy="264843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69480" y="1051560"/>
            <a:ext cx="4572000" cy="23317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69480" y="1051560"/>
            <a:ext cx="54864" cy="23317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70648" y="1179576"/>
            <a:ext cx="4224528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Ablation (hard · 3-seed · e15)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full          3.88 ± 0.80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no_tra_loss   3.97  (+0.09)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no_physics    4.21  (+0.33)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no_iso        4.37  (+0.49) ← 최대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revin         8.85  (+4.97) ← 해로움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TabPFN ref    4.79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3520440"/>
            <a:ext cx="4572000" cy="2103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69480" y="3520440"/>
            <a:ext cx="54864" cy="21031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0648" y="3648456"/>
            <a:ext cx="4224528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근거 해석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Isotonic이 가장 큰 기여 (+0.49)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물리 제약 제거도 유의미 (+0.33)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H1 위반: 28% → 0% (iso on)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RevIN은 이 과제에서 역효과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" y="4526280"/>
            <a:ext cx="6903720" cy="10972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4526280"/>
            <a:ext cx="54864" cy="10972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4654296"/>
            <a:ext cx="655624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한계 · 강건성 (nasa_drop14)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test를 {11,15}로 바꾸면: TF 4.45 &lt; TabPFN 5.14 &lt; APEX 5.30 — 순위 역전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주결과는 tra_rich 한정 · 유닛 규칙·multi-seed를 명시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42 / 51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Ablation: isotonic(+0.49) &gt; physics(+0.33) &gt; TRA loss(+0.09)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주결과와 별도로 유닛 민감성(nasa_drop14)도 보고한다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4 · 교훈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설계가 성능으로 연결되는 논리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11338560" cy="1828800"/>
          </a:xfrm>
          <a:prstGeom prst="roundRect">
            <a:avLst>
              <a:gd name="adj" fmla="val 6000"/>
            </a:avLst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</a:rPr>
              <a:t>외삽 성능을 우연에 맡기지 말고
평가(L1) · 제약(L2) · 단조(L3)를 설계하라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B8C4D0"/>
                </a:solidFill>
                <a:latin typeface="Apple SD Gothic Neo"/>
                <a:ea typeface="Apple SD Gothic Neo"/>
              </a:rPr>
              <a:t>이론 → 프로토콜(strict_late) → 모델(APEX) → ablation으로 근거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291840"/>
            <a:ext cx="3657600" cy="22402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3291840"/>
            <a:ext cx="54864" cy="22402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3419856"/>
            <a:ext cx="33101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정리 1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외삽 정의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고TRA × unit holdout × late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3291840"/>
            <a:ext cx="3657600" cy="22402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3291840"/>
            <a:ext cx="54864" cy="22402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3419856"/>
            <a:ext cx="33101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정리 2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설계 대응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Dual Enc + CA-CSS + iso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291840"/>
            <a:ext cx="3657600" cy="22402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3291840"/>
            <a:ext cx="54864" cy="22402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3419856"/>
            <a:ext cx="33101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정리 3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근거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3.26 vs 3.80 · iso +0.49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43 / 51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평가·제약·단조를 설계하면 외삽 성능이 따라온다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주결과 + ablation + 한계(유닛 민감)를 한 세트로 말하라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PART 5  ·  4분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</a:rPr>
              <a:t>연구 동향 &amp; 논문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30년 타임라인 · 필독 · 연구 적용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필독 3편만 찍고 가기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내 문제에 방법 매핑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Future로 연구 전망을 정리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E7C8C"/>
                </a:solidFill>
                <a:latin typeface="Apple SD Gothic Neo"/>
                <a:ea typeface="Apple SD Gothic Neo"/>
              </a:rPr>
              <a:t>44 / 51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5 · 타임라인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외삽 연구 30년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828800"/>
            <a:ext cx="1828800" cy="320040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1828800" cy="5029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901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1990s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1645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Vapnik · VC
보간 이론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1828800"/>
            <a:ext cx="1828800" cy="320040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1720" y="1828800"/>
            <a:ext cx="1828800" cy="50292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1901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2000s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560320"/>
            <a:ext cx="1645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GP · Covariate
Shift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828800"/>
            <a:ext cx="1828800" cy="320040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828800"/>
            <a:ext cx="1828800" cy="5029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901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2016-19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60320"/>
            <a:ext cx="1645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EQL · NALU
IRM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828800"/>
            <a:ext cx="1828800" cy="320040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828800"/>
            <a:ext cx="1828800" cy="50292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901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2020-21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560320"/>
            <a:ext cx="1645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DomainBed
Xu · PINN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828800"/>
            <a:ext cx="1828800" cy="320040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828800"/>
            <a:ext cx="1828800" cy="5029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901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2022-23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560320"/>
            <a:ext cx="1645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CMNN
DeepONet+UQ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95560" y="1828800"/>
            <a:ext cx="1828800" cy="320040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195560" y="1828800"/>
            <a:ext cx="1828800" cy="50292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95560" y="1901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2024-25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0" y="2560320"/>
            <a:ext cx="1645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Pfister
Prob.Richardson
Wu 시계열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45 / 51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30년: 이론→OOD→NN진단→제약/물리→UQ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지금은 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5 · 필독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우선순위 가이드 (레포 PDF 동봉)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365760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54864" cy="42976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408176"/>
            <a:ext cx="331012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★★★ 필수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Xu 2021 — NN 외삽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Gulrajani 2020 — DomainBed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Liu 2023 — OOD Survey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280160"/>
            <a:ext cx="365760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280160"/>
            <a:ext cx="54864" cy="4297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408176"/>
            <a:ext cx="331012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★★☆ 방법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Trask 2018 NALU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Runje 2023 CMNN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Fesser 2023 PINN 실패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Teckentrup 2024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80160"/>
            <a:ext cx="365760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280160"/>
            <a:ext cx="54864" cy="4297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408176"/>
            <a:ext cx="331012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★☆☆ 응용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Aykol 2021 Battery+Phys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Li 2023 Lifetime OOD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Wu 2025 시계열 OOD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총 36편 / extrapolation-papers/</a:t>
            </a:r>
          </a:p>
        </p:txBody>
      </p:sp>
      <p:sp>
        <p:nvSpPr>
          <p:cNvPr id="16" name="Rounded Rectangle 15">
            <a:hlinkClick r:id="rId2"/>
          </p:cNvPr>
          <p:cNvSpPr/>
          <p:nvPr/>
        </p:nvSpPr>
        <p:spPr>
          <a:xfrm>
            <a:off x="502920" y="256032"/>
            <a:ext cx="9601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Xu</a:t>
            </a:r>
          </a:p>
        </p:txBody>
      </p:sp>
      <p:sp>
        <p:nvSpPr>
          <p:cNvPr id="17" name="Rounded Rectangle 16">
            <a:hlinkClick r:id="rId3"/>
          </p:cNvPr>
          <p:cNvSpPr/>
          <p:nvPr/>
        </p:nvSpPr>
        <p:spPr>
          <a:xfrm>
            <a:off x="1554480" y="256032"/>
            <a:ext cx="123444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DomainBed</a:t>
            </a:r>
          </a:p>
        </p:txBody>
      </p:sp>
      <p:sp>
        <p:nvSpPr>
          <p:cNvPr id="18" name="Rounded Rectangle 17">
            <a:hlinkClick r:id="rId4"/>
          </p:cNvPr>
          <p:cNvSpPr/>
          <p:nvPr/>
        </p:nvSpPr>
        <p:spPr>
          <a:xfrm>
            <a:off x="2880360" y="256032"/>
            <a:ext cx="9601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Liu</a:t>
            </a:r>
          </a:p>
        </p:txBody>
      </p:sp>
      <p:sp>
        <p:nvSpPr>
          <p:cNvPr id="19" name="Rounded Rectangle 18">
            <a:hlinkClick r:id="rId5"/>
          </p:cNvPr>
          <p:cNvSpPr/>
          <p:nvPr/>
        </p:nvSpPr>
        <p:spPr>
          <a:xfrm>
            <a:off x="3931920" y="256032"/>
            <a:ext cx="9601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IRM</a:t>
            </a:r>
          </a:p>
        </p:txBody>
      </p:sp>
      <p:sp>
        <p:nvSpPr>
          <p:cNvPr id="20" name="Rounded Rectangle 19">
            <a:hlinkClick r:id="rId6"/>
          </p:cNvPr>
          <p:cNvSpPr/>
          <p:nvPr/>
        </p:nvSpPr>
        <p:spPr>
          <a:xfrm>
            <a:off x="4983480" y="256032"/>
            <a:ext cx="9601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NALU</a:t>
            </a:r>
          </a:p>
        </p:txBody>
      </p:sp>
      <p:sp>
        <p:nvSpPr>
          <p:cNvPr id="21" name="Rounded Rectangle 20">
            <a:hlinkClick r:id="rId7"/>
          </p:cNvPr>
          <p:cNvSpPr/>
          <p:nvPr/>
        </p:nvSpPr>
        <p:spPr>
          <a:xfrm>
            <a:off x="6035040" y="256032"/>
            <a:ext cx="9601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CMNN</a:t>
            </a:r>
          </a:p>
        </p:txBody>
      </p:sp>
      <p:sp>
        <p:nvSpPr>
          <p:cNvPr id="22" name="Rounded Rectangle 21">
            <a:hlinkClick r:id="rId8"/>
          </p:cNvPr>
          <p:cNvSpPr/>
          <p:nvPr/>
        </p:nvSpPr>
        <p:spPr>
          <a:xfrm>
            <a:off x="7086600" y="256032"/>
            <a:ext cx="105156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Fesser</a:t>
            </a:r>
          </a:p>
        </p:txBody>
      </p:sp>
      <p:sp>
        <p:nvSpPr>
          <p:cNvPr id="23" name="Rounded Rectangle 22">
            <a:hlinkClick r:id="rId9"/>
          </p:cNvPr>
          <p:cNvSpPr/>
          <p:nvPr/>
        </p:nvSpPr>
        <p:spPr>
          <a:xfrm>
            <a:off x="8229600" y="256032"/>
            <a:ext cx="105156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Raissi</a:t>
            </a:r>
          </a:p>
        </p:txBody>
      </p:sp>
      <p:sp>
        <p:nvSpPr>
          <p:cNvPr id="24" name="Rounded Rectangle 23">
            <a:hlinkClick r:id="rId10"/>
          </p:cNvPr>
          <p:cNvSpPr/>
          <p:nvPr/>
        </p:nvSpPr>
        <p:spPr>
          <a:xfrm>
            <a:off x="9372600" y="256032"/>
            <a:ext cx="9601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Zhu</a:t>
            </a:r>
          </a:p>
        </p:txBody>
      </p:sp>
      <p:sp>
        <p:nvSpPr>
          <p:cNvPr id="25" name="Rounded Rectangle 24">
            <a:hlinkClick r:id="rId11"/>
          </p:cNvPr>
          <p:cNvSpPr/>
          <p:nvPr/>
        </p:nvSpPr>
        <p:spPr>
          <a:xfrm>
            <a:off x="10424160" y="256032"/>
            <a:ext cx="9601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EQL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46 / 51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필독은 Xu / DomainBed / Liu 세 장만 찍고 가기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나머지는 paper_pdfs/에서 필요할 때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5 · 적용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연구에 바로 붙이는 매핑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3703320" cy="45720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5331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DD6C6"/>
                </a:solidFill>
                <a:latin typeface="Apple SD Gothic Neo"/>
                <a:ea typeface="Apple SD Gothic Neo"/>
              </a:rPr>
              <a:t>문제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280160"/>
            <a:ext cx="3703320" cy="45720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35331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DD6C6"/>
                </a:solidFill>
                <a:latin typeface="Apple SD Gothic Neo"/>
                <a:ea typeface="Apple SD Gothic Neo"/>
              </a:rPr>
              <a:t>추천 방법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80160"/>
            <a:ext cx="3703320" cy="45720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35331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DD6C6"/>
                </a:solidFill>
                <a:latin typeface="Apple SD Gothic Neo"/>
                <a:ea typeface="Apple SD Gothic Neo"/>
              </a:rPr>
              <a:t>논문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1828800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08483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CF1F7"/>
                </a:solidFill>
                <a:latin typeface="Apple SD Gothic Neo"/>
                <a:ea typeface="Apple SD Gothic Neo"/>
              </a:rPr>
              <a:t>단조 관계 외삽 (SOC-OCV 등)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828800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08483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CF1F7"/>
                </a:solidFill>
                <a:latin typeface="Apple SD Gothic Neo"/>
                <a:ea typeface="Apple SD Gothic Neo"/>
              </a:rPr>
              <a:t>Monotonic NN + isotonic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828800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208483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CF1F7"/>
                </a:solidFill>
                <a:latin typeface="Apple SD Gothic Neo"/>
                <a:ea typeface="Apple SD Gothic Neo"/>
              </a:rPr>
              <a:t>Runje 2023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788920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04495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CF1F7"/>
                </a:solidFill>
                <a:latin typeface="Apple SD Gothic Neo"/>
                <a:ea typeface="Apple SD Gothic Neo"/>
              </a:rPr>
              <a:t>조건/도메인 OOD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2788920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304495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CF1F7"/>
                </a:solidFill>
                <a:latin typeface="Apple SD Gothic Neo"/>
                <a:ea typeface="Apple SD Gothic Neo"/>
              </a:rPr>
              <a:t>제약 학습 + ERM 비교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2788920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304495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CF1F7"/>
                </a:solidFill>
                <a:latin typeface="Apple SD Gothic Neo"/>
                <a:ea typeface="Apple SD Gothic Neo"/>
              </a:rPr>
              <a:t>Liu · Gulrajani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3749039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005071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CF1F7"/>
                </a:solidFill>
                <a:latin typeface="Apple SD Gothic Neo"/>
                <a:ea typeface="Apple SD Gothic Neo"/>
              </a:rPr>
              <a:t>물리 PDE 영역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06240" y="3749039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4005071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CF1F7"/>
                </a:solidFill>
                <a:latin typeface="Apple SD Gothic Neo"/>
                <a:ea typeface="Apple SD Gothic Neo"/>
              </a:rPr>
              <a:t>PINN + UQ (DeepONet)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1000" y="3749039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005071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CF1F7"/>
                </a:solidFill>
                <a:latin typeface="Apple SD Gothic Neo"/>
                <a:ea typeface="Apple SD Gothic Neo"/>
              </a:rPr>
              <a:t>Fesser · Zhu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4709160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96519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CF1F7"/>
                </a:solidFill>
                <a:latin typeface="Apple SD Gothic Neo"/>
                <a:ea typeface="Apple SD Gothic Neo"/>
              </a:rPr>
              <a:t>소량·해석 필요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0" y="4709160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496519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CF1F7"/>
                </a:solidFill>
                <a:latin typeface="Apple SD Gothic Neo"/>
                <a:ea typeface="Apple SD Gothic Neo"/>
              </a:rPr>
              <a:t>EQL + Bayesian UQ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01000" y="4709160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92440" y="496519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CF1F7"/>
                </a:solidFill>
                <a:latin typeface="Apple SD Gothic Neo"/>
                <a:ea typeface="Apple SD Gothic Neo"/>
              </a:rPr>
              <a:t>Martius · Teckentrup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47 / 51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문제→방법 매핑이 발표의 실용적 결론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단조면 CMNN, OOD면 ERM비교, PDE면 PINN+UQ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핵심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외삽을 정복하는 4가지 열쇠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2788920" cy="402336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2788920" cy="64008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81328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</a:rPr>
              <a:t>01  이론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7744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0ADBC"/>
                </a:solidFill>
                <a:latin typeface="Apple SD Gothic Neo"/>
                <a:ea typeface="Apple SD Gothic Neo"/>
              </a:rPr>
              <a:t>보간 ≠ 외삽
support 밖은 가정 없으면 식별 불가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371600"/>
            <a:ext cx="2788920" cy="402336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371600"/>
            <a:ext cx="2788920" cy="6400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481328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</a:rPr>
              <a:t>02  OOD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7744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0ADBC"/>
                </a:solidFill>
                <a:latin typeface="Apple SD Gothic Neo"/>
                <a:ea typeface="Apple SD Gothic Neo"/>
              </a:rPr>
              <a:t>ERM 실패 가능
DomainBed로 재검증 필수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371600"/>
            <a:ext cx="2788920" cy="402336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371600"/>
            <a:ext cx="2788920" cy="6400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481328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</a:rPr>
              <a:t>03  구조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37744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0ADBC"/>
                </a:solidFill>
                <a:latin typeface="Apple SD Gothic Neo"/>
                <a:ea typeface="Apple SD Gothic Neo"/>
              </a:rPr>
              <a:t>물리·단조 제약이
최고의 외삽 도구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371600"/>
            <a:ext cx="2788920" cy="402336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371600"/>
            <a:ext cx="2788920" cy="64008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1481328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</a:rPr>
              <a:t>04  UQ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37744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0ADBC"/>
                </a:solidFill>
                <a:latin typeface="Apple SD Gothic Neo"/>
                <a:ea typeface="Apple SD Gothic Neo"/>
              </a:rPr>
              <a:t>예측값보다
얼마나 틀릴 수 있는가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48 / 51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이론 · OOD · 구조제약 · UQ — 네 열쇠만 반복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도메인 지식이 최고의 외삽 도구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5 ·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앞으로 연구 방향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fu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155680" cy="534698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5760" y="4663440"/>
            <a:ext cx="11430000" cy="1051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4663440"/>
            <a:ext cx="64008" cy="10515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736592"/>
            <a:ext cx="1110996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9A5C"/>
                </a:solidFill>
                <a:latin typeface="Apple SD Gothic Neo"/>
                <a:ea typeface="Apple SD Gothic Neo"/>
              </a:rPr>
              <a:t>Remarks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A0ADBC"/>
                </a:solidFill>
                <a:latin typeface="Apple SD Gothic Neo"/>
                <a:ea typeface="Apple SD Gothic Neo"/>
              </a:rPr>
              <a:t>–  Future 네 단계: Inverse → Physics prior → Foundation → Digital Twin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A0ADBC"/>
                </a:solidFill>
                <a:latin typeface="Apple SD Gothic Neo"/>
                <a:ea typeface="Apple SD Gothic Neo"/>
              </a:rPr>
              <a:t>–  명제: 외삽 가정(Assumption)을 시스템에 더 강하게·자동으로 내재화한다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A0ADBC"/>
                </a:solidFill>
                <a:latin typeface="Apple SD Gothic Neo"/>
                <a:ea typeface="Apple SD Gothic Neo"/>
              </a:rPr>
              <a:t>–  후속 연구 질의에 대한 응답 프레임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49 / 51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Future: Inverse → Physics prior → Foundation → Twin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가정을 더 강하게·자동으로 넣는 방향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최종 조언 — 마지막에 이 구조만 남겨라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ple SD Gothic Neo"/>
                <a:ea typeface="Apple SD Gothic Neo"/>
              </a:rPr>
              <a:t>외삽을 풀 때 가장 할 일:
어떤 물리적·수학적 불변성이 존재하는가?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49039"/>
            <a:ext cx="3291840" cy="155448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8862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1. 가정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단조성 · PDE · 보존
없으면 식별 불가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749039"/>
            <a:ext cx="3291840" cy="155448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38862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2. 평가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hull 밖 / OOD 프로토콜
없으면 숫자 착시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749039"/>
            <a:ext cx="3291840" cy="155448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8862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3. 가드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제약 · UQ · 단조
설계로 방어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235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B8C4D0"/>
                </a:solidFill>
                <a:latin typeface="Apple SD Gothic Neo"/>
                <a:ea typeface="Apple SD Gothic Neo"/>
              </a:rPr>
              <a:t>도메인 지식이 있다면 — 그것이 최고의 외삽 도구다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참고문헌 ·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주황 버튼 → PDF  ·  전체는 paper_pdfs/ (39편) + INDEX.md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>
            <a:hlinkClick r:id="rId2"/>
          </p:cNvPr>
          <p:cNvSpPr/>
          <p:nvPr/>
        </p:nvSpPr>
        <p:spPr>
          <a:xfrm>
            <a:off x="365760" y="118872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2344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Xu 2021 — NN Extrapolate</a:t>
            </a:r>
          </a:p>
        </p:txBody>
      </p:sp>
      <p:sp>
        <p:nvSpPr>
          <p:cNvPr id="9" name="Rounded Rectangle 8">
            <a:hlinkClick r:id="rId3"/>
          </p:cNvPr>
          <p:cNvSpPr/>
          <p:nvPr/>
        </p:nvSpPr>
        <p:spPr>
          <a:xfrm>
            <a:off x="365760" y="169164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7373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Gulrajani 2020 — DomainBed</a:t>
            </a:r>
          </a:p>
        </p:txBody>
      </p:sp>
      <p:sp>
        <p:nvSpPr>
          <p:cNvPr id="11" name="Rounded Rectangle 10">
            <a:hlinkClick r:id="rId4"/>
          </p:cNvPr>
          <p:cNvSpPr/>
          <p:nvPr/>
        </p:nvSpPr>
        <p:spPr>
          <a:xfrm>
            <a:off x="365760" y="219456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2402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Liu 2023 — OOD Survey</a:t>
            </a:r>
          </a:p>
        </p:txBody>
      </p:sp>
      <p:sp>
        <p:nvSpPr>
          <p:cNvPr id="13" name="Rounded Rectangle 12">
            <a:hlinkClick r:id="rId5"/>
          </p:cNvPr>
          <p:cNvSpPr/>
          <p:nvPr/>
        </p:nvSpPr>
        <p:spPr>
          <a:xfrm>
            <a:off x="365760" y="269748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7432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Arjovsky 2019 — IRM</a:t>
            </a:r>
          </a:p>
        </p:txBody>
      </p:sp>
      <p:sp>
        <p:nvSpPr>
          <p:cNvPr id="15" name="Rounded Rectangle 14">
            <a:hlinkClick r:id="rId6"/>
          </p:cNvPr>
          <p:cNvSpPr/>
          <p:nvPr/>
        </p:nvSpPr>
        <p:spPr>
          <a:xfrm>
            <a:off x="365760" y="320040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2461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Arjovsky 2021 — OOD thesis</a:t>
            </a:r>
          </a:p>
        </p:txBody>
      </p:sp>
      <p:sp>
        <p:nvSpPr>
          <p:cNvPr id="17" name="Rounded Rectangle 16">
            <a:hlinkClick r:id="rId7"/>
          </p:cNvPr>
          <p:cNvSpPr/>
          <p:nvPr/>
        </p:nvSpPr>
        <p:spPr>
          <a:xfrm>
            <a:off x="365760" y="370332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7490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Martius 2016 — EQL</a:t>
            </a:r>
          </a:p>
        </p:txBody>
      </p:sp>
      <p:sp>
        <p:nvSpPr>
          <p:cNvPr id="19" name="Rounded Rectangle 18">
            <a:hlinkClick r:id="rId8"/>
          </p:cNvPr>
          <p:cNvSpPr/>
          <p:nvPr/>
        </p:nvSpPr>
        <p:spPr>
          <a:xfrm>
            <a:off x="365760" y="420624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2519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Trask 2018 — NALU</a:t>
            </a:r>
          </a:p>
        </p:txBody>
      </p:sp>
      <p:sp>
        <p:nvSpPr>
          <p:cNvPr id="21" name="Rounded Rectangle 20">
            <a:hlinkClick r:id="rId9"/>
          </p:cNvPr>
          <p:cNvSpPr/>
          <p:nvPr/>
        </p:nvSpPr>
        <p:spPr>
          <a:xfrm>
            <a:off x="365760" y="470916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7548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Runje 2023 — CMNN</a:t>
            </a:r>
          </a:p>
        </p:txBody>
      </p:sp>
      <p:sp>
        <p:nvSpPr>
          <p:cNvPr id="23" name="Rounded Rectangle 22">
            <a:hlinkClick r:id="rId10"/>
          </p:cNvPr>
          <p:cNvSpPr/>
          <p:nvPr/>
        </p:nvSpPr>
        <p:spPr>
          <a:xfrm>
            <a:off x="365760" y="521208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2578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Fesser 2023 — PINN fail</a:t>
            </a:r>
          </a:p>
        </p:txBody>
      </p:sp>
      <p:sp>
        <p:nvSpPr>
          <p:cNvPr id="25" name="Rounded Rectangle 24">
            <a:hlinkClick r:id="rId11"/>
          </p:cNvPr>
          <p:cNvSpPr/>
          <p:nvPr/>
        </p:nvSpPr>
        <p:spPr>
          <a:xfrm>
            <a:off x="6126480" y="118872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1234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Raissi 2019 — PINN</a:t>
            </a:r>
          </a:p>
        </p:txBody>
      </p:sp>
      <p:sp>
        <p:nvSpPr>
          <p:cNvPr id="27" name="Rounded Rectangle 26">
            <a:hlinkClick r:id="rId12"/>
          </p:cNvPr>
          <p:cNvSpPr/>
          <p:nvPr/>
        </p:nvSpPr>
        <p:spPr>
          <a:xfrm>
            <a:off x="6126480" y="169164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1737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Zhu 2022 — DeepONet+UQ</a:t>
            </a:r>
          </a:p>
        </p:txBody>
      </p:sp>
      <p:sp>
        <p:nvSpPr>
          <p:cNvPr id="29" name="Rounded Rectangle 28">
            <a:hlinkClick r:id="rId13"/>
          </p:cNvPr>
          <p:cNvSpPr/>
          <p:nvPr/>
        </p:nvSpPr>
        <p:spPr>
          <a:xfrm>
            <a:off x="6126480" y="219456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2240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Pfister 2024 — Identifiability</a:t>
            </a:r>
          </a:p>
        </p:txBody>
      </p:sp>
      <p:sp>
        <p:nvSpPr>
          <p:cNvPr id="31" name="Rounded Rectangle 30">
            <a:hlinkClick r:id="rId14"/>
          </p:cNvPr>
          <p:cNvSpPr/>
          <p:nvPr/>
        </p:nvSpPr>
        <p:spPr>
          <a:xfrm>
            <a:off x="6126480" y="269748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2743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Teckentrup 2024 — Prob.Richardson</a:t>
            </a:r>
          </a:p>
        </p:txBody>
      </p:sp>
      <p:sp>
        <p:nvSpPr>
          <p:cNvPr id="33" name="Rounded Rectangle 32">
            <a:hlinkClick r:id="rId15"/>
          </p:cNvPr>
          <p:cNvSpPr/>
          <p:nvPr/>
        </p:nvSpPr>
        <p:spPr>
          <a:xfrm>
            <a:off x="6126480" y="320040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3246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Wu 2025 — Time-series OOD</a:t>
            </a:r>
          </a:p>
        </p:txBody>
      </p:sp>
      <p:sp>
        <p:nvSpPr>
          <p:cNvPr id="35" name="Rounded Rectangle 34">
            <a:hlinkClick r:id="rId16"/>
          </p:cNvPr>
          <p:cNvSpPr/>
          <p:nvPr/>
        </p:nvSpPr>
        <p:spPr>
          <a:xfrm>
            <a:off x="6126480" y="370332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3749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Ye 2021 — OOD theory</a:t>
            </a:r>
          </a:p>
        </p:txBody>
      </p:sp>
      <p:sp>
        <p:nvSpPr>
          <p:cNvPr id="37" name="Rounded Rectangle 36">
            <a:hlinkClick r:id="rId17"/>
          </p:cNvPr>
          <p:cNvSpPr/>
          <p:nvPr/>
        </p:nvSpPr>
        <p:spPr>
          <a:xfrm>
            <a:off x="6126480" y="420624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4251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Bartley 2019 — Multivariate</a:t>
            </a:r>
          </a:p>
        </p:txBody>
      </p:sp>
      <p:sp>
        <p:nvSpPr>
          <p:cNvPr id="39" name="Rounded Rectangle 38">
            <a:hlinkClick r:id="rId18"/>
          </p:cNvPr>
          <p:cNvSpPr/>
          <p:nvPr/>
        </p:nvSpPr>
        <p:spPr>
          <a:xfrm>
            <a:off x="6126480" y="470916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4754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Aykol 2021 — Battery+Phys</a:t>
            </a:r>
          </a:p>
        </p:txBody>
      </p:sp>
      <p:sp>
        <p:nvSpPr>
          <p:cNvPr id="41" name="Rounded Rectangle 40">
            <a:hlinkClick r:id="rId19"/>
          </p:cNvPr>
          <p:cNvSpPr/>
          <p:nvPr/>
        </p:nvSpPr>
        <p:spPr>
          <a:xfrm>
            <a:off x="6126480" y="521208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5257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학습노트 PDF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51 / 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