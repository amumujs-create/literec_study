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/>
          <p:cNvSpPr/>
          <p:nvPr/>
        </p:nvSpPr>
        <p:spPr>
          <a:xfrm>
            <a:off x="307340" y="3964939"/>
            <a:ext cx="5105400" cy="2311400"/>
          </a:xfrm>
          <a:prstGeom prst="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맑은 고딕"/>
              </a:rPr>
              <a:t>DX 인증과제 완료보고 —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94A3B8"/>
                </a:solidFill>
                <a:latin typeface="맑은 고딕"/>
              </a:rPr>
              <a:t>NND Dryer 전극(음극) 표면 온도관리 모형 · 300 m/min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4A3B8"/>
                </a:solidFill>
                <a:latin typeface="맑은 고딕"/>
              </a:rPr>
              <a:t>v4 dark · SOURCE 배지 · 핵심메시지 · Figure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맑은 고딕"/>
              </a:rPr>
              <a:t>원본 미첨부 · 코드·개발노트 기반 초안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263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맑은 고딕"/>
              </a:rPr>
              <a:t>ppt_v3/DX_Anode300_과제완료_요약_v4.pptx</a:t>
            </a:r>
          </a:p>
        </p:txBody>
      </p:sp>
      <p:pic>
        <p:nvPicPr>
          <p:cNvPr id="10" name="Picture 9" descr="00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977639"/>
            <a:ext cx="5080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188468" y="1560068"/>
            <a:ext cx="10347960" cy="4670552"/>
          </a:xfrm>
          <a:prstGeom prst="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로드맵  ·  과제 → DX 인증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7DD3FC"/>
                </a:solidFill>
                <a:latin typeface="맑은 고딕"/>
              </a:rPr>
              <a:t>SOURCE  20241021_DX인증과제_과제완료보고서 · NND Dryer 전극표면 온도관리 모형(음극 300속) · 빅데이터분석1팀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365760"/>
          </a:xfrm>
          <a:prstGeom prst="rect">
            <a:avLst/>
          </a:prstGeom>
          <a:solidFill>
            <a:srgbClr val="1E293B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7DD3FC"/>
                </a:solidFill>
                <a:latin typeface="맑은 고딕"/>
              </a:rPr>
              <a:t>핵심  데이터·모형·검증·현장적용 5단계</a:t>
            </a:r>
          </a:p>
        </p:txBody>
      </p:sp>
      <p:pic>
        <p:nvPicPr>
          <p:cNvPr id="9" name="Picture 8" descr="00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572768"/>
            <a:ext cx="10322560" cy="46451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맑은 고딕"/>
              </a:rPr>
              <a:t>20241021_DX인증과제_과제완료보고서 · NND Dryer 전극표면 온도관리 모형(음극 300속) · 빅데이터분석1팀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§0 과제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과제 개요  ·  DX 인증 MBB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7DD3FC"/>
                </a:solidFill>
                <a:latin typeface="맑은 고딕"/>
              </a:rPr>
              <a:t>SOURCE  20241021_DX인증과제_과제완료보고서 · NND Dryer 전극표면 온도관리 모형(음극 300속) · 빅데이터분석1팀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365760"/>
          </a:xfrm>
          <a:prstGeom prst="rect">
            <a:avLst/>
          </a:prstGeom>
          <a:solidFill>
            <a:srgbClr val="1E293B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1E406E"/>
                </a:solidFill>
                <a:latin typeface="맑은 고딕"/>
              </a:rPr>
              <a:t>핵심  Dryer 음극 표면 SCR을 온도·가동조건으로 예측·역산하는 AI 모형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1572768"/>
            <a:ext cx="111556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과제명: NND Dryer 전극표면 온도관리 모형 개발 (음극 300 m/min)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목적: 가동 재시작·속도 변경 시 표면온도 프로파일 → SCR(IN/OUT) 선행 예측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범위: GM1 Anode 라인 · PLC log 기반 · 300 train / 1000 OOD 검증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산출: 전처리·학습 파이프라인, Predictor/Inverse, DX 인증 완료보고 (2024.10)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※ 수치·KPI는 원본 보고서 기준 — source/ 에 PPT 복사 후 재빌드 권장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맑은 고딕"/>
              </a:rPr>
              <a:t>20241021_DX인증과제_과제완료보고서 · NND Dryer 전극표면 온도관리 모형(음극 300속) · 빅데이터분석1팀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§0 과제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DX 인증 관점  ·  현장 적용 가능성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7DD3FC"/>
                </a:solidFill>
                <a:latin typeface="맑은 고딕"/>
              </a:rPr>
              <a:t>SOURCE  20241021_DX인증과제_과제완료보고서 · NND Dryer 전극표면 온도관리 모형(음극 300속) · 빅데이터분석1팀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365760"/>
          </a:xfrm>
          <a:prstGeom prst="rect">
            <a:avLst/>
          </a:prstGeom>
          <a:solidFill>
            <a:srgbClr val="1E293B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1E406E"/>
                </a:solidFill>
                <a:latin typeface="맑은 고딕"/>
              </a:rPr>
              <a:t>핵심  모형 + 데이터 + 검증 + 운영 시나리오를 한 세트로 인증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1572768"/>
            <a:ext cx="111556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입력: Init 온도·램프·비가동/직전가동 시간, SV 속도, shift 시점 Temp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출력: SCR_IN·SCR_OUT 예측 + 목표 SCR 대비 권장 Temp (Inverse)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검증: 300 m/min 보간 + Temp counterfactual + 1000 m/min OOD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운영: 재가동 episode 단위 추론 · 현장 KPI(품질·에너지) 연계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맑은 고딕"/>
              </a:rPr>
              <a:t>20241021_DX인증과제_과제완료보고서 · NND Dryer 전극표면 온도관리 모형(음극 300속) · 빅데이터분석1팀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BEDCF0"/>
                </a:solidFill>
                <a:latin typeface="맑은 고딕"/>
              </a:rPr>
              <a:t>§1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맑은 고딕"/>
              </a:rPr>
              <a:t>배경·데이터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BEDCF0"/>
                </a:solidFill>
                <a:latin typeface="맑은 고딕"/>
              </a:rPr>
              <a:t>Raw log → 학습 episode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188468" y="2507860"/>
            <a:ext cx="6155866" cy="2784110"/>
          </a:xfrm>
          <a:prstGeom prst="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§1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공정·과제 정의  ·  표면온도 ↔ SCR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7DD3FC"/>
                </a:solidFill>
                <a:latin typeface="맑은 고딕"/>
              </a:rPr>
              <a:t>SOURCE  20241021_DX인증과제_과제완료보고서 · NND Dryer 전극표면 온도관리 모형(음극 300속) · 빅데이터분석1팀 · GM1 Anode prepro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365760"/>
          </a:xfrm>
          <a:prstGeom prst="rect">
            <a:avLst/>
          </a:prstGeom>
          <a:solidFill>
            <a:srgbClr val="1E293B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1E406E"/>
                </a:solidFill>
                <a:latin typeface="맑은 고딕"/>
              </a:rPr>
              <a:t>핵심  Dryer 재가동 시 온도 프로파일이 음극 표면 SCR에 직접 영향</a:t>
            </a:r>
          </a:p>
        </p:txBody>
      </p:sp>
      <p:pic>
        <p:nvPicPr>
          <p:cNvPr id="9" name="Picture 8" descr="01_problem_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2520560"/>
            <a:ext cx="6130466" cy="27587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6226" y="1572768"/>
            <a:ext cx="5494300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Pain: 속도·재가동 조건 변화 → SCR 편차 · 수동 튜닝 한계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목표: 조건(X) → SCR(Y) 정방향 + 목표 SCR → Temp 역방향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데이터: gm1_anode_1_vel300 PLC logs (202403~)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단위: 가속 후 shift 노드(7~20s)에서 Temp·SCR 스냅샷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맑은 고딕"/>
              </a:rPr>
              <a:t>20241021_DX인증과제_과제완료보고서 · NND Dryer 전극표면 온도관리 모형(음극 300속) · 빅데이터분석1팀 · GM1 Anode prepro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188468" y="2428282"/>
            <a:ext cx="6509547" cy="2943266"/>
          </a:xfrm>
          <a:prstGeom prst="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§1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전처리 파이프라인  ·  shift episode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7DD3FC"/>
                </a:solidFill>
                <a:latin typeface="맑은 고딕"/>
              </a:rPr>
              <a:t>SOURCE  20241021_DX인증과제_과제완료보고서 · NND Dryer 전극표면 온도관리 모형(음극 300속) · 빅데이터분석1팀 · Anode_prepro_300_1000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365760"/>
          </a:xfrm>
          <a:prstGeom prst="rect">
            <a:avLst/>
          </a:prstGeom>
          <a:solidFill>
            <a:srgbClr val="1E293B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1E406E"/>
                </a:solidFill>
                <a:latin typeface="맑은 고딕"/>
              </a:rPr>
              <a:t>핵심  Raw merge → OP/가속 태깅 → shift 매칭 → 필터 → CSV</a:t>
            </a:r>
          </a:p>
        </p:txBody>
      </p:sp>
      <p:pic>
        <p:nvPicPr>
          <p:cNvPr id="9" name="Picture 8" descr="02_data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2440982"/>
            <a:ext cx="6484147" cy="291786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49907" y="1572768"/>
            <a:ext cx="5140619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가속 시작·종료·OP 구간 인덱싱 (Velocity_PV, OPState)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Init Temp/Lamp, log(NonOP/Prev OP time), SV Velocity@9/15/18/20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Target: Temp_OUT_15/18/20, SCR_IN/OUT @ shift node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필터: UseState, Temp 110~130°C band (품질 안정 구간)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맑은 고딕"/>
              </a:rPr>
              <a:t>20241021_DX인증과제_과제완료보고서 · NND Dryer 전극표면 온도관리 모형(음극 300속) · 빅데이터분석1팀 · Anode_prepro_300_1000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§1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Feature / Target  ·  X_COLUMNS_DNN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7DD3FC"/>
                </a:solidFill>
                <a:latin typeface="맑은 고딕"/>
              </a:rPr>
              <a:t>SOURCE  20241021_DX인증과제_과제완료보고서 · NND Dryer 전극표면 온도관리 모형(음극 300속) · 빅데이터분석1팀 · notebook config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365760"/>
          </a:xfrm>
          <a:prstGeom prst="rect">
            <a:avLst/>
          </a:prstGeom>
          <a:solidFill>
            <a:srgbClr val="1E293B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1E406E"/>
                </a:solidFill>
                <a:latin typeface="맑은 고딕"/>
              </a:rPr>
              <a:t>핵심  Predictor 입력 7D + Temp_OUT_20 · Y = SCR_IN, SCR_OUT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1572768"/>
            <a:ext cx="111556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Init: Temp_IN, Temp_OUT, Lamp_Temp_OUT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시간: log(NonOP_Time), log(Prev_OP_Time)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공정: SV_Velocity (shift node), Temp_OUT_20 (predictor 유일 온도)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Target: SCR_IN, SCR_OUT (음극 2채널 · 양극 3채널과 구분)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맑은 고딕"/>
              </a:rPr>
              <a:t>20241021_DX인증과제_과제완료보고서 · NND Dryer 전극표면 온도관리 모형(음극 300속) · 빅데이터분석1팀 · notebook config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188468" y="2507860"/>
            <a:ext cx="6155866" cy="2784110"/>
          </a:xfrm>
          <a:prstGeom prst="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§1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Train / Test 분리  ·  300 vs 1000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7DD3FC"/>
                </a:solidFill>
                <a:latin typeface="맑은 고딕"/>
              </a:rPr>
              <a:t>SOURCE  20241021_DX인증과제_과제완료보고서 · NND Dryer 전극표면 온도관리 모형(음극 300속) · 빅데이터분석1팀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365760"/>
          </a:xfrm>
          <a:prstGeom prst="rect">
            <a:avLst/>
          </a:prstGeom>
          <a:solidFill>
            <a:srgbClr val="1E293B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1E406E"/>
                </a:solidFill>
                <a:latin typeface="맑은 고딕"/>
              </a:rPr>
              <a:t>핵심  속도 holdout = 진짜 외삽 · Extra R²는 1000 구간</a:t>
            </a:r>
          </a:p>
        </p:txBody>
      </p:sp>
      <p:pic>
        <p:nvPicPr>
          <p:cNvPr id="9" name="Picture 8" descr="03_train_test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2520560"/>
            <a:ext cx="6130466" cy="27587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6226" y="1572768"/>
            <a:ext cx="5494300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Train: SET_Velocity 전 구간 300 m/min 고정 episode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Test: 1000 m/min 동일 feature schema · OOD generalization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지표: MAE/R² (300) + Extra R²·scatter (1000)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의미: 설비 속도업·라인 확장 시 모형 신뢰도 검증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맑은 고딕"/>
              </a:rPr>
              <a:t>20241021_DX인증과제_과제완료보고서 · NND Dryer 전극표면 온도관리 모형(음극 300속) · 빅데이터분석1팀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BEDCF0"/>
                </a:solidFill>
                <a:latin typeface="맑은 고딕"/>
              </a:rPr>
              <a:t>§2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맑은 고딕"/>
              </a:rPr>
              <a:t>모형 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BEDCF0"/>
                </a:solidFill>
                <a:latin typeface="맑은 고딕"/>
              </a:rPr>
              <a:t>Predictor + Inverse · GAN2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188468" y="2454808"/>
            <a:ext cx="6391653" cy="2890214"/>
          </a:xfrm>
          <a:prstGeom prst="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§2 모형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양방향 구조  ·  GAN2-style (Classic GAN 아님)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7DD3FC"/>
                </a:solidFill>
                <a:latin typeface="맑은 고딕"/>
              </a:rPr>
              <a:t>SOURCE  20241021_DX인증과제_과제완료보고서 · NND Dryer 전극표면 온도관리 모형(음극 300속) · 빅데이터분석1팀 · GCLN_model4 / DNN notebooks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365760"/>
          </a:xfrm>
          <a:prstGeom prst="rect">
            <a:avLst/>
          </a:prstGeom>
          <a:solidFill>
            <a:srgbClr val="1E293B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1E406E"/>
                </a:solidFill>
                <a:latin typeface="맑은 고딕"/>
              </a:rPr>
              <a:t>핵심  Predictor ⇄ Inverse · cycle consistency @ T=150°C</a:t>
            </a:r>
          </a:p>
        </p:txBody>
      </p:sp>
      <p:pic>
        <p:nvPicPr>
          <p:cNvPr id="9" name="Picture 8" descr="04_model_gan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2467508"/>
            <a:ext cx="6366253" cy="286481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32013" y="1572768"/>
            <a:ext cx="5258513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Predictor: MLP Dense(300)×4 + BN → SCR_IN, SCR_OUT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Inverse: MLP Dense(300)×5 → Temp_OUT (목표 SCR 기반)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Joint loss: MSE(SCR) + MSE(Temp) + direction + cycle@150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변형: LSTM self-attention, 2SLS 등 ablation (300vel Test/)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맑은 고딕"/>
              </a:rPr>
              <a:t>20241021_DX인증과제_과제완료보고서 · NND Dryer 전극표면 온도관리 모형(음극 300속) · 빅데이터분석1팀 · GCLN_model4 / DNN notebooks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§2 모형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학습·Loss  ·  multi-term joint update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7DD3FC"/>
                </a:solidFill>
                <a:latin typeface="맑은 고딕"/>
              </a:rPr>
              <a:t>SOURCE  20241021_DX인증과제_과제완료보고서 · NND Dryer 전극표면 온도관리 모형(음극 300속) · 빅데이터분석1팀 · Cathode GAN2 프로토콜 동일 계열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365760"/>
          </a:xfrm>
          <a:prstGeom prst="rect">
            <a:avLst/>
          </a:prstGeom>
          <a:solidFill>
            <a:srgbClr val="1E293B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1E406E"/>
                </a:solidFill>
                <a:latin typeface="맑은 고딕"/>
              </a:rPr>
              <a:t>핵심  제약(방향·cycle)을 분리 gradient step으로 빠르게 수렴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1572768"/>
            <a:ext cx="111556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Optimizer: Nadam · lr schedule (plateau 시 0.001→0.0001)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Direction penalty: SCR·Temp 단조/부호 제약 (물리 직관)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Cycle @150°C: Inverse→Predictor 일관성 (counterfactual anchor)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평가: train/val MAE + 1000 OOD scatter + CF Spearman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맑은 고딕"/>
              </a:rPr>
              <a:t>20241021_DX인증과제_과제완료보고서 · NND Dryer 전극표면 온도관리 모형(음극 300속) · 빅데이터분석1팀 · Cathode GAN2 프로토콜 동일 계열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BEDCF0"/>
                </a:solidFill>
                <a:latin typeface="맑은 고딕"/>
              </a:rPr>
              <a:t>§3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맑은 고딕"/>
              </a:rPr>
              <a:t>검증·성능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BEDCF0"/>
                </a:solidFill>
                <a:latin typeface="맑은 고딕"/>
              </a:rPr>
              <a:t>L0 / L1 / L2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188468" y="2507860"/>
            <a:ext cx="6155866" cy="2784110"/>
          </a:xfrm>
          <a:prstGeom prst="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§3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3-Level 평가  ·  보간 · CF · OOD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7DD3FC"/>
                </a:solidFill>
                <a:latin typeface="맑은 고딕"/>
              </a:rPr>
              <a:t>SOURCE  20241021_DX인증과제_과제완료보고서 · NND Dryer 전극표면 온도관리 모형(음극 300속) · 빅데이터분석1팀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365760"/>
          </a:xfrm>
          <a:prstGeom prst="rect">
            <a:avLst/>
          </a:prstGeom>
          <a:solidFill>
            <a:srgbClr val="1E293B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1E406E"/>
                </a:solidFill>
                <a:latin typeface="맑은 고딕"/>
              </a:rPr>
              <a:t>핵심  300 fitting + Temp sweep + 1000 Extra R²</a:t>
            </a:r>
          </a:p>
        </p:txBody>
      </p:sp>
      <p:pic>
        <p:nvPicPr>
          <p:cNvPr id="9" name="Picture 8" descr="05_eval_lev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2520560"/>
            <a:ext cx="6130466" cy="27587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6226" y="1572768"/>
            <a:ext cx="5494300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L0: 300 m/min train/val — MAE·R²·scatter (SCR IN/OUT)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L1: Temp→150 counterfactual — ΔT vs ΔSCR error Spearman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L2: 1000 m/min holdout — Extra R²·현장 외삽 scatter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※ 구체 MAE/R² 수치 → 원본 보고서 Figure 반영 (재빌드)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맑은 고딕"/>
              </a:rPr>
              <a:t>20241021_DX인증과제_과제완료보고서 · NND Dryer 전극표면 온도관리 모형(음극 300속) · 빅데이터분석1팀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BEDCF0"/>
                </a:solidFill>
                <a:latin typeface="맑은 고딕"/>
              </a:rPr>
              <a:t>§4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맑은 고딕"/>
              </a:rPr>
              <a:t>DX 인증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BEDCF0"/>
                </a:solidFill>
                <a:latin typeface="맑은 고딕"/>
              </a:rPr>
              <a:t>산출·적용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188468" y="2560913"/>
            <a:ext cx="5920079" cy="2678005"/>
          </a:xfrm>
          <a:prstGeom prst="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§4 DX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인증 산출물  ·  2024.10 완료보고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7DD3FC"/>
                </a:solidFill>
                <a:latin typeface="맑은 고딕"/>
              </a:rPr>
              <a:t>SOURCE  20241021_DX인증과제_과제완료보고서 · NND Dryer 전극표면 온도관리 모형(음극 300속) · 빅데이터분석1팀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365760"/>
          </a:xfrm>
          <a:prstGeom prst="rect">
            <a:avLst/>
          </a:prstGeom>
          <a:solidFill>
            <a:srgbClr val="1E293B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1E406E"/>
                </a:solidFill>
                <a:latin typeface="맑은 고딕"/>
              </a:rPr>
              <a:t>핵심  파이프라인·모형·검증·운영 시나리오 패키지</a:t>
            </a:r>
          </a:p>
        </p:txBody>
      </p:sp>
      <p:pic>
        <p:nvPicPr>
          <p:cNvPr id="9" name="Picture 8" descr="06_dx_delivera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2573613"/>
            <a:ext cx="5894679" cy="265260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60439" y="1572768"/>
            <a:ext cx="5730087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① 데이터 전처리·품질 필터·episode 정의 문서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② 300속 기준 Predictor/Inverse 모형 및 학습 로그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③ 1000속 OOD·counterfactual 검증 리포트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</a:rPr>
              <a:t>④ 현장 적용 시나리오·KPI·향후 고도화 (양극·다속)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맑은 고딕"/>
              </a:rPr>
              <a:t>20241021_DX인증과제_과제완료보고서 · NND Dryer 전극표면 온도관리 모형(음극 300속) · 빅데이터분석1팀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§4 DX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기대효과·향후  ·  공정 DX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7DD3FC"/>
                </a:solidFill>
                <a:latin typeface="맑은 고딕"/>
              </a:rPr>
              <a:t>SOURCE  20241021_DX인증과제_과제완료보고서 · NND Dryer 전극표면 온도관리 모형(음극 300속) · 빅데이터분석1팀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365760"/>
          </a:xfrm>
          <a:prstGeom prst="rect">
            <a:avLst/>
          </a:prstGeom>
          <a:solidFill>
            <a:srgbClr val="1E293B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1E406E"/>
                </a:solidFill>
                <a:latin typeface="맑은 고딕"/>
              </a:rPr>
              <a:t>핵심  재가동 SCR 예측 → 온도 set-point 선제 조정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1572768"/>
            <a:ext cx="111556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품질: SCR 편차 감소 · 재가동 초기 불량 축소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에너지: 과잉 가열·냉각 trial 감소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확장: Cathode 3-SCR, 다속(500/700), 실시간 serving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리스크: OOD(1000) 구간 지속 모니터링 · drift 대응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맑은 고딕"/>
              </a:rPr>
              <a:t>20241021_DX인증과제_과제완료보고서 · NND Dryer 전극표면 온도관리 모형(음극 300속) · 빅데이터분석1팀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Takeaway  ·  4줄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7DD3FC"/>
                </a:solidFill>
                <a:latin typeface="맑은 고딕"/>
              </a:rPr>
              <a:t>SOURCE  20241021_DX인증과제_과제완료보고서 · NND Dryer 전극표면 온도관리 모형(음극 300속) · 빅데이터분석1팀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365760"/>
          </a:xfrm>
          <a:prstGeom prst="rect">
            <a:avLst/>
          </a:prstGeom>
          <a:solidFill>
            <a:srgbClr val="1E293B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1E406E"/>
                </a:solidFill>
                <a:latin typeface="맑은 고딕"/>
              </a:rPr>
              <a:t>핵심  DX 인증 = 데이터·모형·검증·운영의 패키지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1572768"/>
            <a:ext cx="111556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① shift episode + 300/1000 속도 holdout으로 외삽 검증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② Predictor/Inverse + cycle@150 — 온도↔SCR 양방향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③ L0/L1/L2 3단 평가로 현장 신뢰도 확보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</a:rPr>
              <a:t>④ 원본 PPT → ppt_dx/source/ 복사 후 extract → 수치·Figure 자동 반영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맑은 고딕"/>
              </a:rPr>
              <a:t>20241021_DX인증과제_과제완료보고서 · NND Dryer 전극표면 온도관리 모형(음극 300속) · 빅데이터분석1팀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