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828800"/>
            <a:ext cx="5029200" cy="502920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2926080"/>
            <a:ext cx="3474720" cy="347472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91440" cy="164592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(Extrapolation)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완전 정복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이론  ·  OOD 일반화  ·  신경망 외삽 방법론  ·  배터리 응용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48056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9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기반 심화 세미나  |  Kookmin Univ. IE Lab  |  2026.07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들어가며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왜 외삽(Extrapolation)을 공부해야 하는가?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7043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70432"/>
            <a:ext cx="2697480" cy="43891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8872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현실 데이터는 항상 불완전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719072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범위 밖의 조건을 예측해야 하는 상황은 항상 발생한다.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 수명, 신소재 성능, 극한 환경 동작 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17043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170432"/>
            <a:ext cx="2697480" cy="438912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18872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0" y="118872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모델의 근본 한계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1719072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대부분의 딥러닝 모델은 "훈련 분포 안"에서만 잘 동작한다.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밖에서는 예측 불가 수준의 오차가 발생한다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17043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70432"/>
            <a:ext cx="2697480" cy="438912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18872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118872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산업에서의 실제 리스크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5080" y="1719072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외삽 예측은 제품 결함·안전사고로 이어질 수 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불확실성 정량화(UQ)와 물리 제약이 필수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64008" cy="2743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" y="4754880"/>
            <a:ext cx="8165592" cy="27432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7731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발표는 외삽의 이론 → 알고리즘 → 최신 논문 → 실제 적용까지 전체 그림을 다룹니다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발표 구성 — 50분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640080" cy="6858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07008" y="11795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기초 이론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07008" y="1490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보간 vs 외삽 · 지지 집합 · Richardson 외삽 · 불확실성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26680" y="13075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01952"/>
            <a:ext cx="640080" cy="68580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0195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07008" y="19385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일반화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07008" y="2249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 이동 유형 · IRM · DomainBed · 인과적 접근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26680" y="20665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60904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60904"/>
            <a:ext cx="640080" cy="6858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6090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07008" y="26974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신경망 외삽 방법론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07008" y="3008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 · NALU · Monotonic NN · PINN · DeepONet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26680" y="282549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419856"/>
            <a:ext cx="640080" cy="68580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19856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07008" y="34564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배터리·공학 응용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07008" y="3767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예측 · SOC-OCV · EIS 외삽 · 물리-ML 융합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26680" y="35844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178808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178808"/>
            <a:ext cx="640080" cy="685800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7880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207008" y="42153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연구 동향 &amp; 논문 가이드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207008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30년 타임라인 · 필독 논문 · 나의 연구 적용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26680" y="4343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572000" cy="457200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73152" cy="146304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외삽이란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무엇인가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이론 · 수학적 정의 · 불확실성 정량화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기초 이론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보간(Interpolation) vs 외삽(Extrapolation)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3840480" cy="457200"/>
          </a:xfrm>
          <a:prstGeom prst="rect">
            <a:avLst/>
          </a:prstGeom>
          <a:solidFill>
            <a:srgbClr val="EDECEA"/>
          </a:solidFill>
          <a:ln w="12700">
            <a:solidFill>
              <a:srgbClr val="EDEC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보간 (Interpolation)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1792224"/>
            <a:ext cx="118872" cy="118872"/>
          </a:xfrm>
          <a:prstGeom prst="ellipse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373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데이터 범위 내부 예측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2304288"/>
            <a:ext cx="118872" cy="118872"/>
          </a:xfrm>
          <a:prstGeom prst="ellipse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2494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일반적으로 신뢰도 높음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2816352"/>
            <a:ext cx="118872" cy="118872"/>
          </a:xfrm>
          <a:prstGeom prst="ellipse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7614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오차 제어 가능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3328416"/>
            <a:ext cx="118872" cy="118872"/>
          </a:xfrm>
          <a:prstGeom prst="ellipse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273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대표: 표준 ML 테스트셋 평가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840480"/>
            <a:ext cx="118872" cy="118872"/>
          </a:xfrm>
          <a:prstGeom prst="ellipse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7856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같은 공정 조건에서 중간값 추정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43000"/>
            <a:ext cx="3840480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(Extrapolation)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47488" y="1792224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17373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데이터 범위 외부 예측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47488" y="2304288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6088" y="22494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신뢰도 모델·조건에 따라 급감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47488" y="2816352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27614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오차가 거리에 따라 폭발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47488" y="3328416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76088" y="3273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대표: OOD 일반화, 미래 예측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47488" y="3840480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76088" y="37856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미테스트 충전 조건에서 RUL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224528" y="2697480"/>
            <a:ext cx="694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Bartley et al. (2019) "Identifying and characterizing extrapolation in multivariate response data"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기초 이론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지지 집합(Support Set)과 외삽 영역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64008" cy="14173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115568"/>
            <a:ext cx="8165592" cy="141732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161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수학적 정의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x_new ∈ C(X_train)  →  보간 영역 (Interpolation Region)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x_new ∉ C(X_train)  →  외삽 영역 (Extrapolation Region)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3957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C(X_train) = 훈련 데이터의 볼록 껍질 (Convex Hull)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269748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16352"/>
            <a:ext cx="2697480" cy="54864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차원의 저주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3375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고차원일수록 거의 모든 테스트 포인트가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외삽 영역에 속한다 (Bartley, 2019)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816352"/>
            <a:ext cx="269748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2816352"/>
            <a:ext cx="2697480" cy="5486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불확실성 폭발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3375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외삽 영역에서는 에피스테믹(epistemic)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불확실성이 급격히 증가한다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816352"/>
            <a:ext cx="269748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816352"/>
            <a:ext cx="2697480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물리 지식의 역할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3375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지식(단조성, PDE 등)이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외삽을 안전하게 만드는 핵심 도구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기초 이론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오차는 왜 폭발하는가 — 편향-분산 관점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1783080" cy="694944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61288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오차 요인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143000"/>
            <a:ext cx="2011680" cy="694944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116128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보간 영역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143000"/>
            <a:ext cx="2331720" cy="694944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161288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영역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1143000"/>
            <a:ext cx="1920240" cy="694944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116128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대책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1856232"/>
            <a:ext cx="1783080" cy="694944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874520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편향 (Bias)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1856232"/>
            <a:ext cx="2011680" cy="694944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187452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복잡도로 제어 가능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856232"/>
            <a:ext cx="2331720" cy="694944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187452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가정 틀리면 선형 증가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1856232"/>
            <a:ext cx="1920240" cy="694944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87452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제약 주입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569464"/>
            <a:ext cx="1783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587752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 (Variance)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31720" y="2569464"/>
            <a:ext cx="2011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04872" y="2587752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밀도에 비례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2569464"/>
            <a:ext cx="23317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2587752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없음 → 분산 최대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0" y="2569464"/>
            <a:ext cx="1920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2587752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UQ 활용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282696"/>
            <a:ext cx="1783080" cy="694944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300984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불확실성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31720" y="3282696"/>
            <a:ext cx="2011680" cy="694944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04872" y="3300984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에피스테믹 UQ로 측정 가능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3282696"/>
            <a:ext cx="2331720" cy="694944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16552" y="3300984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신뢰구간이 의미없이 발산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75120" y="3282696"/>
            <a:ext cx="1920240" cy="694944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48272" y="3300984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DeepONet + UQ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3995928"/>
            <a:ext cx="1783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4014216"/>
            <a:ext cx="1636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331720" y="3995928"/>
            <a:ext cx="2011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04872" y="4014216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알레아토릭 UQ로 분리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43400" y="3995928"/>
            <a:ext cx="23317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4014216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신호/노이즈 구분 불가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75120" y="3995928"/>
            <a:ext cx="1920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48272" y="4014216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모델 기반 필터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Pfister &amp; Bühlmann (2024) "Extrapolation-Aware Nonparametric Statistical Inference"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기초 이론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Richardson 외삽법 — 수치 해석적 접근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4023360" cy="42062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아이디어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 크기 h를 줄여가며 수렴값 A*를 추정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64008" cy="10058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2029968"/>
            <a:ext cx="3730752" cy="100584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848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A(h) = A* + c·h^p + O(h^(p+1))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4505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A* ≈ (h2^p·A(h1) - h1^p·A(h2)) / (h2^p - h1^p)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단계 크기 h1, h2의 계산값으로 수렴값 추정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4747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예시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수치 미분, 적분, PDE 수렴값 추정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배터리 이온 확산 계수 추정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115568"/>
            <a:ext cx="4023360" cy="42062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Probabilistic Richardson Extrapolation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16093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Teckentrup et al. (2024)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18470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 추정에 Gaussian Process prior를 얹어 불확실성까지 정량화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2514600"/>
            <a:ext cx="3749040" cy="1005840"/>
          </a:xfrm>
          <a:prstGeom prst="rect">
            <a:avLst/>
          </a:prstGeom>
          <a:solidFill>
            <a:srgbClr val="E8F4F5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578608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Richardson: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점 추정값만 제공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9472" y="3017520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Richardson: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사후 분포 + 신뢰구간 제공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73168" y="3611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수치해석 + Bayesian 통계의 융합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공학 외삽에서 가장 안전한 접근법 중 하나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Teckentrup et al. (2024) "Probabilistic Richardson Extrapolation" · J. Royal Statistical Society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기초 이론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불확실성 정량화 (UQ) — 외삽에서 왜 필수인가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26974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2697480" cy="640080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2478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알레아토릭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불확실성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(Aleatoric)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883664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자체의 노이즈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더 많은 데이터로 해소 불가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999232"/>
            <a:ext cx="2478024" cy="16459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072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3291840"/>
            <a:ext cx="2478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오차, 제조 공정 변동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115568"/>
            <a:ext cx="26974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115568"/>
            <a:ext cx="2697480" cy="64008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1143000"/>
            <a:ext cx="2478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에피스테믹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불확실성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(Epistemic)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47288" y="1883664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지식의 부족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데이터 추가로 해소 가능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47288" y="2999232"/>
            <a:ext cx="2478024" cy="16459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3072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47288" y="3291840"/>
            <a:ext cx="2478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외삽 영역에서 급증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핵심 지표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115568"/>
            <a:ext cx="26974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115568"/>
            <a:ext cx="2697480" cy="64008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1143000"/>
            <a:ext cx="2478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불확실성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1883664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범위 밖 예측에서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유형이 모두 증가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신뢰구간이 발산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27648" y="2999232"/>
            <a:ext cx="2478024" cy="16459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3072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27648" y="3291840"/>
            <a:ext cx="2478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배터리: SOH 0~100%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밖 예측 시 폭발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Ghahramani (2013) "Bayesian non-parametrics and the probabilistic approach to modelling"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572000" cy="457200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73152" cy="146304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일반화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 이동 · IRM · DomainBed · 인과적 접근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OOD 일반화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분포 이동(Distribution Shift) 유형 분류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1920240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338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Covariate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719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901952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변화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P(Y|X) 동일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29260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장비 의료 영상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42032" y="1115568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42032" y="1115568"/>
            <a:ext cx="1920240" cy="50292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1338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51760" y="1719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51760" y="1901952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P(Y) 변화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P(X|Y) 동일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176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29260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비율 다른 환경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26864" y="1115568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115568"/>
            <a:ext cx="1920240" cy="50292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11338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36592" y="1719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36592" y="1901952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P(Y|X) 자체 변화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시간에 따라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36592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36592" y="29260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 패턴 변화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11696" y="1115568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11696" y="1115568"/>
            <a:ext cx="1920240" cy="502920"/>
          </a:xfrm>
          <a:prstGeom prst="rect">
            <a:avLst/>
          </a:prstGeom>
          <a:solidFill>
            <a:srgbClr val="D19900"/>
          </a:solidFill>
          <a:ln w="12700">
            <a:solidFill>
              <a:srgbClr val="D1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11338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21424" y="17190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21424" y="1901952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과정 전체 변화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21424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1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21424" y="29260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합성→실제 데이터 전이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681728"/>
            <a:ext cx="64008" cy="2743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" y="4681728"/>
            <a:ext cx="8165592" cy="27432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7000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i.i.d. 가정이 붕괴될 때 표준 ERM이 실패하는 이유 — 이것이 OOD 연구의 출발점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(2023) "Towards OOD Generalization: A Survey" · arxiv:2108.13624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OOD 일반화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일반화의 공식 정의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64008" cy="1481328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115568"/>
            <a:ext cx="8165592" cy="1481328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161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일반화 목표 (Ye et al., 2021)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훈련 환경 집합 E_train = {e1, e2, ...} 에서 학습하여,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719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미지의 테스트 환경 e_test (not in E_train) 에서도 낮은 리스크를 달성하는 h를 찾아라.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목표: min_h  max_{e in E_all}  R^e(h)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406908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16352"/>
            <a:ext cx="4069080" cy="54864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443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표준 ERM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2735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min_h  E_{e in E_train}[R^e(h)]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6576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분포의 평균 리스크 최소화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2816352"/>
            <a:ext cx="406908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816352"/>
            <a:ext cx="4069080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9443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목표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2735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min_h  max_{e in E_all}  R^e(h)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 환경에서의 리스크 최소화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 et al. (2021) "Towards a Theoretical Framework of OOD Generalization" · arxiv:2106.04496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OOD 일반화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Invariant Risk Minimization (IRM)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4023360" cy="42062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IRM 핵심 아이디어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6093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Arjovsky et al. (2019/2021)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8470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훈련 환경에서 동시에 최적인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분류기 w를 유도하는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표현(representation) Phi를 학습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788920"/>
            <a:ext cx="64008" cy="98755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" y="2788920"/>
            <a:ext cx="3730752" cy="98755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346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IRMv1 목적함수 (완화 버전)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3232" y="30723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sum_e R^e(Phi) + lambda * ||grad_{w=1} R^e(w*Phi)||^2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3232" y="34930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λ가 클수록 불변성 제약 강화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38587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직관: 환경마다 fine-tune 없이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w로 모든 환경 최적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115568"/>
            <a:ext cx="4023360" cy="42062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IRM vs ERM vs DRO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1627632"/>
            <a:ext cx="1188720" cy="548640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645920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61888" y="1627632"/>
            <a:ext cx="1371600" cy="548640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164592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최적화 목표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33488" y="1627632"/>
            <a:ext cx="1280160" cy="548640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88352" y="164592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강점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2194560"/>
            <a:ext cx="118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212848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61888" y="219456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2212848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리스크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33488" y="2194560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88352" y="2212848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단순, 빠름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73168" y="2761488"/>
            <a:ext cx="118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779776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61888" y="2761488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2779776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불변 특징 학습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33488" y="2761488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8352" y="2779776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일반화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73168" y="3328416"/>
            <a:ext cx="118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3346704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GroupDRO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61888" y="3328416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6752" y="3346704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 그룹 리스크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33488" y="3328416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88352" y="3346704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73168" y="3895344"/>
            <a:ext cx="1188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913632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61888" y="3895344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16752" y="391363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원인 학습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33488" y="3895344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88352" y="3913632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가능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Arjovsky et al. (2021) "Out of Distribution Generalization in Machine Learning" · arxiv:2103.02667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OOD 일반화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DomainBed — 충격적인 결과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82296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8229600" cy="54864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252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Gulrajani &amp; Lopez-Paz, 2020 — NeurIPS 2021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공정한 하이퍼파라미터 탐색 하에서 단순 ERM이 IRM 및 대부분의 OOD 알고리즘보다 낫거나 동등하다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78608"/>
            <a:ext cx="2697480" cy="402336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243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모델 선택이 핵심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성능 차이의 상당 부분은 알고리즘이 아니라 하이퍼파라미터와 모델 선택 전략에서 비롯된다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2578608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2578608"/>
            <a:ext cx="2697480" cy="402336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6243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공정 비교 기준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3063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방법 제안 시 DomainBed 벤치마크 기준으로 ERM과 공정 비교해야 의미있는 주장이 된다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578608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578608"/>
            <a:ext cx="2697480" cy="402336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6243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실천적 교훈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3063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"새로운 OOD 알고리즘"이라는 주장은 항상 의심하고 직접 재현 실험으로 검증할 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Gulrajani &amp; Lopez-Paz (2020) "In Search of Lost Domain Generalization" · arxiv:2007.01434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OOD 일반화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인과적(Causal) 관점의 OOD — 왜 인과인가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1170432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1978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통계적 관점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49047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상관관계 최대화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더 많은 데이터, 정규화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허위 상관(spurious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correlation)에 취약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73152" cy="1170432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4323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불변성(IRM)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7249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불변 특징 찾기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IRM, CORAL, GroupDRO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환경 정의 어려움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이론-실제 간 간극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11880"/>
            <a:ext cx="73152" cy="1170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6667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인과 구조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95935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Causal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원인 변수 찾기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개입(intervention)에도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강건한 예측 가능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143000"/>
            <a:ext cx="40690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143000"/>
            <a:ext cx="4069080" cy="420624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114300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시계열 OOD — 특수성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1636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 (2025)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920240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8836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시간적 분포 이동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83480" y="21762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P(X)가 시간축을 따라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연속적으로 변화 (Concept Drift)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090672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0540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주기적 분포 이동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83480" y="334670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계절성·주기에 의한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 분포 변화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36592" y="4279392"/>
            <a:ext cx="64008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4279392"/>
            <a:ext cx="3730752" cy="50292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433425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 RUL 예측 = 두 유형이 모두 적용되는 전형적인 사례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 (2025) "OOD Generalization in Time Series: A Survey" · arxiv:2503.13868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572000" cy="457200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73152" cy="146304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신경망 외삽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방법론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 · NALU · Monotonic NN · PINN · DeepONet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신경망 외삽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신경망은 왜 외삽에 실패하는가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(2021) "How Neural Networks Extrapolate: From Feedforward to GNN"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89888"/>
            <a:ext cx="1920240" cy="7315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3619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ReLU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20116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밖 거동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2231136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활성 구간이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선형으로 연장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9718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함의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3191256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방향은 맞지만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곡률 완전히 없음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42032" y="1389888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1389888"/>
            <a:ext cx="1920240" cy="73152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53619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Tanh / Sigmoid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51760" y="20116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밖 거동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51760" y="2231136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포화(saturation)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상수로 수렴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9718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함의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51760" y="3191256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 문제에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치명적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1389888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389888"/>
            <a:ext cx="1920240" cy="73152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53619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(Siren)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36592" y="20116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밖 거동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2231136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주기적으로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반복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29718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함의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6592" y="3191256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해석 가능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 위험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11696" y="1389888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11696" y="1389888"/>
            <a:ext cx="1920240" cy="73152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21424" y="153619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ELU / GELU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21424" y="20116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밖 거동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21424" y="2231136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좌측 포화,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우측 선형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21424" y="29718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함의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21424" y="3191256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ReLU보다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약간 나음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64008" cy="201168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" y="4754880"/>
            <a:ext cx="8165592" cy="201168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77316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발견: 활성화 함수 선택이 외삽 거동을 결정 — 물리 지식 없이 범위 밖 예측 불가능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5001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(2021) “How Neural Networks Extrapolate: From Feedforward to GNN” · arxiv:2009.11848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신경망 외삽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EQL — Equation Learner: 수식 자체를 학습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02920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5029200" cy="42062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EQL (Equation Learner)  ·  Martius &amp; Lampert, 2016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645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뉴런의 활성화 함수를 수학 기본 연산으로 구성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965960"/>
            <a:ext cx="64008" cy="53035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1965960"/>
            <a:ext cx="4736592" cy="53035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2996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연산 집합: { sin, cos, x (identity), sigma, × (곱), ÷ (나눗셈) 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61518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결과가 해석 가능한 수식이 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f(x) = sin(x) 학습 시 실제로 sin 뉴런이 활성화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MLP와의 차이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363931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sin을 조각별 선형 함수로 근사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훈련 범위 밖에서 즉시 발산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1115568"/>
            <a:ext cx="2971800" cy="376732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33872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적용 영역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33872" y="1591056"/>
            <a:ext cx="118872" cy="11887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1536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법칙 발견 (Symbolic Regression)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33872" y="2231136"/>
            <a:ext cx="118872" cy="11887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2176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전기화학 관계 모델링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33872" y="2871216"/>
            <a:ext cx="118872" cy="11887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28163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 특성 곡선 외삽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33872" y="3511296"/>
            <a:ext cx="118872" cy="11887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3456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소량 데이터 공학 예측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33872" y="4096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강점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33872" y="43159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적고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중요할 때 최강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Martius &amp; Lampert (2016) "Extrapolation and learning equations" · arxiv:1610.02995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신경망 외삽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NALU — 수치 연산 특화 신경망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02920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5029200" cy="42062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Arithmetic Logic Units  ·  Trask et al., 2018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64592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신경망의 한계: 체계적 수치 연산(카운팅, 누적합)에서 외삽 실패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NALU는 덧셈·뺄셈·곱셈·나눗셈을 명시적으로 학습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468880"/>
            <a:ext cx="64008" cy="10058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2468880"/>
            <a:ext cx="4736592" cy="100584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5237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 (Neural Accumulator)  →  덧셈·뺄셈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3232" y="27797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tanh(W_hat) * sigma(M_hat)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0906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  →  곱셈·나눗셈 추가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" y="334670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NALU(x) = g*NAC(x) + (1-g)*exp(NAC(log|x|))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15000" y="1115568"/>
            <a:ext cx="2971800" cy="376732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33872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성능 벤치마크 (논문)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33872" y="1572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덧셈/뺄셈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33872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대비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 이상 정확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33872" y="24871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곱셈/나눗셈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33872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훈련범위 5배 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에서도 정확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33872" y="3401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카운팅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33872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 외삽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 달성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Trask et al. (2018) "Neural Arithmetic Logic Units" · arxiv:1808.00508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신경망 외삽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단조 제약 신경망 (Monotonic Neural Networks)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4023360" cy="42062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단조 제약 — 왜 필요한가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많은 공학 관계는 단조성(monotonicity)을 가짐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물리 지식을 신경망에 강제하면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훈련 범위 밖에서도 물리적으로 타당한 예측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578608"/>
            <a:ext cx="64008" cy="9144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2578608"/>
            <a:ext cx="3730752" cy="91440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334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 적용 예시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287121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SOC(충전량) 증가 → OCV(전압) 단조 증가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CMNN으로 이 제약 강제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미측정 SOC 범위도 안전하게 외삽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6118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 열화도 증가 → 용량 단조 감소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Monotonic NN으로 외삽 범위 확장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15568"/>
            <a:ext cx="4023360" cy="42062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구현 방법 비교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73168" y="1664208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17099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 Clipping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82512" y="173736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비음수 제한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간단한 구현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73168" y="2743200"/>
            <a:ext cx="3794760" cy="1005840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Certified MNN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(Liu, 2022)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82512" y="28163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리아푸노프 증명 기반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수학적 보장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73168" y="3822192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386791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CMNN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(Runje, 2023)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82512" y="389534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단조 활성화 + 구조 제약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높은 표현력 + 보장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Runje &amp; Shankaranarayana (2023) "Constrained Monotonic Neural Networks" · arxiv:2205.11775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신경망 외삽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Physics-Informed Neural Networks (PINN)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4023360" cy="42062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PINN 기본 원리  ·  Raissi et al. 2019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6459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손실함수에 PDE 잔차를 직접 내재화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데이터 없는 영역에서도 물리적으로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일관된 예측 생성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487168"/>
            <a:ext cx="64008" cy="80467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2487168"/>
            <a:ext cx="3730752" cy="80467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5786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L_data + lambda * L_physics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8712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E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L_physics = ||N[u](x,t)||^2  (PDE 잔차)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41985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크게: 물리 제약 강화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작게: 데이터 맞춤 강화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115568"/>
            <a:ext cx="40233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15568"/>
            <a:ext cx="4023360" cy="420624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PINN의 외삽 실패 원인 (Fesser, 2023)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"PINN도 외삽에서 실패한다"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73168" y="1975104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1938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Spectral Bias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01768" y="221284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저주파 성분 먼저 학습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고주파 성분 외삽 실패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7797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손실 불균형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01768" y="305409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부근 손실 가중치 불균형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경계 근방 예측 악화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73168" y="3657600"/>
            <a:ext cx="118872" cy="11887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36210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훈련 포인트 분포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01768" y="389534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외삽 방향으로 훈련 데이터 희박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해당 방향 외삽 불안정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73168" y="4526280"/>
            <a:ext cx="64008" cy="2743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37176" y="4526280"/>
            <a:ext cx="3730752" cy="274320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5537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DeepONet + UQ → 외삽 신뢰도 정량화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Fesser et al. (2023) "Extrapolation Failures in PINNs" · Zhu et al. (2022) "Reliable Extrapolation with DeepONet"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종합 비교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방법론 종합 비교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115568"/>
            <a:ext cx="1463040" cy="475488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11338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방법론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27632" y="1115568"/>
            <a:ext cx="1554480" cy="475488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2496" y="113385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원리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82112" y="1115568"/>
            <a:ext cx="1280160" cy="475488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6976" y="113385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요구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62272" y="1115568"/>
            <a:ext cx="1280160" cy="475488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13385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해석 가능성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1115568"/>
            <a:ext cx="1554480" cy="475488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97296" y="113385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공학 적용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96912" y="1115568"/>
            <a:ext cx="1554480" cy="475488"/>
          </a:xfrm>
          <a:prstGeom prst="rect">
            <a:avLst/>
          </a:prstGeom>
          <a:solidFill>
            <a:srgbClr val="01696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51776" y="113385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논문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" y="1604772"/>
            <a:ext cx="146304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" y="16230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MLP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27632" y="1604772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82496" y="16230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경험적 근사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82112" y="1604772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36976" y="162306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62272" y="1604772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162306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42432" y="1604772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97296" y="16230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96912" y="1604772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51776" y="16230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 1989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" y="209397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456" y="211226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27632" y="209397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82496" y="211226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수식 발견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82112" y="2093976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36976" y="211226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62272" y="2093976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17136" y="211226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높음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42432" y="209397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97296" y="211226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관계 파악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96912" y="209397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51776" y="211226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Martius 2016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4592" y="2583180"/>
            <a:ext cx="146304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9456" y="26014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627632" y="2583180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82496" y="26014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연산 학습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182112" y="2583180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36976" y="26014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62272" y="2583180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17136" y="26014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742432" y="2583180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97296" y="26014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카운팅/누적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96912" y="2583180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51776" y="260146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Trask 2018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64592" y="3072384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9456" y="309067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NN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27632" y="30723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82496" y="309067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제약 주입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182112" y="3072384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36976" y="309067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462272" y="3072384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17136" y="309067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742432" y="30723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97296" y="309067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SOC-OCV, 열화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296912" y="30723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51776" y="309067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Runje 2023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64592" y="3561588"/>
            <a:ext cx="146304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9456" y="357987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627632" y="3561588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682496" y="357987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 내재화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182112" y="3561588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36976" y="357987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소량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462272" y="3561588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7136" y="357987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742432" y="3561588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97296" y="357987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전기화학 모델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296912" y="3561588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51776" y="357987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Raissi 2019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64592" y="4050792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9456" y="406908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 / OOD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627632" y="405079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82496" y="406908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불변 특징 학습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182112" y="4050792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36976" y="406908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다환경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462272" y="4050792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17136" y="406908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742432" y="405079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797296" y="406908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이동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296912" y="405079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1776" y="406908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Arjovsky 2021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64592" y="4539996"/>
            <a:ext cx="146304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19456" y="45582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DeepONet + UQ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627632" y="4539996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682496" y="455828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연산자 학습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182112" y="4539996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36976" y="455828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많음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462272" y="4539996"/>
            <a:ext cx="128016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17136" y="455828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5742432" y="4539996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797296" y="455828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다물리 시스템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296912" y="4539996"/>
            <a:ext cx="1554480" cy="475488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351776" y="455828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 2022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572000" cy="457200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73152" cy="146304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배터리·공학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응용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예측 · SOC-OCV · EIS 외삽 · 물리-ML 융합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배터리 응용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배터리 RUL 예측 = 시간 외삽 문제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8229600" cy="1078992"/>
          </a:xfrm>
          <a:prstGeom prst="rect">
            <a:avLst/>
          </a:prstGeom>
          <a:solidFill>
            <a:srgbClr val="E8F4F5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73152" cy="10789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188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배터리 RUL 예측의 핵심 도전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훈련: 제한된 충방전 사이클 데이터  →  예측: 수백~수천 사이클 이후의 수명 (= 시간 외삽)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59152"/>
            <a:ext cx="1920240" cy="40233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95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사용 조건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52928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온도·C-rate·DOD 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훈련에 없는 조건 일반화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OOD 외삽 문제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42032" y="235915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2359152"/>
            <a:ext cx="1920240" cy="402336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2395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열화 비선형성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33472" y="2852928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성장·리튬 석출 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비선형 열화 메커니즘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PINN/물리 모델 필요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26864" y="235915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2359152"/>
            <a:ext cx="1920240" cy="402336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395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센서 노이즈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2852928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EIS, dQ/dV 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노이즈와 신호 분리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알레아토릭 UQ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11696" y="235915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11696" y="2359152"/>
            <a:ext cx="1920240" cy="402336"/>
          </a:xfrm>
          <a:prstGeom prst="rect">
            <a:avLst/>
          </a:prstGeom>
          <a:solidFill>
            <a:srgbClr val="D19900"/>
          </a:solidFill>
          <a:ln w="12700">
            <a:solidFill>
              <a:srgbClr val="D19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2395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소량 데이터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3136" y="2852928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셀당 실험 데이터 제한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EQL, Bayesian,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transfer learning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Aykol et al. (2021) "Combining Physics and Machine Learning to Predict Battery Lifetime" · JES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배터리 응용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배터리 외삽 대표 논문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3977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070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 et al. (2023)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4356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Predicting Battery Lifetime Under Varying Usage Conditions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8013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외삽 포함 RUL 예측. 다양한 충방전 조건에서 일반화 검증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3977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04872"/>
            <a:ext cx="64008" cy="1170432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Laufer et al. (2022)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ML-Based Lifetime Prediction of Lithium-Ion Cells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외삽 정확도 +38% 향상. 선형 외삽 대비 비선형 접근법 비교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3977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66744"/>
            <a:ext cx="64008" cy="1170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307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Aykol et al. (2021)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9593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Physics + ML to Predict Battery Lifetime (MIT)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3251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물리-ML 융합 로드맵. 도메인 지식 + 데이터 드리븐 최적 조합 제시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1143000"/>
            <a:ext cx="3977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143000"/>
            <a:ext cx="64008" cy="1170432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2070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Xue et al. (2025)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14356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Survival Analysis with ML for Li-ion Battery RUL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8013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 분석 프레임워크로 RUL 불확실성 정량화. 최신(2025) 방법론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404872"/>
            <a:ext cx="3977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2404872"/>
            <a:ext cx="64008" cy="1170432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Fernandez et al. (2021)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2697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Review of Online Battery RUL Prediction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063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RUL 예측 방법론 종합 리뷰. Frontiers 저널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666744"/>
            <a:ext cx="3977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3666744"/>
            <a:ext cx="64008" cy="1170432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7307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Magrini et al. (2024)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39593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of Degradation Models and RUL Prediction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43251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열화 모델 최신 서베이. 물리 기반 / ML / 하이브리드 비교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배터리 응용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배터리 연구 적용 로드맵 — 방법론 매핑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2194560" cy="804672"/>
          </a:xfrm>
          <a:prstGeom prst="rect">
            <a:avLst/>
          </a:prstGeom>
          <a:solidFill>
            <a:srgbClr val="0C4E54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33856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연구 문제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115568"/>
            <a:ext cx="2103120" cy="804672"/>
          </a:xfrm>
          <a:prstGeom prst="rect">
            <a:avLst/>
          </a:prstGeom>
          <a:solidFill>
            <a:srgbClr val="0C4E54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13385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추천 방법론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2377440" cy="804672"/>
          </a:xfrm>
          <a:prstGeom prst="rect">
            <a:avLst/>
          </a:prstGeom>
          <a:solidFill>
            <a:srgbClr val="0C4E54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33856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이유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1115568"/>
            <a:ext cx="1554480" cy="804672"/>
          </a:xfrm>
          <a:prstGeom prst="rect">
            <a:avLst/>
          </a:prstGeom>
          <a:solidFill>
            <a:srgbClr val="0C4E54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13385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참고 논문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2194560" cy="804672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56816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SOC-OCV 곡선 외삽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(미측정 범위)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51760" y="1938528"/>
            <a:ext cx="2103120" cy="804672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95681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NN (CMNN)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938528"/>
            <a:ext cx="2377440" cy="804672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956816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단조성 물리 제약 강제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범위 밖도 안전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0" y="1938528"/>
            <a:ext cx="1554480" cy="804672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95681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Runje (2023)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761488"/>
            <a:ext cx="2194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79776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다충방전 조건 RUL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(OOD 일반화)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51760" y="2761488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77977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 + GroupDRO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761488"/>
            <a:ext cx="2377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79776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불변 특징 학습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미경험 조건 일반화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0" y="2761488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277977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(2023)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584448"/>
            <a:ext cx="2194560" cy="804672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602736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 스펙트럼 외삽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(등가회로 파라미터)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51760" y="3584448"/>
            <a:ext cx="2103120" cy="804672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360273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+ 등가회로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584448"/>
            <a:ext cx="2377440" cy="804672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602736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 제약 내재화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주파수 범위 외삽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32320" y="3584448"/>
            <a:ext cx="1554480" cy="804672"/>
          </a:xfrm>
          <a:prstGeom prst="rect">
            <a:avLst/>
          </a:prstGeom>
          <a:solidFill>
            <a:srgbClr val="EDEC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360273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Fesser (2023)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407408"/>
            <a:ext cx="2194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425696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소량 데이터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열화 예측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651760" y="4407408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442569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 + Bayesian UQ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4407408"/>
            <a:ext cx="2377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425696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수식 발견 + 불확실성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해석 가능 외삽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132320" y="4407408"/>
            <a:ext cx="1554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442569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Martius (2016)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572000" cy="457200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73152" cy="146304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연구 동향 &amp;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논문 가이드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30년 타임라인 · 필독 논문 · 연구 적용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연구 동향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 연구 30년 타임라인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33472"/>
            <a:ext cx="8229600" cy="50292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514600"/>
            <a:ext cx="256032" cy="256032"/>
          </a:xfrm>
          <a:prstGeom prst="ellipse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Vapnik SVM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Dimension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50976" y="1645920"/>
            <a:ext cx="18288" cy="859536"/>
          </a:xfrm>
          <a:prstGeom prst="rect">
            <a:avLst/>
          </a:prstGeom>
          <a:solidFill>
            <a:srgbClr val="7A7974"/>
          </a:solidFill>
          <a:ln w="12700">
            <a:solidFill>
              <a:srgbClr val="7A79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984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1990s~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07108" y="2514600"/>
            <a:ext cx="256032" cy="256032"/>
          </a:xfrm>
          <a:prstGeom prst="ellipse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32204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2000s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32204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/ Covariate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정립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82112" y="2514600"/>
            <a:ext cx="256032" cy="25603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2010–15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07208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부상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00984" y="1645920"/>
            <a:ext cx="18288" cy="85953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07208" y="12984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2010~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57116" y="2514600"/>
            <a:ext cx="256032" cy="25603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82212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2016–19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82212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NALU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 등장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32120" y="2514600"/>
            <a:ext cx="256032" cy="256032"/>
          </a:xfrm>
          <a:prstGeom prst="ellipse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2020–21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57216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DomainBed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· Xu 2021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50992" y="1645920"/>
            <a:ext cx="18288" cy="859536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57216" y="12984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2020~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07124" y="2514600"/>
            <a:ext cx="256032" cy="256032"/>
          </a:xfrm>
          <a:prstGeom prst="ellipse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2220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2022–23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32220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CMNN / DeepONet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OOD · 배터리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882128" y="2514600"/>
            <a:ext cx="256032" cy="256032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07224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2024–25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07224" y="3127248"/>
            <a:ext cx="1170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모델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Extrap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01000" y="1645920"/>
            <a:ext cx="18288" cy="859536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07224" y="12984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2024~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논문 가이드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분야별 필독 논문 — 우선순위 가이드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★★★  반드시 먼저 읽을 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289304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9304"/>
            <a:ext cx="54864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Xu et al. (2021)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18688" y="132588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"How Neural Networks Extrapolate"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18688" y="15361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신경망 외삽 실패 원인 바이블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78765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787652"/>
            <a:ext cx="54864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24228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Gulrajani &amp; Lopez-Paz (2020)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18688" y="1824228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"In Search of Lost Domain Generalization"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18688" y="20345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알고리즘 공정 비교 기준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286000"/>
            <a:ext cx="54864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322576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Liu et al. (2023)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18688" y="2322576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"Towards OOD Generalization: A Survey"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18688" y="25328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전체 입문 필독 서베이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28575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★★☆  방법론 심화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095244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95244"/>
            <a:ext cx="54864" cy="45720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131820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Trask et al. (2018)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18688" y="3131820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"NALU"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18688" y="33421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외삽 특화 아키텍처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59359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93592"/>
            <a:ext cx="54864" cy="45720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630168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Runje &amp; Shankaranarayana (2023)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18688" y="3630168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"Constrained Monotonic NN"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18688" y="384048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단조 제약 최신 방법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09194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091940"/>
            <a:ext cx="54864" cy="45720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28516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Fesser et al. (2023)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18688" y="4128516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"Extrapolation Failures in PINNs"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18688" y="43388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외삽 실패 원인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590288"/>
            <a:ext cx="54864" cy="457200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626864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Teckentrup et al. (2024)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18688" y="462686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"Probabilistic Richardson Extrapolation"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18688" y="483717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+ 수치해석 융합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논문 가이드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서베이 논문 &amp; 최신 동향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OOD 종합 서베이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44752"/>
            <a:ext cx="3931920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Liu et al. (2023)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 2108.13624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0482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포괄적인 OOD 서베이 — 분류·탐지·불확실성 모두 커버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15184"/>
            <a:ext cx="3931920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43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Arjovsky (2021)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2999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 2103.02667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3218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 저자의 박사논문 — OOD 이론적 토대 정립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85616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85616"/>
            <a:ext cx="3931920" cy="5486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 et al. (2022)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169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 2106.03721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4389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OoD-Bench: 두 차원의 OOD 일반화 정량화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시계열·공학 OOD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1444752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1444752"/>
            <a:ext cx="3931920" cy="5486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Wu et al. (2025)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01768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 2503.13868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01768" y="20482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OOD 최신 서베이 — 배터리 연구와 직결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615184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2615184"/>
            <a:ext cx="3931920" cy="5486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2743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Yuan et al. (2022)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01768" y="2999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 2206.14917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01768" y="3218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역학(mechanics) 문제에서의 OOD 일반화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3785616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  <a:effectLst>
            <a:outerShdw sx="100000" sy="100000" kx="0" ky="0" algn="bl" rotWithShape="0" blurRad="63500" dist="25400" dir="8700000">
              <a:srgbClr val="28251D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3785616"/>
            <a:ext cx="3931920" cy="54864"/>
          </a:xfrm>
          <a:prstGeom prst="rect">
            <a:avLst/>
          </a:prstGeom>
          <a:solidFill>
            <a:srgbClr val="1B474D"/>
          </a:solidFill>
          <a:ln w="12700">
            <a:solidFill>
              <a:srgbClr val="1B47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 et al. (2024)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01768" y="4169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 2403.01874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01768" y="4389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일반화 평가 방법론 서베이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645920"/>
            <a:ext cx="4754880" cy="4754880"/>
          </a:xfrm>
          <a:prstGeom prst="ellipse">
            <a:avLst/>
          </a:prstGeom>
          <a:solidFill>
            <a:srgbClr val="0A3D42"/>
          </a:solidFill>
          <a:ln w="12700">
            <a:solidFill>
              <a:srgbClr val="0A3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0F5459"/>
          </a:solidFill>
          <a:ln w="12700">
            <a:solidFill>
              <a:srgbClr val="0F54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외삽을 정복하는 4가지 열쇠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54864" cy="530352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824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이론 정립  ·  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76272" y="168249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보간 ≠ 외삽. 훈련 범위 밖은 근본적으로 다른 문제다.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4864" cy="530352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4871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OOD 이해  ·  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76272" y="2487168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i.i.d. 가정이 붕괴될 때 ERM은 실패한다. 불변성·인과성이 핵심.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54864" cy="530352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구조적 제약  ·  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76272" y="329184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신경망 외삽은 물리 제약 주입으로 안전해진다. EQL · NALU · Monotonic · PINN.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78224"/>
            <a:ext cx="54864" cy="530352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0965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불확실성 인식  ·  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76272" y="409651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외삽에서 "얼마나 틀릴 수 있는가"를 아는 것이 예측값만큼 중요하다.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82803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지식이 있다면 그것이 최고의 외삽 도구다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참고문헌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 ·  주요 참고문헌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4630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Xu et al. (2021) "How Neural Networks Extrapolate" — arxiv:2009.11848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7393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Gulrajani &amp; Lopez-Paz (2020) "In Search of Lost Domain Generalization" — arxiv:2007.01434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0487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Liu et al. (2023) "Towards OOD Generalization: A Survey" — arxiv:2108.13624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03580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Arjovsky (2021) "OOD Generalization in ML" — arxiv:2103.02667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66674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Trask et al. (2018) "Neural Arithmetic Logic Units" — arxiv:1808.00508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Martius &amp; Lampert (2016) "Extrapolation and Learning Equations" — arxiv:1610.02995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1143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Runje &amp; Shankaranarayana (2023) "Constrained Monotonic NN" — arxiv:2205.11775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77393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Fesser et al. (2023) "Extrapolation Failures in PINNs" — arxiv:2306.09478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40487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Teckentrup et al. (2024) "Probabilistic Richardson Extrapolation" — PMC11985099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303580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Aykol et al. (2021) "Physics + ML for Battery Lifetime" — JES 168:030525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366674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Wu et al. (2025) "OOD Generalization in Time Series" — arxiv:2503.13868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429768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Zhu et al. (2022) "Reliable Extrapolation with DeepONet" — arxiv:2212.06347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solidFill>
            <a:srgbClr val="E8F4F5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7731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논문 PDF: github.com/amumujs-create/literec_study/tree/main/extrapolation-papers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외삽(Extrapolation) 완전 정복 — 50분 세미나</dc:title>
  <dc:subject>기초이론 · OOD · 신경망 방법론 · 배터리 응용</dc:subject>
  <dc:creator>Perplexity Computer</dc:creator>
  <cp:lastModifiedBy>Perplexity Computer</cp:lastModifiedBy>
  <cp:revision>1</cp:revision>
  <dcterms:created xsi:type="dcterms:W3CDTF">2026-07-06T08:05:20Z</dcterms:created>
  <dcterms:modified xsi:type="dcterms:W3CDTF">2026-07-06T08:05:20Z</dcterms:modified>
</cp:coreProperties>
</file>