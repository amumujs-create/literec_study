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 30초. 오늘 목표: 외삽이 왜 어려운지 → 어떻게 대응하는가 → 실전 적용으로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핵심 메시지: '잘 맞는 테스트'가 보간일 수 있다. 외삽은 별도 프로토콜이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30초. 시간 배분 고지. Part3가 가장 김. Part4에서 우리 실험 숫자.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 (a)보간 (b)외삽 (c)hull. test∈hull이면 보간 평가.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 가리키며 훈련 범위/외삽 영역 구분. 차수 올릴수록 밖이 더 위험.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2.5분. 발표 핵심 슬라이드. Pfister '가정 없이 식별 불가'로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(A)온도분포 (B)기상클러스터 (C)confidence≠accuracy.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2.5분. Pfister: 가정 없으면 밖은 식별 불가. 물리 제약이 왜 등장하는지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X 표시가 외삽. 실전에선 특정 운용축이 이 X에 해당.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그림(a)(b) → 표로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 (a)(b)(c)를 손가락으로 가리키며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그림(a)(b) → 세 카드 수식·예시. 예측값 &lt; UQ.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support mismatch → mean vs worst-case → formal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네 유형 taxonomy. 실전은 covariate(+concept) 혼합이 흔함.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시험 평균 vs 최악 과목 비유 → 병원 A/B 사례. 수식은 참고만.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핵심 멘트: 'OOD는 분포 이탈을 수치로 정의한 뒤에야 성립한다. 정의해도 실험 전엔 모른다 → 그래서 DomainBed·민감도. 우리 연구는 Part4에서 TRA 분위수로 정의했다.'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'OOD 방법 고르기 전에 어떤 OOD냐?' — diversity vs correlation. 그림 (a)(b)(c)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OoD-Bench 핵심: shift 유형별 방법. N-CMAPSS 한 줄. Liu로.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Liu 3갈래. DA/DG와의 차이 한 줄. Supervised로 넘김.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2.5분. Survey 핵심. 다음 IRM은 Invariant 가지의 대표 사례.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Survey → IRM 사례. DomainBed로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Survey로 고른 방법을 DomainBed로 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Part2 클로징. Survey→시계열→Part3/4.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가지마다 수식 가정을 명시.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6패널 케이스 가리키며 수식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수식 박스 + 예시(sin/매출/커피).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σ→A(x)→Ax+b 체인 + 예시.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MAPE 정의 + φ↔y* + 예시.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U 집합 수식 + sin/매출 예시 + MLP 대비.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NAC vs NALU. 수식과 외삽 기제.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clip 실패 → CMNN.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레이어 구조 → Part4.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시간 분할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abstain과 Part1 UQ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플로우차트 → Mono 하이라이트 → Part4.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데이터가 뭔지, RUL 과제, TRA가 왜 외삽축인지.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파이프라인 그림 따라 설명. 누출 차단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4축 중 TRA만 train/test 분포가 갈라짐을 그림으로.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문헌 교훈이 설계 요소로 연결되는 흐름.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 흐름 ①~⑤ 순서로. 설계 근거를 문헌과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3층 프레임: 평가/학습/추론.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프로토콜 3겹 + 재설계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Dual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Part3 Mono와 동일 철학.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메인 비교표.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2.5분. ablation + nasa_drop14 한계.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1분. Part4 클로징.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1분. 흐름만.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버튼 클릭으로 PDF 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클로징 메시지.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1분. 교수님 반응 좋은 마무리 방향.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paper_pdfs/에 전체 39편. INDEX.md 목록 참고.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paper_pdfs/Pfister2024_Extrapolation-Aware_Nonparametric_Inference.pdf" TargetMode="External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paper_pdfs/Teckentrup2024_Probabilistic_Richardson_Extrapolation.pdf" TargetMode="External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paper_pdfs/Ghahramani2013_Bayesian_Nonparametrics.pdf" TargetMode="External"/><Relationship Id="rId4" Type="http://schemas.openxmlformats.org/officeDocument/2006/relationships/hyperlink" Target="paper_pdfs/Pfister2024_Extrapolation-Aware_Nonparametric_Inference.pdf" TargetMode="External"/><Relationship Id="rId5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paper_pdfs/Ye2022_OoD-Bench.pdf" TargetMode="External"/><Relationship Id="rId4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aper_pdfs/Ye2022_OoD-Bench.pdf" TargetMode="External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paper_pdfs/Liu2023_OOD_Generalization_Survey.pdf" TargetMode="External"/><Relationship Id="rId4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aper_pdfs/Liu2023_OOD_Generalization_Survey.pdf" TargetMode="External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hyperlink" Target="paper_pdfs/Arjovsky2019_Invariant_Risk_Minimization.pdf" TargetMode="External"/><Relationship Id="rId4" Type="http://schemas.openxmlformats.org/officeDocument/2006/relationships/hyperlink" Target="paper_pdfs/Arjovsky2021_OOD_Generalization_in_ML.pdf" TargetMode="External"/><Relationship Id="rId5" Type="http://schemas.openxmlformats.org/officeDocument/2006/relationships/hyperlink" Target="paper_pdfs/Liu2023_OOD_Generalization_Survey.pdf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hyperlink" Target="paper_pdfs/Gulrajani2020_In_Search_of_Lost_Domain_Generalization.pdf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aper_pdfs/Liu2023_OOD_Generalization_Survey.pdf" TargetMode="External"/><Relationship Id="rId3" Type="http://schemas.openxmlformats.org/officeDocument/2006/relationships/hyperlink" Target="paper_pdfs/Wu2025_OOD_Time_Series_Survey.pdf" TargetMode="External"/><Relationship Id="rId4" Type="http://schemas.openxmlformats.org/officeDocument/2006/relationships/hyperlink" Target="paper_pdfs/Gulrajani2020_In_Search_of_Lost_Domain_Generalization.pdf" TargetMode="External"/><Relationship Id="rId5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hyperlink" Target="paper_pdfs/Martius2016_Extrapolation_Learning_Equations_EQL.pdf" TargetMode="External"/><Relationship Id="rId5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paper_pdfs/Trask2018_Neural_Arithmetic_Logic_Units_NALU.pdf" TargetMode="External"/><Relationship Id="rId4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paper_pdfs/Runje2023_Constrained_Monotonic_NN.pdf" TargetMode="External"/><Relationship Id="rId4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hyperlink" Target="paper_pdfs/Runje2023_Constrained_Monotonic_NN.pdf" TargetMode="External"/><Relationship Id="rId4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paper_pdfs/Fesser2023_Extrapolation_Failures_PINNs.pdf" TargetMode="External"/><Relationship Id="rId4" Type="http://schemas.openxmlformats.org/officeDocument/2006/relationships/hyperlink" Target="paper_pdfs/Raissi2019_Physics_Informed_Neural_Networks.pdf" TargetMode="External"/><Relationship Id="rId5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hyperlink" Target="paper_pdfs/Zhu2022_Reliable_Extrapolation_DeepONet.pdf" TargetMode="External"/><Relationship Id="rId4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hyperlink" Target="paper_pdfs/Runje2023_Constrained_Monotonic_NN.pdf" TargetMode="External"/><Relationship Id="rId5" Type="http://schemas.openxmlformats.org/officeDocument/2006/relationships/hyperlink" Target="paper_pdfs/Gulrajani2020_In_Search_of_Lost_Domain_Generalization.pdf" TargetMode="External"/><Relationship Id="rId6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aper_pdfs/Xu2021_How_Neural_Networks_Extrapolate.pdf" TargetMode="External"/><Relationship Id="rId3" Type="http://schemas.openxmlformats.org/officeDocument/2006/relationships/hyperlink" Target="paper_pdfs/Gulrajani2020_In_Search_of_Lost_Domain_Generalization.pdf" TargetMode="External"/><Relationship Id="rId4" Type="http://schemas.openxmlformats.org/officeDocument/2006/relationships/hyperlink" Target="paper_pdfs/Liu2023_OOD_Generalization_Survey.pdf" TargetMode="External"/><Relationship Id="rId5" Type="http://schemas.openxmlformats.org/officeDocument/2006/relationships/hyperlink" Target="paper_pdfs/Arjovsky2019_Invariant_Risk_Minimization.pdf" TargetMode="External"/><Relationship Id="rId6" Type="http://schemas.openxmlformats.org/officeDocument/2006/relationships/hyperlink" Target="paper_pdfs/Trask2018_Neural_Arithmetic_Logic_Units_NALU.pdf" TargetMode="External"/><Relationship Id="rId7" Type="http://schemas.openxmlformats.org/officeDocument/2006/relationships/hyperlink" Target="paper_pdfs/Runje2023_Constrained_Monotonic_NN.pdf" TargetMode="External"/><Relationship Id="rId8" Type="http://schemas.openxmlformats.org/officeDocument/2006/relationships/hyperlink" Target="paper_pdfs/Fesser2023_Extrapolation_Failures_PINNs.pdf" TargetMode="External"/><Relationship Id="rId9" Type="http://schemas.openxmlformats.org/officeDocument/2006/relationships/hyperlink" Target="paper_pdfs/Raissi2019_Physics_Informed_Neural_Networks.pdf" TargetMode="External"/><Relationship Id="rId10" Type="http://schemas.openxmlformats.org/officeDocument/2006/relationships/hyperlink" Target="paper_pdfs/Zhu2022_Reliable_Extrapolation_DeepONet.pdf" TargetMode="External"/><Relationship Id="rId11" Type="http://schemas.openxmlformats.org/officeDocument/2006/relationships/hyperlink" Target="paper_pdfs/Martius2016_Extrapolation_Learning_Equations_EQL.pdf" TargetMode="External"/><Relationship Id="rId1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aper_pdfs/Xu2021_How_Neural_Networks_Extrapolate.pdf" TargetMode="External"/><Relationship Id="rId3" Type="http://schemas.openxmlformats.org/officeDocument/2006/relationships/hyperlink" Target="paper_pdfs/Gulrajani2020_In_Search_of_Lost_Domain_Generalization.pdf" TargetMode="External"/><Relationship Id="rId4" Type="http://schemas.openxmlformats.org/officeDocument/2006/relationships/hyperlink" Target="paper_pdfs/Liu2023_OOD_Generalization_Survey.pdf" TargetMode="External"/><Relationship Id="rId5" Type="http://schemas.openxmlformats.org/officeDocument/2006/relationships/hyperlink" Target="paper_pdfs/Arjovsky2019_Invariant_Risk_Minimization.pdf" TargetMode="External"/><Relationship Id="rId6" Type="http://schemas.openxmlformats.org/officeDocument/2006/relationships/hyperlink" Target="paper_pdfs/Arjovsky2021_OOD_Generalization_in_ML.pdf" TargetMode="External"/><Relationship Id="rId7" Type="http://schemas.openxmlformats.org/officeDocument/2006/relationships/hyperlink" Target="paper_pdfs/Martius2016_Extrapolation_Learning_Equations_EQL.pdf" TargetMode="External"/><Relationship Id="rId8" Type="http://schemas.openxmlformats.org/officeDocument/2006/relationships/hyperlink" Target="paper_pdfs/Trask2018_Neural_Arithmetic_Logic_Units_NALU.pdf" TargetMode="External"/><Relationship Id="rId9" Type="http://schemas.openxmlformats.org/officeDocument/2006/relationships/hyperlink" Target="paper_pdfs/Runje2023_Constrained_Monotonic_NN.pdf" TargetMode="External"/><Relationship Id="rId10" Type="http://schemas.openxmlformats.org/officeDocument/2006/relationships/hyperlink" Target="paper_pdfs/Fesser2023_Extrapolation_Failures_PINNs.pdf" TargetMode="External"/><Relationship Id="rId11" Type="http://schemas.openxmlformats.org/officeDocument/2006/relationships/hyperlink" Target="paper_pdfs/Raissi2019_Physics_Informed_Neural_Networks.pdf" TargetMode="External"/><Relationship Id="rId12" Type="http://schemas.openxmlformats.org/officeDocument/2006/relationships/hyperlink" Target="paper_pdfs/Zhu2022_Reliable_Extrapolation_DeepONet.pdf" TargetMode="External"/><Relationship Id="rId13" Type="http://schemas.openxmlformats.org/officeDocument/2006/relationships/hyperlink" Target="paper_pdfs/Pfister2024_Extrapolation-Aware_Nonparametric_Inference.pdf" TargetMode="External"/><Relationship Id="rId14" Type="http://schemas.openxmlformats.org/officeDocument/2006/relationships/hyperlink" Target="paper_pdfs/Teckentrup2024_Probabilistic_Richardson_Extrapolation.pdf" TargetMode="External"/><Relationship Id="rId15" Type="http://schemas.openxmlformats.org/officeDocument/2006/relationships/hyperlink" Target="paper_pdfs/Wu2025_OOD_Time_Series_Survey.pdf" TargetMode="External"/><Relationship Id="rId16" Type="http://schemas.openxmlformats.org/officeDocument/2006/relationships/hyperlink" Target="paper_pdfs/Ye2021_Theoretical_Framework_OOD.pdf" TargetMode="External"/><Relationship Id="rId17" Type="http://schemas.openxmlformats.org/officeDocument/2006/relationships/hyperlink" Target="paper_pdfs/Ye2022_OoD-Bench.pdf" TargetMode="External"/><Relationship Id="rId18" Type="http://schemas.openxmlformats.org/officeDocument/2006/relationships/hyperlink" Target="paper_pdfs/Bartley2019_Characterizing_Extrapolation_Multivariate.pdf" TargetMode="External"/><Relationship Id="rId19" Type="http://schemas.openxmlformats.org/officeDocument/2006/relationships/hyperlink" Target="paper_pdfs/Aykol2021_Physics_ML_Battery_Lifetime.pdf" TargetMode="External"/><Relationship Id="rId20" Type="http://schemas.openxmlformats.org/officeDocument/2006/relationships/hyperlink" Target="paper_pdfs/&#50808;&#49341;_&#50756;&#51204;&#51221;&#48373;_&#54617;&#49845;&#45432;&#53944;.pdf" TargetMode="External"/><Relationship Id="rId21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21808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논문 기반 심화 세미나  ·  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ple SD Gothic Neo"/>
                <a:ea typeface="Apple SD Gothic Neo"/>
              </a:rPr>
              <a:t>외삽 (Extrapolation)
이론부터 응용까지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기초 이론  ·  OOD 일반화  ·  신경망 외삽 방법론  ·  실전 응용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E7C8C"/>
                </a:solidFill>
                <a:latin typeface="Apple SD Gothic Neo"/>
                <a:ea typeface="Apple SD Gothic Neo"/>
              </a:rPr>
              <a:t>literec_study · 36편 논문  · 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들어가며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연구의 동기와 필요성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" cy="40233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99616"/>
            <a:ext cx="331012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01  데이터가 항상 불완전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시계열 수요의 미래 시점 추정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계절 부분표본으로 성수기 예측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성장곡선으로 성인기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측정 못한 구간을 추정해야 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54864" cy="40233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99616"/>
            <a:ext cx="331012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02  ML의 근본 한계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다수 모형이 in-distribution 전제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범위 밖 오차는 급격히 증가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표준 평가 우수 ≠ 외삽 성능 보증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외삽은 별도 평가가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54864" cy="40233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99616"/>
            <a:ext cx="331012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03  현장 리스크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기상 ID 조건만 학습한 자율주행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평시 분포만 학습한 임상 예측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오예측임에도 고신뢰 출력 (silent failure)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점추정 대비 불확실성 보고가 우선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Intro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 / 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50분 구성 (Q&amp;A 별도)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3645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3063240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363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외삽 기초 이론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1363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보간 vs 외삽 · Convex Hull · Richardson · UQ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31363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11분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93592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667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6667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OOD 일반화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6674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Shift 유형 · OoD-Bench · Survey · IRM · DomainBed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6667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11분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23944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970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1970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신경망 외삽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9709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Xu · EQL · NALU · Monotonic · PINN · DeepONet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1970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14분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54295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2744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72744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실전 응용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27447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우리 데이터·프로토콜·모델·결과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72744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10분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84648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57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257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동향 &amp; 가이드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2578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타임라인 · 필독 논문 · 연구 적용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5257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4분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 / 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1  ·  11분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외삽이란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기초 이론 · Convex Hull · Richardson · 불확실성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보간≠외삽 — 테스트가 hull 안이면 착시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데이터만으론 밖을 식별 불가 (가정 필요)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예측값보다 UQ·가정이 먼저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4 / 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기초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보간(Interpolation) vs 외삽(Extrapolation)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interp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6766903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3886200"/>
            <a:ext cx="5760720" cy="1645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3886200"/>
            <a:ext cx="54864" cy="1645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014216"/>
            <a:ext cx="541324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보간 — Interpolation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x ∈ Conv(X_train)  (지지집합 내부)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(a)(c★): 관측 범위·hull 안 질의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신뢰도 상대적으로 높음 · 표준 test의 위치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10·20·30℃ → 25℃  ·  평일→목요일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669280" cy="1645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886200"/>
            <a:ext cx="54864" cy="1645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14216"/>
            <a:ext cx="532180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외삽 — Extrapolation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x ∉ Conv(X_train)  (지지집합 외부)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(b)(c✗): 범위 밖 · 불확실성 대역 확대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신뢰도 급감 · 가정 없으면 식별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0~30℃ → 45℃  ·  평일→성수기  ·  서울→부산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 / 59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test ∈ Conv(X_train) 이면 보간 평가일 뿐 — 외삽은 별도 프로토콜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그림 (c): ★=보간, ✗=외삽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고전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다항식 피팅의 외삽 실패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oly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498079" cy="38443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38160" y="13258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325880"/>
            <a:ext cx="54864" cy="42062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453896"/>
            <a:ext cx="3218688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해석 사례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내부: 적합 양호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외부: 급격한 발산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── 해석 사례 ──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단기 관측으로 고차 곡선 적합 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→ 장기 시점에서 비물리적 예측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성장기 부분곡선만으로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→ 성인기 값을 비현실적으로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차수↑ → 원거리 불안정성 심화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6 / 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지지집합 내부 적합 ≠ 외부 일반화 — 고차 피팅일수록 원거리 위험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공학·시계열 OOD도 같은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핵심 통찰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원리적으로 왜 식별이 불가능한가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identif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955279" cy="411022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188720"/>
            <a:ext cx="3383280" cy="4480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54864" cy="4480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316736"/>
            <a:ext cx="3035808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해석 사례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유한 관측만으로는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선형·이차·주기 함수 등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내부에서는 동등하게 적합 가능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밖에서 궤적이 분기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── 해석 사례 ──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냉각 과정의 온도 궤적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선형·지수 모두 국소적으로는 적합 가능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성장곡선 → 성인기 값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지속 증가 vs 포화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가정 없이는 식별 불가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8549640" y="256032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6305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C8C"/>
                </a:solidFill>
                <a:latin typeface="Apple SD Gothic Neo"/>
                <a:ea typeface="Apple SD Gothic Neo"/>
              </a:rPr>
              <a:t>핵심: 외삽은 데이터 문제가 아니라 가정(Assumption)의 문제다  ·  Pfister &amp; Bühlmann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7 / 59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외삽은 데이터 문제가 아니라 가정(Assumption)의 문제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sin/exp/x²는 훈련점에선 모두 맞지만, 지지집합 밖에서 갈라진다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이론적 실패 모드가 현장 배포에서도 나타난다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fail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10873946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800600"/>
            <a:ext cx="11612880" cy="777240"/>
          </a:xfrm>
          <a:prstGeom prst="roundRect">
            <a:avLst>
              <a:gd name="adj" fmla="val 6000"/>
            </a:avLst>
          </a:prstGeom>
          <a:solidFill>
            <a:srgbClr val="0B101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F1F7"/>
                </a:solidFill>
                <a:latin typeface="Apple SD Gothic Neo"/>
                <a:ea typeface="Apple SD Gothic Neo"/>
              </a:rPr>
              <a:t>학습 분포 ≠ 배포 분포  →  높은 확신 · 낮은 정확도  (silent failure)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현장 사례도 같은 구조: 기상 OOD · 기관 전이 · 성수기 수요 전이  —  그림 (C)가 핵심 메커니즘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8 / 59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학습 분포 ≠ 배포 분포이면, 모델은 높은 확신으로 틀린다 (silent failure)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현장 사고의 전형 패턴 — 평균 성능만으로는 감지 불가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수학적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볼록 껍질(Convex Hull)과 외삽 영역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2286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523036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정의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x ∈ Conv(X_train) → 보간 영역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x ∉ Conv(X_train) → 외삽 영역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Pfister 2024: support 밖은 추가 가정 없이 추론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" cy="22860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08176"/>
            <a:ext cx="513892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차원의 저주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축이 늘수록 '안쪽' 비율 급감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고차원: 테스트 대부분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다변량 운용조건 (고차원 hull)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→ 4축만 돼도 '밖'이 대부분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79476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794760"/>
            <a:ext cx="54864" cy="2011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922776"/>
            <a:ext cx="523036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불확실성 폭발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인근 관측 없을수록 bounds 확장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기존 CI는 coverage 보장 상실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extrapolation-aware CI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94760"/>
            <a:ext cx="54864" cy="2011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922776"/>
            <a:ext cx="513892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물리 지식 = 외삽 가정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단조성 · PDE · smoothness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가정이 hull을 '논리적으로' 확장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도메인 지식이 최고의 외삽 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9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Convex Hull 외부 = 외삽 영역. 고차원에서는 대부분 외부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물리·단조 가정이 hull을 논리적으로 확장한다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2D Convex Hull로 보간/외삽 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convex_h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589520" cy="43780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32588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325880"/>
            <a:ext cx="54864" cy="4206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453896"/>
            <a:ext cx="3127248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진단 기준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hull 내부: 상대적 안정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hull 외부: epistemic 불확실성↑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d≫10: 대부분의 점이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대응: 물리 제약 도입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또는 외삽축을 분리 설계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Bartley · Pfister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10 / 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Convex hull 내부=보간, 외부(X)=외삽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실전에서는 특정 운용조건 축이 이 X에 대응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오차 분해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오차의 폭증 메커니즘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error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758152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977639"/>
            <a:ext cx="140817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99592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요인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3977639"/>
            <a:ext cx="177393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399592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보간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977639"/>
            <a:ext cx="223113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3995927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외삽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79" y="3977639"/>
            <a:ext cx="195681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79" y="399592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대책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306824"/>
            <a:ext cx="140817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4352544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Bias²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4306824"/>
            <a:ext cx="17739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9656" y="4352544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복잡도 제어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06824"/>
            <a:ext cx="22311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4352544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가정 위반 시 누적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79" y="4306824"/>
            <a:ext cx="195681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34455" y="4352544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물리·smooth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654296"/>
            <a:ext cx="140817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4700016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Variance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83080" y="4654296"/>
            <a:ext cx="177393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9656" y="4700016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인근 데이터多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4654296"/>
            <a:ext cx="223113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48456" y="4700016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관측∅ → 급증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79" y="4654296"/>
            <a:ext cx="195681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34455" y="4700016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extrap CI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001768"/>
            <a:ext cx="140817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047488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Noise σ²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83080" y="5001768"/>
            <a:ext cx="17739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19656" y="5047488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분리 측정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5001768"/>
            <a:ext cx="22311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48456" y="5047488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epistemic과 혼재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97879" y="5001768"/>
            <a:ext cx="195681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34455" y="5047488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Bayesian UQ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3977639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3977639"/>
            <a:ext cx="54864" cy="15544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8" y="4105655"/>
            <a:ext cx="32644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 포인트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지지집합 밖: Variance가 지배항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점추정만으로는 의사결정 위험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UQ(신뢰구간)를 병기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11 / 59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지지집합 밖에서는 epistemic variance가 급증한다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점추정만 보고 결정하지 말고 UQ를 함께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수치해석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Richardson 외삽 → Probabilistic Richardson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ichard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7992334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3931920"/>
            <a:ext cx="576072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3931920"/>
            <a:ext cx="54864" cy="1600200"/>
          </a:xfrm>
          <a:prstGeom prst="rect">
            <a:avLst/>
          </a:prstGeom>
          <a:solidFill>
            <a:srgbClr val="6E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059936"/>
            <a:ext cx="541324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7C8C"/>
                </a:solidFill>
                <a:latin typeface="Apple SD Gothic Neo"/>
                <a:ea typeface="Apple SD Gothic Neo"/>
              </a:rPr>
              <a:t>고전 Richardson — 점추정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모형: A(h)=A* + c·h^p + O(h^{p+1})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추정: Â = (2^p A(h/2) − A(h)) / (2^p − 1)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(a): h→0 외삽이 다이아몬드 한 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한계: 불확실성 대역·CI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66928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931920"/>
            <a:ext cx="54864" cy="1600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59936"/>
            <a:ext cx="532180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Probabilistic (Teckentrup 2024)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Richardson + GP prior → A* 사후분포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(b): GP band + A* 95% CI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(c): 점값 vs 구간(안전장치)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의의: 수치해석 × Bayesian UQ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9875520" y="256032"/>
            <a:ext cx="19202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Teckentrup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12 / 59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고전 = 점추정 Â · Probabilistic = 사후분포·구간 (그림 b·c)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공학 외삽에서는 점값보다 신뢰구간이 의사결정에 안전하다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UQ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불확실성 정량화 — 외삽에서의 필연성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uq_aleatoric_epist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4577963" cy="18745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06324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063240"/>
            <a:ext cx="54864" cy="2514600"/>
          </a:xfrm>
          <a:prstGeom prst="rect">
            <a:avLst/>
          </a:prstGeom>
          <a:solidFill>
            <a:srgbClr val="6E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319125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7C8C"/>
                </a:solidFill>
                <a:latin typeface="Apple SD Gothic Neo"/>
                <a:ea typeface="Apple SD Gothic Neo"/>
              </a:rPr>
              <a:t>Aleatoric  σ²_a  — 관측 노이즈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y = f(x) + ε,  ε~P_noise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데이터↑로도 σ²_a 안 사라짐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수식:  irreducible noise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센서 계측 잡음 ±δ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배치 간 공정 변동성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동일 조건 반복측정의 분산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보간·외삽 모두 존재 (거의 평탄)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06324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06324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319125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Epistemic  σ²_e  — 지식 부족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모델/데이터 부족 불확실성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데이터↑·가정↑로 줄일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수식: Var_θ[f_θ(x)]  (사후분산)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외삽: x∉Conv(X) 에서 σ²_e ≫ σ²_a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학습 온도 지지집합 밖 질의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신규 기관·시즌으로의 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핵심 질문: 얼마나 틀릴 수 있나?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06324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063240"/>
            <a:ext cx="54864" cy="2514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319125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UQ — 점추정의 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σ²_tot = σ²_a + σ²_e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밖에서는 epistemic이 지배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기존 CI: coverage 붕괴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(i.i.d./hull 안 가정 깨짐)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대안: bounds + CI + 가정 명시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Ghahramani'13: Bayesian ML 관점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Pfister'24: 가정 없으면 식별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σ²_e↑ → 예측 보류 / 추가 관측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8229600" y="256032"/>
            <a:ext cx="17373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Ghahramani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10104120" y="256032"/>
            <a:ext cx="17373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13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외삽에선 예측값보다 불확실성(σ²_e)이 핵심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σ²_tot=σ²_a+σ²_e — 밖에서는 epistemic 지배, ↑면 STOP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2  ·  11분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OOD 일반화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Shift 유형 · OoD-Bench · Survey · IRM · DomainBed · 시계열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i.i.d. 붕괴 = ERM 실패 시작점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OoD-Bench: diversity vs correlation 먼저 식별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Liu Survey: 식별 후 대응 가지 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14 / 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OOD: 학습 분포와 배포 분포의 불일치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ood_in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5355836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3886200"/>
            <a:ext cx="11704320" cy="50292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9502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형식적 정의   P_train(X,Y)  ≠  P_test(X,Y)   ≡   min_h max_e R^e(h)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사례: 기관 A→B 전이  ·  기상 조건 외삽  ·  평시→성수기 수요 전이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4526280"/>
            <a:ext cx="3794760" cy="1005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4526280"/>
            <a:ext cx="54864" cy="1005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4654296"/>
            <a:ext cx="3447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리스크 구조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기대성능(평균)은 유지될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꼬리 리스크(worst-case)에서 급락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526280"/>
            <a:ext cx="3794760" cy="1005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4526280"/>
            <a:ext cx="54864" cy="1005840"/>
          </a:xfrm>
          <a:prstGeom prst="rect">
            <a:avLst/>
          </a:prstGeom>
          <a:solidFill>
            <a:srgbClr val="6E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4654296"/>
            <a:ext cx="3447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7C8C"/>
                </a:solidFill>
                <a:latin typeface="Apple SD Gothic Neo"/>
                <a:ea typeface="Apple SD Gothic Neo"/>
              </a:rPr>
              <a:t>평가의 함정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표준 test ⊂ 학습 지지집합(ID)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보간 성능일 뿐 OOD 보증 아님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526280"/>
            <a:ext cx="3840480" cy="1005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4526280"/>
            <a:ext cx="54864" cy="10058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4654296"/>
            <a:ext cx="34930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대응 전략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불변표현 · 물리/단조 제약 · 최악환경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엄밀 프로토콜은 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15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 = 학습·배포 분포 불일치 — ID 테스트 성능 ≠ 배포 강건성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평균 리스크와 함께 worst-case 리스크를 보고해야 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분포 이동(Distribution Shift) 유형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hift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821809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6908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Covariate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P(X) 변화 · P(Y|X) 불변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기관·지역·시즌 전이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406908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Label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P(Y) 변화 · P(X|Y) 불변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유병률·수요 비중 이동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6908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Concept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P(Y|X) 자체 변화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정책·시스템 드리프트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406908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Domain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생성과정 전반 변화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시뮬→실기 전이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16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Distribution shift 유형을 먼저 명명하면 해법이 달라진다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실전은 주로 Covariate(+Concept) Shift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ERM vs OOD — 평균 오차 vs 최악 환경 오차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11338560" cy="105156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</a:rPr>
              <a:t>직관:  시험 평균을 맞출 것인가,  최악 과목도 확보할 것인가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B8C4D0"/>
                </a:solidFill>
                <a:latin typeface="Apple SD Gothic Neo"/>
                <a:ea typeface="Apple SD Gothic Neo"/>
              </a:rPr>
              <a:t>전자 = ERM(평균 오차↓) · 후자 = OOD(최악 환경 오차↓)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77440"/>
            <a:ext cx="5486400" cy="3154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377440"/>
            <a:ext cx="54864" cy="3154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505456"/>
            <a:ext cx="5138928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표준 ERM  —  평균 오차를 줄인다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병원 A 데이터로만 학습 → A에서 오차↓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병원 B·C로 가면 성능이 급락할 수 있음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학습 분포의 '자주 나오는 케이스'에 과적합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수식(참고):  min  평균_e  오차(e)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한계: 평균이 좋아도 낯선 환경에서 붕괴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486400" cy="3154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54864" cy="3154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505456"/>
            <a:ext cx="5138928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OOD 목표  —  최악 환경 오차를 줄인다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병원 A·B·C 중 어디서든 오차가 크면 실패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목표: 가장 어려운 환경의 오차를 줄인다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환경이 바뀌어도 같은 규칙이 통해야 함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수식(참고):  min  최악_e  오차(e)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Ye 2021 · Arjovsky 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17 / 59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ERM=평균 오차 최소화, OOD=최악 환경 오차 최소화 — 목표가 다르다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낯선 환경(병원 B)에서 성능이 급락하면 OOD 실패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전제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OOD라고 부르려면 — 먼저 분포 이탈을 수치로 정의한다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11338560" cy="86868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</a:rPr>
              <a:t>분포 이탈 정의가 없으면 'OOD 성능'은 검증 불가능한 주장이다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Part 1의 hull · Part 2의 shift 유형 · 아래 수치 정의가 그 전제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94560"/>
            <a:ext cx="365760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19456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22576"/>
            <a:ext cx="331012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① 왜 정의가 필요한가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test가 사실상 보간이면 → 외삽 착시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'OOD에서 이겼다'만으로는 비교 불가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같은 이름이라도 데이터셋마다 난이도 다름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정의 = 평가 프로토콜의 1번째 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194560"/>
            <a:ext cx="365760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19456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322576"/>
            <a:ext cx="331012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② 문헌의 수치 정의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Hull: x ∉ Conv(X_train)  (Xu)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Shift type 명명 (covariate…)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OoD-Bench (Ye 2022 CVPR):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diversity · correlation shift 점수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DomainBed: 환경 분할을 먼저 고정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94560"/>
            <a:ext cx="365760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94560"/>
            <a:ext cx="54864" cy="3246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322576"/>
            <a:ext cx="331012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③ 정의만으로는 부족하다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정의 ≠ 성능 보증 (PINN 교훈)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분할을 바꾸면 순위가 뒤집힐 수 있음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그래서: 정의 공개 + ERM baseline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      + 민감도까지 한 세트로 보고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Part 4: TRA q70/q90으로 우리가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18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 주장은 분포 이탈을 수치로 정의한 뒤에야 성립한다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정의만으로 부족 — ERM baseline·민감도까지 함께 보고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OoD-Bench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Ye et al. (2022) — OOD를 두 축으로 수치화한다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ood_bench_shi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11612880" cy="43708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434840"/>
            <a:ext cx="11521440" cy="1188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434840"/>
            <a:ext cx="54864" cy="1188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562856"/>
            <a:ext cx="111739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핵심 메시지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'OOD'라도 실패 원인이 다름 — 방법을 고르기 전에 shift 유형(또는 D_div / D_cor)을 먼저 파악해야 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Diversity: train에 없던 feature/도메인 등장 (PACS, Camelyon)  ·  Correlation: 같은 feature인데 Y와의 가짜 상관이 바뀜 (Colored MNIST, CelebA)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OoD-Bench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19 / 59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 대응 전에 shift 유형을 식별한다 — diversity vs correlation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데이터셋마다 D_div / D_cor 프로파일이 다르다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OoD-Bench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Shift 유형에 따라 유효한 대응이 달라진다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370332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25296"/>
            <a:ext cx="335584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Diversity shift 우세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원인: train support 밖 feature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예: 새 병원·새 스타일·새 운용점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유효 후보: representation /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domain mix · augmentation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disentangle · meta-learning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약한 후보: spurious만 제거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097280"/>
            <a:ext cx="370332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097280"/>
            <a:ext cx="54864" cy="3246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25296"/>
            <a:ext cx="335584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Correlation shift 우세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원인: 가짜 단서·허위 상관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예: Colored MNIST 색 함정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유효 후보: IRM · GroupDRO ·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debiasing · causal feature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약한 후보: 단순 ERM+증강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097280"/>
            <a:ext cx="384048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09728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225296"/>
            <a:ext cx="349300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OoD-Bench 주장 (실험)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대부분 알고리즘은 한 축에서만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ERM을 이김 (양쪽 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'OOD SOTA' 주장은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shift 유형을 명시해야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평가: diversity·correlation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각각 dominated set에서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480560"/>
            <a:ext cx="11521440" cy="1143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480560"/>
            <a:ext cx="54864" cy="1143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4608576"/>
            <a:ext cx="1117396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우리 과제(N-CMAPSS) 연결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고TRA = diversity(새 운용 영역) + correlation(부하-열화 얽힘) 혼합 → Part4에서 TRA 분위수로 diversity 축을 명시하고, dual encoder+제약으로 correlation 축을 분리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다음: Liu Survey — shift 유형을 아는 뒤 '어디에 개입할지(표현/지도/최적화)'를 고른다</a:t>
            </a:r>
          </a:p>
        </p:txBody>
      </p:sp>
      <p:sp>
        <p:nvSpPr>
          <p:cNvPr id="19" name="Rounded Rectangle 18">
            <a:hlinkClick r:id="rId2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OoD-Bench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20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 방법은 shift 유형(diversity / correlation)에 맞게 고른다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한쪽에서만 이긴 알고리즘을 범용 OOD라 부르지 말 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Liu et al. (2023) — OOD 대응을 학습 파이프라인 위치로 분류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ood_survey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497797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526280"/>
            <a:ext cx="11521440" cy="1097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526280"/>
            <a:ext cx="54864" cy="10972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654296"/>
            <a:ext cx="11173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발표 포인트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목표(P_train ≠ P_test에서도 성능 유지)지만, 개입 지점이 다름 → 방법 비교 전에 갈래를 먼저 말하라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 장: 실무에서 가장 많이 쓰는 ② Supervised 가지를 세부 분해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10515600" y="256032"/>
            <a:ext cx="12801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21 / 59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 대응 = 표현 초기화 · 지도 학습 전략 · 최악-케이스 최적화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개입 지점이 다르면 '같은 OOD 방법'이라도 역할이 다르다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Supervised 가지 — 무엇을 알고 있는가에 따라 고른다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283464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25296"/>
            <a:ext cx="248716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인과 (Causal)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가정: Y의 원인만 불변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개입·교란에 의한 shift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원인 변수로만 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강점: 원리적으로 강건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약점: SCM·개입 가정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097280"/>
            <a:ext cx="283464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9728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225296"/>
            <a:ext cx="248716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불변 (Invariant)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환경마다 공통 특징만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대표: IRM · ICP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가짜 단서(색 등) 제거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강점: 환경 라벨만으로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약점: 환경 정의에 민감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097280"/>
            <a:ext cx="283464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225296"/>
            <a:ext cx="248716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학습 전략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Meta / Ensemble / SSL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Feature Normalization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도메인 혼합·자기도전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강점: 구현·확장 용이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약점: 이론 보증이 약함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097280"/>
            <a:ext cx="278892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097280"/>
            <a:ext cx="54864" cy="3246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225296"/>
            <a:ext cx="244144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최적화 (DRO)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목표: 최악 분포 오차↓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GroupDRO · f-DRO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그룹/불확실 집합 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강점: 목표와 수식 직결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약점: 그룹 정의·계산 비용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480560"/>
            <a:ext cx="11567160" cy="1143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480560"/>
            <a:ext cx="54864" cy="1143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608576"/>
            <a:ext cx="1121968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선택 규칙 (직관)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0단계: OoD-Bench — diversity vs correlation (또는 D_div/D_cor) 먼저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Correlation 우세 → IRM / GroupDRO / debiasing   ·   Diversity 우세 → mix·augment·representation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약함 → ERM + UQ   ·   어떤 경우든 DomainBed식 공정 비교 필수</a:t>
            </a:r>
          </a:p>
        </p:txBody>
      </p:sp>
      <p:sp>
        <p:nvSpPr>
          <p:cNvPr id="22" name="Rounded Rectangle 21">
            <a:hlinkClick r:id="rId2"/>
          </p:cNvPr>
          <p:cNvSpPr/>
          <p:nvPr/>
        </p:nvSpPr>
        <p:spPr>
          <a:xfrm>
            <a:off x="10515600" y="256032"/>
            <a:ext cx="12801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22 / 59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아는 것이 원인·환경·그룹 중 무엇이냐에 따라 대응 가지가 갈린다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다음: Invariant 가지의 대표 — IRM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알고리즘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IRM — Invariant 가지의 대표 사례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7784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523036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한 줄 직관 (Arjovsky)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문제: 모델이 '색' 같은 가짜 단서를 학습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Colored MNIST: 숫자 대신 색으로 정답 맞춤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환경(색 규칙)이 바뀌면 ERM은 바로 붕괴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IRM: 모든 환경에서 통하는 특징만 남긴다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예: '숫자 모양'은 불변 · '색'은 가변 → 버림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한계: 환경을 어떻게 나눌지가 애매하면 약함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08176"/>
            <a:ext cx="51389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Survey에서의 위치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Liu 분류: Supervised · Invariant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인과를 완화한 실용형 (원인 대신 불변성)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환경 라벨이 있을 때 후보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GroupDRO와 목표(최악)는 가깝지만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수단이 다름: 특징 제약 vs 목적함수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다음: DomainBed — 이 방법이 실제로 이겼나?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23 / 59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IRM: 환경마다 바뀌는 가짜 단서를 버리고, 공통 규칙만 학습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다음은 DomainBed — 공정 비교하면 ERM이 자주 이긴다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8686800" y="256032"/>
            <a:ext cx="15544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IRM 2019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10378440" y="256032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2021</a:t>
            </a:r>
          </a:p>
        </p:txBody>
      </p:sp>
      <p:sp>
        <p:nvSpPr>
          <p:cNvPr id="20" name="Rounded Rectangle 19">
            <a:hlinkClick r:id="rId5"/>
          </p:cNvPr>
          <p:cNvSpPr/>
          <p:nvPr/>
        </p:nvSpPr>
        <p:spPr>
          <a:xfrm>
            <a:off x="717804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벤치마크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DomainBed — 공정 평가에 의한 재평가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1133856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CF1F7"/>
                </a:solidFill>
                <a:latin typeface="Apple SD Gothic Neo"/>
                <a:ea typeface="Apple SD Gothic Neo"/>
              </a:rPr>
              <a:t>공정한 HP 탐색 하에서 ERM ≥ 대부분의 OOD 알고리즘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B8C4D0"/>
                </a:solidFill>
                <a:latin typeface="Apple SD Gothic Neo"/>
                <a:ea typeface="Apple SD Gothic Neo"/>
              </a:rPr>
              <a:t>Gulrajani &amp; Lopez-Paz (2020) · ICML 2021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017520"/>
            <a:ext cx="54864" cy="2743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145536"/>
            <a:ext cx="331012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모델 선택이 핵심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성능 차의 상당 부분 = HP·선택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알고리즘 자체보다 튜닝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3017520"/>
            <a:ext cx="54864" cy="2743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3145536"/>
            <a:ext cx="331012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공정 비교 프로토콜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① ERM baseline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② 동일 HP budget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③ 동일 capacity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④ target val 전략 명시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017520"/>
            <a:ext cx="54864" cy="2743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3145536"/>
            <a:ext cx="331012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Survey와의 연결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대응 가지를 골라도 평가는 공통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Liu: 방법론 / DomainBed: 검증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주장 전 ERM 재검증이 필수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24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새 OOD 알고리즘 주장 전: ERM + 동일 HP budget 필수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공정 비교 없으면 성능 향상은 튜닝 착시일 수 있다</a:t>
            </a:r>
          </a:p>
        </p:txBody>
      </p:sp>
      <p:sp>
        <p:nvSpPr>
          <p:cNvPr id="23" name="Rounded Rectangle 22">
            <a:hlinkClick r:id="rId3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DomainBed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Survey 대응 → 우리 문제(시계열·공학)로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379476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32004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71016"/>
            <a:ext cx="344728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Survey에서 가져올 것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분포 이탈 정의 + shift 유형(OoD-Bench)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유형에 맞는 대응 가지 선택(Liu)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ERM + 공정 비교로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가정 약하면 UQ·기권 병행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79476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54864" cy="32004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271016"/>
            <a:ext cx="344728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시계열 OOD (Wu 2025)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시간적 분포 이동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주기적 분포 이동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공학 시계열은 둘 다 흔함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충방전·운전 주기 = 환경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0332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54864" cy="3200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271016"/>
            <a:ext cx="335584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Part 3–4로의 다리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Part 3: NN 구조로 가정 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(Xu 진단 · Mono · PINN)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Part 4: TRA로 OOD 정의 +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제약·isotonic으로 대응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Survey '가정→방법'의 실전판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480560"/>
            <a:ext cx="11475720" cy="1143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480560"/>
            <a:ext cx="54864" cy="1143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4608576"/>
            <a:ext cx="1112824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한 줄 정리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Liu Survey = 메뉴판  ·  DomainBed = 시식 검증  ·  Part 3–4 = 우리 문제에 맞게 요리</a:t>
            </a:r>
          </a:p>
        </p:txBody>
      </p:sp>
      <p:sp>
        <p:nvSpPr>
          <p:cNvPr id="19" name="Rounded Rectangle 18">
            <a:hlinkClick r:id="rId2"/>
          </p:cNvPr>
          <p:cNvSpPr/>
          <p:nvPr/>
        </p:nvSpPr>
        <p:spPr>
          <a:xfrm>
            <a:off x="8138160" y="256032"/>
            <a:ext cx="10972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Liu</a:t>
            </a:r>
          </a:p>
        </p:txBody>
      </p:sp>
      <p:sp>
        <p:nvSpPr>
          <p:cNvPr id="20" name="Rounded Rectangle 19">
            <a:hlinkClick r:id="rId3"/>
          </p:cNvPr>
          <p:cNvSpPr/>
          <p:nvPr/>
        </p:nvSpPr>
        <p:spPr>
          <a:xfrm>
            <a:off x="9326880" y="256032"/>
            <a:ext cx="10972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Wu</a:t>
            </a:r>
          </a:p>
        </p:txBody>
      </p:sp>
      <p:sp>
        <p:nvSpPr>
          <p:cNvPr id="21" name="Rounded Rectangle 20">
            <a:hlinkClick r:id="rId4"/>
          </p:cNvPr>
          <p:cNvSpPr/>
          <p:nvPr/>
        </p:nvSpPr>
        <p:spPr>
          <a:xfrm>
            <a:off x="10515600" y="256032"/>
            <a:ext cx="12801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DomainBed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25 / 59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Survey로 가지를 고르고, DomainBed로 검증하고, Part3–4에서 구조화한다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시계열·공학 OOD = 시간 이동 + 주기 이동 → Part4 실전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3  ·  14분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신경망 외삽 방법론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방법론 지도 · 논문 원도 · 언제 무엇을 쓸까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Q1. 실패 기제: ‖x‖→∞ ⇒ ReLU MLP → Ax+b  (Xu)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Q2. 구조적 처방: ŷ∈⟨U⟩ / ∂ŷ/∂x≥0 / PDE 잔차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Q3. 모르면?  σ²(x)↑ → STOP  (UQ)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26 / 59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방법론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해결법 — 방법론이 분기하는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ethod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7094618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051560"/>
            <a:ext cx="4663440" cy="3108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78040" y="1051560"/>
            <a:ext cx="54864" cy="31089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9208" y="1179576"/>
            <a:ext cx="4315968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가지 · 가정(수식) · 사례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Activation · Xu'21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lim ‖x‖→∞ f_θ(x) = Affine / 포화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주기 신호를 ReLU MLP로 근사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Equation · EQL / NALU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f ∈ span{sin, ×, …} 또는 ±×÷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y=sin(ωt) 계절 성분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Constraint · CMNN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∂f/∂x_i ≥ 0  (단조)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가격–수요 단조관계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Physics · PINN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L = L_data + λ ‖N[u_θ]‖²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열전도 PDE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⑤ Operator+UQ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G: u(·)↦s(·),  Var↑→STOP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신용구간 이탈 시 배포 보류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97680"/>
            <a:ext cx="11430000" cy="12801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297680"/>
            <a:ext cx="64008" cy="12801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370832"/>
            <a:ext cx="11109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9A5C"/>
                </a:solidFill>
                <a:latin typeface="Apple SD Gothic Neo"/>
                <a:ea typeface="Apple SD Gothic Neo"/>
              </a:rPr>
              <a:t>Remarks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진단→처방→안전장치: Activation → Equation/Constraint/Physics → UQ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가정이 강할수록 외삽에 유리, 틀리면 오차도 큼 (assumption bias)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실전: 부분 지식(단조·물리)을 제약으로 + 외삽 전용 평가 프로토콜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59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각 가지는 상이한 함수 가정 — 가정 수식을 명시할 수 있어야 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Activation → Equation → Constraint → Physics → Operator+UQ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방법 — 작동 원리 · 적용 사례 ·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ethod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941128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005840"/>
            <a:ext cx="3154680" cy="4526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32520" y="1005840"/>
            <a:ext cx="54864" cy="45262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133856"/>
            <a:ext cx="2807208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수식 요약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ReLU: ‖x‖→∞⇒Ax+b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Tanh: σ→±1 포화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ŷ∈⟨U⟩ 연장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Mono: ∂ŷ/∂x≥0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PINN: L+λ‖N[u]‖²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σ_e↑ → STOP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판독 기준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초록 띠=훈련 구간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점선=참 함수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실선=모델 거동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한계 요약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ReLU: 비선형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U 밖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PINN: 시간외삽弱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경고만(수정X)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28 / 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같은 데이터라도 구조가 다르면 지지집합 밖 거동이 완전히 다르다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그림 (a)~(f) = 방법 선택의 기준 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Xu et al. (2021)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 MLP — 훈련 지지집합 밖에서는 Affine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051560"/>
            <a:ext cx="6986016" cy="1642608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u_fig1_relu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15568"/>
            <a:ext cx="6858000" cy="151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2712456"/>
            <a:ext cx="6986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Extrapolate: From Feedforward to Graph Neural Networks (ICLR 2021), Fig.1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051560"/>
            <a:ext cx="4572000" cy="4526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051560"/>
            <a:ext cx="54864" cy="45262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179576"/>
            <a:ext cx="4224528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수식 · 사례 · 평가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Xu et al., ICLR 2021  Fig.1 / Thm.1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x ∉ Conv(X_train) →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Thm.1 (핵심):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lim ‖x‖→∞  f_θ(x) = A_d x + b_d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(방향 d마다 Affine)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ReLU: σ(z)=max(0,z)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‖x‖↑ ⇒ 부호패턴 고정 ⇒ 선형합성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예시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참: y*=sin(x), train: x∈[-π,π]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밖 |x|&gt;π 에서 MLP→접선(직선)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매출: y*=a+b sin(2πt/12)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ReLU 학습 → 내년은 직선 추세만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커피: T(t)=T∞+(T0-T∞)e^{-kt}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선형 외삽 → t↑ 시 T→-∞ 발산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평가 함정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test ⊂ Conv(X_train) = 보간 착시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평가: X_test ∩ Conv=∅ 강제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3017520"/>
            <a:ext cx="6858000" cy="256032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45536"/>
            <a:ext cx="65836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핵심 수식 (발표용)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</a:rPr>
              <a:t>외삽 영역:   x ∉ Conv(X_train)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</a:rPr>
              <a:t>Xu Thm.1:    ‖x‖→∞  ⇒  f_θ(x) → A x + b   (ReLU MLP)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</a:rPr>
              <a:t>예시 타깃:   y* = sin(x)   vs   모델 밖:  ŷ = αx+β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시사점: 활성화 선택 = 외삽 시 함수족(function class) 선택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다음: 왜 Affine이 되는지(부호패턴) → 활성화↔타깃 짝맞추기</a:t>
            </a:r>
          </a:p>
        </p:txBody>
      </p:sp>
      <p:sp>
        <p:nvSpPr>
          <p:cNvPr id="15" name="Rounded Rectangle 14">
            <a:hlinkClick r:id="rId3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29 / 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‖x‖→∞ ⇒ ReLU MLP는 Affine — 비선형 법칙은 구조 없이 외삽 불가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test가 Conv(X_train) 안에 있으면 보간 평가에 불과하다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메커니즘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ReLU의 원거리 Affine 수렴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elu_af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5738863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4023360"/>
            <a:ext cx="38404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4023360"/>
            <a:ext cx="54864" cy="15544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151376"/>
            <a:ext cx="34930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부호 패턴 고정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σ(z)=max(0,z)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z≫0 ⇒ ON,  z≪0 ⇒ OFF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‖x‖↑ ⇒ 활성집합 A(x) 불변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원거리 입력에서 활성패턴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4023360"/>
            <a:ext cx="38404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4023360"/>
            <a:ext cx="54864" cy="15544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4151376"/>
            <a:ext cx="34930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층 선형화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A(x) 고정 구간에서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h^{(ℓ)} = W^{(ℓ)} h^{(ℓ-1)} + 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(비선형 굽힘 소멸)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조각선형이 단일 affine으로 붕괴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023360"/>
            <a:ext cx="38404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4023360"/>
            <a:ext cx="54864" cy="15544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151376"/>
            <a:ext cx="34930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Affine 수렴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f = W_L … W_1 x + b_tot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즉 f(x)=A x + b  (Thm.1)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깊이·너비↑로도 동일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비선형 타깃의 원거리 접선 근사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515600" y="256032"/>
            <a:ext cx="12801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30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σ 부호패턴 고정 → 선형합성 → f(x)=Ax+b (Xu Thm.1)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다음: 활성화 φ와 타깃 y*의 짝이 맞아야 외삽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Xu et al. Fig.5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활성화 = 외삽 가정 (타깃과 맞으면 성공)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" y="1005840"/>
            <a:ext cx="6528816" cy="1942528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u_fig5_acti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069848"/>
            <a:ext cx="6400800" cy="1814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2966656"/>
            <a:ext cx="6528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 (ICLR 2021), Fig.5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005840"/>
            <a:ext cx="5074920" cy="4572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1005840"/>
            <a:ext cx="54864" cy="4572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133856"/>
            <a:ext cx="4727448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수식 · 실험 · 대응 · 함의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모델: ŷ = MLP_φ(x)  (φ=활성화)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타깃: y* ∈ {tanh, cos, quad, lin}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지표 (외삽):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MAPE = (1/n) Σ |ŷ-y*| / |y*|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관측: φ ≈ y* 족일 때만 MAPE↓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mismatch 시 MAPE ×10²~10³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해석: φ가 곧 외삽 시 함수족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φ ↔ y* 대응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φ=cos, y*=cos(ωt): 계절 성분 — 일치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φ=ReLU, y*=sin: 밖은 직선 →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φ=tanh, y*=성장곡선: 포화 — 일치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φ=ReLU, y*=성장곡선: 계속 증가 착각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φ=quad, y*=T(t)∝t²: 이차 성장 — 일치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설계 함의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주기? → sin/cos 계열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포화? → tanh/σ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단조? → ∂ŷ/∂x≥0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모름? → UQ (σ²↑ → STOP)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3273552"/>
            <a:ext cx="6400800" cy="233172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346704"/>
            <a:ext cx="6126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짝맞추기:  φ (행)  ×  y* (열)   —  ✓=가정 일치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         tanh     cos     quad    linear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tanh        ✓        ✗       ✗        ✗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cos          ✗        ✓       ✗        ✗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quad        ✗        ✗       ✓        ✗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ReLU       ✗        ✗       ✗     (선형만)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E89A5C"/>
                </a:solidFill>
                <a:latin typeface="Apple SD Gothic Neo"/>
                <a:ea typeface="Apple SD Gothic Neo"/>
              </a:rPr>
              <a:t>명제:  φ ∈ F 이고  y* ∈ F  ⇒  외삽 가능 (가정 일치)</a:t>
            </a:r>
          </a:p>
        </p:txBody>
      </p:sp>
      <p:sp>
        <p:nvSpPr>
          <p:cNvPr id="15" name="Rounded Rectangle 14">
            <a:hlinkClick r:id="rId3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31 / 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φ와 y*가 같은 함수족일 때만 외삽 성립 — mismatch 시 MAPE 폭증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활성화 선택 = 외삽 시 함수족(F) 선택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EQL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Equation Learner — 수식 유닛을 네트워크 구조에 내장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" y="1005840"/>
            <a:ext cx="5065776" cy="145077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l_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069848"/>
            <a:ext cx="4937760" cy="1322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2474904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Martius &amp; Lampert, Extrapolation and Learning Equations (arXiv 2016), Fig.1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005840"/>
            <a:ext cx="6537960" cy="2468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1005840"/>
            <a:ext cx="54864" cy="2468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4688" y="1133856"/>
            <a:ext cx="6190488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수식 · 구조 · 사례 · 한계  (Martius &amp; Lampert 2016)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은닉유닛 집합 U = {id, sin, cos, σ, ×, …}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층:  z = Σ_k w_k · u_k(·) ,  u_k ∈ 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목표: y* ≈ 닫힌 식 g(x) 를 구조로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예1: y*=sin(x) → 학습식 ŷ≈sin(1.01x)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예2: 계절 매출 y*=a+b sin(2πt/12)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지지집합 밖에서도 주기 연장 (MLP는 직선)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기제: g∈⟨U⟩이면 정의역 전체에서 유효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한계: U에 없는 함수 / 고차원·잡음 / sparsity 필요</a:t>
            </a:r>
          </a:p>
        </p:txBody>
      </p:sp>
      <p:pic>
        <p:nvPicPr>
          <p:cNvPr id="13" name="Picture 12" descr="fig_eql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611880"/>
            <a:ext cx="4763943" cy="19659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869680" y="3611880"/>
            <a:ext cx="2971800" cy="1965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3611880"/>
            <a:ext cx="54864" cy="19659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3739896"/>
            <a:ext cx="2624328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대비 (수식)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MLP: ŷ=조각선형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⇒ 밖 Ax+b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ŷ∈⟨U⟩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⇒ 밖도 같은 g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다음: NALU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(±×÷ 강제)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EQL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32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EQL: ŷ∈⟨U⟩ 이면 정의역 전체에서 같은 식으로 연장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MLP 조각선형(밖=Ax+b)과 결정적으로 다름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NALU  Fig.2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NAC / NALU — 산술 연산을 inductive bias로 고정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48856" cy="2427029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alu_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20840" cy="22990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524309"/>
            <a:ext cx="6848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Trask et al., Neural Arithmetic Logic Units (NeurIPS 2018), Fig.2 · arXiv:1808.00508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구조  ·  Trask et al. 2018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NAC:  W = tanh(Ŵ) ⊙ σ(M̂)  ∈ [−1, 1]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가산·감산만 허용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NALU:  y = g⊙a + (1−g)⊙m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 = Wx ,  m = exp(W log(|x|+ε))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g = σ(Gx) 가 ± 와 ×÷ 경로를 선택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결과  ·  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소규모 정수 → 대규모 피연산자로 일반화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카운팅·누적합에서 MLP 대비 우위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수치 지지집합 밖에서도 연산 규칙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한계: gate 불안정 · 0-나눗셈 · 가정 민감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3844349"/>
            <a:ext cx="6720840" cy="18432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3844349"/>
            <a:ext cx="54864" cy="18432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72365"/>
            <a:ext cx="6373368" cy="1642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좌 NAC = ± 결합  ·  우 NALU = log-space 승산 + gate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Xu의 ‘밖 = Ax+b’와 대비 — 산술 함수족을 구조로 고정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형태 제약 계열(EQL同): 가정이 맞을 때만 외삽이 성립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NALU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33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NAC/NALU — 산술을 가중치 공간에 제약하면 수치 범위 외삽이 성립한다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가정 불일치·게이트 실패 시에는 일반 MLP와 동일하게 붕괴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CMNN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단조성 vs 표현력 — weight clip의 실패와 CMNN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48856" cy="199051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nje_fig1_cub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20840" cy="1862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087792"/>
            <a:ext cx="6848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Fig.1 · arXiv:2205.11775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실험 설정  ·  Runje &amp; Shankaranarayana 2023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목표: 단조 증가 함수  y = x³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unconstrained — 적합↑, 단조 위반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weight ≥ 0 clip — 단조↑, 표현력↓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사실상 선형, x³ 근사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CMNN — 단조 + 비선형을 동시 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이론적 함의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 함수족에서도 universal approximation 필요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부호 clip ≠ 충분한 재매개화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외삽: ∂f/∂x 부호가 지지집합 밖에서도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단조성은 페널티가 아니라 구조적 불변량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3407832"/>
            <a:ext cx="6720840" cy="2279736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3407832"/>
            <a:ext cx="54864" cy="2279736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35848"/>
            <a:ext cx="6373368" cy="207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  ·  (a) → (b) → (c)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제약이 조악하면 단조성은 얻되 함수족이 붕괴한다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올바른 재매개화는 비선형 단조성까지 보존한다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대응 영역: 가격–수요, SOC–OCV 등 방향만 아는 외삽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34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단순 weight clip은 x³조차 실패한다 — CMNN은 단조와 표현력을 동시에 만족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단조성은 손실 페널티가 아니라 구조적 불변량으로 강제해야 한다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CMNN  Fig.3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Monotonic Dense Unit — 제약을 레이어에 내재화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4889726" cy="259689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nje_fig3_mono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76171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694176"/>
            <a:ext cx="48897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아키텍처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W → |·|_t → W′   (부호·크기 재매개화)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 = W′x + 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 = (s̆, ŝ, s̃) 로 채널 split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ρ̆ , ρ̂ , ρ̃  →  concat → 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단조성 by construction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외삽에서의 역할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지지집합 밖에서도 ∂f/∂xᵢ 부호 역전 차단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점추정 오차와 무관하게 방향 오류 감소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Part 4: CA-CSS + isotonic calibration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구조(제약) ⊥ 크기(UQ) — 보완 관계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4014216"/>
            <a:ext cx="6720840" cy="167335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4014216"/>
            <a:ext cx="54864" cy="16733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42232"/>
            <a:ext cx="6373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블록 해독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|·|_t : 단조 허용 집합으로의 미분가능 투영 (hard clip 아님)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split + ρ : 국소 비선형을 유지하면서 전역 단조성 보존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Xu(진단) → CMNN(제약) → Part 4(프로토콜·모델)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35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CMNN 레이어 — 단조성 by construction으로 외삽 시 부호 역전을 차단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제약은 구조를, UQ는 크기를 담당한다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PINN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물리 잔차가 작아도 시간 외삽은 보장되지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48856" cy="1829281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sser_fig1_pinn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20840" cy="17012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926561"/>
            <a:ext cx="6848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Fesser et al., Understanding and Mitigating Extrapolation Failures in PINNs (2023), Fig.1 · arXiv:2306.09478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프로토콜  ·  Fesser et al. 2023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λ ‖N[u_θ]‖²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  t ∈ [0, T/2]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평가  t ∈ (T/2, T]  — 시간 축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Burgers · Allen–Cahn에서 L2·잔차 폭증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Raissi (2019) 성공 ≠ 외삽 일반 보증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실패 기제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Spectral bias — 고주파·충격파 학습 지연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Loss balancing — 잔차↓ ≠ 해 오차↓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Collocation 희소 — 미래 시간 커버 부족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PDE prior는 필요조건일 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3246601"/>
            <a:ext cx="6720840" cy="2440967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3246601"/>
            <a:ext cx="54864" cy="2440967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74617"/>
            <a:ext cx="6373368" cy="223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  ·  시간 hull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점선(t = 0.5): 공간이 아니라 시간 외삽의 경계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잔차가 작아 보여도 해는 발산할 수 있다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대응: 구간 재학습 · causality · UQ 기권 (→ Zhu)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9006840" y="237744"/>
            <a:ext cx="13258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Fesser</a:t>
            </a:r>
          </a:p>
        </p:txBody>
      </p:sp>
      <p:sp>
        <p:nvSpPr>
          <p:cNvPr id="20" name="Rounded Rectangle 19">
            <a:hlinkClick r:id="rId4"/>
          </p:cNvPr>
          <p:cNvSpPr/>
          <p:nvPr/>
        </p:nvSpPr>
        <p:spPr>
          <a:xfrm>
            <a:off x="10424160" y="237744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Raissi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36 / 59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PINN — PDE 잔차 최소화는 시간 외삽 성능의 보증이 아니다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물리 prior와 외삽 평가 프로토콜은 분리해서 설계해야 한다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DeepONet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Neural operator — 예측과 기권(abstain)의 분리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4819360" cy="300837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zhu_fig1_deepo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691344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4105656"/>
            <a:ext cx="4819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Zhu et al., Reliable Extrapolation of Deep Neural Operators (CMAME 2023), Fig.1 · arXiv:2212.06347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모형  ·  Zhu et al. 2022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G(u)(y) ≈ Σₖ bₖ(u) · tₖ(y)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Branch b(u): 입력 함수 인코딩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Trunk t(y): 질의 좌표 인코딩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점추정 NN — 분포 밖 붕괴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Operator — 함수 공간 OOD 동일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Reliable extrapolation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 ∉ supp(P_train) → 점추정만으로 위험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물리 잔차·관측 mismatch → 신뢰도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임계값 이하: abstain (기권)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 = 정확도 × 선택적 예측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4425696"/>
            <a:ext cx="6720840" cy="126187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4425696"/>
            <a:ext cx="54864" cy="126187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53712"/>
            <a:ext cx="6373368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해석  ·  (A) vs (B)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high confidence, low accuracy — 조용한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UQ로 실패를 감지하고 기권할 수 있는가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제약 · 물리 · 기권 — 세 안전장치가 보완 관계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Zhu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37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DeepONet + UQ — 함수 공간 외삽에서 기권 가능한가가 핵심이다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점추정 정확도만으로는 고위험 외삽을 대응할 수 없다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종합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언제 무엇을 쓰는가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ethod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5455624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886200"/>
            <a:ext cx="1956816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90448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886200"/>
            <a:ext cx="2048255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3904487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원리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886200"/>
            <a:ext cx="2231136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904487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언제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886200"/>
            <a:ext cx="2139696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904487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한계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197096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4233672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EQL/NALU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4197096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8296" y="4233672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수식·산술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197096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4233672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법칙 모양 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197096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4233672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유닛/불안정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526280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4562856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Mono NN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4526280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68296" y="4562856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단조 강제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526280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4562856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방향만 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4526280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4562856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부호 오용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4855464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4892040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PINN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4855464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68296" y="4892040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PDE 잔차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4855464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1416" y="4892040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지배식 있음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4855464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57416" y="4892040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시간외삽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5184648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" y="5221224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DeepONet+UQ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31720" y="5184648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8296" y="5221224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연산자+경고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5184648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71416" y="5221224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모름/고위험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20840" y="5184648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57416" y="5221224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비용·설계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06840" y="3886200"/>
            <a:ext cx="2834640" cy="1645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06840" y="3886200"/>
            <a:ext cx="54864" cy="1645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08008" y="4014216"/>
            <a:ext cx="24871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발표 연결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지식 종류 → 구조 선택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공통: 외삽 평가·ERM비교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우리: Mono/제약 → Part4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38 / 59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무엇을 아는가? → 구조 선택 → 안전장치(평가·UQ)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우리 연구에 가장 가까운 가지 = Monotonic / Constraint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4  ·  10분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실전 응용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데이터셋 · 프로토콜 · APEX-Guard 아키텍처 · 결과 · Ablation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N-CMAPSS: 무엇을 왜 외삽하는가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설계: Dual Encoder + 제약 + isotonic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근거: 3.26 vs 3.80 · ablation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39 / 59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N-CMAPSS DS02 — 항공 엔진 run-to-failure 시뮬레이션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2286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71016"/>
            <a:ext cx="344728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데이터셋 개요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NASA 터보팬 열화 시뮬레이터 (CMAPSS 후속)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unit = 엔진 1대의 전체 수명 궤적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각 시점: 다채널 센서 + 운용조건 기록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레이블: RUL (잔여 수명, cycle 단위)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54864" cy="22860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271016"/>
            <a:ext cx="344728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운용조건 4축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Altitude — 고도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Mach — 속도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 — 스로틀(출력 요구) ← 외삽축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T30 등 온도 계열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0332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54864" cy="2286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271016"/>
            <a:ext cx="335584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TRA가 외삽축인가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고TRA = 고부하 = 열화 가속 구간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실전: 학습 못 본 고부하 운용 발생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저TRA로 학습 → 고TRA 예측 요구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= covariate shift의 물리적 실체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566160"/>
            <a:ext cx="11475720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566160"/>
            <a:ext cx="54864" cy="2011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694176"/>
            <a:ext cx="1112824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과제 정의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입력: 센서 시계열 window  →  출력: 해당 시점 RUL (회귀)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난점 1 — 열화 신호와 운용부하 신호가 얽혀 있음 (같은 센서에 두 원인이 겹침)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난점 2 — 고TRA 구간은 train 지지집합 밖 → Part 1의 convex hull 논리가 그대로 적용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따라서: 부하와 열화를 분리하는 구조 + 물리 제약 + 외삽 전용 평가가 모두 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40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N-CMAPSS = 엔진 수명 궤적 + 운용조건 — RUL 회귀 과제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고TRA 미관측이 covariate shift의 물리적 실체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데이터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원시 시계열 → strict 외삽 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datase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078992"/>
            <a:ext cx="7882554" cy="32186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434840"/>
            <a:ext cx="11475720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434840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562856"/>
            <a:ext cx="1112824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구성 원칙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분위수(q70/q90)는 train-pool 행에서만 계산 — test 정보 누출 차단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high_frac ≥ 0.7: window 내 고TRA 비율 조건 → 저→고 전이 구간이 test에 섞이는 것을 방지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밴드별 표본: train 6,645 · val 1,868 · strict_late 201 — 셋이 TRA 축에서 겹치지 않음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41 / 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데이터 구성 = 윈도우화 → TRA 분위수 필터 → 3밴드 분리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train 지지집합과 test가 TRA 축에서 분리되어야 '외삽 평가'가 성립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외삽성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N-CMAPSS Operating Regime — 4차원 분포 관점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ncmapss_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1115568"/>
            <a:ext cx="6296822" cy="409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349240"/>
            <a:ext cx="11338560" cy="6400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Train: TRA≤q70    Test: TRA&gt;q90 + unit holdout    →  test는 train hull 밖 (보간 평가 아님)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42 / 59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4차원 중 TRA에서만 train/test 분포가 분리 — TRA가 외삽축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그래서 N-CMAPSS 과제는 보간이 아니라 외삽 문제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문헌 교훈 → APEX-Guard 설계 요소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pex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247120" cy="42627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212080"/>
            <a:ext cx="11338560" cy="7772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F1F7"/>
                </a:solidFill>
                <a:latin typeface="Apple SD Gothic Neo"/>
                <a:ea typeface="Apple SD Gothic Neo"/>
              </a:rPr>
              <a:t>Xu(실패 기제) → CMNN(단조 제약) → DomainBed(공정 평가) → CA-CSS → APEX-Guard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각 논문의 교훈이 설계 요소 하나씩으로 번역된다</a:t>
            </a:r>
          </a:p>
        </p:txBody>
      </p:sp>
      <p:sp>
        <p:nvSpPr>
          <p:cNvPr id="10" name="Rounded Rectangle 9">
            <a:hlinkClick r:id="rId3"/>
          </p:cNvPr>
          <p:cNvSpPr/>
          <p:nvPr/>
        </p:nvSpPr>
        <p:spPr>
          <a:xfrm>
            <a:off x="502920" y="256032"/>
            <a:ext cx="10972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Xu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1737360" y="256032"/>
            <a:ext cx="11887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CMNN</a:t>
            </a:r>
          </a:p>
        </p:txBody>
      </p:sp>
      <p:sp>
        <p:nvSpPr>
          <p:cNvPr id="12" name="Rounded Rectangle 11">
            <a:hlinkClick r:id="rId5"/>
          </p:cNvPr>
          <p:cNvSpPr/>
          <p:nvPr/>
        </p:nvSpPr>
        <p:spPr>
          <a:xfrm>
            <a:off x="3063240" y="256032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DomainBed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43 / 59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Xu → CMNN → DomainBed → CA-CSS → APEX — 문헌 교훈이 설계로 연결된다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세미나 논리의 수렴점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APEX-Guard — 구조와 신호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pex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78992"/>
            <a:ext cx="7589520" cy="36093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1078992"/>
            <a:ext cx="388620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078992"/>
            <a:ext cx="54864" cy="2286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7" y="1207008"/>
            <a:ext cx="353872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동작 흐름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OC-Norm: 운용점 편차를 분리 정규화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Health Enc: TRA 마스킹 → 열화만 인코딩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Load Enc: TRA·φ·T30·cycle → 부하 전담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RUL = health − damage  (w≥0)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⑤ 추론 후 unit별 isotonic 정렬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474720"/>
            <a:ext cx="388620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3474720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7" y="3602736"/>
            <a:ext cx="353872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설계 근거 (문헌 → 설계)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Xu: 밖=Ax+b → 외삽축을 별도 경로로 명시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CMNN: 단조는 구조로 → w≥0 + isotonic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DomainBed: 평가 먼저 → strict 프로토콜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얽힘 제거: 열화·부하 분리가 일반화의 핵심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44 / 59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구조 요지: 열화(health)와 부하(load)를 분리하고, 단조를 구조로 강제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각 블록이 Part 1~3의 교훈 하나씩에 대응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설계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APEX-Guard — 3층 설계 (평가·학습·추론)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1338560" cy="96012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</a:rPr>
              <a:t>Adaptive Physics EXtrapolation Guard — 외삽은 불가피하므로 설계로 대응한다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42316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23160"/>
            <a:ext cx="54864" cy="32004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551176"/>
            <a:ext cx="331012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L1 · 평가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strict_late 프로토콜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순수 외삽만 측정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전이 window 제거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숫자의 신뢰성 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42316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423160"/>
            <a:ext cx="54864" cy="32004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551176"/>
            <a:ext cx="331012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L2 · 학습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CA-CSS 제약 발견·컴파일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TRA(−) hinge + cycle_mono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물리 감독이 hull을 확장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방향 오류 차단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42316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423160"/>
            <a:ext cx="54864" cy="3200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551176"/>
            <a:ext cx="331012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L3 · 추론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unit별 isotonic 정렬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H1 위반 28% → 0%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단조 RUL 궤적 보장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궤적 물리성 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45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L1 평가 · L2 제약학습 · L3 단조추론 — 3층 설계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외삽 성능을 우연이 아니라 설계로 확보한다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프로토콜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Strict TRA Extrap — 3겹 조건으로 고정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71016"/>
            <a:ext cx="344728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TRA shift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Train: tra_end≤q70 ∧ tra_mean≤q70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Test: tra_end&gt;q90 ∧ high_frac≥0.7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전이 window 오염 제거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271016"/>
            <a:ext cx="344728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Unit holdout (tra_rich)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train {5,18,16,11,15,14}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val {2}  ·  test {10,20}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고TRA share 상위 유닛 holdout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54864" cy="23317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271016"/>
            <a:ext cx="335584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Late-life band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RUL ≤ 50만 측정 (strict_late)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 = 201  ·  seed = 42  ·  e15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all_rul 7.53 → late 3.26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611880"/>
            <a:ext cx="11475720" cy="1965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611880"/>
            <a:ext cx="54864" cy="19659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739896"/>
            <a:ext cx="11128248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이 프로토콜인가 (근거)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이전 hard: tra_end만 보면 저→고 전이 window가 고TRA로 혼입 · unit 14는 고TRA 거의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high_frac=(TRA&gt;q85 비율)로 순수 고부하만 남김 → 전이 필터 유효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말기(RUL≤50)가 핵심: all_rul 7.53 → strict_late 3.26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DomainBed 교훈 — 평가 프로토콜을 먼저 고정한 뒤 모델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즉: OOD를 주장하기 전에 TRA로 '밖'을 수치 정의했다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46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Strict = TRA shift × unit holdout × late band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프로토콜이 약하면 성능 숫자는 의미가 없다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v4_disentangled — Dual Encoder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278892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244144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입력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OC-Norm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운용점 편차 분리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cycle 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78892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408176"/>
            <a:ext cx="244144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Health Enc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TRA=0 masking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열화 패턴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 overfit 방지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80160"/>
            <a:ext cx="278892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80160"/>
            <a:ext cx="54864" cy="4297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408176"/>
            <a:ext cx="244144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Load Enc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TRA, φ, T30, cycle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외삽 축 전담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280160"/>
            <a:ext cx="246888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1408176"/>
            <a:ext cx="212140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RUL 분해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RUL=health−damage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w≥0 제약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d=64, L=2, ep=15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47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Health(TRA=0) + Load(외삽축) — 역할을 분리했다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RUL = health − damage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CA-CSS + Isotonic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CA-CSS 파이프라인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Discovery → Pseudo-extrap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Compile → Train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train-band만 (leakage 방지)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TRA(−) λ=0.05 adopt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cycle_mono adopt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손실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 = L_RUL + L_physics + L_TRA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TRA(−) hinge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cycle_mono hinge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물리 감독 = 외삽 가드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54864" cy="4297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Isotonic 후처리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unit별 cycle 정렬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decreasing isotonic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H1: 28% → 0%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단조 궤적 보장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48 / 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CA-CSS가 제약을 발견·컴파일하고 isotonic이 궤적을 지킨다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H1 위반 28%→0%가 물리 가드의 증거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strict_late 비교 (tra_rich · seed=42 · n=201)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trict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078992"/>
            <a:ext cx="6812280" cy="35825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078992"/>
            <a:ext cx="4617720" cy="3063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078992"/>
            <a:ext cx="54864" cy="3063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1207008"/>
            <a:ext cx="4270248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주결과 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APEX (v4_iso)   3.26   R² 0.947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TabPFN           3.80   R² 0.927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XGB              6.95   R² 0.757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Transformer      7.31   R² 0.732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TCN             14.09   R² 0.002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Δ vs TabPFN: −0.54 RMSE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251960"/>
            <a:ext cx="4617720" cy="1371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4251960"/>
            <a:ext cx="54864" cy="1371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8" y="4379976"/>
            <a:ext cx="42702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제약+단조가 강 tabular baseline을 이김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순수 용량(TF/TCN)만으로는 외삽 실패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4251960"/>
            <a:ext cx="6812280" cy="1371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4251960"/>
            <a:ext cx="54864" cy="1371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79976"/>
            <a:ext cx="646480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실험 설정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epochs=15 · seed=42 · TabPFN max_train=2000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모델 키 v4_iso = APEX-Guard · 출처: strict_extrap_RESULTS.md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49 / 59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strict_late: APEX 3.26 &lt; TabPFN 3.80 (n=201) — 주결과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용량만 키운 모델(TF/TCN)은 외삽에서 붕괴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무엇이 성능을 만드는가 — 구성요소 제거 실험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6903720" cy="26484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051560"/>
            <a:ext cx="457200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9480" y="1051560"/>
            <a:ext cx="54864" cy="23317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0648" y="1179576"/>
            <a:ext cx="422452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Ablation (hard · 3-seed · e15)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full          3.88 ± 0.80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no_tra_loss   3.97  (+0.09)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no_physics    4.21  (+0.33)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no_iso        4.37  (+0.49) ← 최대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revin         8.85  (+4.97) ← 해로움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TabPFN ref    4.79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3520440"/>
            <a:ext cx="45720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3520440"/>
            <a:ext cx="54864" cy="2103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3648456"/>
            <a:ext cx="422452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근거 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Isotonic이 가장 큰 기여 (+0.49)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물리 제약 제거도 유의미 (+0.33)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H1 위반: 28% → 0% (iso on)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RevIN은 이 과제에서 역효과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4526280"/>
            <a:ext cx="6903720" cy="1097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4526280"/>
            <a:ext cx="54864" cy="10972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4654296"/>
            <a:ext cx="655624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한계 · 강건성 (nasa_drop14)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test를 {11,15}로 바꾸면: TF 4.45 &lt; TabPFN 5.14 &lt; APEX 5.30 — 순위 역전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주결과는 tra_rich 한정 · 유닛 규칙·multi-seed를 명시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50 / 59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Ablation: isotonic(+0.49) &gt; physics(+0.33) &gt; TRA loss(+0.09)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주결과와 별도로 유닛 민감성(nasa_drop14)도 보고한다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설계가 성능으로 연결되는 논리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1338560" cy="182880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외삽 성능을 우연에 맡기지 말고
평가(L1) · 제약(L2) · 단조(L3)를 설계하라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B8C4D0"/>
                </a:solidFill>
                <a:latin typeface="Apple SD Gothic Neo"/>
                <a:ea typeface="Apple SD Gothic Neo"/>
              </a:rPr>
              <a:t>이론 → 프로토콜(strict_late) → 모델(APEX) → ablation으로 근거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29184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291840"/>
            <a:ext cx="54864" cy="22402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419856"/>
            <a:ext cx="33101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정리 1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외삽 정의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고TRA × unit holdout × 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29184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3291840"/>
            <a:ext cx="54864" cy="22402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3419856"/>
            <a:ext cx="33101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정리 2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설계 대응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Dual Enc + CA-CSS + iso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29184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291840"/>
            <a:ext cx="54864" cy="22402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3419856"/>
            <a:ext cx="33101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정리 3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근거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3.26 vs 3.80 · iso +0.49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51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평가·제약·단조를 설계하면 외삽 성능이 따라온다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주결과 + ablation + 한계(유닛 민감)를 한 세트로 말하라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5  ·  4분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연구 동향 &amp; 논문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30년 타임라인 · 필독 · 연구 적용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우선 읽을 논문 3편부터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내 문제에 방법 매핑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Future로 연구 전망을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52 / 59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연구 30년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1828800" cy="502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1990s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Vapnik · VC
보간 이론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828800"/>
            <a:ext cx="1828800" cy="502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2000s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GP · Covariate
Shift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1828800" cy="502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2016-19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EQL · NALU
IRM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828800"/>
            <a:ext cx="1828800" cy="502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2020-21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DomainBed
Xu · PINN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828800"/>
            <a:ext cx="1828800" cy="502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2022-23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CMNN
DeepONet+UQ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95560" y="1828800"/>
            <a:ext cx="1828800" cy="502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2024-25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Pfister
Prob.Richardson
Wu 시계열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53 / 59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30년: 이론→OOD→NN진단→제약/물리→UQ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지금은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필독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우선 읽을 논문 가이드 (PDF 동봉)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★★★ 필수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Xu 2021 — NN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Gulrajani 2020 — DomainBed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Liu 2023 — OOD Survey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★★☆ 방법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Trask 2018 NALU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Runje 2023 CMNN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Fesser 2023 PINN 실패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Teckentrup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★☆☆ 응용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Aykol 2021 Battery+Phys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Li 2023 Lifetime OOD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Wu 2025 시계열 OOD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총 36편 / extrapolation-papers/</a:t>
            </a:r>
          </a:p>
        </p:txBody>
      </p:sp>
      <p:sp>
        <p:nvSpPr>
          <p:cNvPr id="16" name="Rounded Rectangle 15">
            <a:hlinkClick r:id="rId2"/>
          </p:cNvPr>
          <p:cNvSpPr/>
          <p:nvPr/>
        </p:nvSpPr>
        <p:spPr>
          <a:xfrm>
            <a:off x="50292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Xu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554480" y="256032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DomainBed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288036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Liu</a:t>
            </a:r>
          </a:p>
        </p:txBody>
      </p:sp>
      <p:sp>
        <p:nvSpPr>
          <p:cNvPr id="19" name="Rounded Rectangle 18">
            <a:hlinkClick r:id="rId5"/>
          </p:cNvPr>
          <p:cNvSpPr/>
          <p:nvPr/>
        </p:nvSpPr>
        <p:spPr>
          <a:xfrm>
            <a:off x="393192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IRM</a:t>
            </a:r>
          </a:p>
        </p:txBody>
      </p:sp>
      <p:sp>
        <p:nvSpPr>
          <p:cNvPr id="20" name="Rounded Rectangle 19">
            <a:hlinkClick r:id="rId6"/>
          </p:cNvPr>
          <p:cNvSpPr/>
          <p:nvPr/>
        </p:nvSpPr>
        <p:spPr>
          <a:xfrm>
            <a:off x="498348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NALU</a:t>
            </a:r>
          </a:p>
        </p:txBody>
      </p:sp>
      <p:sp>
        <p:nvSpPr>
          <p:cNvPr id="21" name="Rounded Rectangle 20">
            <a:hlinkClick r:id="rId7"/>
          </p:cNvPr>
          <p:cNvSpPr/>
          <p:nvPr/>
        </p:nvSpPr>
        <p:spPr>
          <a:xfrm>
            <a:off x="603504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CMNN</a:t>
            </a:r>
          </a:p>
        </p:txBody>
      </p:sp>
      <p:sp>
        <p:nvSpPr>
          <p:cNvPr id="22" name="Rounded Rectangle 21">
            <a:hlinkClick r:id="rId8"/>
          </p:cNvPr>
          <p:cNvSpPr/>
          <p:nvPr/>
        </p:nvSpPr>
        <p:spPr>
          <a:xfrm>
            <a:off x="7086600" y="256032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Fesser</a:t>
            </a:r>
          </a:p>
        </p:txBody>
      </p:sp>
      <p:sp>
        <p:nvSpPr>
          <p:cNvPr id="23" name="Rounded Rectangle 22">
            <a:hlinkClick r:id="rId9"/>
          </p:cNvPr>
          <p:cNvSpPr/>
          <p:nvPr/>
        </p:nvSpPr>
        <p:spPr>
          <a:xfrm>
            <a:off x="8229600" y="256032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Raissi</a:t>
            </a:r>
          </a:p>
        </p:txBody>
      </p:sp>
      <p:sp>
        <p:nvSpPr>
          <p:cNvPr id="24" name="Rounded Rectangle 23">
            <a:hlinkClick r:id="rId10"/>
          </p:cNvPr>
          <p:cNvSpPr/>
          <p:nvPr/>
        </p:nvSpPr>
        <p:spPr>
          <a:xfrm>
            <a:off x="937260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Zhu</a:t>
            </a:r>
          </a:p>
        </p:txBody>
      </p:sp>
      <p:sp>
        <p:nvSpPr>
          <p:cNvPr id="25" name="Rounded Rectangle 24">
            <a:hlinkClick r:id="rId11"/>
          </p:cNvPr>
          <p:cNvSpPr/>
          <p:nvPr/>
        </p:nvSpPr>
        <p:spPr>
          <a:xfrm>
            <a:off x="1042416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EQL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54 / 59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우선 읽을 논문 3편: Xu · DomainBed · Liu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나머지는 paper_pdfs/에서 필요할 때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연구 문제에 방법을 매핑하기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703320" cy="4572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문제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80160"/>
            <a:ext cx="3703320" cy="4572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533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추천 방법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80160"/>
            <a:ext cx="3703320" cy="4572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3533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논문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82880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8483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단조 관계 외삽 (SOC-OCV 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82880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08483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Monotonic NN + isotonic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08483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7889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449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조건/도메인 OOD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7889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0449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제약 학습 + ERM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27889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0449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Liu · Gulrajani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749039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05071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물리 PDE 영역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3749039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005071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PINN + UQ (DeepONet)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749039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005071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Fesser · Zhu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70916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6519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소량·해석 필요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70916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96519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EQL + Bayesian UQ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70916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496519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Martius · Teckentrup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55 / 59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문제→방법 매핑이 발표의 실용적 결론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단조면 CMNN, OOD면 ERM비교, PDE면 PINN+UQ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외삽을 다루는 4가지 핵심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2788920" cy="64008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01  이론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보간 ≠ 외삽
support 밖은 가정 없으면 식별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788920" cy="6400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02  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ERM 실패 가능
DomainBed로 재검증 필수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2788920" cy="6400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03 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물리·단조 제약이
최고의 외삽 도구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371600"/>
            <a:ext cx="2788920" cy="64008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04  UQ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예측값보다
얼마나 틀릴 수 있는가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56 / 59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이론 · OOD · 구조제약 · UQ — 네 핵심을 반복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도메인 지식이 최고의 외삽 도구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앞으로 연구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155680" cy="53469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663440"/>
            <a:ext cx="11430000" cy="1051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4663440"/>
            <a:ext cx="64008" cy="1051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736592"/>
            <a:ext cx="11109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9A5C"/>
                </a:solidFill>
                <a:latin typeface="Apple SD Gothic Neo"/>
                <a:ea typeface="Apple SD Gothic Neo"/>
              </a:rPr>
              <a:t>Remarks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Future 네 단계: Inverse → Physics prior → Foundation → Digital Twin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명제: 외삽 가정(Assumption)을 시스템에 더 강하게·자동으로 내재화한다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후속 연구 질의에 대한 응답 프레임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57 / 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Future: Inverse → Physics prior → Foundation → Twin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가정을 더 강하게·자동으로 넣는 방향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최종 조언 — 마지막에 이 구조만 남겨라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외삽을 풀 때 가장 할 일:
어떤 물리적·수학적 불변성이 존재하는가?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1. 가정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단조성 · PDE · 보존
없으면 식별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749039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2. 평가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hull 밖 / OOD 프로토콜
없으면 숫자 착시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49039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3. 안전장치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제약 · UQ · 단조
설계로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도메인 지식이 있다면 — 그것이 최고의 외삽 도구다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참고문헌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주황 버튼 → PDF  ·  전체는 paper_pdfs/ (39편) + INDEX.md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365760" y="11887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365760" y="16916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Gulrajani 2020 — DomainBed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365760" y="21945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40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Liu 2023 — OOD Survey</a:t>
            </a:r>
          </a:p>
        </p:txBody>
      </p:sp>
      <p:sp>
        <p:nvSpPr>
          <p:cNvPr id="13" name="Rounded Rectangle 12">
            <a:hlinkClick r:id="rId5"/>
          </p:cNvPr>
          <p:cNvSpPr/>
          <p:nvPr/>
        </p:nvSpPr>
        <p:spPr>
          <a:xfrm>
            <a:off x="365760" y="26974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43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Arjovsky 2019 — IRM</a:t>
            </a:r>
          </a:p>
        </p:txBody>
      </p:sp>
      <p:sp>
        <p:nvSpPr>
          <p:cNvPr id="15" name="Rounded Rectangle 14">
            <a:hlinkClick r:id="rId6"/>
          </p:cNvPr>
          <p:cNvSpPr/>
          <p:nvPr/>
        </p:nvSpPr>
        <p:spPr>
          <a:xfrm>
            <a:off x="365760" y="320040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46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Arjovsky 2021 — OOD thesis</a:t>
            </a:r>
          </a:p>
        </p:txBody>
      </p:sp>
      <p:sp>
        <p:nvSpPr>
          <p:cNvPr id="17" name="Rounded Rectangle 16">
            <a:hlinkClick r:id="rId7"/>
          </p:cNvPr>
          <p:cNvSpPr/>
          <p:nvPr/>
        </p:nvSpPr>
        <p:spPr>
          <a:xfrm>
            <a:off x="365760" y="37033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490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</a:t>
            </a:r>
          </a:p>
        </p:txBody>
      </p:sp>
      <p:sp>
        <p:nvSpPr>
          <p:cNvPr id="19" name="Rounded Rectangle 18">
            <a:hlinkClick r:id="rId8"/>
          </p:cNvPr>
          <p:cNvSpPr/>
          <p:nvPr/>
        </p:nvSpPr>
        <p:spPr>
          <a:xfrm>
            <a:off x="365760" y="42062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51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</a:t>
            </a:r>
          </a:p>
        </p:txBody>
      </p:sp>
      <p:sp>
        <p:nvSpPr>
          <p:cNvPr id="21" name="Rounded Rectangle 20">
            <a:hlinkClick r:id="rId9"/>
          </p:cNvPr>
          <p:cNvSpPr/>
          <p:nvPr/>
        </p:nvSpPr>
        <p:spPr>
          <a:xfrm>
            <a:off x="365760" y="47091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754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</a:t>
            </a:r>
          </a:p>
        </p:txBody>
      </p:sp>
      <p:sp>
        <p:nvSpPr>
          <p:cNvPr id="23" name="Rounded Rectangle 22">
            <a:hlinkClick r:id="rId10"/>
          </p:cNvPr>
          <p:cNvSpPr/>
          <p:nvPr/>
        </p:nvSpPr>
        <p:spPr>
          <a:xfrm>
            <a:off x="365760" y="52120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57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PINN fail</a:t>
            </a:r>
          </a:p>
        </p:txBody>
      </p:sp>
      <p:sp>
        <p:nvSpPr>
          <p:cNvPr id="25" name="Rounded Rectangle 24">
            <a:hlinkClick r:id="rId11"/>
          </p:cNvPr>
          <p:cNvSpPr/>
          <p:nvPr/>
        </p:nvSpPr>
        <p:spPr>
          <a:xfrm>
            <a:off x="6126480" y="11887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PINN</a:t>
            </a:r>
          </a:p>
        </p:txBody>
      </p:sp>
      <p:sp>
        <p:nvSpPr>
          <p:cNvPr id="27" name="Rounded Rectangle 26">
            <a:hlinkClick r:id="rId12"/>
          </p:cNvPr>
          <p:cNvSpPr/>
          <p:nvPr/>
        </p:nvSpPr>
        <p:spPr>
          <a:xfrm>
            <a:off x="6126480" y="16916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DeepONet+UQ</a:t>
            </a:r>
          </a:p>
        </p:txBody>
      </p:sp>
      <p:sp>
        <p:nvSpPr>
          <p:cNvPr id="29" name="Rounded Rectangle 28">
            <a:hlinkClick r:id="rId13"/>
          </p:cNvPr>
          <p:cNvSpPr/>
          <p:nvPr/>
        </p:nvSpPr>
        <p:spPr>
          <a:xfrm>
            <a:off x="6126480" y="21945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Identifiability</a:t>
            </a:r>
          </a:p>
        </p:txBody>
      </p:sp>
      <p:sp>
        <p:nvSpPr>
          <p:cNvPr id="31" name="Rounded Rectangle 30">
            <a:hlinkClick r:id="rId14"/>
          </p:cNvPr>
          <p:cNvSpPr/>
          <p:nvPr/>
        </p:nvSpPr>
        <p:spPr>
          <a:xfrm>
            <a:off x="6126480" y="26974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Teckentrup 2024 — Prob.Richardson</a:t>
            </a:r>
          </a:p>
        </p:txBody>
      </p:sp>
      <p:sp>
        <p:nvSpPr>
          <p:cNvPr id="33" name="Rounded Rectangle 32">
            <a:hlinkClick r:id="rId15"/>
          </p:cNvPr>
          <p:cNvSpPr/>
          <p:nvPr/>
        </p:nvSpPr>
        <p:spPr>
          <a:xfrm>
            <a:off x="6126480" y="320040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Wu 2025 — Time-series OOD</a:t>
            </a:r>
          </a:p>
        </p:txBody>
      </p:sp>
      <p:sp>
        <p:nvSpPr>
          <p:cNvPr id="35" name="Rounded Rectangle 34">
            <a:hlinkClick r:id="rId16"/>
          </p:cNvPr>
          <p:cNvSpPr/>
          <p:nvPr/>
        </p:nvSpPr>
        <p:spPr>
          <a:xfrm>
            <a:off x="6126480" y="37033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749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Ye 2021 — OOD theory</a:t>
            </a:r>
          </a:p>
        </p:txBody>
      </p:sp>
      <p:sp>
        <p:nvSpPr>
          <p:cNvPr id="37" name="Rounded Rectangle 36">
            <a:hlinkClick r:id="rId17"/>
          </p:cNvPr>
          <p:cNvSpPr/>
          <p:nvPr/>
        </p:nvSpPr>
        <p:spPr>
          <a:xfrm>
            <a:off x="6126480" y="42062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Ye 2022 — OoD-Bench</a:t>
            </a:r>
          </a:p>
        </p:txBody>
      </p:sp>
      <p:sp>
        <p:nvSpPr>
          <p:cNvPr id="39" name="Rounded Rectangle 38">
            <a:hlinkClick r:id="rId18"/>
          </p:cNvPr>
          <p:cNvSpPr/>
          <p:nvPr/>
        </p:nvSpPr>
        <p:spPr>
          <a:xfrm>
            <a:off x="6126480" y="47091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Multivariate</a:t>
            </a:r>
          </a:p>
        </p:txBody>
      </p:sp>
      <p:sp>
        <p:nvSpPr>
          <p:cNvPr id="41" name="Rounded Rectangle 40">
            <a:hlinkClick r:id="rId19"/>
          </p:cNvPr>
          <p:cNvSpPr/>
          <p:nvPr/>
        </p:nvSpPr>
        <p:spPr>
          <a:xfrm>
            <a:off x="6126480" y="52120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Aykol 2021 — Battery+Phys</a:t>
            </a:r>
          </a:p>
        </p:txBody>
      </p:sp>
      <p:sp>
        <p:nvSpPr>
          <p:cNvPr id="43" name="Rounded Rectangle 42">
            <a:hlinkClick r:id="rId20"/>
          </p:cNvPr>
          <p:cNvSpPr/>
          <p:nvPr/>
        </p:nvSpPr>
        <p:spPr>
          <a:xfrm>
            <a:off x="6126480" y="571500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760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59 / 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