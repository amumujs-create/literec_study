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8" r:id="rId39"/>
    <p:sldId id="261" r:id="rId7"/>
    <p:sldId id="289" r:id="rId40"/>
    <p:sldId id="262" r:id="rId8"/>
    <p:sldId id="263" r:id="rId9"/>
    <p:sldId id="264" r:id="rId10"/>
    <p:sldId id="265" r:id="rId11"/>
    <p:sldId id="290" r:id="rId41"/>
    <p:sldId id="266" r:id="rId12"/>
    <p:sldId id="267" r:id="rId13"/>
    <p:sldId id="268" r:id="rId14"/>
    <p:sldId id="269" r:id="rId15"/>
    <p:sldId id="270" r:id="rId16"/>
    <p:sldId id="271" r:id="rId17"/>
    <p:sldId id="291" r:id="rId42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92" r:id="rId43"/>
    <p:sldId id="279" r:id="rId25"/>
    <p:sldId id="280" r:id="rId26"/>
    <p:sldId id="293" r:id="rId44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3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slide" Target="slides/slide26.xml"/><Relationship Id="rId24" Type="http://schemas.openxmlformats.org/officeDocument/2006/relationships/slide" Target="slides/slide27.xml"/><Relationship Id="rId25" Type="http://schemas.openxmlformats.org/officeDocument/2006/relationships/slide" Target="slides/slide29.xml"/><Relationship Id="rId26" Type="http://schemas.openxmlformats.org/officeDocument/2006/relationships/slide" Target="slides/slide30.xml"/><Relationship Id="rId27" Type="http://schemas.openxmlformats.org/officeDocument/2006/relationships/slide" Target="slides/slide31.xml"/><Relationship Id="rId28" Type="http://schemas.openxmlformats.org/officeDocument/2006/relationships/slide" Target="slides/slide32.xml"/><Relationship Id="rId29" Type="http://schemas.openxmlformats.org/officeDocument/2006/relationships/slide" Target="slides/slide33.xml"/><Relationship Id="rId30" Type="http://schemas.openxmlformats.org/officeDocument/2006/relationships/slide" Target="slides/slide34.xml"/><Relationship Id="rId31" Type="http://schemas.openxmlformats.org/officeDocument/2006/relationships/slide" Target="slides/slide35.xml"/><Relationship Id="rId32" Type="http://schemas.openxmlformats.org/officeDocument/2006/relationships/slide" Target="slides/slide36.xml"/><Relationship Id="rId33" Type="http://schemas.openxmlformats.org/officeDocument/2006/relationships/slide" Target="slides/slide37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slide" Target="slides/slide6.xml"/><Relationship Id="rId40" Type="http://schemas.openxmlformats.org/officeDocument/2006/relationships/slide" Target="slides/slide8.xml"/><Relationship Id="rId41" Type="http://schemas.openxmlformats.org/officeDocument/2006/relationships/slide" Target="slides/slide13.xml"/><Relationship Id="rId42" Type="http://schemas.openxmlformats.org/officeDocument/2006/relationships/slide" Target="slides/slide20.xml"/><Relationship Id="rId43" Type="http://schemas.openxmlformats.org/officeDocument/2006/relationships/slide" Target="slides/slide28.xml"/><Relationship Id="rId44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오프닝 1분. "외삽 = 훈련 범위 밖 예측" 한 문장으로 정의. 배터리 RUL이 대표 사례.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동기 2분. 01: 데이터 불완전성. 02: DL은 train 분포 안에서만. 03: 산업 리스크(배터리 화재 등).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로드맵 1분. Part 1-2 이론(22분), Part 3 방법론(14분), Part 4 배터리(9분), Part 5+Q&amp;A(5분).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4:00-5:00 | Part 1 섹션 타이틀.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보간 vs 외삽 2분. 핵심: 테스트셋이 hull 안이면 보간 평가. 배터리 RUL은 전형적 외삽.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Convex Hull 2분. supp(X) 정의. 고차원 저주. Pfister: 밖에서는 식별 불가.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오차 분해 2분. 3행 표 설명. 편향=가정, 분산=epistemic, 노이즈=aleatoric.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Richardson 2분. 수식 설명 후 배터리 mesh 수렴 예시.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UQ 2분. 두 종류 구분. Pfister extrapolation-aware CI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14:00-15:00 | Part 2 타이틀.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Shift 4종 2분. 배터리: covariate(온도) + concept(열화) 동시.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OOD 정의 1.5분. min-max risk. 배터리 환경 예시.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IRM 2.5분. Colored MNIST 직관. IRMv1 수식은 간략히.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DomainBed 2.5분. 가장 중요한 메시지: ERM baseline 필수.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인과 2분. 3관점 비교. 시계열 OOD는 배터리 RUL에 직결.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25:00-26:00 | Part 3 타이틀.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Xu 2021 2분. 4가지 활성화 함수 거동.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EQL 1분. sin(x)를 실제 sin으로.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NALU 1분. 5배 범위 밖 덧셈.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Monotonic 1분. SOC-OCV.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PINN 2분. 실패 원인 + DeepONet.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비교표 1분. 빠르게 훑기.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35:00-36:00 | Part 4 타이틀.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RUL 도전 1분. 3중 외삽.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논문 1분. 6편 한 줄씩.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로드맵 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41:00-42:00 | Part 5 타이틀.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타임라인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필독 논문 2분.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45:00-46:00 | OOD 서베이.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요약 2분. 4가지 열쇠.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예시 1.5분. 그림 보며: 2차 다항식도 범위 밖에서 폭발. C-rate 외삽에 동일.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예시 1분. 2D hull 그림. 별=보간, X=외삽.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OOD 예시 1.5분. 55C/3C 막대그래프.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활성화 예시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배터리 RUL 예시 2분. 선형 외삽 함정.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4.xml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5.xml"/><Relationship Id="rId4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6.xml"/><Relationship Id="rId4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7.xml"/><Relationship Id="rId4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828800"/>
            <a:ext cx="5029200" cy="5029200"/>
          </a:xfrm>
          <a:prstGeom prst="ellipse">
            <a:avLst/>
          </a:prstGeom>
          <a:solidFill>
            <a:srgbClr val="0A3D42"/>
          </a:solidFill>
          <a:ln w="12700">
            <a:solidFill>
              <a:srgbClr val="0A3D4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188720" y="2926080"/>
            <a:ext cx="3474720" cy="3474720"/>
          </a:xfrm>
          <a:prstGeom prst="ellipse">
            <a:avLst/>
          </a:prstGeom>
          <a:solidFill>
            <a:srgbClr val="0F5459"/>
          </a:solidFill>
          <a:ln w="12700">
            <a:solidFill>
              <a:srgbClr val="0F5459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1188720"/>
            <a:ext cx="91440" cy="1645920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09728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외삽 (Extrapolation)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완전 정복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l">
              <a:buNone/>
              <a:defRPr sz="1200" b="0">
                <a:solidFill>
                  <a:srgbClr val="1A2B4B"/>
                </a:solidFill>
              </a:defRPr>
            </a:pPr>
            <a:r>
              <a:t>기초 이론  ·  OOD 일반화  ·  신경망 외삽 방법론  ·  N-CMAPSS 엔진 외삽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448056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9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기반 심화 세미나  |  Kookmin Univ. IE Lab  |  2026.07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들어가며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왜 외삽(Extrapolation)을 공부해야 하는가?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170432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170432"/>
            <a:ext cx="2697480" cy="43891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66928" y="118872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18872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현실 데이터는 항상 불완전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719072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  <a:defRPr sz="1200" b="0">
                <a:solidFill>
                  <a:srgbClr val="1A2B4B"/>
                </a:solidFill>
              </a:defRPr>
            </a:pPr>
            <a:r>
              <a:t>실험 범위 밖의 조건을 예측해야 하는 상황은 항상 발생한다.</a:t>
            </a:r>
            <a:br/>
            <a:r>
              <a:t>N-CMAPSS 엔진 RUL, 신소재 성능, 극한 환경 동작 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170432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337560" y="1170432"/>
            <a:ext cx="2697480" cy="438912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47288" y="118872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40480" y="118872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모델의 근본 한계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74720" y="1719072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대부분의 딥러닝 모델은 "훈련 분포 안"에서만 잘 동작한다.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밖에서는 예측 불가 수준의 오차가 발생한다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170432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17920" y="1170432"/>
            <a:ext cx="2697480" cy="438912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27648" y="118872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20840" y="118872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산업에서의 실제 리스크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55080" y="1719072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잘못된 외삽 예측은 제품 결함·안전사고로 이어질 수 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불확실성 정량화(UQ)와 물리 제약이 필수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64008" cy="2743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21208" y="4754880"/>
            <a:ext cx="8165592" cy="274320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" y="477316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발표는 외삽의 이론 → 알고리즘 → 최신 논문 → 실제 적용까지 전체 그림을 다룹니다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발표 구성 — 50분 (예시 5장 + Q&amp;A 포함)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14300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143000"/>
            <a:ext cx="640080" cy="68580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11430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07008" y="117957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외삽 기초 이론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07008" y="1490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보간 vs 외삽 · Convex Hull · 실전 예시 · Richardson · UQ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26680" y="130759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901952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1901952"/>
            <a:ext cx="640080" cy="685800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1901952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207008" y="19385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OOD 일반화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207008" y="22494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분포 이동 유형 · IRM · DomainBed · 인과적 접근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26680" y="206654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60904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2660904"/>
            <a:ext cx="640080" cy="68580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7200" y="2660904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07008" y="26974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신경망 외삽 방법론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07008" y="30083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EQL · NALU · Monotonic NN · PINN · DeepONet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26680" y="282549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419856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57200" y="3419856"/>
            <a:ext cx="640080" cy="685800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0" y="3419856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207008" y="34564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  <a:defRPr sz="1200" b="0">
                <a:solidFill>
                  <a:srgbClr val="1A2B4B"/>
                </a:solidFill>
              </a:defRPr>
            </a:pPr>
            <a:r>
              <a:t>N-CMAPSS CA-CSS 응용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207008" y="3767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  <a:defRPr sz="1200" b="0">
                <a:solidFill>
                  <a:srgbClr val="1A2B4B"/>
                </a:solidFill>
              </a:defRPr>
            </a:pPr>
            <a:r>
              <a:t>APEX-Guard · TRA 외삽 · 제약 발견 · Strict Extrap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26680" y="358444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  <a:defRPr sz="1200" b="0">
                <a:solidFill>
                  <a:srgbClr val="1A2B4B"/>
                </a:solidFill>
              </a:defRPr>
            </a:pPr>
            <a:r>
              <a:t>10분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4178808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57200" y="4178808"/>
            <a:ext cx="640080" cy="685800"/>
          </a:xfrm>
          <a:prstGeom prst="rect">
            <a:avLst/>
          </a:prstGeom>
          <a:solidFill>
            <a:srgbClr val="7A7974"/>
          </a:solidFill>
          <a:ln w="12700">
            <a:solidFill>
              <a:srgbClr val="7A7974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57200" y="417880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207008" y="421538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연구 동향 &amp; 논문 가이드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207008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30년 타임라인 · 필독 논문 · 나의 연구 적용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726680" y="43434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79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5분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4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645920"/>
            <a:ext cx="4572000" cy="4572000"/>
          </a:xfrm>
          <a:prstGeom prst="ellipse">
            <a:avLst/>
          </a:prstGeom>
          <a:solidFill>
            <a:srgbClr val="0A3D42"/>
          </a:solidFill>
          <a:ln w="12700">
            <a:solidFill>
              <a:srgbClr val="0A3D4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097280" y="2926080"/>
            <a:ext cx="3200400" cy="3200400"/>
          </a:xfrm>
          <a:prstGeom prst="ellipse">
            <a:avLst/>
          </a:prstGeom>
          <a:solidFill>
            <a:srgbClr val="0F5459"/>
          </a:solidFill>
          <a:ln w="12700">
            <a:solidFill>
              <a:srgbClr val="0F5459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1280160"/>
            <a:ext cx="73152" cy="1463040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외삽이란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무엇인가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기초 이론 · 수학적 정의 · 불확실성 정량화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기초 이론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보간(Interpolation) vs 외삽(Extrapolation)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143000"/>
            <a:ext cx="3840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143000"/>
            <a:ext cx="3840480" cy="457200"/>
          </a:xfrm>
          <a:prstGeom prst="rect">
            <a:avLst/>
          </a:prstGeom>
          <a:solidFill>
            <a:srgbClr val="EDECEA"/>
          </a:solidFill>
          <a:ln w="12700">
            <a:solidFill>
              <a:srgbClr val="EDECE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66928" y="1143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보간 (Interpolation)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1792224"/>
            <a:ext cx="118872" cy="118872"/>
          </a:xfrm>
          <a:prstGeom prst="ellipse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86968" y="17373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 데이터 범위 내부 예측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" y="2304288"/>
            <a:ext cx="118872" cy="118872"/>
          </a:xfrm>
          <a:prstGeom prst="ellipse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86968" y="22494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일반적으로 신뢰도 높음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2816352"/>
            <a:ext cx="118872" cy="118872"/>
          </a:xfrm>
          <a:prstGeom prst="ellipse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86968" y="27614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오차 제어 가능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" y="3328416"/>
            <a:ext cx="118872" cy="118872"/>
          </a:xfrm>
          <a:prstGeom prst="ellipse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86968" y="32735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대표: 표준 ML 테스트셋 평가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3840480"/>
            <a:ext cx="118872" cy="118872"/>
          </a:xfrm>
          <a:prstGeom prst="ellipse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86968" y="378561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같은 공정 조건에서 중간값 추정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46320" y="1143000"/>
            <a:ext cx="3840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846320" y="1143000"/>
            <a:ext cx="3840480" cy="45720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956048" y="1143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외삽 (Extrapolation)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47488" y="1792224"/>
            <a:ext cx="118872" cy="118872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276088" y="17373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 데이터 범위 외부 예측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47488" y="2304288"/>
            <a:ext cx="118872" cy="118872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276088" y="22494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신뢰도 모델·조건에 따라 급감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47488" y="2816352"/>
            <a:ext cx="118872" cy="118872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276088" y="27614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오차가 거리에 따라 폭발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47488" y="3328416"/>
            <a:ext cx="118872" cy="118872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276088" y="32735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대표: OOD 일반화, 미래 예측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47488" y="3840480"/>
            <a:ext cx="118872" cy="118872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276088" y="378561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  <a:defRPr sz="1200" b="0">
                <a:solidFill>
                  <a:srgbClr val="1A2B4B"/>
                </a:solidFill>
              </a:defRPr>
            </a:pPr>
            <a:r>
              <a:t>예: 고TRA holdout unit에서 RUL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224528" y="2697480"/>
            <a:ext cx="694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79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  <a:defRPr sz="1200" b="0">
                <a:solidFill>
                  <a:srgbClr val="1A2B4B"/>
                </a:solidFill>
              </a:defRPr>
            </a:pPr>
            <a:r>
              <a:t>핵심: ML 테스트셋이 train hull 안에 있으면 "보간 평가"일 뿐 — 진짜 외삽 성능은 별도 검증 필요</a:t>
            </a:r>
            <a:br/>
            <a:r>
              <a:t>Bartley et al. (2019)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PART 1 · 실전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B4B"/>
                </a:solidFill>
              </a:defRPr>
            </a:pPr>
            <a:r>
              <a:t>다항식 피팅의 외삽 실패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97280"/>
            <a:ext cx="5029200" cy="28738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0" y="10972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A2B4B"/>
                </a:solidFill>
              </a:defRPr>
            </a:pPr>
            <a:r>
              <a:t>훈련 범위 [0,5]: 2차식 잘 맞음</a:t>
            </a:r>
          </a:p>
          <a:p>
            <a:pPr>
              <a:spcAft>
                <a:spcPts val="600"/>
              </a:spcAft>
              <a:defRPr sz="1100">
                <a:solidFill>
                  <a:srgbClr val="1A2B4B"/>
                </a:solidFill>
              </a:defRPr>
            </a:pPr>
            <a:r>
              <a:t>범위 밖 (x&gt;5): 오차 급격히 발산</a:t>
            </a:r>
          </a:p>
          <a:p>
            <a:pPr>
              <a:spcAft>
                <a:spcPts val="600"/>
              </a:spcAft>
              <a:defRPr sz="1100">
                <a:solidFill>
                  <a:srgbClr val="1A2B4B"/>
                </a:solidFill>
              </a:defRPr>
            </a:pPr>
            <a:r>
              <a:t>교훈: test가 hull 안이면 보간 평가</a:t>
            </a:r>
          </a:p>
          <a:p>
            <a:pPr>
              <a:spcAft>
                <a:spcPts val="600"/>
              </a:spcAft>
              <a:defRPr sz="1100">
                <a:solidFill>
                  <a:srgbClr val="1A2B4B"/>
                </a:solidFill>
              </a:defRPr>
            </a:pPr>
            <a:r>
              <a:t>N-CMAPSS: 미경험 TRA에서 동일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89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Bartley et al. (2019) · Tsai et al. (2024)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기초 이론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볼록 껍질(Convex Hull)과 외삽 영역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115568"/>
            <a:ext cx="64008" cy="14173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21208" y="1115568"/>
            <a:ext cx="8165592" cy="1417320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8368" y="1161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수학적 정의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x_new in Conv(X_train)  →  보간 영역 (Interpolation Region)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737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x_new not in Conv(X_train)  →  외삽 영역 (Extrapolation Region)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239572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200" b="0">
                <a:solidFill>
                  <a:srgbClr val="1A2B4B"/>
                </a:solidFill>
              </a:defRPr>
            </a:pPr>
            <a:r>
              <a:t>Conv(X_train) = 훈련 데이터 볼록 껍질</a:t>
            </a:r>
            <a:br/>
            <a:r>
              <a:t>Pfister (2024): supp(X) 밖은 추가 가정 없이 추론 불가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816352"/>
            <a:ext cx="269748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2816352"/>
            <a:ext cx="2697480" cy="54864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" y="29443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차원의 저주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33756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200" b="0">
                <a:solidFill>
                  <a:srgbClr val="1A2B4B"/>
                </a:solidFill>
              </a:defRPr>
            </a:pPr>
            <a:r>
              <a:t>고차원(d&gt;10)일수록 hull 부피 비율 급감</a:t>
            </a:r>
            <a:br/>
            <a:r>
              <a:t>→ 테스트 포인트 대부분이 외삽 (Bartley, 2019)</a:t>
            </a:r>
            <a:br/>
            <a:r>
              <a:t>예: (온도,C-rate,SOC,DOD) 4D → hull 안 거의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2816352"/>
            <a:ext cx="269748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337560" y="2816352"/>
            <a:ext cx="2697480" cy="54864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474720" y="29443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불확실성 폭발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33756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200" b="0">
                <a:solidFill>
                  <a:srgbClr val="1A2B4B"/>
                </a:solidFill>
              </a:defRPr>
            </a:pPr>
            <a:r>
              <a:t>supp(X) 밖: Phi_0(x) 식별 불가 (Pfister, 2024)</a:t>
            </a:r>
            <a:br/>
            <a:r>
              <a:t>인근 관측 없을수록 extrapolation bounds 확장</a:t>
            </a:r>
            <a:br/>
            <a:r>
              <a:t>→ epistemic UQ 급증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2816352"/>
            <a:ext cx="269748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217920" y="2816352"/>
            <a:ext cx="2697480" cy="5486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355080" y="29443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물리 지식의 역할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333756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200" b="0">
                <a:solidFill>
                  <a:srgbClr val="1A2B4B"/>
                </a:solidFill>
              </a:defRPr>
            </a:pPr>
            <a:r>
              <a:t>extrapolation assumption = 외삽을 가능하게 만드는 가정</a:t>
            </a:r>
            <a:br/>
            <a:r>
              <a:t>단조성(SOC-OCV), PDE(열전달), smoothness(Taylor bounds)</a:t>
            </a:r>
            <a:br/>
            <a:r>
              <a:t>→ hull 밖에서도 물리적으로 타당한 예측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PART 1 · 실전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B4B"/>
                </a:solidFill>
              </a:defRPr>
            </a:pPr>
            <a:r>
              <a:t>2D Convex Hull로 보간/외삽 구분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97280"/>
            <a:ext cx="5029200" cy="28703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0" y="10972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A2B4B"/>
                </a:solidFill>
              </a:defRPr>
            </a:pPr>
            <a:r>
              <a:t>Conv(X_train) 안: 전통 ML 비교적 안전</a:t>
            </a:r>
          </a:p>
          <a:p>
            <a:pPr>
              <a:spcAft>
                <a:spcPts val="600"/>
              </a:spcAft>
              <a:defRPr sz="1100">
                <a:solidFill>
                  <a:srgbClr val="1A2B4B"/>
                </a:solidFill>
              </a:defRPr>
            </a:pPr>
            <a:r>
              <a:t>밖: epistemic UQ 급증</a:t>
            </a:r>
          </a:p>
          <a:p>
            <a:pPr>
              <a:spcAft>
                <a:spcPts val="600"/>
              </a:spcAft>
              <a:defRPr sz="1100">
                <a:solidFill>
                  <a:srgbClr val="1A2B4B"/>
                </a:solidFill>
              </a:defRPr>
            </a:pPr>
            <a:r>
              <a:t>고차원(d&gt;10): 대부분 외삽</a:t>
            </a:r>
          </a:p>
          <a:p>
            <a:pPr>
              <a:spcAft>
                <a:spcPts val="600"/>
              </a:spcAft>
              <a:defRPr sz="1100">
                <a:solidFill>
                  <a:srgbClr val="1A2B4B"/>
                </a:solidFill>
              </a:defRPr>
            </a:pPr>
            <a:r>
              <a:t>대책: 물리 제약으로 hull 확장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89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Bartley (2019) · Pfister (2024)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44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  <a:defRPr sz="1000" b="0">
                <a:solidFill>
                  <a:srgbClr val="666666"/>
                </a:solidFill>
              </a:defRPr>
            </a:pPr>
            <a:r>
              <a:t>Pfister &amp; Bühlmann (2024) · Bartley et al. (2019) · Ghahramani (2013)</a:t>
            </a:r>
            <a:endParaRPr lang="en-US" sz="800" dirty="0"/>
          </a:p>
        </p:txBody>
      </p:sp>
      <p:sp>
        <p:nvSpPr>
          <p:cNvPr id="70" name="TextBox 69"/>
          <p:cNvSpPr txBox="1"/>
          <p:nvPr/>
        </p:nvSpPr>
        <p:spPr>
          <a:xfrm>
            <a:off x="457200" y="5989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Pfister &amp; Bühlmann (2024) · Bartley et al. (2019) · Ghahramani (2013)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7200" y="5989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Pfister &amp; Bühlmann (2024) · Bartley et al. (2019) · Ghahramani (2013)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57200" y="5989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Pfister &amp; Bühlmann (2024) · Bartley et al. (2019) · Ghahramani (2013)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57200" y="5989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Pfister &amp; Bühlmann (2024) · Bartley et al. (2019) · Ghahramani (2013)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57200" y="5989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Pfister &amp; Bühlmann (2024) · Bartley et al. (2019) · Ghahramani (2013)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PART 1 · 기초 이론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B4B"/>
                </a:solidFill>
              </a:defRPr>
            </a:pPr>
            <a:r>
              <a:t>외삽 오차는 왜 폭발하는가 — 오차 분해 관점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48640" y="1143000"/>
            <a:ext cx="1320000" cy="694944"/>
          </a:xfrm>
          <a:prstGeom prst="rect">
            <a:avLst/>
          </a:prstGeom>
          <a:solidFill>
            <a:srgbClr val="1A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오차 요인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868640" y="1143000"/>
            <a:ext cx="1280000" cy="694944"/>
          </a:xfrm>
          <a:prstGeom prst="rect">
            <a:avLst/>
          </a:prstGeom>
          <a:solidFill>
            <a:srgbClr val="1A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대응 불확실성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3148640" y="1143000"/>
            <a:ext cx="1550000" cy="694944"/>
          </a:xfrm>
          <a:prstGeom prst="rect">
            <a:avLst/>
          </a:prstGeom>
          <a:solidFill>
            <a:srgbClr val="1A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보간 영역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698640" y="1143000"/>
            <a:ext cx="1680000" cy="694944"/>
          </a:xfrm>
          <a:prstGeom prst="rect">
            <a:avLst/>
          </a:prstGeom>
          <a:solidFill>
            <a:srgbClr val="1A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외삽 영역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378640" y="1143000"/>
            <a:ext cx="1750000" cy="694944"/>
          </a:xfrm>
          <a:prstGeom prst="rect">
            <a:avLst/>
          </a:prstGeom>
          <a:solidFill>
            <a:srgbClr val="1A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대책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48640" y="1856232"/>
            <a:ext cx="132000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1A2B4B"/>
                </a:solidFill>
              </a:defRPr>
            </a:pPr>
            <a:r>
              <a:t>편향 (Bias)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868640" y="1856232"/>
            <a:ext cx="128000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0">
                <a:solidFill>
                  <a:srgbClr val="1A2B4B"/>
                </a:solidFill>
              </a:defRPr>
            </a:pPr>
            <a:r>
              <a:t>— (UQ로 측정 불가)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148640" y="1856232"/>
            <a:ext cx="155000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0">
                <a:solidFill>
                  <a:srgbClr val="1A2B4B"/>
                </a:solidFill>
              </a:defRPr>
            </a:pPr>
            <a:r>
              <a:t>모델 복잡도로 제어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698640" y="1856232"/>
            <a:ext cx="168000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0">
                <a:solidFill>
                  <a:srgbClr val="1A2B4B"/>
                </a:solidFill>
              </a:defRPr>
            </a:pPr>
            <a:r>
              <a:t>가정 위반 시 오차 누적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378640" y="1856232"/>
            <a:ext cx="175000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0">
                <a:solidFill>
                  <a:srgbClr val="1A2B4B"/>
                </a:solidFill>
              </a:defRPr>
            </a:pPr>
            <a:r>
              <a:t>도메인 제약·smoothness 가정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548640" y="2569464"/>
            <a:ext cx="1320000" cy="69494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1A2B4B"/>
                </a:solidFill>
              </a:defRPr>
            </a:pPr>
            <a:r>
              <a:t>분산 (Variance)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868640" y="2569464"/>
            <a:ext cx="1280000" cy="69494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0">
                <a:solidFill>
                  <a:srgbClr val="1A2B4B"/>
                </a:solidFill>
              </a:defRPr>
            </a:pPr>
            <a:r>
              <a:t>에피스테믹 UQ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3148640" y="2569464"/>
            <a:ext cx="1550000" cy="69494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0">
                <a:solidFill>
                  <a:srgbClr val="1A2B4B"/>
                </a:solidFill>
              </a:defRPr>
            </a:pPr>
            <a:r>
              <a:t>인근 데이터 많음 → 작음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4698640" y="2569464"/>
            <a:ext cx="1680000" cy="69494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0">
                <a:solidFill>
                  <a:srgbClr val="1A2B4B"/>
                </a:solidFill>
              </a:defRPr>
            </a:pPr>
            <a:r>
              <a:t>인근 관측 없음 → 급증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378640" y="2569464"/>
            <a:ext cx="1750000" cy="69494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0">
                <a:solidFill>
                  <a:srgbClr val="1A2B4B"/>
                </a:solidFill>
              </a:defRPr>
            </a:pPr>
            <a:r>
              <a:t>extrapolation-aware CI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548640" y="3282696"/>
            <a:ext cx="132000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1A2B4B"/>
                </a:solidFill>
              </a:defRPr>
            </a:pPr>
            <a:r>
              <a:t>노이즈 (sigma^2)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868640" y="3282696"/>
            <a:ext cx="128000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0">
                <a:solidFill>
                  <a:srgbClr val="1A2B4B"/>
                </a:solidFill>
              </a:defRPr>
            </a:pPr>
            <a:r>
              <a:t>알레아토릭 UQ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3148640" y="3282696"/>
            <a:ext cx="155000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0">
                <a:solidFill>
                  <a:srgbClr val="1A2B4B"/>
                </a:solidFill>
              </a:defRPr>
            </a:pPr>
            <a:r>
              <a:t>분리 측정 가능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4698640" y="3282696"/>
            <a:ext cx="168000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0">
                <a:solidFill>
                  <a:srgbClr val="1A2B4B"/>
                </a:solidFill>
              </a:defRPr>
            </a:pPr>
            <a:r>
              <a:t>epistemic에 묻혀 혼재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378640" y="3282696"/>
            <a:ext cx="175000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0">
                <a:solidFill>
                  <a:srgbClr val="1A2B4B"/>
                </a:solidFill>
              </a:defRPr>
            </a:pPr>
            <a:r>
              <a:t>Bayesian UQ + 반복 실험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57200" y="5989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Pfister &amp; Bühlmann (2024) · Bartley et al. (2019) · Ghahramani (2013)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기초 이론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Richardson 외삽법 — 수치 해석적 접근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115568"/>
            <a:ext cx="40233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115568"/>
            <a:ext cx="4023360" cy="42062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66928" y="11155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핵심 아이디어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 크기 h를 줄여가며 수렴값 A*를 추정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029968"/>
            <a:ext cx="64008" cy="100584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30936" y="2029968"/>
            <a:ext cx="3730752" cy="1005840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13232" y="208483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A(h) = A* + c·h^p + O(h^(p+1))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" y="24505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A* ≈ (h2^p·A(h1) - h1^p·A(h2)) / (h2^p - h1^p)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3127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단계 크기 h1, h2의 계산값으로 수렴값 추정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4747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  <a:defRPr sz="1100" b="0">
                <a:solidFill>
                  <a:srgbClr val="1A2B4B"/>
                </a:solidFill>
              </a:defRPr>
            </a:pPr>
            <a:r>
              <a:t>적용 예시</a:t>
            </a:r>
            <a:br/>
            <a:r>
              <a:t>→ 수치 미분, 적분, PDE 수렴값 추정</a:t>
            </a:r>
            <a:br/>
            <a:r>
              <a:t>→ N-CMAPSS 엔진 열화 계수 추정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115568"/>
            <a:ext cx="40233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023360" cy="420624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773168" y="11155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Probabilistic Richardson Extrapolation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73168" y="16093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Teckentrup et al. (2024)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73168" y="18470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Richardson 추정에 Gaussian Process prior를 얹어 불확실성까지 정량화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00600" y="2514600"/>
            <a:ext cx="3749040" cy="1005840"/>
          </a:xfrm>
          <a:prstGeom prst="rect">
            <a:avLst/>
          </a:prstGeom>
          <a:solidFill>
            <a:srgbClr val="E8F4F5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919472" y="2578608"/>
            <a:ext cx="3511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Richardson: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점 추정값만 제공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19472" y="3017520"/>
            <a:ext cx="3511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Richardson: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사후 분포 + 신뢰구간 제공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73168" y="36118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수치해석 + Bayesian 통계의 융합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공학 외삽에서 가장 안전한 접근법 중 하나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Teckentrup et al. (2024) "Probabilistic Richardson Extrapolation" · J. Royal Statistical Society</a:t>
            </a:r>
            <a:endParaRPr lang="en-US" sz="800" dirty="0"/>
          </a:p>
        </p:txBody>
      </p:sp>
      <p:sp>
        <p:nvSpPr>
          <p:cNvPr id="26" name="Rounded Rectangle 25"/>
          <p:cNvSpPr/>
          <p:nvPr/>
        </p:nvSpPr>
        <p:spPr>
          <a:xfrm>
            <a:off x="365760" y="5623560"/>
            <a:ext cx="8412480" cy="868680"/>
          </a:xfrm>
          <a:prstGeom prst="roundRect">
            <a:avLst/>
          </a:prstGeom>
          <a:solidFill>
            <a:srgbClr val="F0F4F8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2B4B"/>
                </a:solidFill>
              </a:defRPr>
            </a:pPr>
            <a:r>
              <a:t>PART 1 · 핵심 정리  |  Richardson = 수치해석 외삽의 고전. Probabilistic Richardson = GP prior로 불확실성까지.</a:t>
            </a:r>
            <a:br/>
            <a:r>
              <a:t>N-CMAPSS 적용: 이온 확산 PDE의 mesh 수렴값 추정, 등가회로 파라미터 외삽에 활용 가능.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기초 이론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불확실성 정량화 (UQ) — 외삽에서 왜 필수인가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115568"/>
            <a:ext cx="269748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115568"/>
            <a:ext cx="2697480" cy="640080"/>
          </a:xfrm>
          <a:prstGeom prst="rect">
            <a:avLst/>
          </a:prstGeom>
          <a:solidFill>
            <a:srgbClr val="7A7974"/>
          </a:solidFill>
          <a:ln w="12700">
            <a:solidFill>
              <a:srgbClr val="7A797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66928" y="1143000"/>
            <a:ext cx="2478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알레아토릭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불확실성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(Aleatoric)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883664"/>
            <a:ext cx="2478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자체의 노이즈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더 많은 데이터로 해소 불가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999232"/>
            <a:ext cx="2478024" cy="16459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66928" y="30723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" y="3291840"/>
            <a:ext cx="2478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오차, 제조 공정 변동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1115568"/>
            <a:ext cx="269748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337560" y="1115568"/>
            <a:ext cx="2697480" cy="640080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447288" y="1143000"/>
            <a:ext cx="2478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에피스테믹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불확실성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(Epistemic)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47288" y="1883664"/>
            <a:ext cx="2478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지식의 부족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데이터 추가로 해소 가능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47288" y="2999232"/>
            <a:ext cx="2478024" cy="16459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447288" y="30723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47288" y="3291840"/>
            <a:ext cx="2478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200" b="0">
                <a:solidFill>
                  <a:srgbClr val="1A2B4B"/>
                </a:solidFill>
              </a:defRPr>
            </a:pPr>
            <a:r>
              <a:t>외삽 영역에서 epistemic 급증</a:t>
            </a:r>
            <a:br/>
            <a:r>
              <a:t>→ 핵심: "얼마나 틀릴 수 있는가"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115568"/>
            <a:ext cx="269748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217920" y="1115568"/>
            <a:ext cx="2697480" cy="640080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327648" y="1143000"/>
            <a:ext cx="2478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외삽 불확실성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27648" y="1883664"/>
            <a:ext cx="2478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200" b="0">
                <a:solidFill>
                  <a:srgbClr val="1A2B4B"/>
                </a:solidFill>
              </a:defRPr>
            </a:pPr>
            <a:r>
              <a:t>외삽 영역: epistemic 지배 + aleatoric 혼재</a:t>
            </a:r>
            <a:br/>
            <a:r>
              <a:t>기존 CI/PI는 coverage 보장 상실 (Pfister, 2024)</a:t>
            </a:r>
            <a:br/>
            <a:r>
              <a:t>→ extrapolation bounds + CI 결합이 해법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27648" y="2999232"/>
            <a:ext cx="2478024" cy="16459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327648" y="30723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27648" y="3291840"/>
            <a:ext cx="2478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  <a:defRPr sz="1200" b="0">
                <a:solidFill>
                  <a:srgbClr val="1A2B4B"/>
                </a:solidFill>
              </a:defRPr>
            </a:pPr>
            <a:r>
              <a:t>N-CMAPSS: 150 cycle 관측 → 500 cycle RUL 예측</a:t>
            </a:r>
            <a:br/>
            <a:r>
              <a:t>선형 외삽 시 EOL 오차 수십~수백 사이클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Ghahramani (2013) "Bayesian non-parametrics and the probabilistic approach to modelling"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4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645920"/>
            <a:ext cx="4572000" cy="4572000"/>
          </a:xfrm>
          <a:prstGeom prst="ellipse">
            <a:avLst/>
          </a:prstGeom>
          <a:solidFill>
            <a:srgbClr val="0A3D42"/>
          </a:solidFill>
          <a:ln w="12700">
            <a:solidFill>
              <a:srgbClr val="0A3D4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097280" y="2926080"/>
            <a:ext cx="3200400" cy="3200400"/>
          </a:xfrm>
          <a:prstGeom prst="ellipse">
            <a:avLst/>
          </a:prstGeom>
          <a:solidFill>
            <a:srgbClr val="0F5459"/>
          </a:solidFill>
          <a:ln w="12700">
            <a:solidFill>
              <a:srgbClr val="0F5459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1280160"/>
            <a:ext cx="73152" cy="1463040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OOD 일반화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분포 이동 · IRM · DomainBed · 인과적 접근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PART 2 · 실전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B4B"/>
                </a:solidFill>
              </a:defRPr>
            </a:pPr>
            <a:r>
              <a:t>미경험 TRA 조건 = OOD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97280"/>
            <a:ext cx="5029200" cy="28219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0" y="10972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A2B4B"/>
                </a:solidFill>
              </a:defRPr>
            </a:pPr>
            <a:r>
              <a:t>Train: 저TRA units (tra&lt;=q70)</a:t>
            </a:r>
          </a:p>
          <a:p>
            <a:pPr>
              <a:spcAft>
                <a:spcPts val="600"/>
              </a:spcAft>
              <a:defRPr sz="1100">
                <a:solidFill>
                  <a:srgbClr val="1A2B4B"/>
                </a:solidFill>
              </a:defRPr>
            </a:pPr>
            <a:r>
              <a:t>Test: 고TRA holdout (tra&gt;q90)</a:t>
            </a:r>
          </a:p>
          <a:p>
            <a:pPr>
              <a:spcAft>
                <a:spcPts val="600"/>
              </a:spcAft>
              <a:defRPr sz="1100">
                <a:solidFill>
                  <a:srgbClr val="1A2B4B"/>
                </a:solidFill>
              </a:defRPr>
            </a:pPr>
            <a:r>
              <a:t>ERM: 훈련 환경 overfit</a:t>
            </a:r>
          </a:p>
          <a:p>
            <a:pPr>
              <a:spcAft>
                <a:spcPts val="600"/>
              </a:spcAft>
              <a:defRPr sz="1100">
                <a:solidFill>
                  <a:srgbClr val="1A2B4B"/>
                </a:solidFill>
              </a:defRPr>
            </a:pPr>
            <a:r>
              <a:t>APEX-Guard: 제약+isotonic으로 OOD 개선</a:t>
            </a:r>
          </a:p>
          <a:p>
            <a:pPr>
              <a:spcAft>
                <a:spcPts val="600"/>
              </a:spcAft>
              <a:defRPr sz="1100">
                <a:solidFill>
                  <a:srgbClr val="1A2B4B"/>
                </a:solidFill>
              </a:defRPr>
            </a:pPr>
            <a:r>
              <a:t>DomainBed: ERM baseline 필수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89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ca-css-ncmapss · Liu et al. (2023)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OOD 일반화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분포 이동(Distribution Shift) 유형 분류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115568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115568"/>
            <a:ext cx="1920240" cy="5029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1338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Covariate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Shift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17190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1901952"/>
            <a:ext cx="1700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P(X) 변화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P(Y|X) 동일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743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" y="29260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장비 의료 영상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42032" y="1115568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542032" y="1115568"/>
            <a:ext cx="1920240" cy="502920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633472" y="11338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Shift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51760" y="17190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51760" y="1901952"/>
            <a:ext cx="1700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P(Y) 변화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P(X|Y) 동일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51760" y="2743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51760" y="29260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비율 다른 환경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26864" y="1115568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626864" y="1115568"/>
            <a:ext cx="1920240" cy="502920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18304" y="11338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Drift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36592" y="17190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36592" y="1901952"/>
            <a:ext cx="1700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P(Y|X) 자체 변화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시간에 따라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36592" y="2743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36592" y="29260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주식 패턴 변화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11696" y="1115568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711696" y="1115568"/>
            <a:ext cx="1920240" cy="502920"/>
          </a:xfrm>
          <a:prstGeom prst="rect">
            <a:avLst/>
          </a:prstGeom>
          <a:solidFill>
            <a:srgbClr val="D19900"/>
          </a:solidFill>
          <a:ln w="12700">
            <a:solidFill>
              <a:srgbClr val="D1990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803136" y="11338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Shift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821424" y="17190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1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21424" y="1901952"/>
            <a:ext cx="1700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 과정 전체 변화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21424" y="2743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1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21424" y="29260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합성→실제 데이터 전이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4681728"/>
            <a:ext cx="64008" cy="2743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21208" y="4681728"/>
            <a:ext cx="8165592" cy="274320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080" y="470001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i.i.d. 가정이 붕괴될 때 표준 ERM이 실패하는 이유 — 이것이 OOD 연구의 출발점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 (2023) "Towards OOD Generalization: A Survey" · arxiv:2108.13624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OOD 일반화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OOD 일반화의 공식 정의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115568"/>
            <a:ext cx="64008" cy="1481328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21208" y="1115568"/>
            <a:ext cx="8165592" cy="1481328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8368" y="1161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일반화 목표 (Ye et al., 2021)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447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훈련 환경 집합 E_train = {e1, e2, ...} 에서 학습하여,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1719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  <a:defRPr sz="1200" b="0">
                <a:solidFill>
                  <a:srgbClr val="1A2B4B"/>
                </a:solidFill>
              </a:defRPr>
            </a:pPr>
            <a:r>
              <a:t>미지의 테스트 환경 e_test (not in E_train) 에서도 낮은 리스크를 달성하는 h를 찾아라.</a:t>
            </a:r>
            <a:br/>
            <a:br/>
            <a:r>
              <a:t>N-CMAPSS 예시: E_train={저TRA units} 학습 → e_test=55C/3C에서도 RUL 예측</a:t>
            </a:r>
            <a:br/>
            <a:r>
              <a:t>→ 단순 ERM은 훈련 환경 평균에 overfit, OOD에서 급락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2286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목표: min_h  max_{e in E_all}  R^e(h)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816352"/>
            <a:ext cx="406908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2816352"/>
            <a:ext cx="4069080" cy="54864"/>
          </a:xfrm>
          <a:prstGeom prst="rect">
            <a:avLst/>
          </a:prstGeom>
          <a:solidFill>
            <a:srgbClr val="7A7974"/>
          </a:solidFill>
          <a:ln w="12700">
            <a:solidFill>
              <a:srgbClr val="7A797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" y="29443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표준 ERM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27355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min_h  E_{e in E_train}[R^e(h)]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365760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 분포의 평균 리스크 최소화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00600" y="2816352"/>
            <a:ext cx="406908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800600" y="2816352"/>
            <a:ext cx="4069080" cy="5486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937760" y="29443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OOD 목표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27355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16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min_h  max_{e in E_all}  R^e(h)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365760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최악 환경에서의 리스크 최소화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 et al. (2021) "Towards a Theoretical Framework of OOD Generalization" · arxiv:2106.04496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OOD 일반화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Invariant Risk Minimization (IRM)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115568"/>
            <a:ext cx="40233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115568"/>
            <a:ext cx="4023360" cy="42062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66928" y="11155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IRM 핵심 아이디어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6093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Arjovsky et al. (2019)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184708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훈련 환경에서 동시에 최적인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 분류기 w를 유도하는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표현(representation) Phi를 학습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788920"/>
            <a:ext cx="64008" cy="98755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30936" y="2788920"/>
            <a:ext cx="3730752" cy="987552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" y="283464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IRMv1 목적함수 (완화 버전)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13232" y="307238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sum_e R^e(Phi) + lambda * ||grad_{w=1} R^e(w*Phi)||^2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13232" y="349300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λ가 클수록 불변성 제약 강화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" y="385876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200" b="0">
                <a:solidFill>
                  <a:srgbClr val="1A2B4B"/>
                </a:solidFill>
              </a:defRPr>
            </a:pPr>
            <a:r>
              <a:t>직관: 환경마다 fine-tune 없이 동일한 w로 모든 환경 최적</a:t>
            </a:r>
            <a:br/>
            <a:br/>
            <a:r>
              <a:t>예: 색깔로 숫자 맞추기(Colored MNIST)에서</a:t>
            </a:r>
            <a:br/>
            <a:r>
              <a:t>ERM=색깔 힌트 학습, IRM=숫자 모양만 학습</a:t>
            </a:r>
            <a:br/>
            <a:r>
              <a:t>→ 테스트 환경 색 반전 시 IRM만 살아남음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0233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663440" y="1115568"/>
            <a:ext cx="4023360" cy="420624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773168" y="11155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IRM vs ERM vs DRO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73168" y="1627632"/>
            <a:ext cx="1188720" cy="548640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28032" y="1645920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방법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61888" y="1627632"/>
            <a:ext cx="1371600" cy="548640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016752" y="1645920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최적화 목표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33488" y="1627632"/>
            <a:ext cx="1280160" cy="548640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388352" y="164592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강점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73168" y="2194560"/>
            <a:ext cx="1188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828032" y="2212848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61888" y="2194560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016752" y="2212848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리스크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33488" y="2194560"/>
            <a:ext cx="128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388352" y="2212848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단순, 빠름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73168" y="2761488"/>
            <a:ext cx="1188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828032" y="2779776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61888" y="2761488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016752" y="2779776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불변 특징 학습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33488" y="2761488"/>
            <a:ext cx="128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388352" y="2779776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 일반화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73168" y="3328416"/>
            <a:ext cx="1188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828032" y="3346704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GroupDRO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61888" y="3328416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016752" y="3346704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최악 그룹 리스크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333488" y="3328416"/>
            <a:ext cx="128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388352" y="3346704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73168" y="3895344"/>
            <a:ext cx="1188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828032" y="3913632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ML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61888" y="3895344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016752" y="391363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원인 학습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333488" y="3895344"/>
            <a:ext cx="128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7388352" y="3913632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 가능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Arjovsky et al. (2021) "Out of Distribution Generalization in Machine Learning" · arxiv:2103.02667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OOD 일반화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DomainBed — 충격적인 결과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115568"/>
            <a:ext cx="8229600" cy="54864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12252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Gulrajani &amp; Lopez-Paz (2020) — ICML 2021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공정한 하이퍼파라미터 탐색 하에서 단순 ERM이 IRM 및 대부분의 OOD 알고리즘보다 낫거나 동등하다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578608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2578608"/>
            <a:ext cx="2697480" cy="402336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6243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모델 선택이 핵심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306324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성능 차이의 상당 부분은 알고리즘이 아니라 하이퍼파라미터와 모델 선택 전략에서 비롯된다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2578608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337560" y="2578608"/>
            <a:ext cx="2697480" cy="402336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474720" y="26243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공정 비교 기준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74720" y="306324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방법 제안 시 DomainBed 벤치마크 기준으로 ERM과 공정 비교해야 의미있는 주장이 된다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578608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217920" y="2578608"/>
            <a:ext cx="2697480" cy="402336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55080" y="26243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실천적 교훈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55080" y="306324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200" b="0">
                <a:solidFill>
                  <a:srgbClr val="1A2B4B"/>
                </a:solidFill>
              </a:defRPr>
            </a:pPr>
            <a:r>
              <a:t>"새 OOD 알고리즘" 주장은 반드시 재현 검증</a:t>
            </a:r>
            <a:br/>
            <a:r>
              <a:t>체크리스트: (1) ERM baseline (2) 동일 HP 탐색 budget</a:t>
            </a:r>
            <a:br/>
            <a:r>
              <a:t>(3) 동일 모델 capacity (4) validation on target domain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Gulrajani &amp; Lopez-Paz (2020) "In Search of Lost Domain Generalization" · arxiv:2007.01434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OOD 일반화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인과적(Causal) 관점의 OOD — 왜 인과인가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143000"/>
            <a:ext cx="3931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143000"/>
            <a:ext cx="73152" cy="1170432"/>
          </a:xfrm>
          <a:prstGeom prst="rect">
            <a:avLst/>
          </a:prstGeom>
          <a:solidFill>
            <a:srgbClr val="7A7974"/>
          </a:solidFill>
          <a:ln w="12700">
            <a:solidFill>
              <a:srgbClr val="7A797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8368" y="11978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  <a:defRPr sz="1200" b="0">
                <a:solidFill>
                  <a:srgbClr val="1A2B4B"/>
                </a:solidFill>
              </a:defRPr>
            </a:pPr>
            <a:r>
              <a:t>입출력 상관관계 최대화</a:t>
            </a:r>
            <a:br/>
            <a:r>
              <a:t>-&gt; 더 많은 데이터, 정규화</a:t>
            </a:r>
            <a:br/>
            <a:br/>
            <a:r>
              <a:t>한계: 허위 상관(spurious correlation)에 취약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149047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100" b="0">
                <a:solidFill>
                  <a:srgbClr val="1A2B4B"/>
                </a:solidFill>
              </a:defRPr>
            </a:pP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3931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2377440"/>
            <a:ext cx="73152" cy="1170432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8368" y="243230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100" b="0">
                <a:solidFill>
                  <a:srgbClr val="1A2B4B"/>
                </a:solidFill>
              </a:defRPr>
            </a:pPr>
            <a:r>
              <a:t>불변성 접근 (IRM)</a:t>
            </a:r>
            <a:br/>
            <a:r>
              <a:t>환경 불변 특징 Phi 학습</a:t>
            </a:r>
            <a:br/>
            <a:r>
              <a:t>-&gt; IRM, CORAL, GroupDRO</a:t>
            </a:r>
            <a:br/>
            <a:br/>
            <a:r>
              <a:t>한계: "환경" 정의가 애매</a:t>
            </a:r>
            <a:br/>
            <a:r>
              <a:t>실제: DomainBed에서 ERM과 큰 차이 없음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272491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3931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3611880"/>
            <a:ext cx="73152" cy="117043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8368" y="366674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100" b="0">
                <a:solidFill>
                  <a:srgbClr val="1A2B4B"/>
                </a:solidFill>
              </a:defRPr>
            </a:pPr>
            <a:r>
              <a:t>인과 구조 (Causal ML)</a:t>
            </a:r>
            <a:br/>
            <a:r>
              <a:t>Structural Causal Model</a:t>
            </a:r>
            <a:br/>
            <a:r>
              <a:t>진짜 원인 변수 C를 학습</a:t>
            </a:r>
            <a:br/>
            <a:br/>
            <a:r>
              <a:t>장점: 개입·분포 변화에도 강건</a:t>
            </a:r>
            <a:br/>
            <a:r>
              <a:t>N-CMAPSS: 엔진 열화 메커니즘(SEI, Li plating) 모델링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395935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1143000"/>
            <a:ext cx="40690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617720" y="1143000"/>
            <a:ext cx="4069080" cy="420624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727448" y="114300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시계열 OOD — 특수성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36592" y="16367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 et al. (2025)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920240"/>
            <a:ext cx="118872" cy="118872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983480" y="18836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시간적 분포 이동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83480" y="217627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P(X)가 시간축을 따라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연속적으로 변화 (Concept Drift)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090672"/>
            <a:ext cx="118872" cy="118872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983480" y="30540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주기적 분포 이동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83480" y="334670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계절성·주기에 의한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반복적 분포 변화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36592" y="4279392"/>
            <a:ext cx="64008" cy="5029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800600" y="4279392"/>
            <a:ext cx="3730752" cy="502920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892040" y="433425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  <a:defRPr sz="1200" b="0">
                <a:solidFill>
                  <a:srgbClr val="1A2B4B"/>
                </a:solidFill>
              </a:defRPr>
            </a:pPr>
            <a:r>
              <a:t>N-CMAPSS RUL 예측 = 두 유형이 모두 적용되는 전형적인 사례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 et al. (2025) "OOD Generalization in Time Series: A Survey" · arxiv:2503.13868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4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645920"/>
            <a:ext cx="4572000" cy="4572000"/>
          </a:xfrm>
          <a:prstGeom prst="ellipse">
            <a:avLst/>
          </a:prstGeom>
          <a:solidFill>
            <a:srgbClr val="0A3D42"/>
          </a:solidFill>
          <a:ln w="12700">
            <a:solidFill>
              <a:srgbClr val="0A3D4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097280" y="2926080"/>
            <a:ext cx="3200400" cy="3200400"/>
          </a:xfrm>
          <a:prstGeom prst="ellipse">
            <a:avLst/>
          </a:prstGeom>
          <a:solidFill>
            <a:srgbClr val="0F5459"/>
          </a:solidFill>
          <a:ln w="12700">
            <a:solidFill>
              <a:srgbClr val="0F5459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1280160"/>
            <a:ext cx="73152" cy="1463040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신경망 외삽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방법론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EQL · NALU · Monotonic NN · PINN · DeepONet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PART 3 · 실전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B4B"/>
                </a:solidFill>
              </a:defRPr>
            </a:pPr>
            <a:r>
              <a:t>활성화 함수별 외삽 거동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97280"/>
            <a:ext cx="5029200" cy="23822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0" y="10972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A2B4B"/>
                </a:solidFill>
              </a:defRPr>
            </a:pPr>
            <a:r>
              <a:t>ReLU: 마지막 선형 구간 연장</a:t>
            </a:r>
          </a:p>
          <a:p>
            <a:pPr>
              <a:spcAft>
                <a:spcPts val="600"/>
              </a:spcAft>
              <a:defRPr sz="1100">
                <a:solidFill>
                  <a:srgbClr val="1A2B4B"/>
                </a:solidFill>
              </a:defRPr>
            </a:pPr>
            <a:r>
              <a:t>Tanh: 포화 -&gt; 회귀에 치명적</a:t>
            </a:r>
          </a:p>
          <a:p>
            <a:pPr>
              <a:spcAft>
                <a:spcPts val="600"/>
              </a:spcAft>
              <a:defRPr sz="1100">
                <a:solidFill>
                  <a:srgbClr val="1A2B4B"/>
                </a:solidFill>
              </a:defRPr>
            </a:pPr>
            <a:r>
              <a:t>Sin: 주기 반복 -&gt; 물리 해석 주의</a:t>
            </a:r>
          </a:p>
          <a:p>
            <a:pPr>
              <a:spcAft>
                <a:spcPts val="600"/>
              </a:spcAft>
              <a:defRPr sz="1100">
                <a:solidFill>
                  <a:srgbClr val="1A2B4B"/>
                </a:solidFill>
              </a:defRPr>
            </a:pPr>
            <a:r>
              <a:t>교훈: 아키텍처 = 외삽 가정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89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Xu et al. (2021)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신경망 외삽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신경망은 왜 외삽에 실패하는가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et al. (2021) "How Neural Networks Extrapolate: From Feedforward to GNN"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19202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389888"/>
            <a:ext cx="1920240" cy="7315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6928" y="1536192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ReLU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201168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밖 거동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2231136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 활성 구간이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선형으로 연장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97180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함의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6928" y="3191256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방향은 맞지만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곡률 완전히 없음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42032" y="1389888"/>
            <a:ext cx="19202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542032" y="1389888"/>
            <a:ext cx="1920240" cy="73152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651760" y="1536192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Tanh / Sigmoid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651760" y="201168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밖 거동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51760" y="2231136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포화(saturation)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상수로 수렴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297180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함의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51760" y="3191256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 문제에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치명적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26864" y="1389888"/>
            <a:ext cx="19202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626864" y="1389888"/>
            <a:ext cx="1920240" cy="73152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36592" y="1536192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(Siren)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736592" y="201168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밖 거동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36592" y="2231136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주기적으로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계속 반복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36592" y="297180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함의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36592" y="3191256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 해석 가능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과적합 위험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11696" y="1389888"/>
            <a:ext cx="19202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711696" y="1389888"/>
            <a:ext cx="1920240" cy="73152"/>
          </a:xfrm>
          <a:prstGeom prst="rect">
            <a:avLst/>
          </a:prstGeom>
          <a:solidFill>
            <a:srgbClr val="7A7974"/>
          </a:solidFill>
          <a:ln w="12700">
            <a:solidFill>
              <a:srgbClr val="7A7974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821424" y="1536192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ELU / GELU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21424" y="201168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밖 거동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21424" y="2231136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좌측 포화,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우측 선형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21424" y="297180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함의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21424" y="3191256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ReLU보다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약간 나음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754880"/>
            <a:ext cx="64008" cy="201168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521208" y="4754880"/>
            <a:ext cx="8165592" cy="201168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40080" y="477316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발견: 활성화 함수 선택이 외삽 거동을 결정 — 물리 지식 없이 범위 밖 예측 불가능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50017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et al. (2021) “How Neural Networks Extrapolate: From Feedforward to GNN” · arxiv:2009.11848</a:t>
            </a:r>
            <a:endParaRPr lang="en-US" sz="750" dirty="0"/>
          </a:p>
        </p:txBody>
      </p:sp>
      <p:sp>
        <p:nvSpPr>
          <p:cNvPr id="39" name="Rounded Rectangle 38"/>
          <p:cNvSpPr/>
          <p:nvPr/>
        </p:nvSpPr>
        <p:spPr>
          <a:xfrm>
            <a:off x="365760" y="5623560"/>
            <a:ext cx="8412480" cy="868680"/>
          </a:xfrm>
          <a:prstGeom prst="roundRect">
            <a:avLst/>
          </a:prstGeom>
          <a:solidFill>
            <a:srgbClr val="F0F4F8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2E86AB"/>
                </a:solidFill>
              </a:rPr>
              <a:t>PART 3 · 핵심 정리  |  </a:t>
            </a:r>
            <a:r>
              <a:rPr sz="1000">
                <a:solidFill>
                  <a:srgbClr val="555555"/>
                </a:solidFill>
              </a:rPr>
              <a:t>Xu (2021) 결론: NN 외삽 실패는 "학습 부족"이 아니라 "활성화 함수 구조" 문제.
ReLU MLP는 범위 밖에서 선형 연장 -&gt; 곡률 없음. 해결 = EQL/NALU/Monotonic/PINN 등 구조적 제약.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신경망 외삽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EQL — Equation Learner: 수식 자체를 학습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115568"/>
            <a:ext cx="502920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115568"/>
            <a:ext cx="5029200" cy="42062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66928" y="111556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EQL (Equation Learner)  ·  Martius &amp; Lampert, 2016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1645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뉴런의 활성화 함수를 수학 기본 연산으로 구성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1965960"/>
            <a:ext cx="64008" cy="53035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30936" y="1965960"/>
            <a:ext cx="4736592" cy="530352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13232" y="2029968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연산 집합: { sin, cos, x (identity), sigma, × (곱), ÷ (나눗셈) 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615184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 결과가 해석 가능한 수식이 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f(x) = sin(x) 학습 시 실제로 sin 뉴런이 활성화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3410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MLP와의 차이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" y="363931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sin을 조각별 선형 함수로 근사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훈련 범위 밖에서 즉시 발산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15000" y="1115568"/>
            <a:ext cx="2971800" cy="376732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833872" y="1225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적용 영역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33872" y="1591056"/>
            <a:ext cx="118872" cy="118872"/>
          </a:xfrm>
          <a:prstGeom prst="ellipse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053328" y="15361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 법칙 발견 (Symbolic Regression)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33872" y="2231136"/>
            <a:ext cx="118872" cy="118872"/>
          </a:xfrm>
          <a:prstGeom prst="ellipse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053328" y="21762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전기화학 관계 모델링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33872" y="2871216"/>
            <a:ext cx="118872" cy="118872"/>
          </a:xfrm>
          <a:prstGeom prst="ellipse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053328" y="28163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  <a:defRPr sz="1200" b="0">
                <a:solidFill>
                  <a:srgbClr val="1A2B4B"/>
                </a:solidFill>
              </a:defRPr>
            </a:pPr>
            <a:r>
              <a:t>엔진 센서 곡선 외삽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33872" y="3511296"/>
            <a:ext cx="118872" cy="118872"/>
          </a:xfrm>
          <a:prstGeom prst="ellipse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053328" y="34564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소량 데이터 공학 예측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33872" y="40965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핵심 강점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33872" y="43159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적고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 중요할 때 최강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Martius &amp; Lampert (2016) "Extrapolation and learning equations" · arxiv:1610.02995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신경망 외삽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NALU — 수치 연산 특화 신경망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115568"/>
            <a:ext cx="502920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115568"/>
            <a:ext cx="5029200" cy="420624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66928" y="111556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Neural Arithmetic Logic Units  ·  Trask et al., 2018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164592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신경망의 한계: 체계적 수치 연산(카운팅, 누적합)에서 외삽 실패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NALU는 덧셈·뺄셈·곱셈·나눗셈을 명시적으로 학습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468880"/>
            <a:ext cx="64008" cy="100584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30936" y="2468880"/>
            <a:ext cx="4736592" cy="1005840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13232" y="252374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 (Neural Accumulator)  →  덧셈·뺄셈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13232" y="277977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tanh(W_hat) * sigma(M_hat)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" y="30906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  →  곱셈·나눗셈 추가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3232" y="334670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NALU(x) = g*NAC(x) + (1-g)*exp(NAC(log|x|))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15000" y="1115568"/>
            <a:ext cx="2971800" cy="376732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833872" y="1225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성능 벤치마크 (논문)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33872" y="15727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덧셈/뺄셈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33872" y="1828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대비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100x 이상 정확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33872" y="24871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곱셈/나눗셈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33872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훈련범위 5배 밖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에서도 정확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33872" y="34015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카운팅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33872" y="3657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체계적 외삽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완벽 달성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Trask et al. (2018) "Neural Arithmetic Logic Units" · arxiv:1808.00508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신경망 외삽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단조 제약 신경망 (Monotonic Neural Networks)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115568"/>
            <a:ext cx="40233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115568"/>
            <a:ext cx="4023360" cy="42062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66928" y="11155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단조 제약 — 왜 필요한가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645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많은 공학 관계는 단조성(monotonicity)을 가짐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 물리 지식을 신경망에 강제하면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훈련 범위 밖에서도 물리적으로 타당한 예측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578608"/>
            <a:ext cx="64008" cy="91440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30936" y="2578608"/>
            <a:ext cx="3730752" cy="914400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13232" y="263347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  <a:defRPr sz="1200" b="0">
                <a:solidFill>
                  <a:srgbClr val="1A2B4B"/>
                </a:solidFill>
              </a:defRPr>
            </a:pPr>
            <a:r>
              <a:t>N-CMAPSS 적용 예시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287121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SOC(충전량) 증가 → OCV(전압) 단조 증가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CMNN으로 이 제약 강제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미측정 SOC 범위도 안전하게 외삽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6118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 열화도 증가 → 용량 단조 감소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Monotonic NN으로 외삽 범위 확장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115568"/>
            <a:ext cx="40233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663440" y="1115568"/>
            <a:ext cx="4023360" cy="420624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73168" y="11155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구현 방법 비교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73168" y="1664208"/>
            <a:ext cx="3794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82896" y="170992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Weight Clipping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82512" y="173736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 비음수 제한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간단한 구현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73168" y="2743200"/>
            <a:ext cx="3794760" cy="1005840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882896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Certified MNN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(Liu, 2022)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82512" y="281635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리아푸노프 증명 기반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수학적 보장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73168" y="3822192"/>
            <a:ext cx="3794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882896" y="386791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CMNN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(Runje, 2023)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82512" y="3895344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단조 활성화 + 구조 제약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높은 표현력 + 보장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Runje &amp; Shankaranarayana (2023) "Constrained Monotonic Neural Networks" · arxiv:2205.11775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신경망 외삽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Physics-Informed Neural Networks (PINN)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115568"/>
            <a:ext cx="40233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115568"/>
            <a:ext cx="4023360" cy="42062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66928" y="11155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PINN 기본 원리  ·  Raissi et al. 2019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64592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손실함수에 PDE 잔차를 직접 내재화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데이터 없는 영역에서도 물리적으로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일관된 예측 생성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487168"/>
            <a:ext cx="64008" cy="80467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30936" y="2487168"/>
            <a:ext cx="3730752" cy="804672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13232" y="25786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L_data + lambda * L_physics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" y="287121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L_physics = ||N[u](x,t)||^2  (PDE 잔차)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41985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크게: 물리 제약 강화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작게: 데이터 맞춤 강화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115568"/>
            <a:ext cx="40233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663440" y="1115568"/>
            <a:ext cx="4023360" cy="420624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73168" y="11155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PINN의 외삽 실패 원인 (Fesser, 2023)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73168" y="1627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"PINN도 외삽에서 실패한다"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73168" y="1975104"/>
            <a:ext cx="118872" cy="118872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001768" y="19385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Spectral Bias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01768" y="221284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저주파 성분 먼저 학습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고주파 성분 외삽 실패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73168" y="2816352"/>
            <a:ext cx="118872" cy="118872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001768" y="27797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손실 불균형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01768" y="3054096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경계 부근 손실 가중치 불균형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경계 근방 예측 악화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73168" y="3657600"/>
            <a:ext cx="118872" cy="118872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001768" y="36210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훈련 포인트 분포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01768" y="3895344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외삽 방향으로 훈련 데이터 희박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해당 방향 외삽 불안정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73168" y="4526280"/>
            <a:ext cx="64008" cy="2743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837176" y="4526280"/>
            <a:ext cx="3730752" cy="274320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937760" y="455371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DeepONet + UQ → 외삽 신뢰도 정량화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Fesser et al. (2023) "Extrapolation Failures in PINNs" · Zhu et al. (2022) "Reliable Extrapolation with DeepONet"</a:t>
            </a:r>
            <a:endParaRPr lang="en-US" sz="800" dirty="0"/>
          </a:p>
        </p:txBody>
      </p:sp>
      <p:sp>
        <p:nvSpPr>
          <p:cNvPr id="32" name="Rounded Rectangle 31"/>
          <p:cNvSpPr/>
          <p:nvPr/>
        </p:nvSpPr>
        <p:spPr>
          <a:xfrm>
            <a:off x="365760" y="5623560"/>
            <a:ext cx="8412480" cy="868680"/>
          </a:xfrm>
          <a:prstGeom prst="roundRect">
            <a:avLst/>
          </a:prstGeom>
          <a:solidFill>
            <a:srgbClr val="F0F4F8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2E86AB"/>
                </a:solidFill>
              </a:rPr>
              <a:t>PART 3 · 핵심 정리  |  </a:t>
            </a:r>
            <a:r>
              <a:rPr sz="1000">
                <a:solidFill>
                  <a:srgbClr val="555555"/>
                </a:solidFill>
              </a:rPr>
              <a:t>PINN 한계 (Fesser 2023): spectral bias + loss imbalance -&gt; PDE 영역 외삽 실패.
DeepONet (Zhu 2022): 연산자 G: u|-&gt;f(u) 학습 + UQ로 외삽 신뢰도 정량화.
배터리: 전기화학 PDE + EIS 등가회로 결합이 현실적 해법.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종합 비교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외삽 방법론 종합 비교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64592" y="1115568"/>
            <a:ext cx="1463040" cy="475488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19456" y="113385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방법론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27632" y="1115568"/>
            <a:ext cx="1554480" cy="475488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682496" y="1133856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외삽 원리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82112" y="1115568"/>
            <a:ext cx="1280160" cy="475488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236976" y="1133856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데이터 요구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62272" y="1115568"/>
            <a:ext cx="1280160" cy="475488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17136" y="1133856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해석 가능성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42432" y="1115568"/>
            <a:ext cx="1554480" cy="475488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797296" y="1133856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공학 적용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96912" y="1115568"/>
            <a:ext cx="1554480" cy="475488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51776" y="1133856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핵심 논문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4592" y="1604772"/>
            <a:ext cx="146304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19456" y="162306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 MLP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27632" y="1604772"/>
            <a:ext cx="155448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682496" y="162306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경험적 근사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82112" y="1604772"/>
            <a:ext cx="128016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236976" y="162306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62272" y="1604772"/>
            <a:ext cx="128016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517136" y="162306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42432" y="1604772"/>
            <a:ext cx="155448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797296" y="162306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기준선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96912" y="1604772"/>
            <a:ext cx="155448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351776" y="162306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LeCun 1989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64592" y="2093976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19456" y="211226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627632" y="2093976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682496" y="2112264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수식 발견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182112" y="2093976"/>
            <a:ext cx="1280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236976" y="211226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462272" y="2093976"/>
            <a:ext cx="1280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517136" y="211226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매우 높음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742432" y="2093976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797296" y="2112264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 관계 파악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96912" y="2093976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351776" y="2112264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Martius 2016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64592" y="2583180"/>
            <a:ext cx="146304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219456" y="260146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627632" y="2583180"/>
            <a:ext cx="155448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1682496" y="2601468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 연산 학습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182112" y="2583180"/>
            <a:ext cx="128016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3236976" y="2601468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462272" y="2583180"/>
            <a:ext cx="128016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4517136" y="2601468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742432" y="2583180"/>
            <a:ext cx="155448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797296" y="2601468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카운팅/누적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296912" y="2583180"/>
            <a:ext cx="155448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351776" y="2601468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Trask 2018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64592" y="3072384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219456" y="309067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NN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627632" y="3072384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1682496" y="3090672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 제약 주입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182112" y="3072384"/>
            <a:ext cx="1280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3236976" y="3090672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462272" y="3072384"/>
            <a:ext cx="1280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4517136" y="3090672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높음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742432" y="3072384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5797296" y="3090672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SOC-OCV, 열화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296912" y="3072384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7351776" y="3090672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Runje 2023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64592" y="3561588"/>
            <a:ext cx="146304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219456" y="357987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627632" y="3561588"/>
            <a:ext cx="155448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1682496" y="3579876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PDE 내재화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182112" y="3561588"/>
            <a:ext cx="128016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3236976" y="3579876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매우 소량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462272" y="3561588"/>
            <a:ext cx="128016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4517136" y="3579876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높음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742432" y="3561588"/>
            <a:ext cx="155448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5797296" y="3579876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전기화학 모델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296912" y="3561588"/>
            <a:ext cx="155448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7351776" y="3579876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Raissi 2019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64592" y="4050792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219456" y="406908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IRM / OOD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1627632" y="4050792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1682496" y="406908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불변 특징 학습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3182112" y="4050792"/>
            <a:ext cx="1280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3236976" y="406908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다환경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4462272" y="4050792"/>
            <a:ext cx="1280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4517136" y="406908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낮음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5742432" y="4050792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5797296" y="406908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이동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7296912" y="4050792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7351776" y="406908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Arjovsky 2021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164592" y="4539996"/>
            <a:ext cx="146304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219456" y="455828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DeepONet + UQ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1627632" y="4539996"/>
            <a:ext cx="155448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1682496" y="4558284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연산자 학습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3182112" y="4539996"/>
            <a:ext cx="128016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3236976" y="455828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많음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4462272" y="4539996"/>
            <a:ext cx="128016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4517136" y="455828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5742432" y="4539996"/>
            <a:ext cx="155448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5797296" y="4558284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다물리 시스템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7296912" y="4539996"/>
            <a:ext cx="155448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7351776" y="4558284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 2022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4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645920"/>
            <a:ext cx="4572000" cy="4572000"/>
          </a:xfrm>
          <a:prstGeom prst="ellipse">
            <a:avLst/>
          </a:prstGeom>
          <a:solidFill>
            <a:srgbClr val="0A3D42"/>
          </a:solidFill>
          <a:ln w="12700">
            <a:solidFill>
              <a:srgbClr val="0A3D4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097280" y="2926080"/>
            <a:ext cx="3200400" cy="3200400"/>
          </a:xfrm>
          <a:prstGeom prst="ellipse">
            <a:avLst/>
          </a:prstGeom>
          <a:solidFill>
            <a:srgbClr val="0F5459"/>
          </a:solidFill>
          <a:ln w="12700">
            <a:solidFill>
              <a:srgbClr val="0F5459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1280160"/>
            <a:ext cx="73152" cy="1463040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l">
              <a:buNone/>
              <a:defRPr sz="1400" b="1">
                <a:solidFill>
                  <a:srgbClr val="2E86AB"/>
                </a:solidFill>
              </a:defRPr>
            </a:pPr>
            <a:r>
              <a:t>PART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l">
              <a:buNone/>
              <a:defRPr sz="3600" b="1">
                <a:solidFill>
                  <a:srgbClr val="1A2B4B"/>
                </a:solidFill>
              </a:defRPr>
            </a:pPr>
            <a:r>
              <a:t>N-CMAPSS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응용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l">
              <a:buNone/>
              <a:defRPr sz="1400" b="0">
                <a:solidFill>
                  <a:srgbClr val="1A2B4B"/>
                </a:solidFill>
              </a:defRPr>
            </a:pPr>
            <a:r>
              <a:t>APEX-Guard · Strict TRA Extrap · 3단 외삽 방어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PART 4 · 모델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B4B"/>
                </a:solidFill>
              </a:defRPr>
            </a:pPr>
            <a:r>
              <a:t>APEX-Guard — 외삽을 설계한 RUL 모델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1051560"/>
            <a:ext cx="4206240" cy="2060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3429000"/>
            <a:ext cx="4206240" cy="2086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17720" y="1051560"/>
            <a:ext cx="4206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B4B"/>
                </a:solidFill>
              </a:defRPr>
            </a:pPr>
            <a:r>
              <a:t>▸ APEX-Guard: Adaptive Physics EXtrapolation Guard</a:t>
            </a:r>
          </a:p>
          <a:p>
            <a:pPr>
              <a:spcAft>
                <a:spcPts val="500"/>
              </a:spcAft>
              <a:defRPr sz="1000">
                <a:solidFill>
                  <a:srgbClr val="1A2B4B"/>
                </a:solidFill>
              </a:defRPr>
            </a:pPr>
            <a:r>
              <a:t>▸ 왜? 외삽은 피할 수 없음 → 설계로 방어</a:t>
            </a:r>
          </a:p>
          <a:p>
            <a:pPr>
              <a:spcAft>
                <a:spcPts val="500"/>
              </a:spcAft>
              <a:defRPr sz="1000">
                <a:solidFill>
                  <a:srgbClr val="1A2B4B"/>
                </a:solidFill>
              </a:defRPr>
            </a:pPr>
            <a:r>
              <a:t>▸ L1 실험: strict_late로 순수 외삽 측정</a:t>
            </a:r>
          </a:p>
          <a:p>
            <a:pPr>
              <a:spcAft>
                <a:spcPts val="500"/>
              </a:spcAft>
              <a:defRPr sz="1000">
                <a:solidFill>
                  <a:srgbClr val="1A2B4B"/>
                </a:solidFill>
              </a:defRPr>
            </a:pPr>
            <a:r>
              <a:t>▸ L2 학습: CA-CSS 제약으로 hull 확장</a:t>
            </a:r>
          </a:p>
          <a:p>
            <a:pPr>
              <a:spcAft>
                <a:spcPts val="500"/>
              </a:spcAft>
              <a:defRPr sz="1000">
                <a:solidFill>
                  <a:srgbClr val="1A2B4B"/>
                </a:solidFill>
              </a:defRPr>
            </a:pPr>
            <a:r>
              <a:t>▸ L3 추론: isotonic으로 단조 보장</a:t>
            </a:r>
          </a:p>
          <a:p>
            <a:pPr>
              <a:spcAft>
                <a:spcPts val="500"/>
              </a:spcAft>
              <a:defRPr sz="1000">
                <a:solidFill>
                  <a:srgbClr val="1A2B4B"/>
                </a:solidFill>
              </a:defRPr>
            </a:pPr>
            <a:r>
              <a:t>▸ 결과: RMSE 3.26 (TabPFN 3.80)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89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ca-css-ncmapss · CA-CSS_MODEL_CARD.md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PART 4 · 외삽 실험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B4B"/>
                </a:solidFill>
              </a:defRPr>
            </a:pPr>
            <a:r>
              <a:t>Strict TRA Extrap — 왜 3겹으로 강제했는가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1051560"/>
            <a:ext cx="4206240" cy="24983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3429000"/>
            <a:ext cx="4206240" cy="18193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17720" y="1051560"/>
            <a:ext cx="4206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B4B"/>
                </a:solidFill>
              </a:defRPr>
            </a:pPr>
            <a:r>
              <a:t>▸ ① TRA shift</a:t>
            </a:r>
          </a:p>
          <a:p>
            <a:pPr>
              <a:spcAft>
                <a:spcPts val="500"/>
              </a:spcAft>
              <a:defRPr sz="1000">
                <a:solidFill>
                  <a:srgbClr val="1A2B4B"/>
                </a:solidFill>
              </a:defRPr>
            </a:pPr>
            <a:r>
              <a:t>  왜: Fan Temp hull 밖만 보려면</a:t>
            </a:r>
          </a:p>
          <a:p>
            <a:pPr>
              <a:spcAft>
                <a:spcPts val="500"/>
              </a:spcAft>
              <a:defRPr sz="1000">
                <a:solidFill>
                  <a:srgbClr val="1A2B4B"/>
                </a:solidFill>
              </a:defRPr>
            </a:pPr>
            <a:r>
              <a:t>  외삽: covariate shift 직접 검증</a:t>
            </a:r>
          </a:p>
          <a:p>
            <a:pPr>
              <a:spcAft>
                <a:spcPts val="500"/>
              </a:spcAft>
              <a:defRPr sz="1000">
                <a:solidFill>
                  <a:srgbClr val="1A2B4B"/>
                </a:solidFill>
              </a:defRPr>
            </a:pPr>
            <a:r>
              <a:t>▸ ② Unit holdout (10,20)</a:t>
            </a:r>
          </a:p>
          <a:p>
            <a:pPr>
              <a:spcAft>
                <a:spcPts val="500"/>
              </a:spcAft>
              <a:defRPr sz="1000">
                <a:solidFill>
                  <a:srgbClr val="1A2B4B"/>
                </a:solidFill>
              </a:defRPr>
            </a:pPr>
            <a:r>
              <a:t>  왜: 엔진 간 일반화 분리</a:t>
            </a:r>
          </a:p>
          <a:p>
            <a:pPr>
              <a:spcAft>
                <a:spcPts val="500"/>
              </a:spcAft>
              <a:defRPr sz="1000">
                <a:solidFill>
                  <a:srgbClr val="1A2B4B"/>
                </a:solidFill>
              </a:defRPr>
            </a:pPr>
            <a:r>
              <a:t>  외삽: 미경험 unit OOD 평가</a:t>
            </a:r>
          </a:p>
          <a:p>
            <a:pPr>
              <a:spcAft>
                <a:spcPts val="500"/>
              </a:spcAft>
              <a:defRPr sz="1000">
                <a:solidFill>
                  <a:srgbClr val="1A2B4B"/>
                </a:solidFill>
              </a:defRPr>
            </a:pPr>
            <a:r>
              <a:t>▸ ③ Late-life band</a:t>
            </a:r>
          </a:p>
          <a:p>
            <a:pPr>
              <a:spcAft>
                <a:spcPts val="500"/>
              </a:spcAft>
              <a:defRPr sz="1000">
                <a:solidFill>
                  <a:srgbClr val="1A2B4B"/>
                </a:solidFill>
              </a:defRPr>
            </a:pPr>
            <a:r>
              <a:t>  왜: 전이 window가 RMSE 오염</a:t>
            </a:r>
          </a:p>
          <a:p>
            <a:pPr>
              <a:spcAft>
                <a:spcPts val="500"/>
              </a:spcAft>
              <a:defRPr sz="1000">
                <a:solidFill>
                  <a:srgbClr val="1A2B4B"/>
                </a:solidFill>
              </a:defRPr>
            </a:pPr>
            <a:r>
              <a:t>  외삽: RUL&lt;=50 말기만 측정</a:t>
            </a:r>
          </a:p>
          <a:p>
            <a:pPr>
              <a:spcAft>
                <a:spcPts val="500"/>
              </a:spcAft>
              <a:defRPr sz="1000">
                <a:solidFill>
                  <a:srgbClr val="1A2B4B"/>
                </a:solidFill>
              </a:defRPr>
            </a:pPr>
            <a:r>
              <a:t>▸ strict_late n=201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89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strict_extrap_tra_rich_report.md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486400"/>
            <a:ext cx="8412480" cy="502920"/>
          </a:xfrm>
          <a:prstGeom prst="roundRect">
            <a:avLst/>
          </a:prstGeom>
          <a:solidFill>
            <a:srgbClr val="F0F4F8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핵심  |  "어디까지를 test로 볼 것인가"가 외삽 연구의 출발점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B4B"/>
                </a:solidFill>
              </a:defRPr>
            </a:pPr>
            <a:r>
              <a:t>PART 4 · APEX-Guard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B4B"/>
                </a:solidFill>
              </a:defRPr>
            </a:pPr>
            <a:r>
              <a:t>v4_disentangled — Dual Encoder 상세 구조</a:t>
            </a:r>
          </a:p>
        </p:txBody>
      </p:sp>
      <p:pic>
        <p:nvPicPr>
          <p:cNvPr id="5" name="Picture 4" descr="14_v4_iso_disentang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1005840"/>
            <a:ext cx="5852160" cy="40261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005840"/>
            <a:ext cx="2834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【 입력 】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OC-Norm: 운용점 편차 분리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cycle channel: 시간축 명시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【 Dual Encoder 】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Health Enc: TRA=0 masking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  -&gt; 열화 패턴, TRA overfit 방지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Load Enc: [TRA,phi,T30,cycle]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  -&gt; 외삽 축 전담 경로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【 RUL 분해 】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RUL = health - damage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damage: w_TRA*TRA+w_cyc*cycle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  + f(phi,T30), w&gt;=0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【 설정 】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d=64, L=2, ep=15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TRA(-)+cycle_mono adopt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89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ncmapss_css_v5_damage.py · extrap_gx_v4.py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</a:defRPr>
            </a:pPr>
            <a:r>
              <a:t>PART 4 · 실전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B4B"/>
                </a:solidFill>
              </a:defRPr>
            </a:pPr>
            <a:r>
              <a:t>APEX-Guard — strict_late 검증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4480560" cy="44805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566160"/>
            <a:ext cx="4480560" cy="2222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37760" y="105156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B4B"/>
                </a:solidFill>
              </a:defRPr>
            </a:pPr>
            <a:r>
              <a:t>【 strict_late · n=201 】</a:t>
            </a:r>
            <a:br/>
            <a:r>
              <a:t>APEX-Guard   RMSE 3.26  R2 0.947</a:t>
            </a:r>
            <a:br/>
            <a:r>
              <a:t>TabPFN        RMSE 3.80  R2 0.927</a:t>
            </a:r>
            <a:br/>
            <a:r>
              <a:t>Transformer   RMSE 7.31</a:t>
            </a:r>
            <a:br/>
            <a:r>
              <a:t>TCN           RMSE 14.09</a:t>
            </a:r>
            <a:br/>
            <a:br/>
            <a:r>
              <a:t>【 APEX-Guard 핵심 】</a:t>
            </a:r>
            <a:br/>
            <a:r>
              <a:t>Dual Enc: health(TRA=0) + load</a:t>
            </a:r>
            <a:br/>
            <a:r>
              <a:t>RUL = health - damage</a:t>
            </a:r>
            <a:br/>
            <a:r>
              <a:t>Isotonic: H1 0%</a:t>
            </a:r>
            <a:br/>
            <a:br/>
            <a:r>
              <a:t>【 설계→성능 】</a:t>
            </a:r>
            <a:br/>
            <a:r>
              <a:t>L1: 3중 외삽 강제 평가</a:t>
            </a:r>
            <a:br/>
            <a:r>
              <a:t>L2: CA-CSS TRA(-)+cycle_mono</a:t>
            </a:r>
            <a:br/>
            <a:r>
              <a:t>L3: unit isotonic post</a:t>
            </a:r>
            <a:br/>
            <a:br/>
            <a:r>
              <a:t>【 vs TabPFN 】</a:t>
            </a:r>
            <a:br/>
            <a:r>
              <a:t>저TRA overfit -&gt; 고TRA 급락</a:t>
            </a:r>
            <a:br/>
            <a:r>
              <a:t>APEX-Guard: 제약+단조 보완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89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B4B"/>
                </a:solidFill>
              </a:defRPr>
            </a:pPr>
            <a:r>
              <a:t>ca-css-ncmapss · strict_extrap_RESULTS.md · cmapss_APEX-Guard_report.md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4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645920"/>
            <a:ext cx="4572000" cy="4572000"/>
          </a:xfrm>
          <a:prstGeom prst="ellipse">
            <a:avLst/>
          </a:prstGeom>
          <a:solidFill>
            <a:srgbClr val="0A3D42"/>
          </a:solidFill>
          <a:ln w="12700">
            <a:solidFill>
              <a:srgbClr val="0A3D4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097280" y="2926080"/>
            <a:ext cx="3200400" cy="3200400"/>
          </a:xfrm>
          <a:prstGeom prst="ellipse">
            <a:avLst/>
          </a:prstGeom>
          <a:solidFill>
            <a:srgbClr val="0F5459"/>
          </a:solidFill>
          <a:ln w="12700">
            <a:solidFill>
              <a:srgbClr val="0F5459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1280160"/>
            <a:ext cx="73152" cy="1463040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연구 동향 &amp;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논문 가이드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30년 타임라인 · 필독 논문 · 연구 적용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연구 동향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외삽 연구 30년 타임라인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633472"/>
            <a:ext cx="8229600" cy="50292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32104" y="2514600"/>
            <a:ext cx="256032" cy="256032"/>
          </a:xfrm>
          <a:prstGeom prst="ellipse">
            <a:avLst/>
          </a:prstGeom>
          <a:solidFill>
            <a:srgbClr val="7A7974"/>
          </a:solidFill>
          <a:ln w="12700">
            <a:solidFill>
              <a:srgbClr val="7A797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79806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79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1990s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127248"/>
            <a:ext cx="11704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 sz="1000">
                <a:solidFill>
                  <a:srgbClr val="1A2B4B"/>
                </a:solidFill>
              </a:defRPr>
            </a:pPr>
            <a:r>
              <a:t>Vapnik: SVM·VC차원</a:t>
            </a:r>
            <a:br/>
            <a:r>
              <a:t>일반화 오차 상계</a:t>
            </a:r>
            <a:br/>
            <a:r>
              <a:t>→ 보간 이론 기반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50976" y="1645920"/>
            <a:ext cx="18288" cy="859536"/>
          </a:xfrm>
          <a:prstGeom prst="rect">
            <a:avLst/>
          </a:prstGeom>
          <a:solidFill>
            <a:srgbClr val="7A7974"/>
          </a:solidFill>
          <a:ln w="12700">
            <a:solidFill>
              <a:srgbClr val="7A797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12984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79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1990s~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07108" y="2514600"/>
            <a:ext cx="256032" cy="256032"/>
          </a:xfrm>
          <a:prstGeom prst="ellipse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632204" y="279806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2000s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32204" y="3127248"/>
            <a:ext cx="11704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 sz="1000">
                <a:solidFill>
                  <a:srgbClr val="1A2B4B"/>
                </a:solidFill>
              </a:defRPr>
            </a:pPr>
            <a:r>
              <a:t>Gaussian Process</a:t>
            </a:r>
            <a:br/>
            <a:r>
              <a:t>Covariate Shift 정립</a:t>
            </a:r>
            <a:br/>
            <a:r>
              <a:t>P(X) 변화, P(Y|X) 동일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82112" y="2514600"/>
            <a:ext cx="256032" cy="256032"/>
          </a:xfrm>
          <a:prstGeom prst="ellipse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807208" y="279806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2010–15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07208" y="3127248"/>
            <a:ext cx="11704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 sz="1000">
                <a:solidFill>
                  <a:srgbClr val="1A2B4B"/>
                </a:solidFill>
              </a:defRPr>
            </a:pPr>
            <a:r>
              <a:t>EQL(2016): 수식 발견</a:t>
            </a:r>
            <a:br/>
            <a:r>
              <a:t>딥러닝 부상</a:t>
            </a:r>
            <a:br/>
            <a:r>
              <a:t>→ NN 외삽 실패 인식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00984" y="1645920"/>
            <a:ext cx="18288" cy="859536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807208" y="12984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2010~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57116" y="2514600"/>
            <a:ext cx="256032" cy="256032"/>
          </a:xfrm>
          <a:prstGeom prst="ellipse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982212" y="279806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2016–19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82212" y="3127248"/>
            <a:ext cx="11704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 sz="1000">
                <a:solidFill>
                  <a:srgbClr val="1A2B4B"/>
                </a:solidFill>
              </a:defRPr>
            </a:pPr>
            <a:r>
              <a:t>NALU(2018): 수치 외삽</a:t>
            </a:r>
            <a:br/>
            <a:r>
              <a:t>IRM(2019): 환경 불변성</a:t>
            </a:r>
            <a:br/>
            <a:r>
              <a:t>OOD 이론 정립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532120" y="2514600"/>
            <a:ext cx="256032" cy="256032"/>
          </a:xfrm>
          <a:prstGeom prst="ellipse">
            <a:avLst/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157216" y="279806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2020–21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57216" y="3127248"/>
            <a:ext cx="11704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 sz="1000">
                <a:solidFill>
                  <a:srgbClr val="1A2B4B"/>
                </a:solidFill>
              </a:defRPr>
            </a:pPr>
            <a:r>
              <a:t>DomainBed: ERM 재평가</a:t>
            </a:r>
            <a:br/>
            <a:r>
              <a:t>Xu 2021: 활성화=외삽</a:t>
            </a:r>
            <a:br/>
            <a:r>
              <a:t>PINN: PDE 내재화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50992" y="1645920"/>
            <a:ext cx="18288" cy="859536"/>
          </a:xfrm>
          <a:prstGeom prst="rect">
            <a:avLst/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157216" y="12984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2020~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07124" y="2514600"/>
            <a:ext cx="256032" cy="256032"/>
          </a:xfrm>
          <a:prstGeom prst="ellipse">
            <a:avLst/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332220" y="279806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2022–23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32220" y="3127248"/>
            <a:ext cx="11704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  <a:defRPr sz="1200" b="0">
                <a:solidFill>
                  <a:srgbClr val="1A2B4B"/>
                </a:solidFill>
              </a:defRPr>
            </a:pPr>
            <a:r>
              <a:t>CMNN·DeepONet+UQ</a:t>
            </a:r>
            <a:br/>
            <a:r>
              <a:t>N-CMAPSS RUL ML 본격화</a:t>
            </a:r>
            <a:br/>
            <a:r>
              <a:t>Causal OOD 확장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882128" y="2514600"/>
            <a:ext cx="256032" cy="256032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507224" y="279806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2024–25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07224" y="3127248"/>
            <a:ext cx="11704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 sz="1000">
                <a:solidFill>
                  <a:srgbClr val="1A2B4B"/>
                </a:solidFill>
              </a:defRPr>
            </a:pPr>
            <a:r>
              <a:t>Pfister: extrapolation-aware CI</a:t>
            </a:r>
            <a:br/>
            <a:r>
              <a:t>Prob. Richardson (2024)</a:t>
            </a:r>
            <a:br/>
            <a:r>
              <a:t>Implicit 외삽 (Decugis)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01000" y="1645920"/>
            <a:ext cx="18288" cy="859536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507224" y="12984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2024~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논문 가이드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분야별 필독 논문 — 우선순위 가이드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★★★  반드시 먼저 읽을 것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289304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289304"/>
            <a:ext cx="54864" cy="45720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325880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Xu et al. (2021)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18688" y="132588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"How Neural Networks Extrapolate"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18688" y="15361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신경망 외삽 실패 원인 바이블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1787652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1787652"/>
            <a:ext cx="54864" cy="45720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1824228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Gulrajani &amp; Lopez-Paz (2020)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18688" y="1824228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"In Search of Lost Domain Generalization"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18688" y="20345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알고리즘 공정 비교 기준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" y="2286000"/>
            <a:ext cx="54864" cy="45720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2322576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Liu et al. (2023)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18688" y="2322576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"Towards OOD Generalization: A Survey"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18688" y="25328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전체 입문 필독 서베이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28575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★★☆  방법론 심화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095244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57200" y="3095244"/>
            <a:ext cx="54864" cy="457200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" y="3131820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Trask et al. (2018)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18688" y="313182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"NALU"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18688" y="33421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 외삽 특화 아키텍처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3593592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57200" y="3593592"/>
            <a:ext cx="54864" cy="457200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40080" y="3630168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Runje &amp; Shankaranarayana (2023)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18688" y="3630168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"Constrained Monotonic NN"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18688" y="384048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단조 제약 최신 방법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409194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57200" y="4091940"/>
            <a:ext cx="54864" cy="457200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40080" y="4128516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Fesser et al. (2023)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18688" y="4128516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"Extrapolation Failures in PINNs"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18688" y="433882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외삽 실패 원인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4590288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57200" y="4590288"/>
            <a:ext cx="54864" cy="457200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40080" y="4626864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Teckentrup et al. (2024)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218688" y="462686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"Probabilistic Richardson Extrapolation"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18688" y="4837176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+ 수치해석 융합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논문 가이드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OOD 서베이 논문 &amp; 최신 동향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115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OOD 종합 서베이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444752"/>
            <a:ext cx="3931920" cy="5486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6928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Liu et al. (2023)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1828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6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arxiv: 2108.13624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204825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포괄적인 OOD 서베이 — 분류·탐지·불확실성 모두 커버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2615184"/>
            <a:ext cx="3931920" cy="5486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66928" y="2743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Arjovsky (2021)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29992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6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arxiv: 2103.02667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" y="32186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IRM 저자의 박사논문 — OOD 이론적 토대 정립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785616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" y="3785616"/>
            <a:ext cx="3931920" cy="5486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66928" y="3913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 et al. (2022)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41696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6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arxiv: 2106.03721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" y="4389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OoD-Bench: 두 차원의 OOD 일반화 정량화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1115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시계열·공학 OOD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0" y="1444752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892040" y="1444752"/>
            <a:ext cx="3931920" cy="54864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001768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Wu et al. (2025)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01768" y="1828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6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arxiv: 2503.13868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01768" y="204825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  <a:defRPr sz="1200" b="0">
                <a:solidFill>
                  <a:srgbClr val="1A2B4B"/>
                </a:solidFill>
              </a:defRPr>
            </a:pPr>
            <a:r>
              <a:t>시계열 OOD 최신 서베이 — 시계열 OOD·RUL 연구와 직결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2615184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892040" y="2615184"/>
            <a:ext cx="3931920" cy="54864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001768" y="2743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Yuan et al. (2022)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01768" y="29992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6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arxiv: 2206.14917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01768" y="32186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역학(mechanics) 문제에서의 OOD 일반화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92040" y="3785616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892040" y="3785616"/>
            <a:ext cx="3931920" cy="54864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001768" y="3913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 et al. (2024)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01768" y="41696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6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arxiv: 2403.01874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01768" y="4389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일반화 평가 방법론 서베이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4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645920"/>
            <a:ext cx="4754880" cy="4754880"/>
          </a:xfrm>
          <a:prstGeom prst="ellipse">
            <a:avLst/>
          </a:prstGeom>
          <a:solidFill>
            <a:srgbClr val="0A3D42"/>
          </a:solidFill>
          <a:ln w="12700">
            <a:solidFill>
              <a:srgbClr val="0A3D4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097280" y="2743200"/>
            <a:ext cx="3200400" cy="3200400"/>
          </a:xfrm>
          <a:prstGeom prst="ellipse">
            <a:avLst/>
          </a:prstGeom>
          <a:solidFill>
            <a:srgbClr val="0F5459"/>
          </a:solidFill>
          <a:ln w="12700">
            <a:solidFill>
              <a:srgbClr val="0F5459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4114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요약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외삽을 정복하는 4가지 열쇠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54864" cy="530352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168249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이론 정립  ·  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176272" y="1682496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200" b="0">
                <a:solidFill>
                  <a:srgbClr val="1A2B4B"/>
                </a:solidFill>
              </a:defRPr>
            </a:pPr>
            <a:r>
              <a:t>보간 != 외삽. supp(X) 밖은 식별 불가 + bounds 확장.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54864" cy="530352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13232" y="24871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OOD 이해  ·  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176272" y="2487168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200" b="0">
                <a:solidFill>
                  <a:srgbClr val="1A2B4B"/>
                </a:solidFill>
              </a:defRPr>
            </a:pPr>
            <a:r>
              <a:t>분포 이동 시 ERM 실패. IRM/인과는 보조 — DomainBed에서 ERM 재검증 필수.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73552"/>
            <a:ext cx="54864" cy="530352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" y="3291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구조적 제약  ·  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176272" y="329184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  <a:defRPr sz="1200" b="0">
                <a:solidFill>
                  <a:srgbClr val="1A2B4B"/>
                </a:solidFill>
              </a:defRPr>
            </a:pPr>
            <a:r>
              <a:t>신경망 외삽은 물리 제약 주입으로 안전해진다. EQL · NALU · Monotonic · CA-CSS APEX-Guard.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078224"/>
            <a:ext cx="54864" cy="530352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13232" y="409651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불확실성 인식  ·  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176272" y="409651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200" b="0">
                <a:solidFill>
                  <a:srgbClr val="1A2B4B"/>
                </a:solidFill>
              </a:defRPr>
            </a:pPr>
            <a:r>
              <a:t>예측값 &lt; 불확실성. extrapolation-aware CI 없이 외삽 수치는 위험.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82803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지식이 있다면 그것이 최고의 외삽 도구다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참고문헌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Q&amp;A  ·  주요 참고문헌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14300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Xu et al. (2021) "How Neural Networks Extrapolate" — arxiv:2009.11848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77393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Gulrajani &amp; Lopez-Paz (2020) "In Search of Lost Domain Generalization" — arxiv:2007.01434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40487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Liu et al. (2023) "Towards OOD Generalization: A Survey" — arxiv:2108.13624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03580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Arjovsky (2021) "OOD Generalization in ML" — arxiv:2103.02667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66674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Trask et al. (2018) "Neural Arithmetic Logic Units" — arxiv:1808.00508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Martius &amp; Lampert (2016) "Extrapolation and Learning Equations" — arxiv:1610.02995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114300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Runje &amp; Shankaranarayana (2023) "Constrained Monotonic NN" — arxiv:2205.11775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177393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Fesser et al. (2023) "Extrapolation Failures in PINNs" — arxiv:2306.09478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240487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Teckentrup et al. (2024) "Probabilistic Richardson Extrapolation" — PMC11985099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3440" y="303580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Aykol et al. (2021) "Physics + ML for Battery Lifetime" — JES 168:030525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366674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Wu et al. (2025) "OOD Generalization in Time Series" — arxiv:2503.13868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3440" y="429768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Zhu et al. (2022) "Reliable Extrapolation with DeepONet" — arxiv:2212.06347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solidFill>
            <a:srgbClr val="E8F4F5"/>
          </a:solidFill>
          <a:ln w="12700">
            <a:solidFill>
              <a:srgbClr val="D4D1C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47731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논문 PDF: github.com/amumujs-create/literec_study/tree/main/extrapolation-papers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B4B"/>
                </a:solidFill>
              </a:defRPr>
            </a:pPr>
            <a:r>
              <a:t>PART 4 · APEX-Guard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B4B"/>
                </a:solidFill>
              </a:defRPr>
            </a:pPr>
            <a:r>
              <a:t>APEX-Guard — CA-CSS 학습 · 손실 · Isotonic</a:t>
            </a:r>
          </a:p>
        </p:txBody>
      </p:sp>
      <p:pic>
        <p:nvPicPr>
          <p:cNvPr id="5" name="Picture 4" descr="15_v4_iso_train_in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5840"/>
            <a:ext cx="5852160" cy="40261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005840"/>
            <a:ext cx="2834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【 CA-CSS 】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Discovery-&gt;Pseudo-extrap-&gt;Compile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train-band만 사용 (leakage 방지)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【 손실 】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L = L_RUL + L_physics + L_TRA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L_physics: TRA(-) hinge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  + cycle_mono hinge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lambda_tra = 0.05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【 Isotonic 】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unit별 cycle 정렬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decreasing isotonic post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H1: 28% -&gt; 0%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【 Ablation 】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TRA+cycle adopt 핵심</a:t>
            </a:r>
          </a:p>
          <a:p>
            <a:pPr>
              <a:spcAft>
                <a:spcPts val="400"/>
              </a:spcAft>
              <a:defRPr sz="950">
                <a:solidFill>
                  <a:srgbClr val="1A2B4B"/>
                </a:solidFill>
              </a:defRPr>
            </a:pPr>
            <a:r>
              <a:t>no_tra_loss: 동일 (0.05)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89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B4B"/>
                </a:solidFill>
              </a:defRPr>
            </a:pPr>
            <a:r>
              <a:t>APEX-Guard_ablation_report.md · ncmapss_unit_mono.py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외삽(Extrapolation) 완전 정복 — 50분 세미나</dc:title>
  <dc:subject>기초이론 · OOD · 신경망 방법론 · 배터리 응용</dc:subject>
  <dc:creator>Perplexity Computer</dc:creator>
  <cp:lastModifiedBy>Perplexity Computer</cp:lastModifiedBy>
  <cp:revision>1</cp:revision>
  <dcterms:created xsi:type="dcterms:W3CDTF">2026-07-06T08:05:20Z</dcterms:created>
  <dcterms:modified xsi:type="dcterms:W3CDTF">2026-07-06T08:05:20Z</dcterms:modified>
</cp:coreProperties>
</file>