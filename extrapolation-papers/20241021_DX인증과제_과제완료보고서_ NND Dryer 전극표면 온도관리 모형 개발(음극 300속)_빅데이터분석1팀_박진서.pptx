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media/image2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7"/>
  </p:notesMasterIdLst>
  <p:handoutMasterIdLst>
    <p:handoutMasterId r:id="rId38"/>
  </p:handoutMasterIdLst>
  <p:sldIdLst>
    <p:sldId id="256" r:id="rId2"/>
    <p:sldId id="2147376124" r:id="rId3"/>
    <p:sldId id="2147481982" r:id="rId4"/>
    <p:sldId id="3061" r:id="rId5"/>
    <p:sldId id="3062" r:id="rId6"/>
    <p:sldId id="3063" r:id="rId7"/>
    <p:sldId id="2147482010" r:id="rId8"/>
    <p:sldId id="3064" r:id="rId9"/>
    <p:sldId id="2147482011" r:id="rId10"/>
    <p:sldId id="3066" r:id="rId11"/>
    <p:sldId id="2147482012" r:id="rId12"/>
    <p:sldId id="3068" r:id="rId13"/>
    <p:sldId id="3069" r:id="rId14"/>
    <p:sldId id="2147482013" r:id="rId15"/>
    <p:sldId id="2147481989" r:id="rId16"/>
    <p:sldId id="2147481992" r:id="rId17"/>
    <p:sldId id="2147481993" r:id="rId18"/>
    <p:sldId id="2147481994" r:id="rId19"/>
    <p:sldId id="2147482006" r:id="rId20"/>
    <p:sldId id="2147482007" r:id="rId21"/>
    <p:sldId id="4075" r:id="rId22"/>
    <p:sldId id="2147376121" r:id="rId23"/>
    <p:sldId id="4092" r:id="rId24"/>
    <p:sldId id="2147482001" r:id="rId25"/>
    <p:sldId id="2147482004" r:id="rId26"/>
    <p:sldId id="2147482005" r:id="rId27"/>
    <p:sldId id="666" r:id="rId28"/>
    <p:sldId id="2147481991" r:id="rId29"/>
    <p:sldId id="2147482014" r:id="rId30"/>
    <p:sldId id="2147481996" r:id="rId31"/>
    <p:sldId id="2147481997" r:id="rId32"/>
    <p:sldId id="2147481998" r:id="rId33"/>
    <p:sldId id="2147481999" r:id="rId34"/>
    <p:sldId id="2147482000" r:id="rId35"/>
    <p:sldId id="2147481990" r:id="rId3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ND Dryer" id="{13781EA9-82FE-4A23-A2C2-6C338640788E}">
          <p14:sldIdLst>
            <p14:sldId id="256"/>
          </p14:sldIdLst>
        </p14:section>
        <p14:section name="요약" id="{0EBD32F0-8CAD-46B6-ABA0-156DA33D7192}">
          <p14:sldIdLst>
            <p14:sldId id="2147376124"/>
          </p14:sldIdLst>
        </p14:section>
        <p14:section name="상세내용" id="{EF5E0EA3-7C38-4EFC-B703-C6BC8424552D}">
          <p14:sldIdLst>
            <p14:sldId id="2147481982"/>
            <p14:sldId id="3061"/>
            <p14:sldId id="3062"/>
            <p14:sldId id="3063"/>
            <p14:sldId id="2147482010"/>
            <p14:sldId id="3064"/>
            <p14:sldId id="2147482011"/>
            <p14:sldId id="3066"/>
            <p14:sldId id="2147482012"/>
            <p14:sldId id="3068"/>
            <p14:sldId id="3069"/>
            <p14:sldId id="2147482013"/>
            <p14:sldId id="2147481989"/>
            <p14:sldId id="2147481992"/>
            <p14:sldId id="2147481993"/>
            <p14:sldId id="2147481994"/>
            <p14:sldId id="2147482006"/>
            <p14:sldId id="2147482007"/>
          </p14:sldIdLst>
        </p14:section>
        <p14:section name="유첨." id="{82EBB774-6883-481B-8622-B972FDABF33B}">
          <p14:sldIdLst>
            <p14:sldId id="4075"/>
            <p14:sldId id="2147376121"/>
            <p14:sldId id="4092"/>
            <p14:sldId id="2147482001"/>
            <p14:sldId id="2147482004"/>
            <p14:sldId id="2147482005"/>
            <p14:sldId id="666"/>
            <p14:sldId id="2147481991"/>
            <p14:sldId id="2147482014"/>
            <p14:sldId id="2147481996"/>
            <p14:sldId id="2147481997"/>
            <p14:sldId id="2147481998"/>
            <p14:sldId id="2147481999"/>
            <p14:sldId id="2147482000"/>
            <p14:sldId id="21474819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74" userDrawn="1">
          <p15:clr>
            <a:srgbClr val="A4A3A4"/>
          </p15:clr>
        </p15:guide>
        <p15:guide id="2" pos="194" userDrawn="1">
          <p15:clr>
            <a:srgbClr val="A4A3A4"/>
          </p15:clr>
        </p15:guide>
        <p15:guide id="3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24FF"/>
    <a:srgbClr val="0013C6"/>
    <a:srgbClr val="A6A1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4" autoAdjust="0"/>
    <p:restoredTop sz="96370" autoAdjust="0"/>
  </p:normalViewPr>
  <p:slideViewPr>
    <p:cSldViewPr snapToGrid="0">
      <p:cViewPr varScale="1">
        <p:scale>
          <a:sx n="106" d="100"/>
          <a:sy n="106" d="100"/>
        </p:scale>
        <p:origin x="1116" y="102"/>
      </p:cViewPr>
      <p:guideLst>
        <p:guide orient="horz" pos="3974"/>
        <p:guide pos="194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1056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\\gcloudnas1.lgchem.com\userdata$\kangtaewon\&#50629;&#47924;&#51652;&#54665;\&#51452;&#54665;&#44148;&#51312;\&#51228;&#50612;&#48320;&#44221;\210506_&#51452;&#54665;&#44148;&#51312;%20&#49444;&#48708;%20&#44148;&#51312;%20&#52636;&#47141;%20&#51228;&#50612;%20&#47196;&#51649;_v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294799395811811E-2"/>
          <c:y val="4.5117725937428139E-2"/>
          <c:w val="0.91714356403268038"/>
          <c:h val="0.83238748666168871"/>
        </c:manualLayout>
      </c:layout>
      <c:lineChart>
        <c:grouping val="standard"/>
        <c:varyColors val="0"/>
        <c:ser>
          <c:idx val="2"/>
          <c:order val="1"/>
          <c:tx>
            <c:strRef>
              <c:f>출력제어Raw!$D$1</c:f>
              <c:strCache>
                <c:ptCount val="1"/>
                <c:pt idx="0">
                  <c:v>In 출력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cat>
            <c:numRef>
              <c:f>출력제어Raw!$B$2:$B$322</c:f>
              <c:numCache>
                <c:formatCode>General</c:formatCode>
                <c:ptCount val="321"/>
                <c:pt idx="0">
                  <c:v>-2</c:v>
                </c:pt>
                <c:pt idx="1">
                  <c:v>-1.9</c:v>
                </c:pt>
                <c:pt idx="2">
                  <c:v>-1.8</c:v>
                </c:pt>
                <c:pt idx="3">
                  <c:v>-1.7</c:v>
                </c:pt>
                <c:pt idx="4">
                  <c:v>-1.6</c:v>
                </c:pt>
                <c:pt idx="5">
                  <c:v>-1.5</c:v>
                </c:pt>
                <c:pt idx="6">
                  <c:v>-1.4</c:v>
                </c:pt>
                <c:pt idx="7">
                  <c:v>-1.3</c:v>
                </c:pt>
                <c:pt idx="8">
                  <c:v>-1.2</c:v>
                </c:pt>
                <c:pt idx="9">
                  <c:v>-1.1000000000000001</c:v>
                </c:pt>
                <c:pt idx="10">
                  <c:v>-1</c:v>
                </c:pt>
                <c:pt idx="11">
                  <c:v>-0.9</c:v>
                </c:pt>
                <c:pt idx="12">
                  <c:v>-0.8</c:v>
                </c:pt>
                <c:pt idx="13">
                  <c:v>-0.7</c:v>
                </c:pt>
                <c:pt idx="14">
                  <c:v>-0.6</c:v>
                </c:pt>
                <c:pt idx="15">
                  <c:v>-0.5</c:v>
                </c:pt>
                <c:pt idx="16">
                  <c:v>-0.4</c:v>
                </c:pt>
                <c:pt idx="17">
                  <c:v>-0.3</c:v>
                </c:pt>
                <c:pt idx="18">
                  <c:v>-0.2</c:v>
                </c:pt>
                <c:pt idx="19">
                  <c:v>-0.1</c:v>
                </c:pt>
                <c:pt idx="20">
                  <c:v>0</c:v>
                </c:pt>
                <c:pt idx="21">
                  <c:v>0.1</c:v>
                </c:pt>
                <c:pt idx="22">
                  <c:v>0.2</c:v>
                </c:pt>
                <c:pt idx="23">
                  <c:v>0.3</c:v>
                </c:pt>
                <c:pt idx="24">
                  <c:v>0.4</c:v>
                </c:pt>
                <c:pt idx="25">
                  <c:v>0.5</c:v>
                </c:pt>
                <c:pt idx="26">
                  <c:v>0.6</c:v>
                </c:pt>
                <c:pt idx="27">
                  <c:v>0.7</c:v>
                </c:pt>
                <c:pt idx="28">
                  <c:v>0.8</c:v>
                </c:pt>
                <c:pt idx="29">
                  <c:v>0.9</c:v>
                </c:pt>
                <c:pt idx="30">
                  <c:v>1</c:v>
                </c:pt>
                <c:pt idx="31">
                  <c:v>1.1000000000000001</c:v>
                </c:pt>
                <c:pt idx="32">
                  <c:v>1.2</c:v>
                </c:pt>
                <c:pt idx="33">
                  <c:v>1.3</c:v>
                </c:pt>
                <c:pt idx="34">
                  <c:v>1.4</c:v>
                </c:pt>
                <c:pt idx="35">
                  <c:v>1.5</c:v>
                </c:pt>
                <c:pt idx="36">
                  <c:v>1.6</c:v>
                </c:pt>
                <c:pt idx="37">
                  <c:v>1.7</c:v>
                </c:pt>
                <c:pt idx="38">
                  <c:v>1.8</c:v>
                </c:pt>
                <c:pt idx="39">
                  <c:v>1.9</c:v>
                </c:pt>
                <c:pt idx="40">
                  <c:v>2</c:v>
                </c:pt>
                <c:pt idx="41">
                  <c:v>2.1</c:v>
                </c:pt>
                <c:pt idx="42">
                  <c:v>2.2000000000000002</c:v>
                </c:pt>
                <c:pt idx="43">
                  <c:v>2.2999999999999998</c:v>
                </c:pt>
                <c:pt idx="44">
                  <c:v>2.4</c:v>
                </c:pt>
                <c:pt idx="45">
                  <c:v>2.5</c:v>
                </c:pt>
                <c:pt idx="46">
                  <c:v>2.6</c:v>
                </c:pt>
                <c:pt idx="47">
                  <c:v>2.7</c:v>
                </c:pt>
                <c:pt idx="48">
                  <c:v>2.8</c:v>
                </c:pt>
                <c:pt idx="49">
                  <c:v>2.9</c:v>
                </c:pt>
                <c:pt idx="50">
                  <c:v>3</c:v>
                </c:pt>
                <c:pt idx="51">
                  <c:v>3.1</c:v>
                </c:pt>
                <c:pt idx="52">
                  <c:v>3.2</c:v>
                </c:pt>
                <c:pt idx="53">
                  <c:v>3.3</c:v>
                </c:pt>
                <c:pt idx="54">
                  <c:v>3.4</c:v>
                </c:pt>
                <c:pt idx="55">
                  <c:v>3.5</c:v>
                </c:pt>
                <c:pt idx="56">
                  <c:v>3.6</c:v>
                </c:pt>
                <c:pt idx="57">
                  <c:v>3.7</c:v>
                </c:pt>
                <c:pt idx="58">
                  <c:v>3.8</c:v>
                </c:pt>
                <c:pt idx="59">
                  <c:v>3.9</c:v>
                </c:pt>
                <c:pt idx="60">
                  <c:v>4</c:v>
                </c:pt>
                <c:pt idx="61">
                  <c:v>4.0999999999999996</c:v>
                </c:pt>
                <c:pt idx="62">
                  <c:v>4.2</c:v>
                </c:pt>
                <c:pt idx="63">
                  <c:v>4.3</c:v>
                </c:pt>
                <c:pt idx="64">
                  <c:v>4.4000000000000004</c:v>
                </c:pt>
                <c:pt idx="65">
                  <c:v>4.5</c:v>
                </c:pt>
                <c:pt idx="66">
                  <c:v>4.5999999999999996</c:v>
                </c:pt>
                <c:pt idx="67">
                  <c:v>4.7</c:v>
                </c:pt>
                <c:pt idx="68">
                  <c:v>4.8</c:v>
                </c:pt>
                <c:pt idx="69">
                  <c:v>4.9000000000000004</c:v>
                </c:pt>
                <c:pt idx="70">
                  <c:v>5</c:v>
                </c:pt>
                <c:pt idx="71">
                  <c:v>5.0999999999999996</c:v>
                </c:pt>
                <c:pt idx="72">
                  <c:v>5.2</c:v>
                </c:pt>
                <c:pt idx="73">
                  <c:v>5.3</c:v>
                </c:pt>
                <c:pt idx="74">
                  <c:v>5.4</c:v>
                </c:pt>
                <c:pt idx="75">
                  <c:v>5.5</c:v>
                </c:pt>
                <c:pt idx="76">
                  <c:v>5.6</c:v>
                </c:pt>
                <c:pt idx="77">
                  <c:v>5.7</c:v>
                </c:pt>
                <c:pt idx="78">
                  <c:v>5.8</c:v>
                </c:pt>
                <c:pt idx="79">
                  <c:v>5.9</c:v>
                </c:pt>
                <c:pt idx="80">
                  <c:v>6</c:v>
                </c:pt>
                <c:pt idx="81">
                  <c:v>6.1</c:v>
                </c:pt>
                <c:pt idx="82">
                  <c:v>6.2</c:v>
                </c:pt>
                <c:pt idx="83">
                  <c:v>6.3</c:v>
                </c:pt>
                <c:pt idx="84">
                  <c:v>6.4</c:v>
                </c:pt>
                <c:pt idx="85">
                  <c:v>6.5</c:v>
                </c:pt>
                <c:pt idx="86">
                  <c:v>6.6</c:v>
                </c:pt>
                <c:pt idx="87">
                  <c:v>6.7</c:v>
                </c:pt>
                <c:pt idx="88">
                  <c:v>6.8</c:v>
                </c:pt>
                <c:pt idx="89">
                  <c:v>6.9</c:v>
                </c:pt>
                <c:pt idx="90">
                  <c:v>7</c:v>
                </c:pt>
                <c:pt idx="91">
                  <c:v>7.1</c:v>
                </c:pt>
                <c:pt idx="92">
                  <c:v>7.2</c:v>
                </c:pt>
                <c:pt idx="93">
                  <c:v>7.3</c:v>
                </c:pt>
                <c:pt idx="94">
                  <c:v>7.4</c:v>
                </c:pt>
                <c:pt idx="95">
                  <c:v>7.5</c:v>
                </c:pt>
                <c:pt idx="96">
                  <c:v>7.6</c:v>
                </c:pt>
                <c:pt idx="97">
                  <c:v>7.7</c:v>
                </c:pt>
                <c:pt idx="98">
                  <c:v>7.8</c:v>
                </c:pt>
                <c:pt idx="99">
                  <c:v>7.9</c:v>
                </c:pt>
                <c:pt idx="100">
                  <c:v>8</c:v>
                </c:pt>
                <c:pt idx="101">
                  <c:v>8.1</c:v>
                </c:pt>
                <c:pt idx="102">
                  <c:v>8.1999999999999993</c:v>
                </c:pt>
                <c:pt idx="103">
                  <c:v>8.3000000000000007</c:v>
                </c:pt>
                <c:pt idx="104">
                  <c:v>8.4</c:v>
                </c:pt>
                <c:pt idx="105">
                  <c:v>8.5</c:v>
                </c:pt>
                <c:pt idx="106">
                  <c:v>8.6</c:v>
                </c:pt>
                <c:pt idx="107">
                  <c:v>8.6999999999999993</c:v>
                </c:pt>
                <c:pt idx="108">
                  <c:v>8.8000000000000007</c:v>
                </c:pt>
                <c:pt idx="109">
                  <c:v>8.9</c:v>
                </c:pt>
                <c:pt idx="110">
                  <c:v>9</c:v>
                </c:pt>
                <c:pt idx="111">
                  <c:v>9.1</c:v>
                </c:pt>
                <c:pt idx="112">
                  <c:v>9.1999999999999993</c:v>
                </c:pt>
                <c:pt idx="113">
                  <c:v>9.3000000000000007</c:v>
                </c:pt>
                <c:pt idx="114">
                  <c:v>9.4</c:v>
                </c:pt>
                <c:pt idx="115">
                  <c:v>9.5</c:v>
                </c:pt>
                <c:pt idx="116">
                  <c:v>9.6</c:v>
                </c:pt>
                <c:pt idx="117">
                  <c:v>9.6999999999999993</c:v>
                </c:pt>
                <c:pt idx="118">
                  <c:v>9.8000000000000007</c:v>
                </c:pt>
                <c:pt idx="119">
                  <c:v>9.9</c:v>
                </c:pt>
                <c:pt idx="120">
                  <c:v>10</c:v>
                </c:pt>
                <c:pt idx="121">
                  <c:v>10.1</c:v>
                </c:pt>
                <c:pt idx="122">
                  <c:v>10.199999999999999</c:v>
                </c:pt>
                <c:pt idx="123">
                  <c:v>10.3</c:v>
                </c:pt>
                <c:pt idx="124">
                  <c:v>10.4</c:v>
                </c:pt>
                <c:pt idx="125">
                  <c:v>10.5</c:v>
                </c:pt>
                <c:pt idx="126">
                  <c:v>10.6</c:v>
                </c:pt>
                <c:pt idx="127">
                  <c:v>10.7</c:v>
                </c:pt>
                <c:pt idx="128">
                  <c:v>10.8</c:v>
                </c:pt>
                <c:pt idx="129">
                  <c:v>10.9</c:v>
                </c:pt>
                <c:pt idx="130">
                  <c:v>11</c:v>
                </c:pt>
                <c:pt idx="131">
                  <c:v>11.1</c:v>
                </c:pt>
                <c:pt idx="132">
                  <c:v>11.2</c:v>
                </c:pt>
                <c:pt idx="133">
                  <c:v>11.3</c:v>
                </c:pt>
                <c:pt idx="134">
                  <c:v>11.4</c:v>
                </c:pt>
                <c:pt idx="135">
                  <c:v>11.5</c:v>
                </c:pt>
                <c:pt idx="136">
                  <c:v>11.6</c:v>
                </c:pt>
                <c:pt idx="137">
                  <c:v>11.7</c:v>
                </c:pt>
                <c:pt idx="138">
                  <c:v>11.8</c:v>
                </c:pt>
                <c:pt idx="139">
                  <c:v>11.9</c:v>
                </c:pt>
                <c:pt idx="140">
                  <c:v>12</c:v>
                </c:pt>
                <c:pt idx="141">
                  <c:v>12.1</c:v>
                </c:pt>
                <c:pt idx="142">
                  <c:v>12.2</c:v>
                </c:pt>
                <c:pt idx="143">
                  <c:v>12.3</c:v>
                </c:pt>
                <c:pt idx="144">
                  <c:v>12.4</c:v>
                </c:pt>
                <c:pt idx="145">
                  <c:v>12.5</c:v>
                </c:pt>
                <c:pt idx="146">
                  <c:v>12.6</c:v>
                </c:pt>
                <c:pt idx="147">
                  <c:v>12.7</c:v>
                </c:pt>
                <c:pt idx="148">
                  <c:v>12.8</c:v>
                </c:pt>
                <c:pt idx="149">
                  <c:v>12.9</c:v>
                </c:pt>
                <c:pt idx="150">
                  <c:v>13</c:v>
                </c:pt>
                <c:pt idx="151">
                  <c:v>13.1</c:v>
                </c:pt>
                <c:pt idx="152">
                  <c:v>13.2</c:v>
                </c:pt>
                <c:pt idx="153">
                  <c:v>13.3</c:v>
                </c:pt>
                <c:pt idx="154">
                  <c:v>13.4</c:v>
                </c:pt>
                <c:pt idx="155">
                  <c:v>13.5</c:v>
                </c:pt>
                <c:pt idx="156">
                  <c:v>13.6</c:v>
                </c:pt>
                <c:pt idx="157">
                  <c:v>13.7</c:v>
                </c:pt>
                <c:pt idx="158">
                  <c:v>13.8</c:v>
                </c:pt>
                <c:pt idx="159">
                  <c:v>13.9</c:v>
                </c:pt>
                <c:pt idx="160">
                  <c:v>14</c:v>
                </c:pt>
                <c:pt idx="161">
                  <c:v>14.1</c:v>
                </c:pt>
                <c:pt idx="162">
                  <c:v>14.2</c:v>
                </c:pt>
                <c:pt idx="163">
                  <c:v>14.3</c:v>
                </c:pt>
                <c:pt idx="164">
                  <c:v>14.4</c:v>
                </c:pt>
                <c:pt idx="165">
                  <c:v>14.5</c:v>
                </c:pt>
                <c:pt idx="166">
                  <c:v>14.6</c:v>
                </c:pt>
                <c:pt idx="167">
                  <c:v>14.7</c:v>
                </c:pt>
                <c:pt idx="168">
                  <c:v>14.8</c:v>
                </c:pt>
                <c:pt idx="169">
                  <c:v>14.9</c:v>
                </c:pt>
                <c:pt idx="170">
                  <c:v>15</c:v>
                </c:pt>
                <c:pt idx="171">
                  <c:v>15.1</c:v>
                </c:pt>
                <c:pt idx="172">
                  <c:v>15.2</c:v>
                </c:pt>
                <c:pt idx="173">
                  <c:v>15.3</c:v>
                </c:pt>
                <c:pt idx="174">
                  <c:v>15.4</c:v>
                </c:pt>
                <c:pt idx="175">
                  <c:v>15.5</c:v>
                </c:pt>
                <c:pt idx="176">
                  <c:v>15.6</c:v>
                </c:pt>
                <c:pt idx="177">
                  <c:v>15.7</c:v>
                </c:pt>
                <c:pt idx="178">
                  <c:v>15.8</c:v>
                </c:pt>
                <c:pt idx="179">
                  <c:v>15.9</c:v>
                </c:pt>
                <c:pt idx="180">
                  <c:v>16</c:v>
                </c:pt>
                <c:pt idx="181">
                  <c:v>16.100000000000001</c:v>
                </c:pt>
                <c:pt idx="182">
                  <c:v>16.2</c:v>
                </c:pt>
                <c:pt idx="183">
                  <c:v>16.3</c:v>
                </c:pt>
                <c:pt idx="184">
                  <c:v>16.399999999999999</c:v>
                </c:pt>
                <c:pt idx="185">
                  <c:v>16.5</c:v>
                </c:pt>
                <c:pt idx="186">
                  <c:v>16.600000000000001</c:v>
                </c:pt>
                <c:pt idx="187">
                  <c:v>16.7</c:v>
                </c:pt>
                <c:pt idx="188">
                  <c:v>16.8</c:v>
                </c:pt>
                <c:pt idx="189">
                  <c:v>16.899999999999999</c:v>
                </c:pt>
                <c:pt idx="190">
                  <c:v>17</c:v>
                </c:pt>
                <c:pt idx="191">
                  <c:v>17.100000000000001</c:v>
                </c:pt>
                <c:pt idx="192">
                  <c:v>17.2</c:v>
                </c:pt>
                <c:pt idx="193">
                  <c:v>17.3</c:v>
                </c:pt>
                <c:pt idx="194">
                  <c:v>17.399999999999999</c:v>
                </c:pt>
                <c:pt idx="195">
                  <c:v>17.5</c:v>
                </c:pt>
                <c:pt idx="196">
                  <c:v>17.600000000000001</c:v>
                </c:pt>
                <c:pt idx="197">
                  <c:v>17.7</c:v>
                </c:pt>
                <c:pt idx="198">
                  <c:v>17.8</c:v>
                </c:pt>
                <c:pt idx="199">
                  <c:v>17.899999999999999</c:v>
                </c:pt>
                <c:pt idx="200">
                  <c:v>18</c:v>
                </c:pt>
                <c:pt idx="201">
                  <c:v>18.100000000000001</c:v>
                </c:pt>
                <c:pt idx="202">
                  <c:v>18.2</c:v>
                </c:pt>
                <c:pt idx="203">
                  <c:v>18.3</c:v>
                </c:pt>
                <c:pt idx="204">
                  <c:v>18.399999999999999</c:v>
                </c:pt>
                <c:pt idx="205">
                  <c:v>18.5</c:v>
                </c:pt>
                <c:pt idx="206">
                  <c:v>18.600000000000001</c:v>
                </c:pt>
                <c:pt idx="207">
                  <c:v>18.7</c:v>
                </c:pt>
                <c:pt idx="208">
                  <c:v>18.8</c:v>
                </c:pt>
                <c:pt idx="209">
                  <c:v>18.899999999999999</c:v>
                </c:pt>
                <c:pt idx="210">
                  <c:v>19</c:v>
                </c:pt>
                <c:pt idx="211">
                  <c:v>19.100000000000001</c:v>
                </c:pt>
                <c:pt idx="212">
                  <c:v>19.2</c:v>
                </c:pt>
                <c:pt idx="213">
                  <c:v>19.3</c:v>
                </c:pt>
                <c:pt idx="214">
                  <c:v>19.399999999999999</c:v>
                </c:pt>
                <c:pt idx="215">
                  <c:v>19.5</c:v>
                </c:pt>
                <c:pt idx="216">
                  <c:v>19.600000000000001</c:v>
                </c:pt>
                <c:pt idx="217">
                  <c:v>19.7</c:v>
                </c:pt>
                <c:pt idx="218">
                  <c:v>19.8</c:v>
                </c:pt>
                <c:pt idx="219">
                  <c:v>19.899999999999999</c:v>
                </c:pt>
                <c:pt idx="220">
                  <c:v>20</c:v>
                </c:pt>
                <c:pt idx="221">
                  <c:v>20.100000000000001</c:v>
                </c:pt>
                <c:pt idx="222">
                  <c:v>20.2</c:v>
                </c:pt>
                <c:pt idx="223">
                  <c:v>20.3</c:v>
                </c:pt>
                <c:pt idx="224">
                  <c:v>20.399999999999999</c:v>
                </c:pt>
                <c:pt idx="225">
                  <c:v>20.5</c:v>
                </c:pt>
                <c:pt idx="226">
                  <c:v>20.6</c:v>
                </c:pt>
                <c:pt idx="227">
                  <c:v>20.7</c:v>
                </c:pt>
                <c:pt idx="228">
                  <c:v>20.8</c:v>
                </c:pt>
                <c:pt idx="229">
                  <c:v>20.9</c:v>
                </c:pt>
                <c:pt idx="230">
                  <c:v>21</c:v>
                </c:pt>
                <c:pt idx="231">
                  <c:v>21.1</c:v>
                </c:pt>
                <c:pt idx="232">
                  <c:v>21.2</c:v>
                </c:pt>
                <c:pt idx="233">
                  <c:v>21.3</c:v>
                </c:pt>
                <c:pt idx="234">
                  <c:v>21.4</c:v>
                </c:pt>
                <c:pt idx="235">
                  <c:v>21.5</c:v>
                </c:pt>
                <c:pt idx="236">
                  <c:v>21.6</c:v>
                </c:pt>
                <c:pt idx="237">
                  <c:v>21.7</c:v>
                </c:pt>
                <c:pt idx="238">
                  <c:v>21.8</c:v>
                </c:pt>
                <c:pt idx="239">
                  <c:v>21.9</c:v>
                </c:pt>
                <c:pt idx="240">
                  <c:v>22</c:v>
                </c:pt>
                <c:pt idx="241">
                  <c:v>22.1</c:v>
                </c:pt>
                <c:pt idx="242">
                  <c:v>22.2</c:v>
                </c:pt>
                <c:pt idx="243">
                  <c:v>22.3</c:v>
                </c:pt>
                <c:pt idx="244">
                  <c:v>22.4</c:v>
                </c:pt>
                <c:pt idx="245">
                  <c:v>22.5</c:v>
                </c:pt>
                <c:pt idx="246">
                  <c:v>22.6</c:v>
                </c:pt>
                <c:pt idx="247">
                  <c:v>22.7</c:v>
                </c:pt>
                <c:pt idx="248">
                  <c:v>22.8</c:v>
                </c:pt>
                <c:pt idx="249">
                  <c:v>22.9</c:v>
                </c:pt>
                <c:pt idx="250">
                  <c:v>23</c:v>
                </c:pt>
                <c:pt idx="251">
                  <c:v>23.1</c:v>
                </c:pt>
                <c:pt idx="252">
                  <c:v>23.2</c:v>
                </c:pt>
                <c:pt idx="253">
                  <c:v>23.3</c:v>
                </c:pt>
                <c:pt idx="254">
                  <c:v>23.4</c:v>
                </c:pt>
                <c:pt idx="255">
                  <c:v>23.5</c:v>
                </c:pt>
                <c:pt idx="256">
                  <c:v>23.6</c:v>
                </c:pt>
                <c:pt idx="257">
                  <c:v>23.6999999999999</c:v>
                </c:pt>
                <c:pt idx="258">
                  <c:v>23.799999999999901</c:v>
                </c:pt>
                <c:pt idx="259">
                  <c:v>23.899999999999899</c:v>
                </c:pt>
                <c:pt idx="260">
                  <c:v>23.999999999999901</c:v>
                </c:pt>
                <c:pt idx="261">
                  <c:v>24.099999999999898</c:v>
                </c:pt>
                <c:pt idx="262">
                  <c:v>24.1999999999999</c:v>
                </c:pt>
                <c:pt idx="263">
                  <c:v>24.299999999999901</c:v>
                </c:pt>
                <c:pt idx="264">
                  <c:v>24.399999999999899</c:v>
                </c:pt>
                <c:pt idx="265">
                  <c:v>24.499999999999901</c:v>
                </c:pt>
                <c:pt idx="266">
                  <c:v>24.599999999999898</c:v>
                </c:pt>
                <c:pt idx="267">
                  <c:v>24.6999999999999</c:v>
                </c:pt>
                <c:pt idx="268">
                  <c:v>24.799999999999901</c:v>
                </c:pt>
                <c:pt idx="269">
                  <c:v>24.899999999999899</c:v>
                </c:pt>
                <c:pt idx="270">
                  <c:v>24.999999999999901</c:v>
                </c:pt>
                <c:pt idx="271">
                  <c:v>25.099999999999898</c:v>
                </c:pt>
                <c:pt idx="272">
                  <c:v>25.1999999999999</c:v>
                </c:pt>
                <c:pt idx="273">
                  <c:v>25.299999999999901</c:v>
                </c:pt>
                <c:pt idx="274">
                  <c:v>25.399999999999899</c:v>
                </c:pt>
                <c:pt idx="275">
                  <c:v>25.499999999999901</c:v>
                </c:pt>
                <c:pt idx="276">
                  <c:v>25.599999999999898</c:v>
                </c:pt>
                <c:pt idx="277">
                  <c:v>25.6999999999999</c:v>
                </c:pt>
                <c:pt idx="278">
                  <c:v>25.799999999999901</c:v>
                </c:pt>
                <c:pt idx="279">
                  <c:v>25.899999999999899</c:v>
                </c:pt>
                <c:pt idx="280">
                  <c:v>25.999999999999901</c:v>
                </c:pt>
                <c:pt idx="281">
                  <c:v>26.099999999999898</c:v>
                </c:pt>
                <c:pt idx="282">
                  <c:v>26.1999999999999</c:v>
                </c:pt>
                <c:pt idx="283">
                  <c:v>26.299999999999901</c:v>
                </c:pt>
                <c:pt idx="284">
                  <c:v>26.399999999999899</c:v>
                </c:pt>
                <c:pt idx="285">
                  <c:v>26.499999999999901</c:v>
                </c:pt>
                <c:pt idx="286">
                  <c:v>26.599999999999898</c:v>
                </c:pt>
                <c:pt idx="287">
                  <c:v>26.6999999999999</c:v>
                </c:pt>
                <c:pt idx="288">
                  <c:v>26.799999999999901</c:v>
                </c:pt>
                <c:pt idx="289">
                  <c:v>26.899999999999899</c:v>
                </c:pt>
                <c:pt idx="290">
                  <c:v>26.999999999999901</c:v>
                </c:pt>
                <c:pt idx="291">
                  <c:v>27.099999999999898</c:v>
                </c:pt>
                <c:pt idx="292">
                  <c:v>27.1999999999999</c:v>
                </c:pt>
                <c:pt idx="293">
                  <c:v>27.299999999999901</c:v>
                </c:pt>
                <c:pt idx="294">
                  <c:v>27.399999999999899</c:v>
                </c:pt>
                <c:pt idx="295">
                  <c:v>27.499999999999901</c:v>
                </c:pt>
                <c:pt idx="296">
                  <c:v>27.599999999999898</c:v>
                </c:pt>
                <c:pt idx="297">
                  <c:v>27.6999999999999</c:v>
                </c:pt>
                <c:pt idx="298">
                  <c:v>27.799999999999901</c:v>
                </c:pt>
                <c:pt idx="299">
                  <c:v>27.899999999999899</c:v>
                </c:pt>
                <c:pt idx="300">
                  <c:v>27.999999999999901</c:v>
                </c:pt>
                <c:pt idx="301">
                  <c:v>28.099999999999898</c:v>
                </c:pt>
                <c:pt idx="302">
                  <c:v>28.1999999999999</c:v>
                </c:pt>
                <c:pt idx="303">
                  <c:v>28.299999999999901</c:v>
                </c:pt>
                <c:pt idx="304">
                  <c:v>28.399999999999899</c:v>
                </c:pt>
                <c:pt idx="305">
                  <c:v>28.499999999999901</c:v>
                </c:pt>
                <c:pt idx="306">
                  <c:v>28.599999999999898</c:v>
                </c:pt>
                <c:pt idx="307">
                  <c:v>28.6999999999999</c:v>
                </c:pt>
                <c:pt idx="308">
                  <c:v>28.799999999999901</c:v>
                </c:pt>
                <c:pt idx="309">
                  <c:v>28.899999999999899</c:v>
                </c:pt>
                <c:pt idx="310">
                  <c:v>28.999999999999901</c:v>
                </c:pt>
                <c:pt idx="311">
                  <c:v>29.099999999999898</c:v>
                </c:pt>
                <c:pt idx="312">
                  <c:v>29.1999999999999</c:v>
                </c:pt>
                <c:pt idx="313">
                  <c:v>29.299999999999901</c:v>
                </c:pt>
                <c:pt idx="314">
                  <c:v>29.399999999999899</c:v>
                </c:pt>
                <c:pt idx="315">
                  <c:v>29.499999999999901</c:v>
                </c:pt>
                <c:pt idx="316">
                  <c:v>29.599999999999898</c:v>
                </c:pt>
                <c:pt idx="317">
                  <c:v>29.6999999999999</c:v>
                </c:pt>
                <c:pt idx="318">
                  <c:v>29.799999999999901</c:v>
                </c:pt>
                <c:pt idx="319">
                  <c:v>29.899999999999899</c:v>
                </c:pt>
                <c:pt idx="320">
                  <c:v>29.999999999999901</c:v>
                </c:pt>
              </c:numCache>
            </c:numRef>
          </c:cat>
          <c:val>
            <c:numRef>
              <c:f>출력제어Raw!$D$2:$D$322</c:f>
              <c:numCache>
                <c:formatCode>General</c:formatCode>
                <c:ptCount val="321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20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  <c:pt idx="14">
                  <c:v>20</c:v>
                </c:pt>
                <c:pt idx="15">
                  <c:v>20</c:v>
                </c:pt>
                <c:pt idx="16">
                  <c:v>20</c:v>
                </c:pt>
                <c:pt idx="17">
                  <c:v>20</c:v>
                </c:pt>
                <c:pt idx="18">
                  <c:v>20</c:v>
                </c:pt>
                <c:pt idx="19">
                  <c:v>20</c:v>
                </c:pt>
                <c:pt idx="20">
                  <c:v>20</c:v>
                </c:pt>
                <c:pt idx="21">
                  <c:v>20</c:v>
                </c:pt>
                <c:pt idx="22">
                  <c:v>20</c:v>
                </c:pt>
                <c:pt idx="23">
                  <c:v>20</c:v>
                </c:pt>
                <c:pt idx="24">
                  <c:v>20</c:v>
                </c:pt>
                <c:pt idx="25">
                  <c:v>20</c:v>
                </c:pt>
                <c:pt idx="26">
                  <c:v>20</c:v>
                </c:pt>
                <c:pt idx="27">
                  <c:v>20</c:v>
                </c:pt>
                <c:pt idx="28">
                  <c:v>20</c:v>
                </c:pt>
                <c:pt idx="29">
                  <c:v>20</c:v>
                </c:pt>
                <c:pt idx="30">
                  <c:v>20</c:v>
                </c:pt>
                <c:pt idx="31">
                  <c:v>20</c:v>
                </c:pt>
                <c:pt idx="32">
                  <c:v>20</c:v>
                </c:pt>
                <c:pt idx="33">
                  <c:v>20</c:v>
                </c:pt>
                <c:pt idx="34">
                  <c:v>20</c:v>
                </c:pt>
                <c:pt idx="35">
                  <c:v>20</c:v>
                </c:pt>
                <c:pt idx="36">
                  <c:v>20</c:v>
                </c:pt>
                <c:pt idx="37">
                  <c:v>20</c:v>
                </c:pt>
                <c:pt idx="38">
                  <c:v>20</c:v>
                </c:pt>
                <c:pt idx="39">
                  <c:v>20</c:v>
                </c:pt>
                <c:pt idx="40">
                  <c:v>20</c:v>
                </c:pt>
                <c:pt idx="41">
                  <c:v>20</c:v>
                </c:pt>
                <c:pt idx="42">
                  <c:v>20</c:v>
                </c:pt>
                <c:pt idx="43">
                  <c:v>20</c:v>
                </c:pt>
                <c:pt idx="44">
                  <c:v>20</c:v>
                </c:pt>
                <c:pt idx="45">
                  <c:v>23.8</c:v>
                </c:pt>
                <c:pt idx="46">
                  <c:v>27.6</c:v>
                </c:pt>
                <c:pt idx="47">
                  <c:v>31.400000000000002</c:v>
                </c:pt>
                <c:pt idx="48">
                  <c:v>35.200000000000003</c:v>
                </c:pt>
                <c:pt idx="49">
                  <c:v>39</c:v>
                </c:pt>
                <c:pt idx="50">
                  <c:v>42.8</c:v>
                </c:pt>
                <c:pt idx="51">
                  <c:v>46.599999999999994</c:v>
                </c:pt>
                <c:pt idx="52">
                  <c:v>50.399999999999991</c:v>
                </c:pt>
                <c:pt idx="53">
                  <c:v>54.199999999999989</c:v>
                </c:pt>
                <c:pt idx="54">
                  <c:v>58</c:v>
                </c:pt>
                <c:pt idx="55">
                  <c:v>58</c:v>
                </c:pt>
                <c:pt idx="56">
                  <c:v>58</c:v>
                </c:pt>
                <c:pt idx="57">
                  <c:v>58</c:v>
                </c:pt>
                <c:pt idx="58">
                  <c:v>58</c:v>
                </c:pt>
                <c:pt idx="59">
                  <c:v>58</c:v>
                </c:pt>
                <c:pt idx="60">
                  <c:v>58</c:v>
                </c:pt>
                <c:pt idx="61">
                  <c:v>58</c:v>
                </c:pt>
                <c:pt idx="62">
                  <c:v>58</c:v>
                </c:pt>
                <c:pt idx="63">
                  <c:v>58</c:v>
                </c:pt>
                <c:pt idx="64">
                  <c:v>58</c:v>
                </c:pt>
                <c:pt idx="65">
                  <c:v>58</c:v>
                </c:pt>
                <c:pt idx="66">
                  <c:v>58</c:v>
                </c:pt>
                <c:pt idx="67">
                  <c:v>58</c:v>
                </c:pt>
                <c:pt idx="68">
                  <c:v>58</c:v>
                </c:pt>
                <c:pt idx="69">
                  <c:v>58</c:v>
                </c:pt>
                <c:pt idx="70">
                  <c:v>58</c:v>
                </c:pt>
                <c:pt idx="71">
                  <c:v>58</c:v>
                </c:pt>
                <c:pt idx="72">
                  <c:v>58</c:v>
                </c:pt>
                <c:pt idx="73">
                  <c:v>58</c:v>
                </c:pt>
                <c:pt idx="74">
                  <c:v>58</c:v>
                </c:pt>
                <c:pt idx="75">
                  <c:v>58</c:v>
                </c:pt>
                <c:pt idx="76">
                  <c:v>58</c:v>
                </c:pt>
                <c:pt idx="77">
                  <c:v>58</c:v>
                </c:pt>
                <c:pt idx="78">
                  <c:v>58</c:v>
                </c:pt>
                <c:pt idx="79">
                  <c:v>58</c:v>
                </c:pt>
                <c:pt idx="80">
                  <c:v>58</c:v>
                </c:pt>
                <c:pt idx="81">
                  <c:v>58</c:v>
                </c:pt>
                <c:pt idx="82">
                  <c:v>58</c:v>
                </c:pt>
                <c:pt idx="83">
                  <c:v>58</c:v>
                </c:pt>
                <c:pt idx="84">
                  <c:v>58</c:v>
                </c:pt>
                <c:pt idx="85">
                  <c:v>58</c:v>
                </c:pt>
                <c:pt idx="86">
                  <c:v>58</c:v>
                </c:pt>
                <c:pt idx="87">
                  <c:v>58</c:v>
                </c:pt>
                <c:pt idx="88">
                  <c:v>58</c:v>
                </c:pt>
                <c:pt idx="89">
                  <c:v>58</c:v>
                </c:pt>
                <c:pt idx="90">
                  <c:v>58</c:v>
                </c:pt>
                <c:pt idx="91">
                  <c:v>58</c:v>
                </c:pt>
                <c:pt idx="92">
                  <c:v>58</c:v>
                </c:pt>
                <c:pt idx="93">
                  <c:v>58</c:v>
                </c:pt>
                <c:pt idx="94">
                  <c:v>58</c:v>
                </c:pt>
                <c:pt idx="95">
                  <c:v>58</c:v>
                </c:pt>
                <c:pt idx="96">
                  <c:v>58</c:v>
                </c:pt>
                <c:pt idx="97">
                  <c:v>58</c:v>
                </c:pt>
                <c:pt idx="98">
                  <c:v>58</c:v>
                </c:pt>
                <c:pt idx="99">
                  <c:v>58</c:v>
                </c:pt>
                <c:pt idx="100">
                  <c:v>58</c:v>
                </c:pt>
                <c:pt idx="101">
                  <c:v>58</c:v>
                </c:pt>
                <c:pt idx="102">
                  <c:v>58</c:v>
                </c:pt>
                <c:pt idx="103">
                  <c:v>58</c:v>
                </c:pt>
                <c:pt idx="104">
                  <c:v>58</c:v>
                </c:pt>
                <c:pt idx="105">
                  <c:v>58</c:v>
                </c:pt>
                <c:pt idx="106">
                  <c:v>58</c:v>
                </c:pt>
                <c:pt idx="107">
                  <c:v>58</c:v>
                </c:pt>
                <c:pt idx="108">
                  <c:v>58</c:v>
                </c:pt>
                <c:pt idx="109">
                  <c:v>58</c:v>
                </c:pt>
                <c:pt idx="110">
                  <c:v>58</c:v>
                </c:pt>
                <c:pt idx="111">
                  <c:v>58</c:v>
                </c:pt>
                <c:pt idx="112">
                  <c:v>58</c:v>
                </c:pt>
                <c:pt idx="113">
                  <c:v>58</c:v>
                </c:pt>
                <c:pt idx="114">
                  <c:v>58.7</c:v>
                </c:pt>
                <c:pt idx="115">
                  <c:v>58.7</c:v>
                </c:pt>
                <c:pt idx="116">
                  <c:v>58.7</c:v>
                </c:pt>
                <c:pt idx="117">
                  <c:v>58.7</c:v>
                </c:pt>
                <c:pt idx="118">
                  <c:v>58.7</c:v>
                </c:pt>
                <c:pt idx="119">
                  <c:v>58.7</c:v>
                </c:pt>
                <c:pt idx="120">
                  <c:v>58.7</c:v>
                </c:pt>
                <c:pt idx="121">
                  <c:v>58.7</c:v>
                </c:pt>
                <c:pt idx="122">
                  <c:v>58.7</c:v>
                </c:pt>
                <c:pt idx="123">
                  <c:v>58.7</c:v>
                </c:pt>
                <c:pt idx="124">
                  <c:v>58.7</c:v>
                </c:pt>
                <c:pt idx="125">
                  <c:v>58.7</c:v>
                </c:pt>
                <c:pt idx="126">
                  <c:v>58.7</c:v>
                </c:pt>
                <c:pt idx="127">
                  <c:v>58</c:v>
                </c:pt>
                <c:pt idx="128">
                  <c:v>58</c:v>
                </c:pt>
                <c:pt idx="129">
                  <c:v>58</c:v>
                </c:pt>
                <c:pt idx="130">
                  <c:v>58</c:v>
                </c:pt>
                <c:pt idx="131">
                  <c:v>58</c:v>
                </c:pt>
                <c:pt idx="132">
                  <c:v>58</c:v>
                </c:pt>
                <c:pt idx="133">
                  <c:v>58</c:v>
                </c:pt>
                <c:pt idx="134">
                  <c:v>58</c:v>
                </c:pt>
                <c:pt idx="135">
                  <c:v>58</c:v>
                </c:pt>
                <c:pt idx="136">
                  <c:v>58</c:v>
                </c:pt>
                <c:pt idx="137">
                  <c:v>58</c:v>
                </c:pt>
                <c:pt idx="138">
                  <c:v>58</c:v>
                </c:pt>
                <c:pt idx="139">
                  <c:v>58</c:v>
                </c:pt>
                <c:pt idx="140">
                  <c:v>57.3</c:v>
                </c:pt>
                <c:pt idx="141">
                  <c:v>57.3</c:v>
                </c:pt>
                <c:pt idx="142">
                  <c:v>57.3</c:v>
                </c:pt>
                <c:pt idx="143">
                  <c:v>57.3</c:v>
                </c:pt>
                <c:pt idx="144">
                  <c:v>57.3</c:v>
                </c:pt>
                <c:pt idx="145">
                  <c:v>57.3</c:v>
                </c:pt>
                <c:pt idx="146">
                  <c:v>57.3</c:v>
                </c:pt>
                <c:pt idx="147">
                  <c:v>57.3</c:v>
                </c:pt>
                <c:pt idx="148">
                  <c:v>57.3</c:v>
                </c:pt>
                <c:pt idx="149">
                  <c:v>57.3</c:v>
                </c:pt>
                <c:pt idx="150">
                  <c:v>57.3</c:v>
                </c:pt>
                <c:pt idx="151">
                  <c:v>57.3</c:v>
                </c:pt>
                <c:pt idx="152">
                  <c:v>57.3</c:v>
                </c:pt>
                <c:pt idx="153">
                  <c:v>56.6</c:v>
                </c:pt>
                <c:pt idx="154">
                  <c:v>56.6</c:v>
                </c:pt>
                <c:pt idx="155">
                  <c:v>56.6</c:v>
                </c:pt>
                <c:pt idx="156">
                  <c:v>56.6</c:v>
                </c:pt>
                <c:pt idx="157">
                  <c:v>56.6</c:v>
                </c:pt>
                <c:pt idx="158">
                  <c:v>56.6</c:v>
                </c:pt>
                <c:pt idx="159">
                  <c:v>56.6</c:v>
                </c:pt>
                <c:pt idx="160">
                  <c:v>56.6</c:v>
                </c:pt>
                <c:pt idx="161">
                  <c:v>56.6</c:v>
                </c:pt>
                <c:pt idx="162">
                  <c:v>56.6</c:v>
                </c:pt>
                <c:pt idx="163">
                  <c:v>56.6</c:v>
                </c:pt>
                <c:pt idx="164">
                  <c:v>56.6</c:v>
                </c:pt>
                <c:pt idx="165">
                  <c:v>56.6</c:v>
                </c:pt>
                <c:pt idx="166">
                  <c:v>55.9</c:v>
                </c:pt>
                <c:pt idx="167">
                  <c:v>55.9</c:v>
                </c:pt>
                <c:pt idx="168">
                  <c:v>55.9</c:v>
                </c:pt>
                <c:pt idx="169">
                  <c:v>55.9</c:v>
                </c:pt>
                <c:pt idx="170">
                  <c:v>55.9</c:v>
                </c:pt>
                <c:pt idx="171" formatCode="0.0">
                  <c:v>55.102222222222224</c:v>
                </c:pt>
                <c:pt idx="172" formatCode="0.0">
                  <c:v>54.304444444444449</c:v>
                </c:pt>
                <c:pt idx="173" formatCode="0.0">
                  <c:v>53.506666666666675</c:v>
                </c:pt>
                <c:pt idx="174" formatCode="0.0">
                  <c:v>52.7088888888889</c:v>
                </c:pt>
                <c:pt idx="175" formatCode="0.0">
                  <c:v>51.911111111111126</c:v>
                </c:pt>
                <c:pt idx="176" formatCode="0.0">
                  <c:v>51.113333333333351</c:v>
                </c:pt>
                <c:pt idx="177" formatCode="0.0">
                  <c:v>50.315555555555576</c:v>
                </c:pt>
                <c:pt idx="178" formatCode="0.0">
                  <c:v>49.517777777777802</c:v>
                </c:pt>
                <c:pt idx="179" formatCode="0.0">
                  <c:v>48.720000000000027</c:v>
                </c:pt>
                <c:pt idx="180" formatCode="0.0">
                  <c:v>47.922222222222253</c:v>
                </c:pt>
                <c:pt idx="181" formatCode="0.0">
                  <c:v>47.124444444444478</c:v>
                </c:pt>
                <c:pt idx="182" formatCode="0.0">
                  <c:v>46.326666666666704</c:v>
                </c:pt>
                <c:pt idx="183" formatCode="0.0">
                  <c:v>45.528888888888929</c:v>
                </c:pt>
                <c:pt idx="184" formatCode="0.0">
                  <c:v>44.731111111111154</c:v>
                </c:pt>
                <c:pt idx="185" formatCode="0.0">
                  <c:v>43.93333333333338</c:v>
                </c:pt>
                <c:pt idx="186" formatCode="0.0">
                  <c:v>43.135555555555605</c:v>
                </c:pt>
                <c:pt idx="187" formatCode="0.0">
                  <c:v>42.337777777777831</c:v>
                </c:pt>
                <c:pt idx="188" formatCode="0.0">
                  <c:v>41.540000000000056</c:v>
                </c:pt>
                <c:pt idx="189" formatCode="0.0">
                  <c:v>40.742222222222281</c:v>
                </c:pt>
                <c:pt idx="190" formatCode="0.0">
                  <c:v>39.944444444444507</c:v>
                </c:pt>
                <c:pt idx="191" formatCode="0.0">
                  <c:v>39.146666666666732</c:v>
                </c:pt>
                <c:pt idx="192" formatCode="0.0">
                  <c:v>38.348888888888958</c:v>
                </c:pt>
                <c:pt idx="193" formatCode="0.0">
                  <c:v>37.551111111111183</c:v>
                </c:pt>
                <c:pt idx="194" formatCode="0.0">
                  <c:v>36.753333333333408</c:v>
                </c:pt>
                <c:pt idx="195" formatCode="0.0">
                  <c:v>35.955555555555634</c:v>
                </c:pt>
                <c:pt idx="196" formatCode="0.0">
                  <c:v>35.157777777777859</c:v>
                </c:pt>
                <c:pt idx="197" formatCode="0.0">
                  <c:v>34.360000000000085</c:v>
                </c:pt>
                <c:pt idx="198" formatCode="0.0">
                  <c:v>33.56222222222231</c:v>
                </c:pt>
                <c:pt idx="199" formatCode="0.0">
                  <c:v>32.764444444444536</c:v>
                </c:pt>
                <c:pt idx="200" formatCode="0.0">
                  <c:v>31.966666666666757</c:v>
                </c:pt>
                <c:pt idx="201" formatCode="0.0">
                  <c:v>31.168888888888979</c:v>
                </c:pt>
                <c:pt idx="202" formatCode="0.0">
                  <c:v>30.371111111111201</c:v>
                </c:pt>
                <c:pt idx="203" formatCode="0.0">
                  <c:v>29.573333333333423</c:v>
                </c:pt>
                <c:pt idx="204" formatCode="0.0">
                  <c:v>28.775555555555645</c:v>
                </c:pt>
                <c:pt idx="205" formatCode="0.0">
                  <c:v>27.977777777777867</c:v>
                </c:pt>
                <c:pt idx="206" formatCode="0.0">
                  <c:v>27.180000000000089</c:v>
                </c:pt>
                <c:pt idx="207" formatCode="0.0">
                  <c:v>26.38222222222231</c:v>
                </c:pt>
                <c:pt idx="208" formatCode="0.0">
                  <c:v>25.584444444444532</c:v>
                </c:pt>
                <c:pt idx="209" formatCode="0.0">
                  <c:v>24.786666666666754</c:v>
                </c:pt>
                <c:pt idx="210" formatCode="0.0">
                  <c:v>23.988888888888976</c:v>
                </c:pt>
                <c:pt idx="211" formatCode="0.0">
                  <c:v>23.191111111111198</c:v>
                </c:pt>
                <c:pt idx="212" formatCode="0.0">
                  <c:v>22.39333333333342</c:v>
                </c:pt>
                <c:pt idx="213" formatCode="0.0">
                  <c:v>21.595555555555642</c:v>
                </c:pt>
                <c:pt idx="214" formatCode="0.0">
                  <c:v>20.797777777777863</c:v>
                </c:pt>
                <c:pt idx="215">
                  <c:v>20</c:v>
                </c:pt>
                <c:pt idx="216">
                  <c:v>20</c:v>
                </c:pt>
                <c:pt idx="217">
                  <c:v>20</c:v>
                </c:pt>
                <c:pt idx="218">
                  <c:v>20</c:v>
                </c:pt>
                <c:pt idx="219">
                  <c:v>20</c:v>
                </c:pt>
                <c:pt idx="220">
                  <c:v>20</c:v>
                </c:pt>
                <c:pt idx="221">
                  <c:v>20</c:v>
                </c:pt>
                <c:pt idx="222">
                  <c:v>20</c:v>
                </c:pt>
                <c:pt idx="223">
                  <c:v>20</c:v>
                </c:pt>
                <c:pt idx="224">
                  <c:v>20</c:v>
                </c:pt>
                <c:pt idx="225">
                  <c:v>20</c:v>
                </c:pt>
                <c:pt idx="226">
                  <c:v>20</c:v>
                </c:pt>
                <c:pt idx="227">
                  <c:v>20</c:v>
                </c:pt>
                <c:pt idx="228">
                  <c:v>20</c:v>
                </c:pt>
                <c:pt idx="229">
                  <c:v>20.05</c:v>
                </c:pt>
                <c:pt idx="230">
                  <c:v>20.05</c:v>
                </c:pt>
                <c:pt idx="231">
                  <c:v>20.05</c:v>
                </c:pt>
                <c:pt idx="232">
                  <c:v>20.05</c:v>
                </c:pt>
                <c:pt idx="233">
                  <c:v>20.05</c:v>
                </c:pt>
                <c:pt idx="234">
                  <c:v>20.05</c:v>
                </c:pt>
                <c:pt idx="235">
                  <c:v>20.05</c:v>
                </c:pt>
                <c:pt idx="236">
                  <c:v>20.05</c:v>
                </c:pt>
                <c:pt idx="237">
                  <c:v>20.05</c:v>
                </c:pt>
                <c:pt idx="238">
                  <c:v>20.05</c:v>
                </c:pt>
                <c:pt idx="239">
                  <c:v>20.05</c:v>
                </c:pt>
                <c:pt idx="240">
                  <c:v>20.05</c:v>
                </c:pt>
                <c:pt idx="241">
                  <c:v>20.100000000000001</c:v>
                </c:pt>
                <c:pt idx="242">
                  <c:v>20.100000000000001</c:v>
                </c:pt>
                <c:pt idx="243">
                  <c:v>20.100000000000001</c:v>
                </c:pt>
                <c:pt idx="244">
                  <c:v>20.100000000000001</c:v>
                </c:pt>
                <c:pt idx="245">
                  <c:v>20.100000000000001</c:v>
                </c:pt>
                <c:pt idx="246">
                  <c:v>20.100000000000001</c:v>
                </c:pt>
                <c:pt idx="247">
                  <c:v>20.100000000000001</c:v>
                </c:pt>
                <c:pt idx="248">
                  <c:v>20.100000000000001</c:v>
                </c:pt>
                <c:pt idx="249">
                  <c:v>20.100000000000001</c:v>
                </c:pt>
                <c:pt idx="250">
                  <c:v>20.100000000000001</c:v>
                </c:pt>
                <c:pt idx="251">
                  <c:v>20.100000000000001</c:v>
                </c:pt>
                <c:pt idx="252">
                  <c:v>20.100000000000001</c:v>
                </c:pt>
                <c:pt idx="253">
                  <c:v>20.149999999999999</c:v>
                </c:pt>
                <c:pt idx="254">
                  <c:v>20.149999999999999</c:v>
                </c:pt>
                <c:pt idx="255">
                  <c:v>20.149999999999999</c:v>
                </c:pt>
                <c:pt idx="256">
                  <c:v>20.149999999999999</c:v>
                </c:pt>
                <c:pt idx="257">
                  <c:v>20.149999999999999</c:v>
                </c:pt>
                <c:pt idx="258">
                  <c:v>20.149999999999999</c:v>
                </c:pt>
                <c:pt idx="259">
                  <c:v>20.149999999999999</c:v>
                </c:pt>
                <c:pt idx="260">
                  <c:v>20.149999999999999</c:v>
                </c:pt>
                <c:pt idx="261">
                  <c:v>20.149999999999999</c:v>
                </c:pt>
                <c:pt idx="262">
                  <c:v>20.149999999999999</c:v>
                </c:pt>
                <c:pt idx="263">
                  <c:v>20.149999999999999</c:v>
                </c:pt>
                <c:pt idx="264">
                  <c:v>20.149999999999999</c:v>
                </c:pt>
                <c:pt idx="265">
                  <c:v>20.2</c:v>
                </c:pt>
                <c:pt idx="266">
                  <c:v>20.2</c:v>
                </c:pt>
                <c:pt idx="267">
                  <c:v>20.2</c:v>
                </c:pt>
                <c:pt idx="268">
                  <c:v>20.2</c:v>
                </c:pt>
                <c:pt idx="269">
                  <c:v>20.2</c:v>
                </c:pt>
                <c:pt idx="270">
                  <c:v>20.2</c:v>
                </c:pt>
                <c:pt idx="271" formatCode="0.0">
                  <c:v>20.745000000000001</c:v>
                </c:pt>
                <c:pt idx="272" formatCode="0.0">
                  <c:v>21.290000000000003</c:v>
                </c:pt>
                <c:pt idx="273" formatCode="0.0">
                  <c:v>21.835000000000004</c:v>
                </c:pt>
                <c:pt idx="274" formatCode="0.0">
                  <c:v>22.380000000000006</c:v>
                </c:pt>
                <c:pt idx="275" formatCode="0.0">
                  <c:v>22.925000000000008</c:v>
                </c:pt>
                <c:pt idx="276" formatCode="0.0">
                  <c:v>23.47000000000001</c:v>
                </c:pt>
                <c:pt idx="277" formatCode="0.0">
                  <c:v>24.015000000000011</c:v>
                </c:pt>
                <c:pt idx="278" formatCode="0.0">
                  <c:v>24.560000000000013</c:v>
                </c:pt>
                <c:pt idx="279" formatCode="0.0">
                  <c:v>25.105000000000015</c:v>
                </c:pt>
                <c:pt idx="280" formatCode="0.0">
                  <c:v>25.650000000000016</c:v>
                </c:pt>
                <c:pt idx="281" formatCode="0.0">
                  <c:v>26.195000000000018</c:v>
                </c:pt>
                <c:pt idx="282" formatCode="0.0">
                  <c:v>26.74000000000002</c:v>
                </c:pt>
                <c:pt idx="283" formatCode="0.0">
                  <c:v>27.285000000000021</c:v>
                </c:pt>
                <c:pt idx="284" formatCode="0.0">
                  <c:v>27.830000000000023</c:v>
                </c:pt>
                <c:pt idx="285" formatCode="0.0">
                  <c:v>28.375000000000025</c:v>
                </c:pt>
                <c:pt idx="286" formatCode="0.0">
                  <c:v>28.920000000000027</c:v>
                </c:pt>
                <c:pt idx="287" formatCode="0.0">
                  <c:v>29.465000000000028</c:v>
                </c:pt>
                <c:pt idx="288" formatCode="0.0">
                  <c:v>30.01000000000003</c:v>
                </c:pt>
                <c:pt idx="289" formatCode="0.0">
                  <c:v>30.555000000000032</c:v>
                </c:pt>
                <c:pt idx="290">
                  <c:v>31.1</c:v>
                </c:pt>
                <c:pt idx="291">
                  <c:v>31.1</c:v>
                </c:pt>
                <c:pt idx="292">
                  <c:v>31.1</c:v>
                </c:pt>
                <c:pt idx="293">
                  <c:v>31.1</c:v>
                </c:pt>
                <c:pt idx="294">
                  <c:v>31.1</c:v>
                </c:pt>
                <c:pt idx="295">
                  <c:v>31.1</c:v>
                </c:pt>
                <c:pt idx="296">
                  <c:v>31.1</c:v>
                </c:pt>
                <c:pt idx="297">
                  <c:v>31.1</c:v>
                </c:pt>
                <c:pt idx="298">
                  <c:v>31.1</c:v>
                </c:pt>
                <c:pt idx="299">
                  <c:v>31.1</c:v>
                </c:pt>
                <c:pt idx="300">
                  <c:v>31.1</c:v>
                </c:pt>
                <c:pt idx="301">
                  <c:v>31.1</c:v>
                </c:pt>
                <c:pt idx="302">
                  <c:v>31.1</c:v>
                </c:pt>
                <c:pt idx="303">
                  <c:v>31.4</c:v>
                </c:pt>
                <c:pt idx="304">
                  <c:v>31.4</c:v>
                </c:pt>
                <c:pt idx="305">
                  <c:v>31.4</c:v>
                </c:pt>
                <c:pt idx="306">
                  <c:v>31.4</c:v>
                </c:pt>
                <c:pt idx="307">
                  <c:v>31.4</c:v>
                </c:pt>
                <c:pt idx="308">
                  <c:v>31.4</c:v>
                </c:pt>
                <c:pt idx="309">
                  <c:v>31.4</c:v>
                </c:pt>
                <c:pt idx="310">
                  <c:v>31.4</c:v>
                </c:pt>
                <c:pt idx="311">
                  <c:v>31.4</c:v>
                </c:pt>
                <c:pt idx="312">
                  <c:v>31.4</c:v>
                </c:pt>
                <c:pt idx="313">
                  <c:v>31.4</c:v>
                </c:pt>
                <c:pt idx="314">
                  <c:v>31.4</c:v>
                </c:pt>
                <c:pt idx="315">
                  <c:v>31.4</c:v>
                </c:pt>
                <c:pt idx="316">
                  <c:v>31.8</c:v>
                </c:pt>
                <c:pt idx="317">
                  <c:v>31.8</c:v>
                </c:pt>
                <c:pt idx="318">
                  <c:v>31.8</c:v>
                </c:pt>
                <c:pt idx="319">
                  <c:v>31.8</c:v>
                </c:pt>
                <c:pt idx="320">
                  <c:v>31.8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93E-450C-9F69-4CAB793308D9}"/>
            </c:ext>
          </c:extLst>
        </c:ser>
        <c:ser>
          <c:idx val="3"/>
          <c:order val="2"/>
          <c:tx>
            <c:strRef>
              <c:f>출력제어Raw!$E$1</c:f>
              <c:strCache>
                <c:ptCount val="1"/>
                <c:pt idx="0">
                  <c:v>Mid 출력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cat>
            <c:numRef>
              <c:f>출력제어Raw!$B$2:$B$322</c:f>
              <c:numCache>
                <c:formatCode>General</c:formatCode>
                <c:ptCount val="321"/>
                <c:pt idx="0">
                  <c:v>-2</c:v>
                </c:pt>
                <c:pt idx="1">
                  <c:v>-1.9</c:v>
                </c:pt>
                <c:pt idx="2">
                  <c:v>-1.8</c:v>
                </c:pt>
                <c:pt idx="3">
                  <c:v>-1.7</c:v>
                </c:pt>
                <c:pt idx="4">
                  <c:v>-1.6</c:v>
                </c:pt>
                <c:pt idx="5">
                  <c:v>-1.5</c:v>
                </c:pt>
                <c:pt idx="6">
                  <c:v>-1.4</c:v>
                </c:pt>
                <c:pt idx="7">
                  <c:v>-1.3</c:v>
                </c:pt>
                <c:pt idx="8">
                  <c:v>-1.2</c:v>
                </c:pt>
                <c:pt idx="9">
                  <c:v>-1.1000000000000001</c:v>
                </c:pt>
                <c:pt idx="10">
                  <c:v>-1</c:v>
                </c:pt>
                <c:pt idx="11">
                  <c:v>-0.9</c:v>
                </c:pt>
                <c:pt idx="12">
                  <c:v>-0.8</c:v>
                </c:pt>
                <c:pt idx="13">
                  <c:v>-0.7</c:v>
                </c:pt>
                <c:pt idx="14">
                  <c:v>-0.6</c:v>
                </c:pt>
                <c:pt idx="15">
                  <c:v>-0.5</c:v>
                </c:pt>
                <c:pt idx="16">
                  <c:v>-0.4</c:v>
                </c:pt>
                <c:pt idx="17">
                  <c:v>-0.3</c:v>
                </c:pt>
                <c:pt idx="18">
                  <c:v>-0.2</c:v>
                </c:pt>
                <c:pt idx="19">
                  <c:v>-0.1</c:v>
                </c:pt>
                <c:pt idx="20">
                  <c:v>0</c:v>
                </c:pt>
                <c:pt idx="21">
                  <c:v>0.1</c:v>
                </c:pt>
                <c:pt idx="22">
                  <c:v>0.2</c:v>
                </c:pt>
                <c:pt idx="23">
                  <c:v>0.3</c:v>
                </c:pt>
                <c:pt idx="24">
                  <c:v>0.4</c:v>
                </c:pt>
                <c:pt idx="25">
                  <c:v>0.5</c:v>
                </c:pt>
                <c:pt idx="26">
                  <c:v>0.6</c:v>
                </c:pt>
                <c:pt idx="27">
                  <c:v>0.7</c:v>
                </c:pt>
                <c:pt idx="28">
                  <c:v>0.8</c:v>
                </c:pt>
                <c:pt idx="29">
                  <c:v>0.9</c:v>
                </c:pt>
                <c:pt idx="30">
                  <c:v>1</c:v>
                </c:pt>
                <c:pt idx="31">
                  <c:v>1.1000000000000001</c:v>
                </c:pt>
                <c:pt idx="32">
                  <c:v>1.2</c:v>
                </c:pt>
                <c:pt idx="33">
                  <c:v>1.3</c:v>
                </c:pt>
                <c:pt idx="34">
                  <c:v>1.4</c:v>
                </c:pt>
                <c:pt idx="35">
                  <c:v>1.5</c:v>
                </c:pt>
                <c:pt idx="36">
                  <c:v>1.6</c:v>
                </c:pt>
                <c:pt idx="37">
                  <c:v>1.7</c:v>
                </c:pt>
                <c:pt idx="38">
                  <c:v>1.8</c:v>
                </c:pt>
                <c:pt idx="39">
                  <c:v>1.9</c:v>
                </c:pt>
                <c:pt idx="40">
                  <c:v>2</c:v>
                </c:pt>
                <c:pt idx="41">
                  <c:v>2.1</c:v>
                </c:pt>
                <c:pt idx="42">
                  <c:v>2.2000000000000002</c:v>
                </c:pt>
                <c:pt idx="43">
                  <c:v>2.2999999999999998</c:v>
                </c:pt>
                <c:pt idx="44">
                  <c:v>2.4</c:v>
                </c:pt>
                <c:pt idx="45">
                  <c:v>2.5</c:v>
                </c:pt>
                <c:pt idx="46">
                  <c:v>2.6</c:v>
                </c:pt>
                <c:pt idx="47">
                  <c:v>2.7</c:v>
                </c:pt>
                <c:pt idx="48">
                  <c:v>2.8</c:v>
                </c:pt>
                <c:pt idx="49">
                  <c:v>2.9</c:v>
                </c:pt>
                <c:pt idx="50">
                  <c:v>3</c:v>
                </c:pt>
                <c:pt idx="51">
                  <c:v>3.1</c:v>
                </c:pt>
                <c:pt idx="52">
                  <c:v>3.2</c:v>
                </c:pt>
                <c:pt idx="53">
                  <c:v>3.3</c:v>
                </c:pt>
                <c:pt idx="54">
                  <c:v>3.4</c:v>
                </c:pt>
                <c:pt idx="55">
                  <c:v>3.5</c:v>
                </c:pt>
                <c:pt idx="56">
                  <c:v>3.6</c:v>
                </c:pt>
                <c:pt idx="57">
                  <c:v>3.7</c:v>
                </c:pt>
                <c:pt idx="58">
                  <c:v>3.8</c:v>
                </c:pt>
                <c:pt idx="59">
                  <c:v>3.9</c:v>
                </c:pt>
                <c:pt idx="60">
                  <c:v>4</c:v>
                </c:pt>
                <c:pt idx="61">
                  <c:v>4.0999999999999996</c:v>
                </c:pt>
                <c:pt idx="62">
                  <c:v>4.2</c:v>
                </c:pt>
                <c:pt idx="63">
                  <c:v>4.3</c:v>
                </c:pt>
                <c:pt idx="64">
                  <c:v>4.4000000000000004</c:v>
                </c:pt>
                <c:pt idx="65">
                  <c:v>4.5</c:v>
                </c:pt>
                <c:pt idx="66">
                  <c:v>4.5999999999999996</c:v>
                </c:pt>
                <c:pt idx="67">
                  <c:v>4.7</c:v>
                </c:pt>
                <c:pt idx="68">
                  <c:v>4.8</c:v>
                </c:pt>
                <c:pt idx="69">
                  <c:v>4.9000000000000004</c:v>
                </c:pt>
                <c:pt idx="70">
                  <c:v>5</c:v>
                </c:pt>
                <c:pt idx="71">
                  <c:v>5.0999999999999996</c:v>
                </c:pt>
                <c:pt idx="72">
                  <c:v>5.2</c:v>
                </c:pt>
                <c:pt idx="73">
                  <c:v>5.3</c:v>
                </c:pt>
                <c:pt idx="74">
                  <c:v>5.4</c:v>
                </c:pt>
                <c:pt idx="75">
                  <c:v>5.5</c:v>
                </c:pt>
                <c:pt idx="76">
                  <c:v>5.6</c:v>
                </c:pt>
                <c:pt idx="77">
                  <c:v>5.7</c:v>
                </c:pt>
                <c:pt idx="78">
                  <c:v>5.8</c:v>
                </c:pt>
                <c:pt idx="79">
                  <c:v>5.9</c:v>
                </c:pt>
                <c:pt idx="80">
                  <c:v>6</c:v>
                </c:pt>
                <c:pt idx="81">
                  <c:v>6.1</c:v>
                </c:pt>
                <c:pt idx="82">
                  <c:v>6.2</c:v>
                </c:pt>
                <c:pt idx="83">
                  <c:v>6.3</c:v>
                </c:pt>
                <c:pt idx="84">
                  <c:v>6.4</c:v>
                </c:pt>
                <c:pt idx="85">
                  <c:v>6.5</c:v>
                </c:pt>
                <c:pt idx="86">
                  <c:v>6.6</c:v>
                </c:pt>
                <c:pt idx="87">
                  <c:v>6.7</c:v>
                </c:pt>
                <c:pt idx="88">
                  <c:v>6.8</c:v>
                </c:pt>
                <c:pt idx="89">
                  <c:v>6.9</c:v>
                </c:pt>
                <c:pt idx="90">
                  <c:v>7</c:v>
                </c:pt>
                <c:pt idx="91">
                  <c:v>7.1</c:v>
                </c:pt>
                <c:pt idx="92">
                  <c:v>7.2</c:v>
                </c:pt>
                <c:pt idx="93">
                  <c:v>7.3</c:v>
                </c:pt>
                <c:pt idx="94">
                  <c:v>7.4</c:v>
                </c:pt>
                <c:pt idx="95">
                  <c:v>7.5</c:v>
                </c:pt>
                <c:pt idx="96">
                  <c:v>7.6</c:v>
                </c:pt>
                <c:pt idx="97">
                  <c:v>7.7</c:v>
                </c:pt>
                <c:pt idx="98">
                  <c:v>7.8</c:v>
                </c:pt>
                <c:pt idx="99">
                  <c:v>7.9</c:v>
                </c:pt>
                <c:pt idx="100">
                  <c:v>8</c:v>
                </c:pt>
                <c:pt idx="101">
                  <c:v>8.1</c:v>
                </c:pt>
                <c:pt idx="102">
                  <c:v>8.1999999999999993</c:v>
                </c:pt>
                <c:pt idx="103">
                  <c:v>8.3000000000000007</c:v>
                </c:pt>
                <c:pt idx="104">
                  <c:v>8.4</c:v>
                </c:pt>
                <c:pt idx="105">
                  <c:v>8.5</c:v>
                </c:pt>
                <c:pt idx="106">
                  <c:v>8.6</c:v>
                </c:pt>
                <c:pt idx="107">
                  <c:v>8.6999999999999993</c:v>
                </c:pt>
                <c:pt idx="108">
                  <c:v>8.8000000000000007</c:v>
                </c:pt>
                <c:pt idx="109">
                  <c:v>8.9</c:v>
                </c:pt>
                <c:pt idx="110">
                  <c:v>9</c:v>
                </c:pt>
                <c:pt idx="111">
                  <c:v>9.1</c:v>
                </c:pt>
                <c:pt idx="112">
                  <c:v>9.1999999999999993</c:v>
                </c:pt>
                <c:pt idx="113">
                  <c:v>9.3000000000000007</c:v>
                </c:pt>
                <c:pt idx="114">
                  <c:v>9.4</c:v>
                </c:pt>
                <c:pt idx="115">
                  <c:v>9.5</c:v>
                </c:pt>
                <c:pt idx="116">
                  <c:v>9.6</c:v>
                </c:pt>
                <c:pt idx="117">
                  <c:v>9.6999999999999993</c:v>
                </c:pt>
                <c:pt idx="118">
                  <c:v>9.8000000000000007</c:v>
                </c:pt>
                <c:pt idx="119">
                  <c:v>9.9</c:v>
                </c:pt>
                <c:pt idx="120">
                  <c:v>10</c:v>
                </c:pt>
                <c:pt idx="121">
                  <c:v>10.1</c:v>
                </c:pt>
                <c:pt idx="122">
                  <c:v>10.199999999999999</c:v>
                </c:pt>
                <c:pt idx="123">
                  <c:v>10.3</c:v>
                </c:pt>
                <c:pt idx="124">
                  <c:v>10.4</c:v>
                </c:pt>
                <c:pt idx="125">
                  <c:v>10.5</c:v>
                </c:pt>
                <c:pt idx="126">
                  <c:v>10.6</c:v>
                </c:pt>
                <c:pt idx="127">
                  <c:v>10.7</c:v>
                </c:pt>
                <c:pt idx="128">
                  <c:v>10.8</c:v>
                </c:pt>
                <c:pt idx="129">
                  <c:v>10.9</c:v>
                </c:pt>
                <c:pt idx="130">
                  <c:v>11</c:v>
                </c:pt>
                <c:pt idx="131">
                  <c:v>11.1</c:v>
                </c:pt>
                <c:pt idx="132">
                  <c:v>11.2</c:v>
                </c:pt>
                <c:pt idx="133">
                  <c:v>11.3</c:v>
                </c:pt>
                <c:pt idx="134">
                  <c:v>11.4</c:v>
                </c:pt>
                <c:pt idx="135">
                  <c:v>11.5</c:v>
                </c:pt>
                <c:pt idx="136">
                  <c:v>11.6</c:v>
                </c:pt>
                <c:pt idx="137">
                  <c:v>11.7</c:v>
                </c:pt>
                <c:pt idx="138">
                  <c:v>11.8</c:v>
                </c:pt>
                <c:pt idx="139">
                  <c:v>11.9</c:v>
                </c:pt>
                <c:pt idx="140">
                  <c:v>12</c:v>
                </c:pt>
                <c:pt idx="141">
                  <c:v>12.1</c:v>
                </c:pt>
                <c:pt idx="142">
                  <c:v>12.2</c:v>
                </c:pt>
                <c:pt idx="143">
                  <c:v>12.3</c:v>
                </c:pt>
                <c:pt idx="144">
                  <c:v>12.4</c:v>
                </c:pt>
                <c:pt idx="145">
                  <c:v>12.5</c:v>
                </c:pt>
                <c:pt idx="146">
                  <c:v>12.6</c:v>
                </c:pt>
                <c:pt idx="147">
                  <c:v>12.7</c:v>
                </c:pt>
                <c:pt idx="148">
                  <c:v>12.8</c:v>
                </c:pt>
                <c:pt idx="149">
                  <c:v>12.9</c:v>
                </c:pt>
                <c:pt idx="150">
                  <c:v>13</c:v>
                </c:pt>
                <c:pt idx="151">
                  <c:v>13.1</c:v>
                </c:pt>
                <c:pt idx="152">
                  <c:v>13.2</c:v>
                </c:pt>
                <c:pt idx="153">
                  <c:v>13.3</c:v>
                </c:pt>
                <c:pt idx="154">
                  <c:v>13.4</c:v>
                </c:pt>
                <c:pt idx="155">
                  <c:v>13.5</c:v>
                </c:pt>
                <c:pt idx="156">
                  <c:v>13.6</c:v>
                </c:pt>
                <c:pt idx="157">
                  <c:v>13.7</c:v>
                </c:pt>
                <c:pt idx="158">
                  <c:v>13.8</c:v>
                </c:pt>
                <c:pt idx="159">
                  <c:v>13.9</c:v>
                </c:pt>
                <c:pt idx="160">
                  <c:v>14</c:v>
                </c:pt>
                <c:pt idx="161">
                  <c:v>14.1</c:v>
                </c:pt>
                <c:pt idx="162">
                  <c:v>14.2</c:v>
                </c:pt>
                <c:pt idx="163">
                  <c:v>14.3</c:v>
                </c:pt>
                <c:pt idx="164">
                  <c:v>14.4</c:v>
                </c:pt>
                <c:pt idx="165">
                  <c:v>14.5</c:v>
                </c:pt>
                <c:pt idx="166">
                  <c:v>14.6</c:v>
                </c:pt>
                <c:pt idx="167">
                  <c:v>14.7</c:v>
                </c:pt>
                <c:pt idx="168">
                  <c:v>14.8</c:v>
                </c:pt>
                <c:pt idx="169">
                  <c:v>14.9</c:v>
                </c:pt>
                <c:pt idx="170">
                  <c:v>15</c:v>
                </c:pt>
                <c:pt idx="171">
                  <c:v>15.1</c:v>
                </c:pt>
                <c:pt idx="172">
                  <c:v>15.2</c:v>
                </c:pt>
                <c:pt idx="173">
                  <c:v>15.3</c:v>
                </c:pt>
                <c:pt idx="174">
                  <c:v>15.4</c:v>
                </c:pt>
                <c:pt idx="175">
                  <c:v>15.5</c:v>
                </c:pt>
                <c:pt idx="176">
                  <c:v>15.6</c:v>
                </c:pt>
                <c:pt idx="177">
                  <c:v>15.7</c:v>
                </c:pt>
                <c:pt idx="178">
                  <c:v>15.8</c:v>
                </c:pt>
                <c:pt idx="179">
                  <c:v>15.9</c:v>
                </c:pt>
                <c:pt idx="180">
                  <c:v>16</c:v>
                </c:pt>
                <c:pt idx="181">
                  <c:v>16.100000000000001</c:v>
                </c:pt>
                <c:pt idx="182">
                  <c:v>16.2</c:v>
                </c:pt>
                <c:pt idx="183">
                  <c:v>16.3</c:v>
                </c:pt>
                <c:pt idx="184">
                  <c:v>16.399999999999999</c:v>
                </c:pt>
                <c:pt idx="185">
                  <c:v>16.5</c:v>
                </c:pt>
                <c:pt idx="186">
                  <c:v>16.600000000000001</c:v>
                </c:pt>
                <c:pt idx="187">
                  <c:v>16.7</c:v>
                </c:pt>
                <c:pt idx="188">
                  <c:v>16.8</c:v>
                </c:pt>
                <c:pt idx="189">
                  <c:v>16.899999999999999</c:v>
                </c:pt>
                <c:pt idx="190">
                  <c:v>17</c:v>
                </c:pt>
                <c:pt idx="191">
                  <c:v>17.100000000000001</c:v>
                </c:pt>
                <c:pt idx="192">
                  <c:v>17.2</c:v>
                </c:pt>
                <c:pt idx="193">
                  <c:v>17.3</c:v>
                </c:pt>
                <c:pt idx="194">
                  <c:v>17.399999999999999</c:v>
                </c:pt>
                <c:pt idx="195">
                  <c:v>17.5</c:v>
                </c:pt>
                <c:pt idx="196">
                  <c:v>17.600000000000001</c:v>
                </c:pt>
                <c:pt idx="197">
                  <c:v>17.7</c:v>
                </c:pt>
                <c:pt idx="198">
                  <c:v>17.8</c:v>
                </c:pt>
                <c:pt idx="199">
                  <c:v>17.899999999999999</c:v>
                </c:pt>
                <c:pt idx="200">
                  <c:v>18</c:v>
                </c:pt>
                <c:pt idx="201">
                  <c:v>18.100000000000001</c:v>
                </c:pt>
                <c:pt idx="202">
                  <c:v>18.2</c:v>
                </c:pt>
                <c:pt idx="203">
                  <c:v>18.3</c:v>
                </c:pt>
                <c:pt idx="204">
                  <c:v>18.399999999999999</c:v>
                </c:pt>
                <c:pt idx="205">
                  <c:v>18.5</c:v>
                </c:pt>
                <c:pt idx="206">
                  <c:v>18.600000000000001</c:v>
                </c:pt>
                <c:pt idx="207">
                  <c:v>18.7</c:v>
                </c:pt>
                <c:pt idx="208">
                  <c:v>18.8</c:v>
                </c:pt>
                <c:pt idx="209">
                  <c:v>18.899999999999999</c:v>
                </c:pt>
                <c:pt idx="210">
                  <c:v>19</c:v>
                </c:pt>
                <c:pt idx="211">
                  <c:v>19.100000000000001</c:v>
                </c:pt>
                <c:pt idx="212">
                  <c:v>19.2</c:v>
                </c:pt>
                <c:pt idx="213">
                  <c:v>19.3</c:v>
                </c:pt>
                <c:pt idx="214">
                  <c:v>19.399999999999999</c:v>
                </c:pt>
                <c:pt idx="215">
                  <c:v>19.5</c:v>
                </c:pt>
                <c:pt idx="216">
                  <c:v>19.600000000000001</c:v>
                </c:pt>
                <c:pt idx="217">
                  <c:v>19.7</c:v>
                </c:pt>
                <c:pt idx="218">
                  <c:v>19.8</c:v>
                </c:pt>
                <c:pt idx="219">
                  <c:v>19.899999999999999</c:v>
                </c:pt>
                <c:pt idx="220">
                  <c:v>20</c:v>
                </c:pt>
                <c:pt idx="221">
                  <c:v>20.100000000000001</c:v>
                </c:pt>
                <c:pt idx="222">
                  <c:v>20.2</c:v>
                </c:pt>
                <c:pt idx="223">
                  <c:v>20.3</c:v>
                </c:pt>
                <c:pt idx="224">
                  <c:v>20.399999999999999</c:v>
                </c:pt>
                <c:pt idx="225">
                  <c:v>20.5</c:v>
                </c:pt>
                <c:pt idx="226">
                  <c:v>20.6</c:v>
                </c:pt>
                <c:pt idx="227">
                  <c:v>20.7</c:v>
                </c:pt>
                <c:pt idx="228">
                  <c:v>20.8</c:v>
                </c:pt>
                <c:pt idx="229">
                  <c:v>20.9</c:v>
                </c:pt>
                <c:pt idx="230">
                  <c:v>21</c:v>
                </c:pt>
                <c:pt idx="231">
                  <c:v>21.1</c:v>
                </c:pt>
                <c:pt idx="232">
                  <c:v>21.2</c:v>
                </c:pt>
                <c:pt idx="233">
                  <c:v>21.3</c:v>
                </c:pt>
                <c:pt idx="234">
                  <c:v>21.4</c:v>
                </c:pt>
                <c:pt idx="235">
                  <c:v>21.5</c:v>
                </c:pt>
                <c:pt idx="236">
                  <c:v>21.6</c:v>
                </c:pt>
                <c:pt idx="237">
                  <c:v>21.7</c:v>
                </c:pt>
                <c:pt idx="238">
                  <c:v>21.8</c:v>
                </c:pt>
                <c:pt idx="239">
                  <c:v>21.9</c:v>
                </c:pt>
                <c:pt idx="240">
                  <c:v>22</c:v>
                </c:pt>
                <c:pt idx="241">
                  <c:v>22.1</c:v>
                </c:pt>
                <c:pt idx="242">
                  <c:v>22.2</c:v>
                </c:pt>
                <c:pt idx="243">
                  <c:v>22.3</c:v>
                </c:pt>
                <c:pt idx="244">
                  <c:v>22.4</c:v>
                </c:pt>
                <c:pt idx="245">
                  <c:v>22.5</c:v>
                </c:pt>
                <c:pt idx="246">
                  <c:v>22.6</c:v>
                </c:pt>
                <c:pt idx="247">
                  <c:v>22.7</c:v>
                </c:pt>
                <c:pt idx="248">
                  <c:v>22.8</c:v>
                </c:pt>
                <c:pt idx="249">
                  <c:v>22.9</c:v>
                </c:pt>
                <c:pt idx="250">
                  <c:v>23</c:v>
                </c:pt>
                <c:pt idx="251">
                  <c:v>23.1</c:v>
                </c:pt>
                <c:pt idx="252">
                  <c:v>23.2</c:v>
                </c:pt>
                <c:pt idx="253">
                  <c:v>23.3</c:v>
                </c:pt>
                <c:pt idx="254">
                  <c:v>23.4</c:v>
                </c:pt>
                <c:pt idx="255">
                  <c:v>23.5</c:v>
                </c:pt>
                <c:pt idx="256">
                  <c:v>23.6</c:v>
                </c:pt>
                <c:pt idx="257">
                  <c:v>23.6999999999999</c:v>
                </c:pt>
                <c:pt idx="258">
                  <c:v>23.799999999999901</c:v>
                </c:pt>
                <c:pt idx="259">
                  <c:v>23.899999999999899</c:v>
                </c:pt>
                <c:pt idx="260">
                  <c:v>23.999999999999901</c:v>
                </c:pt>
                <c:pt idx="261">
                  <c:v>24.099999999999898</c:v>
                </c:pt>
                <c:pt idx="262">
                  <c:v>24.1999999999999</c:v>
                </c:pt>
                <c:pt idx="263">
                  <c:v>24.299999999999901</c:v>
                </c:pt>
                <c:pt idx="264">
                  <c:v>24.399999999999899</c:v>
                </c:pt>
                <c:pt idx="265">
                  <c:v>24.499999999999901</c:v>
                </c:pt>
                <c:pt idx="266">
                  <c:v>24.599999999999898</c:v>
                </c:pt>
                <c:pt idx="267">
                  <c:v>24.6999999999999</c:v>
                </c:pt>
                <c:pt idx="268">
                  <c:v>24.799999999999901</c:v>
                </c:pt>
                <c:pt idx="269">
                  <c:v>24.899999999999899</c:v>
                </c:pt>
                <c:pt idx="270">
                  <c:v>24.999999999999901</c:v>
                </c:pt>
                <c:pt idx="271">
                  <c:v>25.099999999999898</c:v>
                </c:pt>
                <c:pt idx="272">
                  <c:v>25.1999999999999</c:v>
                </c:pt>
                <c:pt idx="273">
                  <c:v>25.299999999999901</c:v>
                </c:pt>
                <c:pt idx="274">
                  <c:v>25.399999999999899</c:v>
                </c:pt>
                <c:pt idx="275">
                  <c:v>25.499999999999901</c:v>
                </c:pt>
                <c:pt idx="276">
                  <c:v>25.599999999999898</c:v>
                </c:pt>
                <c:pt idx="277">
                  <c:v>25.6999999999999</c:v>
                </c:pt>
                <c:pt idx="278">
                  <c:v>25.799999999999901</c:v>
                </c:pt>
                <c:pt idx="279">
                  <c:v>25.899999999999899</c:v>
                </c:pt>
                <c:pt idx="280">
                  <c:v>25.999999999999901</c:v>
                </c:pt>
                <c:pt idx="281">
                  <c:v>26.099999999999898</c:v>
                </c:pt>
                <c:pt idx="282">
                  <c:v>26.1999999999999</c:v>
                </c:pt>
                <c:pt idx="283">
                  <c:v>26.299999999999901</c:v>
                </c:pt>
                <c:pt idx="284">
                  <c:v>26.399999999999899</c:v>
                </c:pt>
                <c:pt idx="285">
                  <c:v>26.499999999999901</c:v>
                </c:pt>
                <c:pt idx="286">
                  <c:v>26.599999999999898</c:v>
                </c:pt>
                <c:pt idx="287">
                  <c:v>26.6999999999999</c:v>
                </c:pt>
                <c:pt idx="288">
                  <c:v>26.799999999999901</c:v>
                </c:pt>
                <c:pt idx="289">
                  <c:v>26.899999999999899</c:v>
                </c:pt>
                <c:pt idx="290">
                  <c:v>26.999999999999901</c:v>
                </c:pt>
                <c:pt idx="291">
                  <c:v>27.099999999999898</c:v>
                </c:pt>
                <c:pt idx="292">
                  <c:v>27.1999999999999</c:v>
                </c:pt>
                <c:pt idx="293">
                  <c:v>27.299999999999901</c:v>
                </c:pt>
                <c:pt idx="294">
                  <c:v>27.399999999999899</c:v>
                </c:pt>
                <c:pt idx="295">
                  <c:v>27.499999999999901</c:v>
                </c:pt>
                <c:pt idx="296">
                  <c:v>27.599999999999898</c:v>
                </c:pt>
                <c:pt idx="297">
                  <c:v>27.6999999999999</c:v>
                </c:pt>
                <c:pt idx="298">
                  <c:v>27.799999999999901</c:v>
                </c:pt>
                <c:pt idx="299">
                  <c:v>27.899999999999899</c:v>
                </c:pt>
                <c:pt idx="300">
                  <c:v>27.999999999999901</c:v>
                </c:pt>
                <c:pt idx="301">
                  <c:v>28.099999999999898</c:v>
                </c:pt>
                <c:pt idx="302">
                  <c:v>28.1999999999999</c:v>
                </c:pt>
                <c:pt idx="303">
                  <c:v>28.299999999999901</c:v>
                </c:pt>
                <c:pt idx="304">
                  <c:v>28.399999999999899</c:v>
                </c:pt>
                <c:pt idx="305">
                  <c:v>28.499999999999901</c:v>
                </c:pt>
                <c:pt idx="306">
                  <c:v>28.599999999999898</c:v>
                </c:pt>
                <c:pt idx="307">
                  <c:v>28.6999999999999</c:v>
                </c:pt>
                <c:pt idx="308">
                  <c:v>28.799999999999901</c:v>
                </c:pt>
                <c:pt idx="309">
                  <c:v>28.899999999999899</c:v>
                </c:pt>
                <c:pt idx="310">
                  <c:v>28.999999999999901</c:v>
                </c:pt>
                <c:pt idx="311">
                  <c:v>29.099999999999898</c:v>
                </c:pt>
                <c:pt idx="312">
                  <c:v>29.1999999999999</c:v>
                </c:pt>
                <c:pt idx="313">
                  <c:v>29.299999999999901</c:v>
                </c:pt>
                <c:pt idx="314">
                  <c:v>29.399999999999899</c:v>
                </c:pt>
                <c:pt idx="315">
                  <c:v>29.499999999999901</c:v>
                </c:pt>
                <c:pt idx="316">
                  <c:v>29.599999999999898</c:v>
                </c:pt>
                <c:pt idx="317">
                  <c:v>29.6999999999999</c:v>
                </c:pt>
                <c:pt idx="318">
                  <c:v>29.799999999999901</c:v>
                </c:pt>
                <c:pt idx="319">
                  <c:v>29.899999999999899</c:v>
                </c:pt>
                <c:pt idx="320">
                  <c:v>29.999999999999901</c:v>
                </c:pt>
              </c:numCache>
            </c:numRef>
          </c:cat>
          <c:val>
            <c:numRef>
              <c:f>출력제어Raw!$E$2:$E$322</c:f>
              <c:numCache>
                <c:formatCode>General</c:formatCode>
                <c:ptCount val="321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20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  <c:pt idx="14">
                  <c:v>20</c:v>
                </c:pt>
                <c:pt idx="15">
                  <c:v>20</c:v>
                </c:pt>
                <c:pt idx="16">
                  <c:v>20</c:v>
                </c:pt>
                <c:pt idx="17">
                  <c:v>20</c:v>
                </c:pt>
                <c:pt idx="18">
                  <c:v>20</c:v>
                </c:pt>
                <c:pt idx="19">
                  <c:v>20</c:v>
                </c:pt>
                <c:pt idx="20">
                  <c:v>20</c:v>
                </c:pt>
                <c:pt idx="21">
                  <c:v>20</c:v>
                </c:pt>
                <c:pt idx="22">
                  <c:v>20</c:v>
                </c:pt>
                <c:pt idx="23">
                  <c:v>20</c:v>
                </c:pt>
                <c:pt idx="24">
                  <c:v>20</c:v>
                </c:pt>
                <c:pt idx="25">
                  <c:v>20</c:v>
                </c:pt>
                <c:pt idx="26">
                  <c:v>20</c:v>
                </c:pt>
                <c:pt idx="27">
                  <c:v>20</c:v>
                </c:pt>
                <c:pt idx="28">
                  <c:v>20</c:v>
                </c:pt>
                <c:pt idx="29">
                  <c:v>20</c:v>
                </c:pt>
                <c:pt idx="30">
                  <c:v>20</c:v>
                </c:pt>
                <c:pt idx="31">
                  <c:v>20</c:v>
                </c:pt>
                <c:pt idx="32">
                  <c:v>20</c:v>
                </c:pt>
                <c:pt idx="33">
                  <c:v>20</c:v>
                </c:pt>
                <c:pt idx="34">
                  <c:v>20</c:v>
                </c:pt>
                <c:pt idx="35">
                  <c:v>20</c:v>
                </c:pt>
                <c:pt idx="36">
                  <c:v>20</c:v>
                </c:pt>
                <c:pt idx="37">
                  <c:v>20</c:v>
                </c:pt>
                <c:pt idx="38">
                  <c:v>20</c:v>
                </c:pt>
                <c:pt idx="39">
                  <c:v>20</c:v>
                </c:pt>
                <c:pt idx="40">
                  <c:v>20</c:v>
                </c:pt>
                <c:pt idx="41">
                  <c:v>20</c:v>
                </c:pt>
                <c:pt idx="42">
                  <c:v>20</c:v>
                </c:pt>
                <c:pt idx="43">
                  <c:v>20</c:v>
                </c:pt>
                <c:pt idx="44">
                  <c:v>20</c:v>
                </c:pt>
                <c:pt idx="45">
                  <c:v>24.4</c:v>
                </c:pt>
                <c:pt idx="46">
                  <c:v>28.799999999999997</c:v>
                </c:pt>
                <c:pt idx="47">
                  <c:v>33.199999999999996</c:v>
                </c:pt>
                <c:pt idx="48">
                  <c:v>37.599999999999994</c:v>
                </c:pt>
                <c:pt idx="49">
                  <c:v>41.999999999999993</c:v>
                </c:pt>
                <c:pt idx="50">
                  <c:v>46.399999999999991</c:v>
                </c:pt>
                <c:pt idx="51">
                  <c:v>50.79999999999999</c:v>
                </c:pt>
                <c:pt idx="52">
                  <c:v>55.199999999999989</c:v>
                </c:pt>
                <c:pt idx="53">
                  <c:v>59.599999999999987</c:v>
                </c:pt>
                <c:pt idx="54">
                  <c:v>64</c:v>
                </c:pt>
                <c:pt idx="55">
                  <c:v>64</c:v>
                </c:pt>
                <c:pt idx="56">
                  <c:v>64</c:v>
                </c:pt>
                <c:pt idx="57">
                  <c:v>64</c:v>
                </c:pt>
                <c:pt idx="58">
                  <c:v>64</c:v>
                </c:pt>
                <c:pt idx="59">
                  <c:v>64</c:v>
                </c:pt>
                <c:pt idx="60">
                  <c:v>64</c:v>
                </c:pt>
                <c:pt idx="61">
                  <c:v>64</c:v>
                </c:pt>
                <c:pt idx="62">
                  <c:v>64</c:v>
                </c:pt>
                <c:pt idx="63">
                  <c:v>64</c:v>
                </c:pt>
                <c:pt idx="64">
                  <c:v>64</c:v>
                </c:pt>
                <c:pt idx="65">
                  <c:v>64</c:v>
                </c:pt>
                <c:pt idx="66">
                  <c:v>64</c:v>
                </c:pt>
                <c:pt idx="67">
                  <c:v>64</c:v>
                </c:pt>
                <c:pt idx="68">
                  <c:v>64</c:v>
                </c:pt>
                <c:pt idx="69">
                  <c:v>64</c:v>
                </c:pt>
                <c:pt idx="70">
                  <c:v>64</c:v>
                </c:pt>
                <c:pt idx="71">
                  <c:v>64</c:v>
                </c:pt>
                <c:pt idx="72">
                  <c:v>64</c:v>
                </c:pt>
                <c:pt idx="73">
                  <c:v>64</c:v>
                </c:pt>
                <c:pt idx="74">
                  <c:v>64</c:v>
                </c:pt>
                <c:pt idx="75">
                  <c:v>64</c:v>
                </c:pt>
                <c:pt idx="76">
                  <c:v>64</c:v>
                </c:pt>
                <c:pt idx="77">
                  <c:v>64</c:v>
                </c:pt>
                <c:pt idx="78">
                  <c:v>64</c:v>
                </c:pt>
                <c:pt idx="79">
                  <c:v>64</c:v>
                </c:pt>
                <c:pt idx="80">
                  <c:v>64</c:v>
                </c:pt>
                <c:pt idx="81">
                  <c:v>64</c:v>
                </c:pt>
                <c:pt idx="82">
                  <c:v>64</c:v>
                </c:pt>
                <c:pt idx="83">
                  <c:v>64</c:v>
                </c:pt>
                <c:pt idx="84">
                  <c:v>64</c:v>
                </c:pt>
                <c:pt idx="85">
                  <c:v>64</c:v>
                </c:pt>
                <c:pt idx="86">
                  <c:v>64</c:v>
                </c:pt>
                <c:pt idx="87">
                  <c:v>64</c:v>
                </c:pt>
                <c:pt idx="88">
                  <c:v>64</c:v>
                </c:pt>
                <c:pt idx="89">
                  <c:v>64</c:v>
                </c:pt>
                <c:pt idx="90">
                  <c:v>64</c:v>
                </c:pt>
                <c:pt idx="91">
                  <c:v>64</c:v>
                </c:pt>
                <c:pt idx="92">
                  <c:v>64</c:v>
                </c:pt>
                <c:pt idx="93">
                  <c:v>64</c:v>
                </c:pt>
                <c:pt idx="94">
                  <c:v>64</c:v>
                </c:pt>
                <c:pt idx="95">
                  <c:v>64</c:v>
                </c:pt>
                <c:pt idx="96">
                  <c:v>64</c:v>
                </c:pt>
                <c:pt idx="97">
                  <c:v>64</c:v>
                </c:pt>
                <c:pt idx="98">
                  <c:v>64</c:v>
                </c:pt>
                <c:pt idx="99">
                  <c:v>64</c:v>
                </c:pt>
                <c:pt idx="100">
                  <c:v>64</c:v>
                </c:pt>
                <c:pt idx="101">
                  <c:v>64</c:v>
                </c:pt>
                <c:pt idx="102">
                  <c:v>64</c:v>
                </c:pt>
                <c:pt idx="103">
                  <c:v>64</c:v>
                </c:pt>
                <c:pt idx="104">
                  <c:v>64</c:v>
                </c:pt>
                <c:pt idx="105">
                  <c:v>64</c:v>
                </c:pt>
                <c:pt idx="106">
                  <c:v>64</c:v>
                </c:pt>
                <c:pt idx="107">
                  <c:v>64</c:v>
                </c:pt>
                <c:pt idx="108">
                  <c:v>64</c:v>
                </c:pt>
                <c:pt idx="109">
                  <c:v>64</c:v>
                </c:pt>
                <c:pt idx="110">
                  <c:v>64</c:v>
                </c:pt>
                <c:pt idx="111">
                  <c:v>64</c:v>
                </c:pt>
                <c:pt idx="112">
                  <c:v>64</c:v>
                </c:pt>
                <c:pt idx="113">
                  <c:v>64</c:v>
                </c:pt>
                <c:pt idx="114">
                  <c:v>64.7</c:v>
                </c:pt>
                <c:pt idx="115">
                  <c:v>64.7</c:v>
                </c:pt>
                <c:pt idx="116">
                  <c:v>64.7</c:v>
                </c:pt>
                <c:pt idx="117">
                  <c:v>64.7</c:v>
                </c:pt>
                <c:pt idx="118">
                  <c:v>64.7</c:v>
                </c:pt>
                <c:pt idx="119">
                  <c:v>64.7</c:v>
                </c:pt>
                <c:pt idx="120">
                  <c:v>64.7</c:v>
                </c:pt>
                <c:pt idx="121">
                  <c:v>64.7</c:v>
                </c:pt>
                <c:pt idx="122">
                  <c:v>64.7</c:v>
                </c:pt>
                <c:pt idx="123">
                  <c:v>64.7</c:v>
                </c:pt>
                <c:pt idx="124">
                  <c:v>64.7</c:v>
                </c:pt>
                <c:pt idx="125">
                  <c:v>64.7</c:v>
                </c:pt>
                <c:pt idx="126">
                  <c:v>64.7</c:v>
                </c:pt>
                <c:pt idx="127">
                  <c:v>64</c:v>
                </c:pt>
                <c:pt idx="128">
                  <c:v>64</c:v>
                </c:pt>
                <c:pt idx="129">
                  <c:v>64</c:v>
                </c:pt>
                <c:pt idx="130">
                  <c:v>64</c:v>
                </c:pt>
                <c:pt idx="131">
                  <c:v>64</c:v>
                </c:pt>
                <c:pt idx="132">
                  <c:v>64</c:v>
                </c:pt>
                <c:pt idx="133">
                  <c:v>64</c:v>
                </c:pt>
                <c:pt idx="134">
                  <c:v>64</c:v>
                </c:pt>
                <c:pt idx="135">
                  <c:v>64</c:v>
                </c:pt>
                <c:pt idx="136">
                  <c:v>64</c:v>
                </c:pt>
                <c:pt idx="137">
                  <c:v>64</c:v>
                </c:pt>
                <c:pt idx="138">
                  <c:v>64</c:v>
                </c:pt>
                <c:pt idx="139">
                  <c:v>64</c:v>
                </c:pt>
                <c:pt idx="140">
                  <c:v>63.3</c:v>
                </c:pt>
                <c:pt idx="141">
                  <c:v>63.3</c:v>
                </c:pt>
                <c:pt idx="142">
                  <c:v>63.3</c:v>
                </c:pt>
                <c:pt idx="143">
                  <c:v>63.3</c:v>
                </c:pt>
                <c:pt idx="144">
                  <c:v>63.3</c:v>
                </c:pt>
                <c:pt idx="145">
                  <c:v>63.3</c:v>
                </c:pt>
                <c:pt idx="146">
                  <c:v>63.3</c:v>
                </c:pt>
                <c:pt idx="147">
                  <c:v>63.3</c:v>
                </c:pt>
                <c:pt idx="148">
                  <c:v>63.3</c:v>
                </c:pt>
                <c:pt idx="149">
                  <c:v>63.3</c:v>
                </c:pt>
                <c:pt idx="150">
                  <c:v>63.3</c:v>
                </c:pt>
                <c:pt idx="151">
                  <c:v>63.3</c:v>
                </c:pt>
                <c:pt idx="152">
                  <c:v>63.3</c:v>
                </c:pt>
                <c:pt idx="153">
                  <c:v>62.6</c:v>
                </c:pt>
                <c:pt idx="154">
                  <c:v>62.6</c:v>
                </c:pt>
                <c:pt idx="155">
                  <c:v>62.6</c:v>
                </c:pt>
                <c:pt idx="156">
                  <c:v>62.6</c:v>
                </c:pt>
                <c:pt idx="157">
                  <c:v>62.6</c:v>
                </c:pt>
                <c:pt idx="158">
                  <c:v>62.6</c:v>
                </c:pt>
                <c:pt idx="159">
                  <c:v>62.6</c:v>
                </c:pt>
                <c:pt idx="160">
                  <c:v>62.6</c:v>
                </c:pt>
                <c:pt idx="161">
                  <c:v>62.6</c:v>
                </c:pt>
                <c:pt idx="162">
                  <c:v>62.6</c:v>
                </c:pt>
                <c:pt idx="163">
                  <c:v>62.6</c:v>
                </c:pt>
                <c:pt idx="164">
                  <c:v>62.6</c:v>
                </c:pt>
                <c:pt idx="165">
                  <c:v>62.6</c:v>
                </c:pt>
                <c:pt idx="166">
                  <c:v>61.9</c:v>
                </c:pt>
                <c:pt idx="167">
                  <c:v>61.9</c:v>
                </c:pt>
                <c:pt idx="168">
                  <c:v>61.9</c:v>
                </c:pt>
                <c:pt idx="169">
                  <c:v>61.9</c:v>
                </c:pt>
                <c:pt idx="170">
                  <c:v>61.9</c:v>
                </c:pt>
                <c:pt idx="171" formatCode="0.0">
                  <c:v>60.99111111111111</c:v>
                </c:pt>
                <c:pt idx="172" formatCode="0.0">
                  <c:v>60.082222222222221</c:v>
                </c:pt>
                <c:pt idx="173" formatCode="0.0">
                  <c:v>59.173333333333332</c:v>
                </c:pt>
                <c:pt idx="174" formatCode="0.0">
                  <c:v>58.264444444444443</c:v>
                </c:pt>
                <c:pt idx="175" formatCode="0.0">
                  <c:v>57.355555555555554</c:v>
                </c:pt>
                <c:pt idx="176" formatCode="0.0">
                  <c:v>56.446666666666665</c:v>
                </c:pt>
                <c:pt idx="177" formatCode="0.0">
                  <c:v>55.537777777777777</c:v>
                </c:pt>
                <c:pt idx="178" formatCode="0.0">
                  <c:v>54.628888888888888</c:v>
                </c:pt>
                <c:pt idx="179" formatCode="0.0">
                  <c:v>53.72</c:v>
                </c:pt>
                <c:pt idx="180" formatCode="0.0">
                  <c:v>52.81111111111111</c:v>
                </c:pt>
                <c:pt idx="181" formatCode="0.0">
                  <c:v>51.902222222222221</c:v>
                </c:pt>
                <c:pt idx="182" formatCode="0.0">
                  <c:v>50.993333333333332</c:v>
                </c:pt>
                <c:pt idx="183" formatCode="0.0">
                  <c:v>50.084444444444443</c:v>
                </c:pt>
                <c:pt idx="184" formatCode="0.0">
                  <c:v>49.175555555555555</c:v>
                </c:pt>
                <c:pt idx="185" formatCode="0.0">
                  <c:v>48.266666666666666</c:v>
                </c:pt>
                <c:pt idx="186" formatCode="0.0">
                  <c:v>47.357777777777777</c:v>
                </c:pt>
                <c:pt idx="187" formatCode="0.0">
                  <c:v>46.448888888888888</c:v>
                </c:pt>
                <c:pt idx="188" formatCode="0.0">
                  <c:v>45.54</c:v>
                </c:pt>
                <c:pt idx="189" formatCode="0.0">
                  <c:v>44.63111111111111</c:v>
                </c:pt>
                <c:pt idx="190" formatCode="0.0">
                  <c:v>43.722222222222221</c:v>
                </c:pt>
                <c:pt idx="191" formatCode="0.0">
                  <c:v>42.813333333333333</c:v>
                </c:pt>
                <c:pt idx="192" formatCode="0.0">
                  <c:v>41.904444444444444</c:v>
                </c:pt>
                <c:pt idx="193" formatCode="0.0">
                  <c:v>40.995555555555555</c:v>
                </c:pt>
                <c:pt idx="194" formatCode="0.0">
                  <c:v>40.086666666666666</c:v>
                </c:pt>
                <c:pt idx="195" formatCode="0.0">
                  <c:v>39.177777777777777</c:v>
                </c:pt>
                <c:pt idx="196" formatCode="0.0">
                  <c:v>38.268888888888888</c:v>
                </c:pt>
                <c:pt idx="197" formatCode="0.0">
                  <c:v>37.36</c:v>
                </c:pt>
                <c:pt idx="198" formatCode="0.0">
                  <c:v>36.451111111111111</c:v>
                </c:pt>
                <c:pt idx="199" formatCode="0.0">
                  <c:v>35.542222222222222</c:v>
                </c:pt>
                <c:pt idx="200" formatCode="0.0">
                  <c:v>34.633333333333333</c:v>
                </c:pt>
                <c:pt idx="201" formatCode="0.0">
                  <c:v>33.724444444444444</c:v>
                </c:pt>
                <c:pt idx="202" formatCode="0.0">
                  <c:v>32.815555555555555</c:v>
                </c:pt>
                <c:pt idx="203" formatCode="0.0">
                  <c:v>31.906666666666666</c:v>
                </c:pt>
                <c:pt idx="204" formatCode="0.0">
                  <c:v>30.997777777777777</c:v>
                </c:pt>
                <c:pt idx="205" formatCode="0.0">
                  <c:v>30.088888888888889</c:v>
                </c:pt>
                <c:pt idx="206" formatCode="0.0">
                  <c:v>29.18</c:v>
                </c:pt>
                <c:pt idx="207" formatCode="0.0">
                  <c:v>28.271111111111111</c:v>
                </c:pt>
                <c:pt idx="208" formatCode="0.0">
                  <c:v>27.362222222222222</c:v>
                </c:pt>
                <c:pt idx="209" formatCode="0.0">
                  <c:v>26.453333333333333</c:v>
                </c:pt>
                <c:pt idx="210" formatCode="0.0">
                  <c:v>25.544444444444444</c:v>
                </c:pt>
                <c:pt idx="211" formatCode="0.0">
                  <c:v>24.635555555555555</c:v>
                </c:pt>
                <c:pt idx="212" formatCode="0.0">
                  <c:v>23.726666666666667</c:v>
                </c:pt>
                <c:pt idx="213" formatCode="0.0">
                  <c:v>22.817777777777778</c:v>
                </c:pt>
                <c:pt idx="214" formatCode="0.0">
                  <c:v>21.908888888888889</c:v>
                </c:pt>
                <c:pt idx="215">
                  <c:v>21</c:v>
                </c:pt>
                <c:pt idx="216">
                  <c:v>21</c:v>
                </c:pt>
                <c:pt idx="217">
                  <c:v>21</c:v>
                </c:pt>
                <c:pt idx="218">
                  <c:v>21</c:v>
                </c:pt>
                <c:pt idx="219">
                  <c:v>21</c:v>
                </c:pt>
                <c:pt idx="220">
                  <c:v>21</c:v>
                </c:pt>
                <c:pt idx="221">
                  <c:v>21</c:v>
                </c:pt>
                <c:pt idx="222">
                  <c:v>21</c:v>
                </c:pt>
                <c:pt idx="223">
                  <c:v>21</c:v>
                </c:pt>
                <c:pt idx="224">
                  <c:v>21</c:v>
                </c:pt>
                <c:pt idx="225">
                  <c:v>21</c:v>
                </c:pt>
                <c:pt idx="226">
                  <c:v>21</c:v>
                </c:pt>
                <c:pt idx="227">
                  <c:v>21</c:v>
                </c:pt>
                <c:pt idx="228">
                  <c:v>21</c:v>
                </c:pt>
                <c:pt idx="229">
                  <c:v>21.05</c:v>
                </c:pt>
                <c:pt idx="230">
                  <c:v>21.05</c:v>
                </c:pt>
                <c:pt idx="231">
                  <c:v>21.05</c:v>
                </c:pt>
                <c:pt idx="232">
                  <c:v>21.05</c:v>
                </c:pt>
                <c:pt idx="233">
                  <c:v>21.05</c:v>
                </c:pt>
                <c:pt idx="234">
                  <c:v>21.05</c:v>
                </c:pt>
                <c:pt idx="235">
                  <c:v>21.05</c:v>
                </c:pt>
                <c:pt idx="236">
                  <c:v>21.05</c:v>
                </c:pt>
                <c:pt idx="237">
                  <c:v>21.05</c:v>
                </c:pt>
                <c:pt idx="238">
                  <c:v>21.05</c:v>
                </c:pt>
                <c:pt idx="239">
                  <c:v>21.05</c:v>
                </c:pt>
                <c:pt idx="240">
                  <c:v>21.05</c:v>
                </c:pt>
                <c:pt idx="241">
                  <c:v>21.1</c:v>
                </c:pt>
                <c:pt idx="242">
                  <c:v>21.1</c:v>
                </c:pt>
                <c:pt idx="243">
                  <c:v>21.1</c:v>
                </c:pt>
                <c:pt idx="244">
                  <c:v>21.1</c:v>
                </c:pt>
                <c:pt idx="245">
                  <c:v>21.1</c:v>
                </c:pt>
                <c:pt idx="246">
                  <c:v>21.1</c:v>
                </c:pt>
                <c:pt idx="247">
                  <c:v>21.1</c:v>
                </c:pt>
                <c:pt idx="248">
                  <c:v>21.1</c:v>
                </c:pt>
                <c:pt idx="249">
                  <c:v>21.1</c:v>
                </c:pt>
                <c:pt idx="250">
                  <c:v>21.1</c:v>
                </c:pt>
                <c:pt idx="251">
                  <c:v>21.1</c:v>
                </c:pt>
                <c:pt idx="252">
                  <c:v>21.1</c:v>
                </c:pt>
                <c:pt idx="253">
                  <c:v>21.15</c:v>
                </c:pt>
                <c:pt idx="254">
                  <c:v>21.15</c:v>
                </c:pt>
                <c:pt idx="255">
                  <c:v>21.15</c:v>
                </c:pt>
                <c:pt idx="256">
                  <c:v>21.15</c:v>
                </c:pt>
                <c:pt idx="257">
                  <c:v>21.15</c:v>
                </c:pt>
                <c:pt idx="258">
                  <c:v>21.15</c:v>
                </c:pt>
                <c:pt idx="259">
                  <c:v>21.15</c:v>
                </c:pt>
                <c:pt idx="260">
                  <c:v>21.15</c:v>
                </c:pt>
                <c:pt idx="261">
                  <c:v>21.15</c:v>
                </c:pt>
                <c:pt idx="262">
                  <c:v>21.15</c:v>
                </c:pt>
                <c:pt idx="263">
                  <c:v>21.15</c:v>
                </c:pt>
                <c:pt idx="264">
                  <c:v>21.15</c:v>
                </c:pt>
                <c:pt idx="265">
                  <c:v>21.2</c:v>
                </c:pt>
                <c:pt idx="266">
                  <c:v>21.2</c:v>
                </c:pt>
                <c:pt idx="267">
                  <c:v>21.2</c:v>
                </c:pt>
                <c:pt idx="268">
                  <c:v>21.2</c:v>
                </c:pt>
                <c:pt idx="269">
                  <c:v>21.2</c:v>
                </c:pt>
                <c:pt idx="270">
                  <c:v>21.2</c:v>
                </c:pt>
                <c:pt idx="271" formatCode="0.0">
                  <c:v>21.57</c:v>
                </c:pt>
                <c:pt idx="272" formatCode="0.0">
                  <c:v>21.94</c:v>
                </c:pt>
                <c:pt idx="273" formatCode="0.0">
                  <c:v>22.310000000000002</c:v>
                </c:pt>
                <c:pt idx="274" formatCode="0.0">
                  <c:v>22.680000000000003</c:v>
                </c:pt>
                <c:pt idx="275" formatCode="0.0">
                  <c:v>23.050000000000004</c:v>
                </c:pt>
                <c:pt idx="276" formatCode="0.0">
                  <c:v>23.420000000000005</c:v>
                </c:pt>
                <c:pt idx="277" formatCode="0.0">
                  <c:v>23.790000000000006</c:v>
                </c:pt>
                <c:pt idx="278" formatCode="0.0">
                  <c:v>24.160000000000007</c:v>
                </c:pt>
                <c:pt idx="279" formatCode="0.0">
                  <c:v>24.530000000000008</c:v>
                </c:pt>
                <c:pt idx="280" formatCode="0.0">
                  <c:v>24.900000000000009</c:v>
                </c:pt>
                <c:pt idx="281" formatCode="0.0">
                  <c:v>25.27000000000001</c:v>
                </c:pt>
                <c:pt idx="282" formatCode="0.0">
                  <c:v>25.640000000000011</c:v>
                </c:pt>
                <c:pt idx="283" formatCode="0.0">
                  <c:v>26.010000000000012</c:v>
                </c:pt>
                <c:pt idx="284" formatCode="0.0">
                  <c:v>26.380000000000013</c:v>
                </c:pt>
                <c:pt idx="285" formatCode="0.0">
                  <c:v>26.750000000000014</c:v>
                </c:pt>
                <c:pt idx="286" formatCode="0.0">
                  <c:v>27.120000000000015</c:v>
                </c:pt>
                <c:pt idx="287" formatCode="0.0">
                  <c:v>27.490000000000016</c:v>
                </c:pt>
                <c:pt idx="288" formatCode="0.0">
                  <c:v>27.860000000000017</c:v>
                </c:pt>
                <c:pt idx="289" formatCode="0.0">
                  <c:v>28.230000000000018</c:v>
                </c:pt>
                <c:pt idx="290">
                  <c:v>28.6</c:v>
                </c:pt>
                <c:pt idx="291">
                  <c:v>28.6</c:v>
                </c:pt>
                <c:pt idx="292">
                  <c:v>28.6</c:v>
                </c:pt>
                <c:pt idx="293">
                  <c:v>28.6</c:v>
                </c:pt>
                <c:pt idx="294">
                  <c:v>28.6</c:v>
                </c:pt>
                <c:pt idx="295">
                  <c:v>28.6</c:v>
                </c:pt>
                <c:pt idx="296">
                  <c:v>28.6</c:v>
                </c:pt>
                <c:pt idx="297">
                  <c:v>28.6</c:v>
                </c:pt>
                <c:pt idx="298">
                  <c:v>28.6</c:v>
                </c:pt>
                <c:pt idx="299">
                  <c:v>28.6</c:v>
                </c:pt>
                <c:pt idx="300">
                  <c:v>28.6</c:v>
                </c:pt>
                <c:pt idx="301">
                  <c:v>28.6</c:v>
                </c:pt>
                <c:pt idx="302">
                  <c:v>28.6</c:v>
                </c:pt>
                <c:pt idx="303">
                  <c:v>28.9</c:v>
                </c:pt>
                <c:pt idx="304">
                  <c:v>28.9</c:v>
                </c:pt>
                <c:pt idx="305">
                  <c:v>28.9</c:v>
                </c:pt>
                <c:pt idx="306">
                  <c:v>28.9</c:v>
                </c:pt>
                <c:pt idx="307">
                  <c:v>28.9</c:v>
                </c:pt>
                <c:pt idx="308">
                  <c:v>28.9</c:v>
                </c:pt>
                <c:pt idx="309">
                  <c:v>28.9</c:v>
                </c:pt>
                <c:pt idx="310">
                  <c:v>28.9</c:v>
                </c:pt>
                <c:pt idx="311">
                  <c:v>28.9</c:v>
                </c:pt>
                <c:pt idx="312">
                  <c:v>28.9</c:v>
                </c:pt>
                <c:pt idx="313">
                  <c:v>28.9</c:v>
                </c:pt>
                <c:pt idx="314">
                  <c:v>28.9</c:v>
                </c:pt>
                <c:pt idx="315">
                  <c:v>28.9</c:v>
                </c:pt>
                <c:pt idx="316">
                  <c:v>28.3</c:v>
                </c:pt>
                <c:pt idx="317">
                  <c:v>28.3</c:v>
                </c:pt>
                <c:pt idx="318">
                  <c:v>28.3</c:v>
                </c:pt>
                <c:pt idx="319">
                  <c:v>28.3</c:v>
                </c:pt>
                <c:pt idx="320">
                  <c:v>28.3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93E-450C-9F69-4CAB793308D9}"/>
            </c:ext>
          </c:extLst>
        </c:ser>
        <c:ser>
          <c:idx val="4"/>
          <c:order val="3"/>
          <c:tx>
            <c:strRef>
              <c:f>출력제어Raw!$F$1</c:f>
              <c:strCache>
                <c:ptCount val="1"/>
                <c:pt idx="0">
                  <c:v>Out 출력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출력제어Raw!$B$2:$B$322</c:f>
              <c:numCache>
                <c:formatCode>General</c:formatCode>
                <c:ptCount val="321"/>
                <c:pt idx="0">
                  <c:v>-2</c:v>
                </c:pt>
                <c:pt idx="1">
                  <c:v>-1.9</c:v>
                </c:pt>
                <c:pt idx="2">
                  <c:v>-1.8</c:v>
                </c:pt>
                <c:pt idx="3">
                  <c:v>-1.7</c:v>
                </c:pt>
                <c:pt idx="4">
                  <c:v>-1.6</c:v>
                </c:pt>
                <c:pt idx="5">
                  <c:v>-1.5</c:v>
                </c:pt>
                <c:pt idx="6">
                  <c:v>-1.4</c:v>
                </c:pt>
                <c:pt idx="7">
                  <c:v>-1.3</c:v>
                </c:pt>
                <c:pt idx="8">
                  <c:v>-1.2</c:v>
                </c:pt>
                <c:pt idx="9">
                  <c:v>-1.1000000000000001</c:v>
                </c:pt>
                <c:pt idx="10">
                  <c:v>-1</c:v>
                </c:pt>
                <c:pt idx="11">
                  <c:v>-0.9</c:v>
                </c:pt>
                <c:pt idx="12">
                  <c:v>-0.8</c:v>
                </c:pt>
                <c:pt idx="13">
                  <c:v>-0.7</c:v>
                </c:pt>
                <c:pt idx="14">
                  <c:v>-0.6</c:v>
                </c:pt>
                <c:pt idx="15">
                  <c:v>-0.5</c:v>
                </c:pt>
                <c:pt idx="16">
                  <c:v>-0.4</c:v>
                </c:pt>
                <c:pt idx="17">
                  <c:v>-0.3</c:v>
                </c:pt>
                <c:pt idx="18">
                  <c:v>-0.2</c:v>
                </c:pt>
                <c:pt idx="19">
                  <c:v>-0.1</c:v>
                </c:pt>
                <c:pt idx="20">
                  <c:v>0</c:v>
                </c:pt>
                <c:pt idx="21">
                  <c:v>0.1</c:v>
                </c:pt>
                <c:pt idx="22">
                  <c:v>0.2</c:v>
                </c:pt>
                <c:pt idx="23">
                  <c:v>0.3</c:v>
                </c:pt>
                <c:pt idx="24">
                  <c:v>0.4</c:v>
                </c:pt>
                <c:pt idx="25">
                  <c:v>0.5</c:v>
                </c:pt>
                <c:pt idx="26">
                  <c:v>0.6</c:v>
                </c:pt>
                <c:pt idx="27">
                  <c:v>0.7</c:v>
                </c:pt>
                <c:pt idx="28">
                  <c:v>0.8</c:v>
                </c:pt>
                <c:pt idx="29">
                  <c:v>0.9</c:v>
                </c:pt>
                <c:pt idx="30">
                  <c:v>1</c:v>
                </c:pt>
                <c:pt idx="31">
                  <c:v>1.1000000000000001</c:v>
                </c:pt>
                <c:pt idx="32">
                  <c:v>1.2</c:v>
                </c:pt>
                <c:pt idx="33">
                  <c:v>1.3</c:v>
                </c:pt>
                <c:pt idx="34">
                  <c:v>1.4</c:v>
                </c:pt>
                <c:pt idx="35">
                  <c:v>1.5</c:v>
                </c:pt>
                <c:pt idx="36">
                  <c:v>1.6</c:v>
                </c:pt>
                <c:pt idx="37">
                  <c:v>1.7</c:v>
                </c:pt>
                <c:pt idx="38">
                  <c:v>1.8</c:v>
                </c:pt>
                <c:pt idx="39">
                  <c:v>1.9</c:v>
                </c:pt>
                <c:pt idx="40">
                  <c:v>2</c:v>
                </c:pt>
                <c:pt idx="41">
                  <c:v>2.1</c:v>
                </c:pt>
                <c:pt idx="42">
                  <c:v>2.2000000000000002</c:v>
                </c:pt>
                <c:pt idx="43">
                  <c:v>2.2999999999999998</c:v>
                </c:pt>
                <c:pt idx="44">
                  <c:v>2.4</c:v>
                </c:pt>
                <c:pt idx="45">
                  <c:v>2.5</c:v>
                </c:pt>
                <c:pt idx="46">
                  <c:v>2.6</c:v>
                </c:pt>
                <c:pt idx="47">
                  <c:v>2.7</c:v>
                </c:pt>
                <c:pt idx="48">
                  <c:v>2.8</c:v>
                </c:pt>
                <c:pt idx="49">
                  <c:v>2.9</c:v>
                </c:pt>
                <c:pt idx="50">
                  <c:v>3</c:v>
                </c:pt>
                <c:pt idx="51">
                  <c:v>3.1</c:v>
                </c:pt>
                <c:pt idx="52">
                  <c:v>3.2</c:v>
                </c:pt>
                <c:pt idx="53">
                  <c:v>3.3</c:v>
                </c:pt>
                <c:pt idx="54">
                  <c:v>3.4</c:v>
                </c:pt>
                <c:pt idx="55">
                  <c:v>3.5</c:v>
                </c:pt>
                <c:pt idx="56">
                  <c:v>3.6</c:v>
                </c:pt>
                <c:pt idx="57">
                  <c:v>3.7</c:v>
                </c:pt>
                <c:pt idx="58">
                  <c:v>3.8</c:v>
                </c:pt>
                <c:pt idx="59">
                  <c:v>3.9</c:v>
                </c:pt>
                <c:pt idx="60">
                  <c:v>4</c:v>
                </c:pt>
                <c:pt idx="61">
                  <c:v>4.0999999999999996</c:v>
                </c:pt>
                <c:pt idx="62">
                  <c:v>4.2</c:v>
                </c:pt>
                <c:pt idx="63">
                  <c:v>4.3</c:v>
                </c:pt>
                <c:pt idx="64">
                  <c:v>4.4000000000000004</c:v>
                </c:pt>
                <c:pt idx="65">
                  <c:v>4.5</c:v>
                </c:pt>
                <c:pt idx="66">
                  <c:v>4.5999999999999996</c:v>
                </c:pt>
                <c:pt idx="67">
                  <c:v>4.7</c:v>
                </c:pt>
                <c:pt idx="68">
                  <c:v>4.8</c:v>
                </c:pt>
                <c:pt idx="69">
                  <c:v>4.9000000000000004</c:v>
                </c:pt>
                <c:pt idx="70">
                  <c:v>5</c:v>
                </c:pt>
                <c:pt idx="71">
                  <c:v>5.0999999999999996</c:v>
                </c:pt>
                <c:pt idx="72">
                  <c:v>5.2</c:v>
                </c:pt>
                <c:pt idx="73">
                  <c:v>5.3</c:v>
                </c:pt>
                <c:pt idx="74">
                  <c:v>5.4</c:v>
                </c:pt>
                <c:pt idx="75">
                  <c:v>5.5</c:v>
                </c:pt>
                <c:pt idx="76">
                  <c:v>5.6</c:v>
                </c:pt>
                <c:pt idx="77">
                  <c:v>5.7</c:v>
                </c:pt>
                <c:pt idx="78">
                  <c:v>5.8</c:v>
                </c:pt>
                <c:pt idx="79">
                  <c:v>5.9</c:v>
                </c:pt>
                <c:pt idx="80">
                  <c:v>6</c:v>
                </c:pt>
                <c:pt idx="81">
                  <c:v>6.1</c:v>
                </c:pt>
                <c:pt idx="82">
                  <c:v>6.2</c:v>
                </c:pt>
                <c:pt idx="83">
                  <c:v>6.3</c:v>
                </c:pt>
                <c:pt idx="84">
                  <c:v>6.4</c:v>
                </c:pt>
                <c:pt idx="85">
                  <c:v>6.5</c:v>
                </c:pt>
                <c:pt idx="86">
                  <c:v>6.6</c:v>
                </c:pt>
                <c:pt idx="87">
                  <c:v>6.7</c:v>
                </c:pt>
                <c:pt idx="88">
                  <c:v>6.8</c:v>
                </c:pt>
                <c:pt idx="89">
                  <c:v>6.9</c:v>
                </c:pt>
                <c:pt idx="90">
                  <c:v>7</c:v>
                </c:pt>
                <c:pt idx="91">
                  <c:v>7.1</c:v>
                </c:pt>
                <c:pt idx="92">
                  <c:v>7.2</c:v>
                </c:pt>
                <c:pt idx="93">
                  <c:v>7.3</c:v>
                </c:pt>
                <c:pt idx="94">
                  <c:v>7.4</c:v>
                </c:pt>
                <c:pt idx="95">
                  <c:v>7.5</c:v>
                </c:pt>
                <c:pt idx="96">
                  <c:v>7.6</c:v>
                </c:pt>
                <c:pt idx="97">
                  <c:v>7.7</c:v>
                </c:pt>
                <c:pt idx="98">
                  <c:v>7.8</c:v>
                </c:pt>
                <c:pt idx="99">
                  <c:v>7.9</c:v>
                </c:pt>
                <c:pt idx="100">
                  <c:v>8</c:v>
                </c:pt>
                <c:pt idx="101">
                  <c:v>8.1</c:v>
                </c:pt>
                <c:pt idx="102">
                  <c:v>8.1999999999999993</c:v>
                </c:pt>
                <c:pt idx="103">
                  <c:v>8.3000000000000007</c:v>
                </c:pt>
                <c:pt idx="104">
                  <c:v>8.4</c:v>
                </c:pt>
                <c:pt idx="105">
                  <c:v>8.5</c:v>
                </c:pt>
                <c:pt idx="106">
                  <c:v>8.6</c:v>
                </c:pt>
                <c:pt idx="107">
                  <c:v>8.6999999999999993</c:v>
                </c:pt>
                <c:pt idx="108">
                  <c:v>8.8000000000000007</c:v>
                </c:pt>
                <c:pt idx="109">
                  <c:v>8.9</c:v>
                </c:pt>
                <c:pt idx="110">
                  <c:v>9</c:v>
                </c:pt>
                <c:pt idx="111">
                  <c:v>9.1</c:v>
                </c:pt>
                <c:pt idx="112">
                  <c:v>9.1999999999999993</c:v>
                </c:pt>
                <c:pt idx="113">
                  <c:v>9.3000000000000007</c:v>
                </c:pt>
                <c:pt idx="114">
                  <c:v>9.4</c:v>
                </c:pt>
                <c:pt idx="115">
                  <c:v>9.5</c:v>
                </c:pt>
                <c:pt idx="116">
                  <c:v>9.6</c:v>
                </c:pt>
                <c:pt idx="117">
                  <c:v>9.6999999999999993</c:v>
                </c:pt>
                <c:pt idx="118">
                  <c:v>9.8000000000000007</c:v>
                </c:pt>
                <c:pt idx="119">
                  <c:v>9.9</c:v>
                </c:pt>
                <c:pt idx="120">
                  <c:v>10</c:v>
                </c:pt>
                <c:pt idx="121">
                  <c:v>10.1</c:v>
                </c:pt>
                <c:pt idx="122">
                  <c:v>10.199999999999999</c:v>
                </c:pt>
                <c:pt idx="123">
                  <c:v>10.3</c:v>
                </c:pt>
                <c:pt idx="124">
                  <c:v>10.4</c:v>
                </c:pt>
                <c:pt idx="125">
                  <c:v>10.5</c:v>
                </c:pt>
                <c:pt idx="126">
                  <c:v>10.6</c:v>
                </c:pt>
                <c:pt idx="127">
                  <c:v>10.7</c:v>
                </c:pt>
                <c:pt idx="128">
                  <c:v>10.8</c:v>
                </c:pt>
                <c:pt idx="129">
                  <c:v>10.9</c:v>
                </c:pt>
                <c:pt idx="130">
                  <c:v>11</c:v>
                </c:pt>
                <c:pt idx="131">
                  <c:v>11.1</c:v>
                </c:pt>
                <c:pt idx="132">
                  <c:v>11.2</c:v>
                </c:pt>
                <c:pt idx="133">
                  <c:v>11.3</c:v>
                </c:pt>
                <c:pt idx="134">
                  <c:v>11.4</c:v>
                </c:pt>
                <c:pt idx="135">
                  <c:v>11.5</c:v>
                </c:pt>
                <c:pt idx="136">
                  <c:v>11.6</c:v>
                </c:pt>
                <c:pt idx="137">
                  <c:v>11.7</c:v>
                </c:pt>
                <c:pt idx="138">
                  <c:v>11.8</c:v>
                </c:pt>
                <c:pt idx="139">
                  <c:v>11.9</c:v>
                </c:pt>
                <c:pt idx="140">
                  <c:v>12</c:v>
                </c:pt>
                <c:pt idx="141">
                  <c:v>12.1</c:v>
                </c:pt>
                <c:pt idx="142">
                  <c:v>12.2</c:v>
                </c:pt>
                <c:pt idx="143">
                  <c:v>12.3</c:v>
                </c:pt>
                <c:pt idx="144">
                  <c:v>12.4</c:v>
                </c:pt>
                <c:pt idx="145">
                  <c:v>12.5</c:v>
                </c:pt>
                <c:pt idx="146">
                  <c:v>12.6</c:v>
                </c:pt>
                <c:pt idx="147">
                  <c:v>12.7</c:v>
                </c:pt>
                <c:pt idx="148">
                  <c:v>12.8</c:v>
                </c:pt>
                <c:pt idx="149">
                  <c:v>12.9</c:v>
                </c:pt>
                <c:pt idx="150">
                  <c:v>13</c:v>
                </c:pt>
                <c:pt idx="151">
                  <c:v>13.1</c:v>
                </c:pt>
                <c:pt idx="152">
                  <c:v>13.2</c:v>
                </c:pt>
                <c:pt idx="153">
                  <c:v>13.3</c:v>
                </c:pt>
                <c:pt idx="154">
                  <c:v>13.4</c:v>
                </c:pt>
                <c:pt idx="155">
                  <c:v>13.5</c:v>
                </c:pt>
                <c:pt idx="156">
                  <c:v>13.6</c:v>
                </c:pt>
                <c:pt idx="157">
                  <c:v>13.7</c:v>
                </c:pt>
                <c:pt idx="158">
                  <c:v>13.8</c:v>
                </c:pt>
                <c:pt idx="159">
                  <c:v>13.9</c:v>
                </c:pt>
                <c:pt idx="160">
                  <c:v>14</c:v>
                </c:pt>
                <c:pt idx="161">
                  <c:v>14.1</c:v>
                </c:pt>
                <c:pt idx="162">
                  <c:v>14.2</c:v>
                </c:pt>
                <c:pt idx="163">
                  <c:v>14.3</c:v>
                </c:pt>
                <c:pt idx="164">
                  <c:v>14.4</c:v>
                </c:pt>
                <c:pt idx="165">
                  <c:v>14.5</c:v>
                </c:pt>
                <c:pt idx="166">
                  <c:v>14.6</c:v>
                </c:pt>
                <c:pt idx="167">
                  <c:v>14.7</c:v>
                </c:pt>
                <c:pt idx="168">
                  <c:v>14.8</c:v>
                </c:pt>
                <c:pt idx="169">
                  <c:v>14.9</c:v>
                </c:pt>
                <c:pt idx="170">
                  <c:v>15</c:v>
                </c:pt>
                <c:pt idx="171">
                  <c:v>15.1</c:v>
                </c:pt>
                <c:pt idx="172">
                  <c:v>15.2</c:v>
                </c:pt>
                <c:pt idx="173">
                  <c:v>15.3</c:v>
                </c:pt>
                <c:pt idx="174">
                  <c:v>15.4</c:v>
                </c:pt>
                <c:pt idx="175">
                  <c:v>15.5</c:v>
                </c:pt>
                <c:pt idx="176">
                  <c:v>15.6</c:v>
                </c:pt>
                <c:pt idx="177">
                  <c:v>15.7</c:v>
                </c:pt>
                <c:pt idx="178">
                  <c:v>15.8</c:v>
                </c:pt>
                <c:pt idx="179">
                  <c:v>15.9</c:v>
                </c:pt>
                <c:pt idx="180">
                  <c:v>16</c:v>
                </c:pt>
                <c:pt idx="181">
                  <c:v>16.100000000000001</c:v>
                </c:pt>
                <c:pt idx="182">
                  <c:v>16.2</c:v>
                </c:pt>
                <c:pt idx="183">
                  <c:v>16.3</c:v>
                </c:pt>
                <c:pt idx="184">
                  <c:v>16.399999999999999</c:v>
                </c:pt>
                <c:pt idx="185">
                  <c:v>16.5</c:v>
                </c:pt>
                <c:pt idx="186">
                  <c:v>16.600000000000001</c:v>
                </c:pt>
                <c:pt idx="187">
                  <c:v>16.7</c:v>
                </c:pt>
                <c:pt idx="188">
                  <c:v>16.8</c:v>
                </c:pt>
                <c:pt idx="189">
                  <c:v>16.899999999999999</c:v>
                </c:pt>
                <c:pt idx="190">
                  <c:v>17</c:v>
                </c:pt>
                <c:pt idx="191">
                  <c:v>17.100000000000001</c:v>
                </c:pt>
                <c:pt idx="192">
                  <c:v>17.2</c:v>
                </c:pt>
                <c:pt idx="193">
                  <c:v>17.3</c:v>
                </c:pt>
                <c:pt idx="194">
                  <c:v>17.399999999999999</c:v>
                </c:pt>
                <c:pt idx="195">
                  <c:v>17.5</c:v>
                </c:pt>
                <c:pt idx="196">
                  <c:v>17.600000000000001</c:v>
                </c:pt>
                <c:pt idx="197">
                  <c:v>17.7</c:v>
                </c:pt>
                <c:pt idx="198">
                  <c:v>17.8</c:v>
                </c:pt>
                <c:pt idx="199">
                  <c:v>17.899999999999999</c:v>
                </c:pt>
                <c:pt idx="200">
                  <c:v>18</c:v>
                </c:pt>
                <c:pt idx="201">
                  <c:v>18.100000000000001</c:v>
                </c:pt>
                <c:pt idx="202">
                  <c:v>18.2</c:v>
                </c:pt>
                <c:pt idx="203">
                  <c:v>18.3</c:v>
                </c:pt>
                <c:pt idx="204">
                  <c:v>18.399999999999999</c:v>
                </c:pt>
                <c:pt idx="205">
                  <c:v>18.5</c:v>
                </c:pt>
                <c:pt idx="206">
                  <c:v>18.600000000000001</c:v>
                </c:pt>
                <c:pt idx="207">
                  <c:v>18.7</c:v>
                </c:pt>
                <c:pt idx="208">
                  <c:v>18.8</c:v>
                </c:pt>
                <c:pt idx="209">
                  <c:v>18.899999999999999</c:v>
                </c:pt>
                <c:pt idx="210">
                  <c:v>19</c:v>
                </c:pt>
                <c:pt idx="211">
                  <c:v>19.100000000000001</c:v>
                </c:pt>
                <c:pt idx="212">
                  <c:v>19.2</c:v>
                </c:pt>
                <c:pt idx="213">
                  <c:v>19.3</c:v>
                </c:pt>
                <c:pt idx="214">
                  <c:v>19.399999999999999</c:v>
                </c:pt>
                <c:pt idx="215">
                  <c:v>19.5</c:v>
                </c:pt>
                <c:pt idx="216">
                  <c:v>19.600000000000001</c:v>
                </c:pt>
                <c:pt idx="217">
                  <c:v>19.7</c:v>
                </c:pt>
                <c:pt idx="218">
                  <c:v>19.8</c:v>
                </c:pt>
                <c:pt idx="219">
                  <c:v>19.899999999999999</c:v>
                </c:pt>
                <c:pt idx="220">
                  <c:v>20</c:v>
                </c:pt>
                <c:pt idx="221">
                  <c:v>20.100000000000001</c:v>
                </c:pt>
                <c:pt idx="222">
                  <c:v>20.2</c:v>
                </c:pt>
                <c:pt idx="223">
                  <c:v>20.3</c:v>
                </c:pt>
                <c:pt idx="224">
                  <c:v>20.399999999999999</c:v>
                </c:pt>
                <c:pt idx="225">
                  <c:v>20.5</c:v>
                </c:pt>
                <c:pt idx="226">
                  <c:v>20.6</c:v>
                </c:pt>
                <c:pt idx="227">
                  <c:v>20.7</c:v>
                </c:pt>
                <c:pt idx="228">
                  <c:v>20.8</c:v>
                </c:pt>
                <c:pt idx="229">
                  <c:v>20.9</c:v>
                </c:pt>
                <c:pt idx="230">
                  <c:v>21</c:v>
                </c:pt>
                <c:pt idx="231">
                  <c:v>21.1</c:v>
                </c:pt>
                <c:pt idx="232">
                  <c:v>21.2</c:v>
                </c:pt>
                <c:pt idx="233">
                  <c:v>21.3</c:v>
                </c:pt>
                <c:pt idx="234">
                  <c:v>21.4</c:v>
                </c:pt>
                <c:pt idx="235">
                  <c:v>21.5</c:v>
                </c:pt>
                <c:pt idx="236">
                  <c:v>21.6</c:v>
                </c:pt>
                <c:pt idx="237">
                  <c:v>21.7</c:v>
                </c:pt>
                <c:pt idx="238">
                  <c:v>21.8</c:v>
                </c:pt>
                <c:pt idx="239">
                  <c:v>21.9</c:v>
                </c:pt>
                <c:pt idx="240">
                  <c:v>22</c:v>
                </c:pt>
                <c:pt idx="241">
                  <c:v>22.1</c:v>
                </c:pt>
                <c:pt idx="242">
                  <c:v>22.2</c:v>
                </c:pt>
                <c:pt idx="243">
                  <c:v>22.3</c:v>
                </c:pt>
                <c:pt idx="244">
                  <c:v>22.4</c:v>
                </c:pt>
                <c:pt idx="245">
                  <c:v>22.5</c:v>
                </c:pt>
                <c:pt idx="246">
                  <c:v>22.6</c:v>
                </c:pt>
                <c:pt idx="247">
                  <c:v>22.7</c:v>
                </c:pt>
                <c:pt idx="248">
                  <c:v>22.8</c:v>
                </c:pt>
                <c:pt idx="249">
                  <c:v>22.9</c:v>
                </c:pt>
                <c:pt idx="250">
                  <c:v>23</c:v>
                </c:pt>
                <c:pt idx="251">
                  <c:v>23.1</c:v>
                </c:pt>
                <c:pt idx="252">
                  <c:v>23.2</c:v>
                </c:pt>
                <c:pt idx="253">
                  <c:v>23.3</c:v>
                </c:pt>
                <c:pt idx="254">
                  <c:v>23.4</c:v>
                </c:pt>
                <c:pt idx="255">
                  <c:v>23.5</c:v>
                </c:pt>
                <c:pt idx="256">
                  <c:v>23.6</c:v>
                </c:pt>
                <c:pt idx="257">
                  <c:v>23.6999999999999</c:v>
                </c:pt>
                <c:pt idx="258">
                  <c:v>23.799999999999901</c:v>
                </c:pt>
                <c:pt idx="259">
                  <c:v>23.899999999999899</c:v>
                </c:pt>
                <c:pt idx="260">
                  <c:v>23.999999999999901</c:v>
                </c:pt>
                <c:pt idx="261">
                  <c:v>24.099999999999898</c:v>
                </c:pt>
                <c:pt idx="262">
                  <c:v>24.1999999999999</c:v>
                </c:pt>
                <c:pt idx="263">
                  <c:v>24.299999999999901</c:v>
                </c:pt>
                <c:pt idx="264">
                  <c:v>24.399999999999899</c:v>
                </c:pt>
                <c:pt idx="265">
                  <c:v>24.499999999999901</c:v>
                </c:pt>
                <c:pt idx="266">
                  <c:v>24.599999999999898</c:v>
                </c:pt>
                <c:pt idx="267">
                  <c:v>24.6999999999999</c:v>
                </c:pt>
                <c:pt idx="268">
                  <c:v>24.799999999999901</c:v>
                </c:pt>
                <c:pt idx="269">
                  <c:v>24.899999999999899</c:v>
                </c:pt>
                <c:pt idx="270">
                  <c:v>24.999999999999901</c:v>
                </c:pt>
                <c:pt idx="271">
                  <c:v>25.099999999999898</c:v>
                </c:pt>
                <c:pt idx="272">
                  <c:v>25.1999999999999</c:v>
                </c:pt>
                <c:pt idx="273">
                  <c:v>25.299999999999901</c:v>
                </c:pt>
                <c:pt idx="274">
                  <c:v>25.399999999999899</c:v>
                </c:pt>
                <c:pt idx="275">
                  <c:v>25.499999999999901</c:v>
                </c:pt>
                <c:pt idx="276">
                  <c:v>25.599999999999898</c:v>
                </c:pt>
                <c:pt idx="277">
                  <c:v>25.6999999999999</c:v>
                </c:pt>
                <c:pt idx="278">
                  <c:v>25.799999999999901</c:v>
                </c:pt>
                <c:pt idx="279">
                  <c:v>25.899999999999899</c:v>
                </c:pt>
                <c:pt idx="280">
                  <c:v>25.999999999999901</c:v>
                </c:pt>
                <c:pt idx="281">
                  <c:v>26.099999999999898</c:v>
                </c:pt>
                <c:pt idx="282">
                  <c:v>26.1999999999999</c:v>
                </c:pt>
                <c:pt idx="283">
                  <c:v>26.299999999999901</c:v>
                </c:pt>
                <c:pt idx="284">
                  <c:v>26.399999999999899</c:v>
                </c:pt>
                <c:pt idx="285">
                  <c:v>26.499999999999901</c:v>
                </c:pt>
                <c:pt idx="286">
                  <c:v>26.599999999999898</c:v>
                </c:pt>
                <c:pt idx="287">
                  <c:v>26.6999999999999</c:v>
                </c:pt>
                <c:pt idx="288">
                  <c:v>26.799999999999901</c:v>
                </c:pt>
                <c:pt idx="289">
                  <c:v>26.899999999999899</c:v>
                </c:pt>
                <c:pt idx="290">
                  <c:v>26.999999999999901</c:v>
                </c:pt>
                <c:pt idx="291">
                  <c:v>27.099999999999898</c:v>
                </c:pt>
                <c:pt idx="292">
                  <c:v>27.1999999999999</c:v>
                </c:pt>
                <c:pt idx="293">
                  <c:v>27.299999999999901</c:v>
                </c:pt>
                <c:pt idx="294">
                  <c:v>27.399999999999899</c:v>
                </c:pt>
                <c:pt idx="295">
                  <c:v>27.499999999999901</c:v>
                </c:pt>
                <c:pt idx="296">
                  <c:v>27.599999999999898</c:v>
                </c:pt>
                <c:pt idx="297">
                  <c:v>27.6999999999999</c:v>
                </c:pt>
                <c:pt idx="298">
                  <c:v>27.799999999999901</c:v>
                </c:pt>
                <c:pt idx="299">
                  <c:v>27.899999999999899</c:v>
                </c:pt>
                <c:pt idx="300">
                  <c:v>27.999999999999901</c:v>
                </c:pt>
                <c:pt idx="301">
                  <c:v>28.099999999999898</c:v>
                </c:pt>
                <c:pt idx="302">
                  <c:v>28.1999999999999</c:v>
                </c:pt>
                <c:pt idx="303">
                  <c:v>28.299999999999901</c:v>
                </c:pt>
                <c:pt idx="304">
                  <c:v>28.399999999999899</c:v>
                </c:pt>
                <c:pt idx="305">
                  <c:v>28.499999999999901</c:v>
                </c:pt>
                <c:pt idx="306">
                  <c:v>28.599999999999898</c:v>
                </c:pt>
                <c:pt idx="307">
                  <c:v>28.6999999999999</c:v>
                </c:pt>
                <c:pt idx="308">
                  <c:v>28.799999999999901</c:v>
                </c:pt>
                <c:pt idx="309">
                  <c:v>28.899999999999899</c:v>
                </c:pt>
                <c:pt idx="310">
                  <c:v>28.999999999999901</c:v>
                </c:pt>
                <c:pt idx="311">
                  <c:v>29.099999999999898</c:v>
                </c:pt>
                <c:pt idx="312">
                  <c:v>29.1999999999999</c:v>
                </c:pt>
                <c:pt idx="313">
                  <c:v>29.299999999999901</c:v>
                </c:pt>
                <c:pt idx="314">
                  <c:v>29.399999999999899</c:v>
                </c:pt>
                <c:pt idx="315">
                  <c:v>29.499999999999901</c:v>
                </c:pt>
                <c:pt idx="316">
                  <c:v>29.599999999999898</c:v>
                </c:pt>
                <c:pt idx="317">
                  <c:v>29.6999999999999</c:v>
                </c:pt>
                <c:pt idx="318">
                  <c:v>29.799999999999901</c:v>
                </c:pt>
                <c:pt idx="319">
                  <c:v>29.899999999999899</c:v>
                </c:pt>
                <c:pt idx="320">
                  <c:v>29.999999999999901</c:v>
                </c:pt>
              </c:numCache>
            </c:numRef>
          </c:cat>
          <c:val>
            <c:numRef>
              <c:f>출력제어Raw!$F$2:$F$322</c:f>
              <c:numCache>
                <c:formatCode>General</c:formatCode>
                <c:ptCount val="321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40</c:v>
                </c:pt>
                <c:pt idx="11">
                  <c:v>40</c:v>
                </c:pt>
                <c:pt idx="12">
                  <c:v>40</c:v>
                </c:pt>
                <c:pt idx="13">
                  <c:v>40</c:v>
                </c:pt>
                <c:pt idx="14">
                  <c:v>40</c:v>
                </c:pt>
                <c:pt idx="15">
                  <c:v>40</c:v>
                </c:pt>
                <c:pt idx="16">
                  <c:v>40</c:v>
                </c:pt>
                <c:pt idx="17">
                  <c:v>40</c:v>
                </c:pt>
                <c:pt idx="18">
                  <c:v>40</c:v>
                </c:pt>
                <c:pt idx="19">
                  <c:v>40</c:v>
                </c:pt>
                <c:pt idx="20">
                  <c:v>40</c:v>
                </c:pt>
                <c:pt idx="21" formatCode="0.0">
                  <c:v>39</c:v>
                </c:pt>
                <c:pt idx="22" formatCode="0.0">
                  <c:v>38</c:v>
                </c:pt>
                <c:pt idx="23" formatCode="0.0">
                  <c:v>37</c:v>
                </c:pt>
                <c:pt idx="24" formatCode="0.0">
                  <c:v>36</c:v>
                </c:pt>
                <c:pt idx="25" formatCode="0.0">
                  <c:v>35</c:v>
                </c:pt>
                <c:pt idx="26" formatCode="0.0">
                  <c:v>34</c:v>
                </c:pt>
                <c:pt idx="27" formatCode="0.0">
                  <c:v>33</c:v>
                </c:pt>
                <c:pt idx="28" formatCode="0.0">
                  <c:v>32</c:v>
                </c:pt>
                <c:pt idx="29" formatCode="0.0">
                  <c:v>31</c:v>
                </c:pt>
                <c:pt idx="30" formatCode="0.0">
                  <c:v>30</c:v>
                </c:pt>
                <c:pt idx="31" formatCode="0.0">
                  <c:v>29</c:v>
                </c:pt>
                <c:pt idx="32" formatCode="0.0">
                  <c:v>28</c:v>
                </c:pt>
                <c:pt idx="33" formatCode="0.0">
                  <c:v>27</c:v>
                </c:pt>
                <c:pt idx="34" formatCode="0.0">
                  <c:v>26</c:v>
                </c:pt>
                <c:pt idx="35" formatCode="0.0">
                  <c:v>25</c:v>
                </c:pt>
                <c:pt idx="36" formatCode="0.0">
                  <c:v>24</c:v>
                </c:pt>
                <c:pt idx="37" formatCode="0.0">
                  <c:v>23</c:v>
                </c:pt>
                <c:pt idx="38" formatCode="0.0">
                  <c:v>22</c:v>
                </c:pt>
                <c:pt idx="39" formatCode="0.0">
                  <c:v>21</c:v>
                </c:pt>
                <c:pt idx="40" formatCode="0.0">
                  <c:v>20</c:v>
                </c:pt>
                <c:pt idx="41" formatCode="0.0">
                  <c:v>39.75</c:v>
                </c:pt>
                <c:pt idx="42" formatCode="0.0">
                  <c:v>59.5</c:v>
                </c:pt>
                <c:pt idx="43" formatCode="0.0">
                  <c:v>79.25</c:v>
                </c:pt>
                <c:pt idx="44" formatCode="0.0">
                  <c:v>99</c:v>
                </c:pt>
                <c:pt idx="45" formatCode="0.0">
                  <c:v>98.839285714285708</c:v>
                </c:pt>
                <c:pt idx="46" formatCode="0.0">
                  <c:v>98.678571428571416</c:v>
                </c:pt>
                <c:pt idx="47" formatCode="0.0">
                  <c:v>98.517857142857125</c:v>
                </c:pt>
                <c:pt idx="48" formatCode="0.0">
                  <c:v>98.357142857142833</c:v>
                </c:pt>
                <c:pt idx="49" formatCode="0.0">
                  <c:v>98.196428571428541</c:v>
                </c:pt>
                <c:pt idx="50" formatCode="0.0">
                  <c:v>98.035714285714249</c:v>
                </c:pt>
                <c:pt idx="51" formatCode="0.0">
                  <c:v>97.874999999999957</c:v>
                </c:pt>
                <c:pt idx="52" formatCode="0.0">
                  <c:v>97.714285714285666</c:v>
                </c:pt>
                <c:pt idx="53" formatCode="0.0">
                  <c:v>97.553571428571374</c:v>
                </c:pt>
                <c:pt idx="54" formatCode="0.0">
                  <c:v>97.392857142857082</c:v>
                </c:pt>
                <c:pt idx="55" formatCode="0.0">
                  <c:v>97.23214285714279</c:v>
                </c:pt>
                <c:pt idx="56" formatCode="0.0">
                  <c:v>97.071428571428498</c:v>
                </c:pt>
                <c:pt idx="57" formatCode="0.0">
                  <c:v>96.910714285714207</c:v>
                </c:pt>
                <c:pt idx="58" formatCode="0.0">
                  <c:v>96.749999999999915</c:v>
                </c:pt>
                <c:pt idx="59" formatCode="0.0">
                  <c:v>96.589285714285623</c:v>
                </c:pt>
                <c:pt idx="60" formatCode="0.0">
                  <c:v>96.428571428571331</c:v>
                </c:pt>
                <c:pt idx="61" formatCode="0.0">
                  <c:v>96.267857142857039</c:v>
                </c:pt>
                <c:pt idx="62" formatCode="0.0">
                  <c:v>96.107142857142748</c:v>
                </c:pt>
                <c:pt idx="63" formatCode="0.0">
                  <c:v>95.946428571428456</c:v>
                </c:pt>
                <c:pt idx="64" formatCode="0.0">
                  <c:v>95.785714285714164</c:v>
                </c:pt>
                <c:pt idx="65" formatCode="0.0">
                  <c:v>95.624999999999872</c:v>
                </c:pt>
                <c:pt idx="66" formatCode="0.0">
                  <c:v>95.46428571428558</c:v>
                </c:pt>
                <c:pt idx="67" formatCode="0.0">
                  <c:v>95.303571428571288</c:v>
                </c:pt>
                <c:pt idx="68" formatCode="0.0">
                  <c:v>95.142857142856997</c:v>
                </c:pt>
                <c:pt idx="69" formatCode="0.0">
                  <c:v>94.982142857142705</c:v>
                </c:pt>
                <c:pt idx="70" formatCode="0.0">
                  <c:v>94.821428571428413</c:v>
                </c:pt>
                <c:pt idx="71" formatCode="0.0">
                  <c:v>94.660714285714121</c:v>
                </c:pt>
                <c:pt idx="72" formatCode="0.0">
                  <c:v>94.499999999999829</c:v>
                </c:pt>
                <c:pt idx="73" formatCode="0.0">
                  <c:v>94.339285714285538</c:v>
                </c:pt>
                <c:pt idx="74" formatCode="0.0">
                  <c:v>94.178571428571246</c:v>
                </c:pt>
                <c:pt idx="75" formatCode="0.0">
                  <c:v>94.017857142856954</c:v>
                </c:pt>
                <c:pt idx="76" formatCode="0.0">
                  <c:v>93.857142857142662</c:v>
                </c:pt>
                <c:pt idx="77" formatCode="0.0">
                  <c:v>93.69642857142837</c:v>
                </c:pt>
                <c:pt idx="78" formatCode="0.0">
                  <c:v>93.535714285714079</c:v>
                </c:pt>
                <c:pt idx="79" formatCode="0.0">
                  <c:v>93.374999999999787</c:v>
                </c:pt>
                <c:pt idx="80" formatCode="0.0">
                  <c:v>93.214285714285495</c:v>
                </c:pt>
                <c:pt idx="81" formatCode="0.0">
                  <c:v>93.053571428571203</c:v>
                </c:pt>
                <c:pt idx="82" formatCode="0.0">
                  <c:v>92.892857142856911</c:v>
                </c:pt>
                <c:pt idx="83" formatCode="0.0">
                  <c:v>92.73214285714262</c:v>
                </c:pt>
                <c:pt idx="84" formatCode="0.0">
                  <c:v>92.571428571428328</c:v>
                </c:pt>
                <c:pt idx="85" formatCode="0.0">
                  <c:v>92.410714285714036</c:v>
                </c:pt>
                <c:pt idx="86" formatCode="0.0">
                  <c:v>92.249999999999744</c:v>
                </c:pt>
                <c:pt idx="87" formatCode="0.0">
                  <c:v>92.089285714285452</c:v>
                </c:pt>
                <c:pt idx="88" formatCode="0.0">
                  <c:v>91.928571428571161</c:v>
                </c:pt>
                <c:pt idx="89" formatCode="0.0">
                  <c:v>91.767857142856869</c:v>
                </c:pt>
                <c:pt idx="90" formatCode="0.0">
                  <c:v>91.607142857142577</c:v>
                </c:pt>
                <c:pt idx="91" formatCode="0.0">
                  <c:v>91.446428571428285</c:v>
                </c:pt>
                <c:pt idx="92" formatCode="0.0">
                  <c:v>91.285714285713993</c:v>
                </c:pt>
                <c:pt idx="93" formatCode="0.0">
                  <c:v>91.124999999999702</c:v>
                </c:pt>
                <c:pt idx="94" formatCode="0.0">
                  <c:v>90.96428571428541</c:v>
                </c:pt>
                <c:pt idx="95" formatCode="0.0">
                  <c:v>90.803571428571118</c:v>
                </c:pt>
                <c:pt idx="96" formatCode="0.0">
                  <c:v>90.642857142856826</c:v>
                </c:pt>
                <c:pt idx="97" formatCode="0.0">
                  <c:v>90.482142857142534</c:v>
                </c:pt>
                <c:pt idx="98" formatCode="0.0">
                  <c:v>90.321428571428243</c:v>
                </c:pt>
                <c:pt idx="99" formatCode="0.0">
                  <c:v>90.160714285713951</c:v>
                </c:pt>
                <c:pt idx="100" formatCode="0.0">
                  <c:v>90</c:v>
                </c:pt>
                <c:pt idx="101" formatCode="0.0">
                  <c:v>90</c:v>
                </c:pt>
                <c:pt idx="102" formatCode="0.0">
                  <c:v>90</c:v>
                </c:pt>
                <c:pt idx="103" formatCode="0.0">
                  <c:v>90</c:v>
                </c:pt>
                <c:pt idx="104" formatCode="0.0">
                  <c:v>90</c:v>
                </c:pt>
                <c:pt idx="105" formatCode="0.0">
                  <c:v>90</c:v>
                </c:pt>
                <c:pt idx="106" formatCode="0.0">
                  <c:v>90</c:v>
                </c:pt>
                <c:pt idx="107" formatCode="0.0">
                  <c:v>90</c:v>
                </c:pt>
                <c:pt idx="108" formatCode="0.0">
                  <c:v>90</c:v>
                </c:pt>
                <c:pt idx="109" formatCode="0.0">
                  <c:v>90</c:v>
                </c:pt>
                <c:pt idx="110" formatCode="0.0">
                  <c:v>90</c:v>
                </c:pt>
                <c:pt idx="111" formatCode="0.0">
                  <c:v>90</c:v>
                </c:pt>
                <c:pt idx="112" formatCode="0.0">
                  <c:v>90</c:v>
                </c:pt>
                <c:pt idx="113" formatCode="0.0">
                  <c:v>90</c:v>
                </c:pt>
                <c:pt idx="114" formatCode="0.0">
                  <c:v>91.4</c:v>
                </c:pt>
                <c:pt idx="115" formatCode="0.0">
                  <c:v>91.4</c:v>
                </c:pt>
                <c:pt idx="116" formatCode="0.0">
                  <c:v>91.4</c:v>
                </c:pt>
                <c:pt idx="117" formatCode="0.0">
                  <c:v>91.4</c:v>
                </c:pt>
                <c:pt idx="118" formatCode="0.0">
                  <c:v>91.4</c:v>
                </c:pt>
                <c:pt idx="119" formatCode="0.0">
                  <c:v>91.4</c:v>
                </c:pt>
                <c:pt idx="120" formatCode="0.0">
                  <c:v>91.4</c:v>
                </c:pt>
                <c:pt idx="121" formatCode="0.0">
                  <c:v>91.4</c:v>
                </c:pt>
                <c:pt idx="122" formatCode="0.0">
                  <c:v>91.4</c:v>
                </c:pt>
                <c:pt idx="123" formatCode="0.0">
                  <c:v>91.4</c:v>
                </c:pt>
                <c:pt idx="124" formatCode="0.0">
                  <c:v>91.4</c:v>
                </c:pt>
                <c:pt idx="125" formatCode="0.0">
                  <c:v>91.4</c:v>
                </c:pt>
                <c:pt idx="126" formatCode="0.0">
                  <c:v>91.4</c:v>
                </c:pt>
                <c:pt idx="127" formatCode="0.0">
                  <c:v>90</c:v>
                </c:pt>
                <c:pt idx="128" formatCode="0.0">
                  <c:v>90</c:v>
                </c:pt>
                <c:pt idx="129" formatCode="0.0">
                  <c:v>90</c:v>
                </c:pt>
                <c:pt idx="130" formatCode="0.0">
                  <c:v>90</c:v>
                </c:pt>
                <c:pt idx="131" formatCode="0.0">
                  <c:v>90</c:v>
                </c:pt>
                <c:pt idx="132" formatCode="0.0">
                  <c:v>90</c:v>
                </c:pt>
                <c:pt idx="133" formatCode="0.0">
                  <c:v>90</c:v>
                </c:pt>
                <c:pt idx="134" formatCode="0.0">
                  <c:v>90</c:v>
                </c:pt>
                <c:pt idx="135" formatCode="0.0">
                  <c:v>90</c:v>
                </c:pt>
                <c:pt idx="136" formatCode="0.0">
                  <c:v>90</c:v>
                </c:pt>
                <c:pt idx="137" formatCode="0.0">
                  <c:v>90</c:v>
                </c:pt>
                <c:pt idx="138" formatCode="0.0">
                  <c:v>90</c:v>
                </c:pt>
                <c:pt idx="139" formatCode="0.0">
                  <c:v>90</c:v>
                </c:pt>
                <c:pt idx="140" formatCode="0.0">
                  <c:v>88.6</c:v>
                </c:pt>
                <c:pt idx="141" formatCode="0.0">
                  <c:v>88.6</c:v>
                </c:pt>
                <c:pt idx="142" formatCode="0.0">
                  <c:v>88.6</c:v>
                </c:pt>
                <c:pt idx="143" formatCode="0.0">
                  <c:v>88.6</c:v>
                </c:pt>
                <c:pt idx="144" formatCode="0.0">
                  <c:v>88.6</c:v>
                </c:pt>
                <c:pt idx="145" formatCode="0.0">
                  <c:v>88.6</c:v>
                </c:pt>
                <c:pt idx="146" formatCode="0.0">
                  <c:v>88.6</c:v>
                </c:pt>
                <c:pt idx="147" formatCode="0.0">
                  <c:v>88.6</c:v>
                </c:pt>
                <c:pt idx="148" formatCode="0.0">
                  <c:v>88.6</c:v>
                </c:pt>
                <c:pt idx="149" formatCode="0.0">
                  <c:v>88.6</c:v>
                </c:pt>
                <c:pt idx="150" formatCode="0.0">
                  <c:v>88.6</c:v>
                </c:pt>
                <c:pt idx="151" formatCode="0.0">
                  <c:v>88.6</c:v>
                </c:pt>
                <c:pt idx="152" formatCode="0.0">
                  <c:v>88.6</c:v>
                </c:pt>
                <c:pt idx="153" formatCode="0.0">
                  <c:v>87.2</c:v>
                </c:pt>
                <c:pt idx="154" formatCode="0.0">
                  <c:v>87.2</c:v>
                </c:pt>
                <c:pt idx="155" formatCode="0.0">
                  <c:v>87.2</c:v>
                </c:pt>
                <c:pt idx="156" formatCode="0.0">
                  <c:v>87.2</c:v>
                </c:pt>
                <c:pt idx="157" formatCode="0.0">
                  <c:v>87.2</c:v>
                </c:pt>
                <c:pt idx="158" formatCode="0.0">
                  <c:v>87.2</c:v>
                </c:pt>
                <c:pt idx="159" formatCode="0.0">
                  <c:v>87.2</c:v>
                </c:pt>
                <c:pt idx="160" formatCode="0.0">
                  <c:v>87.2</c:v>
                </c:pt>
                <c:pt idx="161" formatCode="0.0">
                  <c:v>87.2</c:v>
                </c:pt>
                <c:pt idx="162" formatCode="0.0">
                  <c:v>87.2</c:v>
                </c:pt>
                <c:pt idx="163" formatCode="0.0">
                  <c:v>87.2</c:v>
                </c:pt>
                <c:pt idx="164" formatCode="0.0">
                  <c:v>87.2</c:v>
                </c:pt>
                <c:pt idx="165" formatCode="0.0">
                  <c:v>87.2</c:v>
                </c:pt>
                <c:pt idx="166" formatCode="0.0">
                  <c:v>87.2</c:v>
                </c:pt>
                <c:pt idx="167" formatCode="0.0">
                  <c:v>85.8</c:v>
                </c:pt>
                <c:pt idx="168" formatCode="0.0">
                  <c:v>85.8</c:v>
                </c:pt>
                <c:pt idx="169" formatCode="0.0">
                  <c:v>85.8</c:v>
                </c:pt>
                <c:pt idx="170" formatCode="0.0">
                  <c:v>85.8</c:v>
                </c:pt>
                <c:pt idx="171" formatCode="0.0">
                  <c:v>84.582222222222214</c:v>
                </c:pt>
                <c:pt idx="172" formatCode="0.0">
                  <c:v>83.36444444444443</c:v>
                </c:pt>
                <c:pt idx="173" formatCode="0.0">
                  <c:v>82.146666666666647</c:v>
                </c:pt>
                <c:pt idx="174" formatCode="0.0">
                  <c:v>80.928888888888864</c:v>
                </c:pt>
                <c:pt idx="175" formatCode="0.0">
                  <c:v>79.71111111111108</c:v>
                </c:pt>
                <c:pt idx="176" formatCode="0.0">
                  <c:v>78.493333333333297</c:v>
                </c:pt>
                <c:pt idx="177" formatCode="0.0">
                  <c:v>77.275555555555513</c:v>
                </c:pt>
                <c:pt idx="178" formatCode="0.0">
                  <c:v>76.05777777777773</c:v>
                </c:pt>
                <c:pt idx="179" formatCode="0.0">
                  <c:v>74.839999999999947</c:v>
                </c:pt>
                <c:pt idx="180" formatCode="0.0">
                  <c:v>73.622222222222163</c:v>
                </c:pt>
                <c:pt idx="181" formatCode="0.0">
                  <c:v>72.40444444444438</c:v>
                </c:pt>
                <c:pt idx="182" formatCode="0.0">
                  <c:v>71.186666666666596</c:v>
                </c:pt>
                <c:pt idx="183" formatCode="0.0">
                  <c:v>69.968888888888813</c:v>
                </c:pt>
                <c:pt idx="184" formatCode="0.0">
                  <c:v>68.75111111111103</c:v>
                </c:pt>
                <c:pt idx="185" formatCode="0.0">
                  <c:v>67.533333333333246</c:v>
                </c:pt>
                <c:pt idx="186" formatCode="0.0">
                  <c:v>66.315555555555463</c:v>
                </c:pt>
                <c:pt idx="187" formatCode="0.0">
                  <c:v>65.097777777777679</c:v>
                </c:pt>
                <c:pt idx="188" formatCode="0.0">
                  <c:v>63.879999999999903</c:v>
                </c:pt>
                <c:pt idx="189" formatCode="0.0">
                  <c:v>62.662222222222127</c:v>
                </c:pt>
                <c:pt idx="190" formatCode="0.0">
                  <c:v>61.44444444444435</c:v>
                </c:pt>
                <c:pt idx="191" formatCode="0.0">
                  <c:v>60.226666666666574</c:v>
                </c:pt>
                <c:pt idx="192" formatCode="0.0">
                  <c:v>59.008888888888798</c:v>
                </c:pt>
                <c:pt idx="193" formatCode="0.0">
                  <c:v>57.791111111111022</c:v>
                </c:pt>
                <c:pt idx="194" formatCode="0.0">
                  <c:v>56.573333333333245</c:v>
                </c:pt>
                <c:pt idx="195" formatCode="0.0">
                  <c:v>55.355555555555469</c:v>
                </c:pt>
                <c:pt idx="196" formatCode="0.0">
                  <c:v>54.137777777777693</c:v>
                </c:pt>
                <c:pt idx="197" formatCode="0.0">
                  <c:v>52.919999999999916</c:v>
                </c:pt>
                <c:pt idx="198" formatCode="0.0">
                  <c:v>51.70222222222214</c:v>
                </c:pt>
                <c:pt idx="199" formatCode="0.0">
                  <c:v>50.484444444444364</c:v>
                </c:pt>
                <c:pt idx="200" formatCode="0.0">
                  <c:v>49.266666666666588</c:v>
                </c:pt>
                <c:pt idx="201" formatCode="0.0">
                  <c:v>48.048888888888811</c:v>
                </c:pt>
                <c:pt idx="202" formatCode="0.0">
                  <c:v>46.831111111111035</c:v>
                </c:pt>
                <c:pt idx="203" formatCode="0.0">
                  <c:v>45.613333333333259</c:v>
                </c:pt>
                <c:pt idx="204" formatCode="0.0">
                  <c:v>44.395555555555482</c:v>
                </c:pt>
                <c:pt idx="205" formatCode="0.0">
                  <c:v>43.177777777777706</c:v>
                </c:pt>
                <c:pt idx="206" formatCode="0.0">
                  <c:v>41.95999999999993</c:v>
                </c:pt>
                <c:pt idx="207" formatCode="0.0">
                  <c:v>40.742222222222154</c:v>
                </c:pt>
                <c:pt idx="208" formatCode="0.0">
                  <c:v>39.524444444444377</c:v>
                </c:pt>
                <c:pt idx="209" formatCode="0.0">
                  <c:v>38.306666666666601</c:v>
                </c:pt>
                <c:pt idx="210" formatCode="0.0">
                  <c:v>37.088888888888825</c:v>
                </c:pt>
                <c:pt idx="211" formatCode="0.0">
                  <c:v>35.871111111111048</c:v>
                </c:pt>
                <c:pt idx="212" formatCode="0.0">
                  <c:v>34.653333333333272</c:v>
                </c:pt>
                <c:pt idx="213" formatCode="0.0">
                  <c:v>33.435555555555496</c:v>
                </c:pt>
                <c:pt idx="214" formatCode="0.0">
                  <c:v>32.217777777777719</c:v>
                </c:pt>
                <c:pt idx="215">
                  <c:v>31</c:v>
                </c:pt>
                <c:pt idx="216">
                  <c:v>31</c:v>
                </c:pt>
                <c:pt idx="217">
                  <c:v>31</c:v>
                </c:pt>
                <c:pt idx="218">
                  <c:v>31</c:v>
                </c:pt>
                <c:pt idx="219">
                  <c:v>31</c:v>
                </c:pt>
                <c:pt idx="220">
                  <c:v>31</c:v>
                </c:pt>
                <c:pt idx="221">
                  <c:v>31</c:v>
                </c:pt>
                <c:pt idx="222">
                  <c:v>31</c:v>
                </c:pt>
                <c:pt idx="223">
                  <c:v>31</c:v>
                </c:pt>
                <c:pt idx="224">
                  <c:v>31</c:v>
                </c:pt>
                <c:pt idx="225">
                  <c:v>31</c:v>
                </c:pt>
                <c:pt idx="226">
                  <c:v>31</c:v>
                </c:pt>
                <c:pt idx="227">
                  <c:v>31</c:v>
                </c:pt>
                <c:pt idx="228">
                  <c:v>31.1</c:v>
                </c:pt>
                <c:pt idx="229">
                  <c:v>31.1</c:v>
                </c:pt>
                <c:pt idx="230">
                  <c:v>31.1</c:v>
                </c:pt>
                <c:pt idx="231">
                  <c:v>31.1</c:v>
                </c:pt>
                <c:pt idx="232">
                  <c:v>31.1</c:v>
                </c:pt>
                <c:pt idx="233">
                  <c:v>31.1</c:v>
                </c:pt>
                <c:pt idx="234">
                  <c:v>31.1</c:v>
                </c:pt>
                <c:pt idx="235">
                  <c:v>31.1</c:v>
                </c:pt>
                <c:pt idx="236">
                  <c:v>31.1</c:v>
                </c:pt>
                <c:pt idx="237">
                  <c:v>31.1</c:v>
                </c:pt>
                <c:pt idx="238">
                  <c:v>31.1</c:v>
                </c:pt>
                <c:pt idx="239">
                  <c:v>31.1</c:v>
                </c:pt>
                <c:pt idx="240">
                  <c:v>31.1</c:v>
                </c:pt>
                <c:pt idx="241">
                  <c:v>31.2</c:v>
                </c:pt>
                <c:pt idx="242">
                  <c:v>31.2</c:v>
                </c:pt>
                <c:pt idx="243">
                  <c:v>31.2</c:v>
                </c:pt>
                <c:pt idx="244">
                  <c:v>31.2</c:v>
                </c:pt>
                <c:pt idx="245">
                  <c:v>31.2</c:v>
                </c:pt>
                <c:pt idx="246">
                  <c:v>31.2</c:v>
                </c:pt>
                <c:pt idx="247">
                  <c:v>31.2</c:v>
                </c:pt>
                <c:pt idx="248">
                  <c:v>31.2</c:v>
                </c:pt>
                <c:pt idx="249">
                  <c:v>31.2</c:v>
                </c:pt>
                <c:pt idx="250">
                  <c:v>31.2</c:v>
                </c:pt>
                <c:pt idx="251">
                  <c:v>31.2</c:v>
                </c:pt>
                <c:pt idx="252">
                  <c:v>31.2</c:v>
                </c:pt>
                <c:pt idx="253">
                  <c:v>31.3</c:v>
                </c:pt>
                <c:pt idx="254">
                  <c:v>31.3</c:v>
                </c:pt>
                <c:pt idx="255">
                  <c:v>31.3</c:v>
                </c:pt>
                <c:pt idx="256">
                  <c:v>31.3</c:v>
                </c:pt>
                <c:pt idx="257">
                  <c:v>31.3</c:v>
                </c:pt>
                <c:pt idx="258">
                  <c:v>31.3</c:v>
                </c:pt>
                <c:pt idx="259">
                  <c:v>31.3</c:v>
                </c:pt>
                <c:pt idx="260">
                  <c:v>31.3</c:v>
                </c:pt>
                <c:pt idx="261">
                  <c:v>31.3</c:v>
                </c:pt>
                <c:pt idx="262">
                  <c:v>31.3</c:v>
                </c:pt>
                <c:pt idx="263">
                  <c:v>31.3</c:v>
                </c:pt>
                <c:pt idx="264">
                  <c:v>31.3</c:v>
                </c:pt>
                <c:pt idx="265">
                  <c:v>31.4</c:v>
                </c:pt>
                <c:pt idx="266">
                  <c:v>31.4</c:v>
                </c:pt>
                <c:pt idx="267">
                  <c:v>31.4</c:v>
                </c:pt>
                <c:pt idx="268">
                  <c:v>31.4</c:v>
                </c:pt>
                <c:pt idx="269">
                  <c:v>31.4</c:v>
                </c:pt>
                <c:pt idx="270">
                  <c:v>31.4</c:v>
                </c:pt>
                <c:pt idx="271" formatCode="0.0">
                  <c:v>31.869999999999997</c:v>
                </c:pt>
                <c:pt idx="272" formatCode="0.0">
                  <c:v>32.339999999999996</c:v>
                </c:pt>
                <c:pt idx="273" formatCode="0.0">
                  <c:v>32.809999999999995</c:v>
                </c:pt>
                <c:pt idx="274" formatCode="0.0">
                  <c:v>33.279999999999994</c:v>
                </c:pt>
                <c:pt idx="275" formatCode="0.0">
                  <c:v>33.749999999999993</c:v>
                </c:pt>
                <c:pt idx="276" formatCode="0.0">
                  <c:v>34.219999999999992</c:v>
                </c:pt>
                <c:pt idx="277" formatCode="0.0">
                  <c:v>34.689999999999991</c:v>
                </c:pt>
                <c:pt idx="278" formatCode="0.0">
                  <c:v>35.159999999999989</c:v>
                </c:pt>
                <c:pt idx="279" formatCode="0.0">
                  <c:v>35.629999999999988</c:v>
                </c:pt>
                <c:pt idx="280" formatCode="0.0">
                  <c:v>36.099999999999987</c:v>
                </c:pt>
                <c:pt idx="281" formatCode="0.0">
                  <c:v>36.569999999999986</c:v>
                </c:pt>
                <c:pt idx="282" formatCode="0.0">
                  <c:v>37.039999999999985</c:v>
                </c:pt>
                <c:pt idx="283" formatCode="0.0">
                  <c:v>37.509999999999984</c:v>
                </c:pt>
                <c:pt idx="284" formatCode="0.0">
                  <c:v>37.979999999999983</c:v>
                </c:pt>
                <c:pt idx="285" formatCode="0.0">
                  <c:v>38.449999999999982</c:v>
                </c:pt>
                <c:pt idx="286" formatCode="0.0">
                  <c:v>38.91999999999998</c:v>
                </c:pt>
                <c:pt idx="287" formatCode="0.0">
                  <c:v>39.389999999999979</c:v>
                </c:pt>
                <c:pt idx="288" formatCode="0.0">
                  <c:v>39.859999999999978</c:v>
                </c:pt>
                <c:pt idx="289" formatCode="0.0">
                  <c:v>40.329999999999977</c:v>
                </c:pt>
                <c:pt idx="290">
                  <c:v>40.799999999999997</c:v>
                </c:pt>
                <c:pt idx="291">
                  <c:v>40.799999999999997</c:v>
                </c:pt>
                <c:pt idx="292">
                  <c:v>40.799999999999997</c:v>
                </c:pt>
                <c:pt idx="293">
                  <c:v>40.799999999999997</c:v>
                </c:pt>
                <c:pt idx="294">
                  <c:v>40.799999999999997</c:v>
                </c:pt>
                <c:pt idx="295">
                  <c:v>40.799999999999997</c:v>
                </c:pt>
                <c:pt idx="296">
                  <c:v>40.799999999999997</c:v>
                </c:pt>
                <c:pt idx="297">
                  <c:v>40.799999999999997</c:v>
                </c:pt>
                <c:pt idx="298">
                  <c:v>40.799999999999997</c:v>
                </c:pt>
                <c:pt idx="299">
                  <c:v>40.799999999999997</c:v>
                </c:pt>
                <c:pt idx="300">
                  <c:v>40.799999999999997</c:v>
                </c:pt>
                <c:pt idx="301">
                  <c:v>40.799999999999997</c:v>
                </c:pt>
                <c:pt idx="302">
                  <c:v>40.799999999999997</c:v>
                </c:pt>
                <c:pt idx="303">
                  <c:v>41.5</c:v>
                </c:pt>
                <c:pt idx="304">
                  <c:v>41.5</c:v>
                </c:pt>
                <c:pt idx="305">
                  <c:v>41.5</c:v>
                </c:pt>
                <c:pt idx="306">
                  <c:v>41.5</c:v>
                </c:pt>
                <c:pt idx="307">
                  <c:v>41.5</c:v>
                </c:pt>
                <c:pt idx="308">
                  <c:v>41.5</c:v>
                </c:pt>
                <c:pt idx="309">
                  <c:v>41.5</c:v>
                </c:pt>
                <c:pt idx="310">
                  <c:v>41.5</c:v>
                </c:pt>
                <c:pt idx="311">
                  <c:v>41.5</c:v>
                </c:pt>
                <c:pt idx="312">
                  <c:v>41.5</c:v>
                </c:pt>
                <c:pt idx="313">
                  <c:v>41.5</c:v>
                </c:pt>
                <c:pt idx="314">
                  <c:v>41.5</c:v>
                </c:pt>
                <c:pt idx="315">
                  <c:v>41.5</c:v>
                </c:pt>
                <c:pt idx="316">
                  <c:v>42.7</c:v>
                </c:pt>
                <c:pt idx="317">
                  <c:v>42.7</c:v>
                </c:pt>
                <c:pt idx="318">
                  <c:v>42.7</c:v>
                </c:pt>
                <c:pt idx="319">
                  <c:v>42.7</c:v>
                </c:pt>
                <c:pt idx="320">
                  <c:v>42.7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93E-450C-9F69-4CAB793308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6448848"/>
        <c:axId val="526451800"/>
      </c:lineChart>
      <c:lineChart>
        <c:grouping val="standard"/>
        <c:varyColors val="0"/>
        <c:ser>
          <c:idx val="1"/>
          <c:order val="0"/>
          <c:tx>
            <c:strRef>
              <c:f>출력제어Raw!$C$1</c:f>
              <c:strCache>
                <c:ptCount val="1"/>
                <c:pt idx="0">
                  <c:v>선속</c:v>
                </c:pt>
              </c:strCache>
            </c:strRef>
          </c:tx>
          <c:spPr>
            <a:ln w="12700" cap="rnd">
              <a:noFill/>
              <a:prstDash val="sysDash"/>
              <a:round/>
            </a:ln>
            <a:effectLst/>
          </c:spPr>
          <c:marker>
            <c:symbol val="none"/>
          </c:marker>
          <c:cat>
            <c:numRef>
              <c:f>출력제어Raw!$B$2:$B$322</c:f>
              <c:numCache>
                <c:formatCode>General</c:formatCode>
                <c:ptCount val="321"/>
                <c:pt idx="0">
                  <c:v>-2</c:v>
                </c:pt>
                <c:pt idx="1">
                  <c:v>-1.9</c:v>
                </c:pt>
                <c:pt idx="2">
                  <c:v>-1.8</c:v>
                </c:pt>
                <c:pt idx="3">
                  <c:v>-1.7</c:v>
                </c:pt>
                <c:pt idx="4">
                  <c:v>-1.6</c:v>
                </c:pt>
                <c:pt idx="5">
                  <c:v>-1.5</c:v>
                </c:pt>
                <c:pt idx="6">
                  <c:v>-1.4</c:v>
                </c:pt>
                <c:pt idx="7">
                  <c:v>-1.3</c:v>
                </c:pt>
                <c:pt idx="8">
                  <c:v>-1.2</c:v>
                </c:pt>
                <c:pt idx="9">
                  <c:v>-1.1000000000000001</c:v>
                </c:pt>
                <c:pt idx="10">
                  <c:v>-1</c:v>
                </c:pt>
                <c:pt idx="11">
                  <c:v>-0.9</c:v>
                </c:pt>
                <c:pt idx="12">
                  <c:v>-0.8</c:v>
                </c:pt>
                <c:pt idx="13">
                  <c:v>-0.7</c:v>
                </c:pt>
                <c:pt idx="14">
                  <c:v>-0.6</c:v>
                </c:pt>
                <c:pt idx="15">
                  <c:v>-0.5</c:v>
                </c:pt>
                <c:pt idx="16">
                  <c:v>-0.4</c:v>
                </c:pt>
                <c:pt idx="17">
                  <c:v>-0.3</c:v>
                </c:pt>
                <c:pt idx="18">
                  <c:v>-0.2</c:v>
                </c:pt>
                <c:pt idx="19">
                  <c:v>-0.1</c:v>
                </c:pt>
                <c:pt idx="20">
                  <c:v>0</c:v>
                </c:pt>
                <c:pt idx="21">
                  <c:v>0.1</c:v>
                </c:pt>
                <c:pt idx="22">
                  <c:v>0.2</c:v>
                </c:pt>
                <c:pt idx="23">
                  <c:v>0.3</c:v>
                </c:pt>
                <c:pt idx="24">
                  <c:v>0.4</c:v>
                </c:pt>
                <c:pt idx="25">
                  <c:v>0.5</c:v>
                </c:pt>
                <c:pt idx="26">
                  <c:v>0.6</c:v>
                </c:pt>
                <c:pt idx="27">
                  <c:v>0.7</c:v>
                </c:pt>
                <c:pt idx="28">
                  <c:v>0.8</c:v>
                </c:pt>
                <c:pt idx="29">
                  <c:v>0.9</c:v>
                </c:pt>
                <c:pt idx="30">
                  <c:v>1</c:v>
                </c:pt>
                <c:pt idx="31">
                  <c:v>1.1000000000000001</c:v>
                </c:pt>
                <c:pt idx="32">
                  <c:v>1.2</c:v>
                </c:pt>
                <c:pt idx="33">
                  <c:v>1.3</c:v>
                </c:pt>
                <c:pt idx="34">
                  <c:v>1.4</c:v>
                </c:pt>
                <c:pt idx="35">
                  <c:v>1.5</c:v>
                </c:pt>
                <c:pt idx="36">
                  <c:v>1.6</c:v>
                </c:pt>
                <c:pt idx="37">
                  <c:v>1.7</c:v>
                </c:pt>
                <c:pt idx="38">
                  <c:v>1.8</c:v>
                </c:pt>
                <c:pt idx="39">
                  <c:v>1.9</c:v>
                </c:pt>
                <c:pt idx="40">
                  <c:v>2</c:v>
                </c:pt>
                <c:pt idx="41">
                  <c:v>2.1</c:v>
                </c:pt>
                <c:pt idx="42">
                  <c:v>2.2000000000000002</c:v>
                </c:pt>
                <c:pt idx="43">
                  <c:v>2.2999999999999998</c:v>
                </c:pt>
                <c:pt idx="44">
                  <c:v>2.4</c:v>
                </c:pt>
                <c:pt idx="45">
                  <c:v>2.5</c:v>
                </c:pt>
                <c:pt idx="46">
                  <c:v>2.6</c:v>
                </c:pt>
                <c:pt idx="47">
                  <c:v>2.7</c:v>
                </c:pt>
                <c:pt idx="48">
                  <c:v>2.8</c:v>
                </c:pt>
                <c:pt idx="49">
                  <c:v>2.9</c:v>
                </c:pt>
                <c:pt idx="50">
                  <c:v>3</c:v>
                </c:pt>
                <c:pt idx="51">
                  <c:v>3.1</c:v>
                </c:pt>
                <c:pt idx="52">
                  <c:v>3.2</c:v>
                </c:pt>
                <c:pt idx="53">
                  <c:v>3.3</c:v>
                </c:pt>
                <c:pt idx="54">
                  <c:v>3.4</c:v>
                </c:pt>
                <c:pt idx="55">
                  <c:v>3.5</c:v>
                </c:pt>
                <c:pt idx="56">
                  <c:v>3.6</c:v>
                </c:pt>
                <c:pt idx="57">
                  <c:v>3.7</c:v>
                </c:pt>
                <c:pt idx="58">
                  <c:v>3.8</c:v>
                </c:pt>
                <c:pt idx="59">
                  <c:v>3.9</c:v>
                </c:pt>
                <c:pt idx="60">
                  <c:v>4</c:v>
                </c:pt>
                <c:pt idx="61">
                  <c:v>4.0999999999999996</c:v>
                </c:pt>
                <c:pt idx="62">
                  <c:v>4.2</c:v>
                </c:pt>
                <c:pt idx="63">
                  <c:v>4.3</c:v>
                </c:pt>
                <c:pt idx="64">
                  <c:v>4.4000000000000004</c:v>
                </c:pt>
                <c:pt idx="65">
                  <c:v>4.5</c:v>
                </c:pt>
                <c:pt idx="66">
                  <c:v>4.5999999999999996</c:v>
                </c:pt>
                <c:pt idx="67">
                  <c:v>4.7</c:v>
                </c:pt>
                <c:pt idx="68">
                  <c:v>4.8</c:v>
                </c:pt>
                <c:pt idx="69">
                  <c:v>4.9000000000000004</c:v>
                </c:pt>
                <c:pt idx="70">
                  <c:v>5</c:v>
                </c:pt>
                <c:pt idx="71">
                  <c:v>5.0999999999999996</c:v>
                </c:pt>
                <c:pt idx="72">
                  <c:v>5.2</c:v>
                </c:pt>
                <c:pt idx="73">
                  <c:v>5.3</c:v>
                </c:pt>
                <c:pt idx="74">
                  <c:v>5.4</c:v>
                </c:pt>
                <c:pt idx="75">
                  <c:v>5.5</c:v>
                </c:pt>
                <c:pt idx="76">
                  <c:v>5.6</c:v>
                </c:pt>
                <c:pt idx="77">
                  <c:v>5.7</c:v>
                </c:pt>
                <c:pt idx="78">
                  <c:v>5.8</c:v>
                </c:pt>
                <c:pt idx="79">
                  <c:v>5.9</c:v>
                </c:pt>
                <c:pt idx="80">
                  <c:v>6</c:v>
                </c:pt>
                <c:pt idx="81">
                  <c:v>6.1</c:v>
                </c:pt>
                <c:pt idx="82">
                  <c:v>6.2</c:v>
                </c:pt>
                <c:pt idx="83">
                  <c:v>6.3</c:v>
                </c:pt>
                <c:pt idx="84">
                  <c:v>6.4</c:v>
                </c:pt>
                <c:pt idx="85">
                  <c:v>6.5</c:v>
                </c:pt>
                <c:pt idx="86">
                  <c:v>6.6</c:v>
                </c:pt>
                <c:pt idx="87">
                  <c:v>6.7</c:v>
                </c:pt>
                <c:pt idx="88">
                  <c:v>6.8</c:v>
                </c:pt>
                <c:pt idx="89">
                  <c:v>6.9</c:v>
                </c:pt>
                <c:pt idx="90">
                  <c:v>7</c:v>
                </c:pt>
                <c:pt idx="91">
                  <c:v>7.1</c:v>
                </c:pt>
                <c:pt idx="92">
                  <c:v>7.2</c:v>
                </c:pt>
                <c:pt idx="93">
                  <c:v>7.3</c:v>
                </c:pt>
                <c:pt idx="94">
                  <c:v>7.4</c:v>
                </c:pt>
                <c:pt idx="95">
                  <c:v>7.5</c:v>
                </c:pt>
                <c:pt idx="96">
                  <c:v>7.6</c:v>
                </c:pt>
                <c:pt idx="97">
                  <c:v>7.7</c:v>
                </c:pt>
                <c:pt idx="98">
                  <c:v>7.8</c:v>
                </c:pt>
                <c:pt idx="99">
                  <c:v>7.9</c:v>
                </c:pt>
                <c:pt idx="100">
                  <c:v>8</c:v>
                </c:pt>
                <c:pt idx="101">
                  <c:v>8.1</c:v>
                </c:pt>
                <c:pt idx="102">
                  <c:v>8.1999999999999993</c:v>
                </c:pt>
                <c:pt idx="103">
                  <c:v>8.3000000000000007</c:v>
                </c:pt>
                <c:pt idx="104">
                  <c:v>8.4</c:v>
                </c:pt>
                <c:pt idx="105">
                  <c:v>8.5</c:v>
                </c:pt>
                <c:pt idx="106">
                  <c:v>8.6</c:v>
                </c:pt>
                <c:pt idx="107">
                  <c:v>8.6999999999999993</c:v>
                </c:pt>
                <c:pt idx="108">
                  <c:v>8.8000000000000007</c:v>
                </c:pt>
                <c:pt idx="109">
                  <c:v>8.9</c:v>
                </c:pt>
                <c:pt idx="110">
                  <c:v>9</c:v>
                </c:pt>
                <c:pt idx="111">
                  <c:v>9.1</c:v>
                </c:pt>
                <c:pt idx="112">
                  <c:v>9.1999999999999993</c:v>
                </c:pt>
                <c:pt idx="113">
                  <c:v>9.3000000000000007</c:v>
                </c:pt>
                <c:pt idx="114">
                  <c:v>9.4</c:v>
                </c:pt>
                <c:pt idx="115">
                  <c:v>9.5</c:v>
                </c:pt>
                <c:pt idx="116">
                  <c:v>9.6</c:v>
                </c:pt>
                <c:pt idx="117">
                  <c:v>9.6999999999999993</c:v>
                </c:pt>
                <c:pt idx="118">
                  <c:v>9.8000000000000007</c:v>
                </c:pt>
                <c:pt idx="119">
                  <c:v>9.9</c:v>
                </c:pt>
                <c:pt idx="120">
                  <c:v>10</c:v>
                </c:pt>
                <c:pt idx="121">
                  <c:v>10.1</c:v>
                </c:pt>
                <c:pt idx="122">
                  <c:v>10.199999999999999</c:v>
                </c:pt>
                <c:pt idx="123">
                  <c:v>10.3</c:v>
                </c:pt>
                <c:pt idx="124">
                  <c:v>10.4</c:v>
                </c:pt>
                <c:pt idx="125">
                  <c:v>10.5</c:v>
                </c:pt>
                <c:pt idx="126">
                  <c:v>10.6</c:v>
                </c:pt>
                <c:pt idx="127">
                  <c:v>10.7</c:v>
                </c:pt>
                <c:pt idx="128">
                  <c:v>10.8</c:v>
                </c:pt>
                <c:pt idx="129">
                  <c:v>10.9</c:v>
                </c:pt>
                <c:pt idx="130">
                  <c:v>11</c:v>
                </c:pt>
                <c:pt idx="131">
                  <c:v>11.1</c:v>
                </c:pt>
                <c:pt idx="132">
                  <c:v>11.2</c:v>
                </c:pt>
                <c:pt idx="133">
                  <c:v>11.3</c:v>
                </c:pt>
                <c:pt idx="134">
                  <c:v>11.4</c:v>
                </c:pt>
                <c:pt idx="135">
                  <c:v>11.5</c:v>
                </c:pt>
                <c:pt idx="136">
                  <c:v>11.6</c:v>
                </c:pt>
                <c:pt idx="137">
                  <c:v>11.7</c:v>
                </c:pt>
                <c:pt idx="138">
                  <c:v>11.8</c:v>
                </c:pt>
                <c:pt idx="139">
                  <c:v>11.9</c:v>
                </c:pt>
                <c:pt idx="140">
                  <c:v>12</c:v>
                </c:pt>
                <c:pt idx="141">
                  <c:v>12.1</c:v>
                </c:pt>
                <c:pt idx="142">
                  <c:v>12.2</c:v>
                </c:pt>
                <c:pt idx="143">
                  <c:v>12.3</c:v>
                </c:pt>
                <c:pt idx="144">
                  <c:v>12.4</c:v>
                </c:pt>
                <c:pt idx="145">
                  <c:v>12.5</c:v>
                </c:pt>
                <c:pt idx="146">
                  <c:v>12.6</c:v>
                </c:pt>
                <c:pt idx="147">
                  <c:v>12.7</c:v>
                </c:pt>
                <c:pt idx="148">
                  <c:v>12.8</c:v>
                </c:pt>
                <c:pt idx="149">
                  <c:v>12.9</c:v>
                </c:pt>
                <c:pt idx="150">
                  <c:v>13</c:v>
                </c:pt>
                <c:pt idx="151">
                  <c:v>13.1</c:v>
                </c:pt>
                <c:pt idx="152">
                  <c:v>13.2</c:v>
                </c:pt>
                <c:pt idx="153">
                  <c:v>13.3</c:v>
                </c:pt>
                <c:pt idx="154">
                  <c:v>13.4</c:v>
                </c:pt>
                <c:pt idx="155">
                  <c:v>13.5</c:v>
                </c:pt>
                <c:pt idx="156">
                  <c:v>13.6</c:v>
                </c:pt>
                <c:pt idx="157">
                  <c:v>13.7</c:v>
                </c:pt>
                <c:pt idx="158">
                  <c:v>13.8</c:v>
                </c:pt>
                <c:pt idx="159">
                  <c:v>13.9</c:v>
                </c:pt>
                <c:pt idx="160">
                  <c:v>14</c:v>
                </c:pt>
                <c:pt idx="161">
                  <c:v>14.1</c:v>
                </c:pt>
                <c:pt idx="162">
                  <c:v>14.2</c:v>
                </c:pt>
                <c:pt idx="163">
                  <c:v>14.3</c:v>
                </c:pt>
                <c:pt idx="164">
                  <c:v>14.4</c:v>
                </c:pt>
                <c:pt idx="165">
                  <c:v>14.5</c:v>
                </c:pt>
                <c:pt idx="166">
                  <c:v>14.6</c:v>
                </c:pt>
                <c:pt idx="167">
                  <c:v>14.7</c:v>
                </c:pt>
                <c:pt idx="168">
                  <c:v>14.8</c:v>
                </c:pt>
                <c:pt idx="169">
                  <c:v>14.9</c:v>
                </c:pt>
                <c:pt idx="170">
                  <c:v>15</c:v>
                </c:pt>
                <c:pt idx="171">
                  <c:v>15.1</c:v>
                </c:pt>
                <c:pt idx="172">
                  <c:v>15.2</c:v>
                </c:pt>
                <c:pt idx="173">
                  <c:v>15.3</c:v>
                </c:pt>
                <c:pt idx="174">
                  <c:v>15.4</c:v>
                </c:pt>
                <c:pt idx="175">
                  <c:v>15.5</c:v>
                </c:pt>
                <c:pt idx="176">
                  <c:v>15.6</c:v>
                </c:pt>
                <c:pt idx="177">
                  <c:v>15.7</c:v>
                </c:pt>
                <c:pt idx="178">
                  <c:v>15.8</c:v>
                </c:pt>
                <c:pt idx="179">
                  <c:v>15.9</c:v>
                </c:pt>
                <c:pt idx="180">
                  <c:v>16</c:v>
                </c:pt>
                <c:pt idx="181">
                  <c:v>16.100000000000001</c:v>
                </c:pt>
                <c:pt idx="182">
                  <c:v>16.2</c:v>
                </c:pt>
                <c:pt idx="183">
                  <c:v>16.3</c:v>
                </c:pt>
                <c:pt idx="184">
                  <c:v>16.399999999999999</c:v>
                </c:pt>
                <c:pt idx="185">
                  <c:v>16.5</c:v>
                </c:pt>
                <c:pt idx="186">
                  <c:v>16.600000000000001</c:v>
                </c:pt>
                <c:pt idx="187">
                  <c:v>16.7</c:v>
                </c:pt>
                <c:pt idx="188">
                  <c:v>16.8</c:v>
                </c:pt>
                <c:pt idx="189">
                  <c:v>16.899999999999999</c:v>
                </c:pt>
                <c:pt idx="190">
                  <c:v>17</c:v>
                </c:pt>
                <c:pt idx="191">
                  <c:v>17.100000000000001</c:v>
                </c:pt>
                <c:pt idx="192">
                  <c:v>17.2</c:v>
                </c:pt>
                <c:pt idx="193">
                  <c:v>17.3</c:v>
                </c:pt>
                <c:pt idx="194">
                  <c:v>17.399999999999999</c:v>
                </c:pt>
                <c:pt idx="195">
                  <c:v>17.5</c:v>
                </c:pt>
                <c:pt idx="196">
                  <c:v>17.600000000000001</c:v>
                </c:pt>
                <c:pt idx="197">
                  <c:v>17.7</c:v>
                </c:pt>
                <c:pt idx="198">
                  <c:v>17.8</c:v>
                </c:pt>
                <c:pt idx="199">
                  <c:v>17.899999999999999</c:v>
                </c:pt>
                <c:pt idx="200">
                  <c:v>18</c:v>
                </c:pt>
                <c:pt idx="201">
                  <c:v>18.100000000000001</c:v>
                </c:pt>
                <c:pt idx="202">
                  <c:v>18.2</c:v>
                </c:pt>
                <c:pt idx="203">
                  <c:v>18.3</c:v>
                </c:pt>
                <c:pt idx="204">
                  <c:v>18.399999999999999</c:v>
                </c:pt>
                <c:pt idx="205">
                  <c:v>18.5</c:v>
                </c:pt>
                <c:pt idx="206">
                  <c:v>18.600000000000001</c:v>
                </c:pt>
                <c:pt idx="207">
                  <c:v>18.7</c:v>
                </c:pt>
                <c:pt idx="208">
                  <c:v>18.8</c:v>
                </c:pt>
                <c:pt idx="209">
                  <c:v>18.899999999999999</c:v>
                </c:pt>
                <c:pt idx="210">
                  <c:v>19</c:v>
                </c:pt>
                <c:pt idx="211">
                  <c:v>19.100000000000001</c:v>
                </c:pt>
                <c:pt idx="212">
                  <c:v>19.2</c:v>
                </c:pt>
                <c:pt idx="213">
                  <c:v>19.3</c:v>
                </c:pt>
                <c:pt idx="214">
                  <c:v>19.399999999999999</c:v>
                </c:pt>
                <c:pt idx="215">
                  <c:v>19.5</c:v>
                </c:pt>
                <c:pt idx="216">
                  <c:v>19.600000000000001</c:v>
                </c:pt>
                <c:pt idx="217">
                  <c:v>19.7</c:v>
                </c:pt>
                <c:pt idx="218">
                  <c:v>19.8</c:v>
                </c:pt>
                <c:pt idx="219">
                  <c:v>19.899999999999999</c:v>
                </c:pt>
                <c:pt idx="220">
                  <c:v>20</c:v>
                </c:pt>
                <c:pt idx="221">
                  <c:v>20.100000000000001</c:v>
                </c:pt>
                <c:pt idx="222">
                  <c:v>20.2</c:v>
                </c:pt>
                <c:pt idx="223">
                  <c:v>20.3</c:v>
                </c:pt>
                <c:pt idx="224">
                  <c:v>20.399999999999999</c:v>
                </c:pt>
                <c:pt idx="225">
                  <c:v>20.5</c:v>
                </c:pt>
                <c:pt idx="226">
                  <c:v>20.6</c:v>
                </c:pt>
                <c:pt idx="227">
                  <c:v>20.7</c:v>
                </c:pt>
                <c:pt idx="228">
                  <c:v>20.8</c:v>
                </c:pt>
                <c:pt idx="229">
                  <c:v>20.9</c:v>
                </c:pt>
                <c:pt idx="230">
                  <c:v>21</c:v>
                </c:pt>
                <c:pt idx="231">
                  <c:v>21.1</c:v>
                </c:pt>
                <c:pt idx="232">
                  <c:v>21.2</c:v>
                </c:pt>
                <c:pt idx="233">
                  <c:v>21.3</c:v>
                </c:pt>
                <c:pt idx="234">
                  <c:v>21.4</c:v>
                </c:pt>
                <c:pt idx="235">
                  <c:v>21.5</c:v>
                </c:pt>
                <c:pt idx="236">
                  <c:v>21.6</c:v>
                </c:pt>
                <c:pt idx="237">
                  <c:v>21.7</c:v>
                </c:pt>
                <c:pt idx="238">
                  <c:v>21.8</c:v>
                </c:pt>
                <c:pt idx="239">
                  <c:v>21.9</c:v>
                </c:pt>
                <c:pt idx="240">
                  <c:v>22</c:v>
                </c:pt>
                <c:pt idx="241">
                  <c:v>22.1</c:v>
                </c:pt>
                <c:pt idx="242">
                  <c:v>22.2</c:v>
                </c:pt>
                <c:pt idx="243">
                  <c:v>22.3</c:v>
                </c:pt>
                <c:pt idx="244">
                  <c:v>22.4</c:v>
                </c:pt>
                <c:pt idx="245">
                  <c:v>22.5</c:v>
                </c:pt>
                <c:pt idx="246">
                  <c:v>22.6</c:v>
                </c:pt>
                <c:pt idx="247">
                  <c:v>22.7</c:v>
                </c:pt>
                <c:pt idx="248">
                  <c:v>22.8</c:v>
                </c:pt>
                <c:pt idx="249">
                  <c:v>22.9</c:v>
                </c:pt>
                <c:pt idx="250">
                  <c:v>23</c:v>
                </c:pt>
                <c:pt idx="251">
                  <c:v>23.1</c:v>
                </c:pt>
                <c:pt idx="252">
                  <c:v>23.2</c:v>
                </c:pt>
                <c:pt idx="253">
                  <c:v>23.3</c:v>
                </c:pt>
                <c:pt idx="254">
                  <c:v>23.4</c:v>
                </c:pt>
                <c:pt idx="255">
                  <c:v>23.5</c:v>
                </c:pt>
                <c:pt idx="256">
                  <c:v>23.6</c:v>
                </c:pt>
                <c:pt idx="257">
                  <c:v>23.6999999999999</c:v>
                </c:pt>
                <c:pt idx="258">
                  <c:v>23.799999999999901</c:v>
                </c:pt>
                <c:pt idx="259">
                  <c:v>23.899999999999899</c:v>
                </c:pt>
                <c:pt idx="260">
                  <c:v>23.999999999999901</c:v>
                </c:pt>
                <c:pt idx="261">
                  <c:v>24.099999999999898</c:v>
                </c:pt>
                <c:pt idx="262">
                  <c:v>24.1999999999999</c:v>
                </c:pt>
                <c:pt idx="263">
                  <c:v>24.299999999999901</c:v>
                </c:pt>
                <c:pt idx="264">
                  <c:v>24.399999999999899</c:v>
                </c:pt>
                <c:pt idx="265">
                  <c:v>24.499999999999901</c:v>
                </c:pt>
                <c:pt idx="266">
                  <c:v>24.599999999999898</c:v>
                </c:pt>
                <c:pt idx="267">
                  <c:v>24.6999999999999</c:v>
                </c:pt>
                <c:pt idx="268">
                  <c:v>24.799999999999901</c:v>
                </c:pt>
                <c:pt idx="269">
                  <c:v>24.899999999999899</c:v>
                </c:pt>
                <c:pt idx="270">
                  <c:v>24.999999999999901</c:v>
                </c:pt>
                <c:pt idx="271">
                  <c:v>25.099999999999898</c:v>
                </c:pt>
                <c:pt idx="272">
                  <c:v>25.1999999999999</c:v>
                </c:pt>
                <c:pt idx="273">
                  <c:v>25.299999999999901</c:v>
                </c:pt>
                <c:pt idx="274">
                  <c:v>25.399999999999899</c:v>
                </c:pt>
                <c:pt idx="275">
                  <c:v>25.499999999999901</c:v>
                </c:pt>
                <c:pt idx="276">
                  <c:v>25.599999999999898</c:v>
                </c:pt>
                <c:pt idx="277">
                  <c:v>25.6999999999999</c:v>
                </c:pt>
                <c:pt idx="278">
                  <c:v>25.799999999999901</c:v>
                </c:pt>
                <c:pt idx="279">
                  <c:v>25.899999999999899</c:v>
                </c:pt>
                <c:pt idx="280">
                  <c:v>25.999999999999901</c:v>
                </c:pt>
                <c:pt idx="281">
                  <c:v>26.099999999999898</c:v>
                </c:pt>
                <c:pt idx="282">
                  <c:v>26.1999999999999</c:v>
                </c:pt>
                <c:pt idx="283">
                  <c:v>26.299999999999901</c:v>
                </c:pt>
                <c:pt idx="284">
                  <c:v>26.399999999999899</c:v>
                </c:pt>
                <c:pt idx="285">
                  <c:v>26.499999999999901</c:v>
                </c:pt>
                <c:pt idx="286">
                  <c:v>26.599999999999898</c:v>
                </c:pt>
                <c:pt idx="287">
                  <c:v>26.6999999999999</c:v>
                </c:pt>
                <c:pt idx="288">
                  <c:v>26.799999999999901</c:v>
                </c:pt>
                <c:pt idx="289">
                  <c:v>26.899999999999899</c:v>
                </c:pt>
                <c:pt idx="290">
                  <c:v>26.999999999999901</c:v>
                </c:pt>
                <c:pt idx="291">
                  <c:v>27.099999999999898</c:v>
                </c:pt>
                <c:pt idx="292">
                  <c:v>27.1999999999999</c:v>
                </c:pt>
                <c:pt idx="293">
                  <c:v>27.299999999999901</c:v>
                </c:pt>
                <c:pt idx="294">
                  <c:v>27.399999999999899</c:v>
                </c:pt>
                <c:pt idx="295">
                  <c:v>27.499999999999901</c:v>
                </c:pt>
                <c:pt idx="296">
                  <c:v>27.599999999999898</c:v>
                </c:pt>
                <c:pt idx="297">
                  <c:v>27.6999999999999</c:v>
                </c:pt>
                <c:pt idx="298">
                  <c:v>27.799999999999901</c:v>
                </c:pt>
                <c:pt idx="299">
                  <c:v>27.899999999999899</c:v>
                </c:pt>
                <c:pt idx="300">
                  <c:v>27.999999999999901</c:v>
                </c:pt>
                <c:pt idx="301">
                  <c:v>28.099999999999898</c:v>
                </c:pt>
                <c:pt idx="302">
                  <c:v>28.1999999999999</c:v>
                </c:pt>
                <c:pt idx="303">
                  <c:v>28.299999999999901</c:v>
                </c:pt>
                <c:pt idx="304">
                  <c:v>28.399999999999899</c:v>
                </c:pt>
                <c:pt idx="305">
                  <c:v>28.499999999999901</c:v>
                </c:pt>
                <c:pt idx="306">
                  <c:v>28.599999999999898</c:v>
                </c:pt>
                <c:pt idx="307">
                  <c:v>28.6999999999999</c:v>
                </c:pt>
                <c:pt idx="308">
                  <c:v>28.799999999999901</c:v>
                </c:pt>
                <c:pt idx="309">
                  <c:v>28.899999999999899</c:v>
                </c:pt>
                <c:pt idx="310">
                  <c:v>28.999999999999901</c:v>
                </c:pt>
                <c:pt idx="311">
                  <c:v>29.099999999999898</c:v>
                </c:pt>
                <c:pt idx="312">
                  <c:v>29.1999999999999</c:v>
                </c:pt>
                <c:pt idx="313">
                  <c:v>29.299999999999901</c:v>
                </c:pt>
                <c:pt idx="314">
                  <c:v>29.399999999999899</c:v>
                </c:pt>
                <c:pt idx="315">
                  <c:v>29.499999999999901</c:v>
                </c:pt>
                <c:pt idx="316">
                  <c:v>29.599999999999898</c:v>
                </c:pt>
                <c:pt idx="317">
                  <c:v>29.6999999999999</c:v>
                </c:pt>
                <c:pt idx="318">
                  <c:v>29.799999999999901</c:v>
                </c:pt>
                <c:pt idx="319">
                  <c:v>29.899999999999899</c:v>
                </c:pt>
                <c:pt idx="320">
                  <c:v>29.999999999999901</c:v>
                </c:pt>
              </c:numCache>
            </c:numRef>
          </c:cat>
          <c:val>
            <c:numRef>
              <c:f>출력제어Raw!$C$2:$C$322</c:f>
              <c:numCache>
                <c:formatCode>General</c:formatCode>
                <c:ptCount val="3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20</c:v>
                </c:pt>
                <c:pt idx="22">
                  <c:v>40</c:v>
                </c:pt>
                <c:pt idx="23">
                  <c:v>60</c:v>
                </c:pt>
                <c:pt idx="24">
                  <c:v>80</c:v>
                </c:pt>
                <c:pt idx="25">
                  <c:v>100</c:v>
                </c:pt>
                <c:pt idx="26">
                  <c:v>120</c:v>
                </c:pt>
                <c:pt idx="27">
                  <c:v>140</c:v>
                </c:pt>
                <c:pt idx="28">
                  <c:v>160</c:v>
                </c:pt>
                <c:pt idx="29">
                  <c:v>180</c:v>
                </c:pt>
                <c:pt idx="30">
                  <c:v>200</c:v>
                </c:pt>
                <c:pt idx="31">
                  <c:v>220</c:v>
                </c:pt>
                <c:pt idx="32">
                  <c:v>240</c:v>
                </c:pt>
                <c:pt idx="33">
                  <c:v>260</c:v>
                </c:pt>
                <c:pt idx="34">
                  <c:v>280</c:v>
                </c:pt>
                <c:pt idx="35">
                  <c:v>300</c:v>
                </c:pt>
                <c:pt idx="36">
                  <c:v>320</c:v>
                </c:pt>
                <c:pt idx="37">
                  <c:v>340</c:v>
                </c:pt>
                <c:pt idx="38">
                  <c:v>360</c:v>
                </c:pt>
                <c:pt idx="39">
                  <c:v>380</c:v>
                </c:pt>
                <c:pt idx="40">
                  <c:v>400</c:v>
                </c:pt>
                <c:pt idx="41">
                  <c:v>420</c:v>
                </c:pt>
                <c:pt idx="42">
                  <c:v>440</c:v>
                </c:pt>
                <c:pt idx="43">
                  <c:v>460</c:v>
                </c:pt>
                <c:pt idx="44">
                  <c:v>480</c:v>
                </c:pt>
                <c:pt idx="45">
                  <c:v>500</c:v>
                </c:pt>
                <c:pt idx="46">
                  <c:v>520</c:v>
                </c:pt>
                <c:pt idx="47">
                  <c:v>540</c:v>
                </c:pt>
                <c:pt idx="48">
                  <c:v>560</c:v>
                </c:pt>
                <c:pt idx="49">
                  <c:v>580</c:v>
                </c:pt>
                <c:pt idx="50">
                  <c:v>600</c:v>
                </c:pt>
                <c:pt idx="51">
                  <c:v>620</c:v>
                </c:pt>
                <c:pt idx="52">
                  <c:v>640</c:v>
                </c:pt>
                <c:pt idx="53">
                  <c:v>660</c:v>
                </c:pt>
                <c:pt idx="54">
                  <c:v>680</c:v>
                </c:pt>
                <c:pt idx="55">
                  <c:v>700</c:v>
                </c:pt>
                <c:pt idx="56">
                  <c:v>720</c:v>
                </c:pt>
                <c:pt idx="57">
                  <c:v>740</c:v>
                </c:pt>
                <c:pt idx="58">
                  <c:v>760</c:v>
                </c:pt>
                <c:pt idx="59">
                  <c:v>780</c:v>
                </c:pt>
                <c:pt idx="60">
                  <c:v>800</c:v>
                </c:pt>
                <c:pt idx="61">
                  <c:v>820</c:v>
                </c:pt>
                <c:pt idx="62">
                  <c:v>840</c:v>
                </c:pt>
                <c:pt idx="63">
                  <c:v>860</c:v>
                </c:pt>
                <c:pt idx="64">
                  <c:v>880</c:v>
                </c:pt>
                <c:pt idx="65">
                  <c:v>900</c:v>
                </c:pt>
                <c:pt idx="66">
                  <c:v>920</c:v>
                </c:pt>
                <c:pt idx="67">
                  <c:v>940</c:v>
                </c:pt>
                <c:pt idx="68">
                  <c:v>960</c:v>
                </c:pt>
                <c:pt idx="69">
                  <c:v>980</c:v>
                </c:pt>
                <c:pt idx="70">
                  <c:v>1000</c:v>
                </c:pt>
                <c:pt idx="71">
                  <c:v>1000</c:v>
                </c:pt>
                <c:pt idx="72">
                  <c:v>1000</c:v>
                </c:pt>
                <c:pt idx="73">
                  <c:v>1000</c:v>
                </c:pt>
                <c:pt idx="74">
                  <c:v>1000</c:v>
                </c:pt>
                <c:pt idx="75">
                  <c:v>1000</c:v>
                </c:pt>
                <c:pt idx="76">
                  <c:v>1000</c:v>
                </c:pt>
                <c:pt idx="77">
                  <c:v>1000</c:v>
                </c:pt>
                <c:pt idx="78">
                  <c:v>1000</c:v>
                </c:pt>
                <c:pt idx="79">
                  <c:v>1000</c:v>
                </c:pt>
                <c:pt idx="80">
                  <c:v>1000</c:v>
                </c:pt>
                <c:pt idx="81">
                  <c:v>1000</c:v>
                </c:pt>
                <c:pt idx="82">
                  <c:v>1000</c:v>
                </c:pt>
                <c:pt idx="83">
                  <c:v>1000</c:v>
                </c:pt>
                <c:pt idx="84">
                  <c:v>1000</c:v>
                </c:pt>
                <c:pt idx="85">
                  <c:v>1000</c:v>
                </c:pt>
                <c:pt idx="86">
                  <c:v>1000</c:v>
                </c:pt>
                <c:pt idx="87">
                  <c:v>1000</c:v>
                </c:pt>
                <c:pt idx="88">
                  <c:v>1000</c:v>
                </c:pt>
                <c:pt idx="89">
                  <c:v>1000</c:v>
                </c:pt>
                <c:pt idx="90">
                  <c:v>1000</c:v>
                </c:pt>
                <c:pt idx="91">
                  <c:v>1000</c:v>
                </c:pt>
                <c:pt idx="92">
                  <c:v>1000</c:v>
                </c:pt>
                <c:pt idx="93">
                  <c:v>1000</c:v>
                </c:pt>
                <c:pt idx="94">
                  <c:v>1000</c:v>
                </c:pt>
                <c:pt idx="95">
                  <c:v>1000</c:v>
                </c:pt>
                <c:pt idx="96">
                  <c:v>1000</c:v>
                </c:pt>
                <c:pt idx="97">
                  <c:v>1000</c:v>
                </c:pt>
                <c:pt idx="98">
                  <c:v>1000</c:v>
                </c:pt>
                <c:pt idx="99">
                  <c:v>1000</c:v>
                </c:pt>
                <c:pt idx="100">
                  <c:v>1000</c:v>
                </c:pt>
                <c:pt idx="101">
                  <c:v>1000</c:v>
                </c:pt>
                <c:pt idx="102">
                  <c:v>1000</c:v>
                </c:pt>
                <c:pt idx="103">
                  <c:v>1000</c:v>
                </c:pt>
                <c:pt idx="104">
                  <c:v>1000</c:v>
                </c:pt>
                <c:pt idx="105">
                  <c:v>1000</c:v>
                </c:pt>
                <c:pt idx="106">
                  <c:v>1000</c:v>
                </c:pt>
                <c:pt idx="107">
                  <c:v>1000</c:v>
                </c:pt>
                <c:pt idx="108">
                  <c:v>1000</c:v>
                </c:pt>
                <c:pt idx="109">
                  <c:v>1000</c:v>
                </c:pt>
                <c:pt idx="110">
                  <c:v>1000</c:v>
                </c:pt>
                <c:pt idx="111">
                  <c:v>1000</c:v>
                </c:pt>
                <c:pt idx="112">
                  <c:v>1000</c:v>
                </c:pt>
                <c:pt idx="113">
                  <c:v>1000</c:v>
                </c:pt>
                <c:pt idx="114">
                  <c:v>1000</c:v>
                </c:pt>
                <c:pt idx="115">
                  <c:v>1000</c:v>
                </c:pt>
                <c:pt idx="116">
                  <c:v>1000</c:v>
                </c:pt>
                <c:pt idx="117">
                  <c:v>1000</c:v>
                </c:pt>
                <c:pt idx="118">
                  <c:v>1000</c:v>
                </c:pt>
                <c:pt idx="119">
                  <c:v>1000</c:v>
                </c:pt>
                <c:pt idx="120">
                  <c:v>1000</c:v>
                </c:pt>
                <c:pt idx="121">
                  <c:v>1000</c:v>
                </c:pt>
                <c:pt idx="122">
                  <c:v>1000</c:v>
                </c:pt>
                <c:pt idx="123">
                  <c:v>1000</c:v>
                </c:pt>
                <c:pt idx="124">
                  <c:v>1000</c:v>
                </c:pt>
                <c:pt idx="125">
                  <c:v>1000</c:v>
                </c:pt>
                <c:pt idx="126">
                  <c:v>1000</c:v>
                </c:pt>
                <c:pt idx="127">
                  <c:v>1000</c:v>
                </c:pt>
                <c:pt idx="128">
                  <c:v>1000</c:v>
                </c:pt>
                <c:pt idx="129">
                  <c:v>1000</c:v>
                </c:pt>
                <c:pt idx="130">
                  <c:v>1000</c:v>
                </c:pt>
                <c:pt idx="131">
                  <c:v>1000</c:v>
                </c:pt>
                <c:pt idx="132">
                  <c:v>1000</c:v>
                </c:pt>
                <c:pt idx="133">
                  <c:v>1000</c:v>
                </c:pt>
                <c:pt idx="134">
                  <c:v>1000</c:v>
                </c:pt>
                <c:pt idx="135">
                  <c:v>1000</c:v>
                </c:pt>
                <c:pt idx="136">
                  <c:v>1000</c:v>
                </c:pt>
                <c:pt idx="137">
                  <c:v>1000</c:v>
                </c:pt>
                <c:pt idx="138">
                  <c:v>1000</c:v>
                </c:pt>
                <c:pt idx="139">
                  <c:v>1000</c:v>
                </c:pt>
                <c:pt idx="140">
                  <c:v>1000</c:v>
                </c:pt>
                <c:pt idx="141">
                  <c:v>1000</c:v>
                </c:pt>
                <c:pt idx="142">
                  <c:v>1000</c:v>
                </c:pt>
                <c:pt idx="143">
                  <c:v>1000</c:v>
                </c:pt>
                <c:pt idx="144">
                  <c:v>1000</c:v>
                </c:pt>
                <c:pt idx="145">
                  <c:v>1000</c:v>
                </c:pt>
                <c:pt idx="146">
                  <c:v>1000</c:v>
                </c:pt>
                <c:pt idx="147">
                  <c:v>1000</c:v>
                </c:pt>
                <c:pt idx="148">
                  <c:v>1000</c:v>
                </c:pt>
                <c:pt idx="149">
                  <c:v>1000</c:v>
                </c:pt>
                <c:pt idx="150">
                  <c:v>1000</c:v>
                </c:pt>
                <c:pt idx="151">
                  <c:v>1000</c:v>
                </c:pt>
                <c:pt idx="152">
                  <c:v>1000</c:v>
                </c:pt>
                <c:pt idx="153">
                  <c:v>1000</c:v>
                </c:pt>
                <c:pt idx="154">
                  <c:v>1000</c:v>
                </c:pt>
                <c:pt idx="155">
                  <c:v>1000</c:v>
                </c:pt>
                <c:pt idx="156">
                  <c:v>1000</c:v>
                </c:pt>
                <c:pt idx="157">
                  <c:v>1000</c:v>
                </c:pt>
                <c:pt idx="158">
                  <c:v>1000</c:v>
                </c:pt>
                <c:pt idx="159">
                  <c:v>1000</c:v>
                </c:pt>
                <c:pt idx="160">
                  <c:v>1000</c:v>
                </c:pt>
                <c:pt idx="161">
                  <c:v>1000</c:v>
                </c:pt>
                <c:pt idx="162">
                  <c:v>1000</c:v>
                </c:pt>
                <c:pt idx="163">
                  <c:v>1000</c:v>
                </c:pt>
                <c:pt idx="164">
                  <c:v>1000</c:v>
                </c:pt>
                <c:pt idx="165">
                  <c:v>1000</c:v>
                </c:pt>
                <c:pt idx="166">
                  <c:v>1000</c:v>
                </c:pt>
                <c:pt idx="167">
                  <c:v>1000</c:v>
                </c:pt>
                <c:pt idx="168">
                  <c:v>1000</c:v>
                </c:pt>
                <c:pt idx="169">
                  <c:v>1000</c:v>
                </c:pt>
                <c:pt idx="170">
                  <c:v>1000</c:v>
                </c:pt>
                <c:pt idx="171">
                  <c:v>980</c:v>
                </c:pt>
                <c:pt idx="172">
                  <c:v>960</c:v>
                </c:pt>
                <c:pt idx="173">
                  <c:v>940</c:v>
                </c:pt>
                <c:pt idx="174">
                  <c:v>920</c:v>
                </c:pt>
                <c:pt idx="175">
                  <c:v>900</c:v>
                </c:pt>
                <c:pt idx="176">
                  <c:v>880</c:v>
                </c:pt>
                <c:pt idx="177">
                  <c:v>860</c:v>
                </c:pt>
                <c:pt idx="178">
                  <c:v>840</c:v>
                </c:pt>
                <c:pt idx="179">
                  <c:v>820</c:v>
                </c:pt>
                <c:pt idx="180">
                  <c:v>800</c:v>
                </c:pt>
                <c:pt idx="181">
                  <c:v>780</c:v>
                </c:pt>
                <c:pt idx="182">
                  <c:v>760</c:v>
                </c:pt>
                <c:pt idx="183">
                  <c:v>740</c:v>
                </c:pt>
                <c:pt idx="184">
                  <c:v>720</c:v>
                </c:pt>
                <c:pt idx="185">
                  <c:v>700</c:v>
                </c:pt>
                <c:pt idx="186">
                  <c:v>680</c:v>
                </c:pt>
                <c:pt idx="187">
                  <c:v>660</c:v>
                </c:pt>
                <c:pt idx="188">
                  <c:v>640</c:v>
                </c:pt>
                <c:pt idx="189">
                  <c:v>620</c:v>
                </c:pt>
                <c:pt idx="190">
                  <c:v>600</c:v>
                </c:pt>
                <c:pt idx="191">
                  <c:v>580</c:v>
                </c:pt>
                <c:pt idx="192">
                  <c:v>560</c:v>
                </c:pt>
                <c:pt idx="193">
                  <c:v>540</c:v>
                </c:pt>
                <c:pt idx="194">
                  <c:v>520</c:v>
                </c:pt>
                <c:pt idx="195">
                  <c:v>500</c:v>
                </c:pt>
                <c:pt idx="196">
                  <c:v>480</c:v>
                </c:pt>
                <c:pt idx="197">
                  <c:v>460</c:v>
                </c:pt>
                <c:pt idx="198">
                  <c:v>440</c:v>
                </c:pt>
                <c:pt idx="199">
                  <c:v>420</c:v>
                </c:pt>
                <c:pt idx="200">
                  <c:v>400</c:v>
                </c:pt>
                <c:pt idx="201">
                  <c:v>380</c:v>
                </c:pt>
                <c:pt idx="202">
                  <c:v>360</c:v>
                </c:pt>
                <c:pt idx="203">
                  <c:v>340</c:v>
                </c:pt>
                <c:pt idx="204">
                  <c:v>320</c:v>
                </c:pt>
                <c:pt idx="205">
                  <c:v>300</c:v>
                </c:pt>
                <c:pt idx="206">
                  <c:v>280</c:v>
                </c:pt>
                <c:pt idx="207">
                  <c:v>260</c:v>
                </c:pt>
                <c:pt idx="208">
                  <c:v>240</c:v>
                </c:pt>
                <c:pt idx="209">
                  <c:v>220</c:v>
                </c:pt>
                <c:pt idx="210">
                  <c:v>200</c:v>
                </c:pt>
                <c:pt idx="211">
                  <c:v>180</c:v>
                </c:pt>
                <c:pt idx="212">
                  <c:v>160</c:v>
                </c:pt>
                <c:pt idx="213">
                  <c:v>140</c:v>
                </c:pt>
                <c:pt idx="214">
                  <c:v>120</c:v>
                </c:pt>
                <c:pt idx="215">
                  <c:v>100</c:v>
                </c:pt>
                <c:pt idx="216">
                  <c:v>100</c:v>
                </c:pt>
                <c:pt idx="217">
                  <c:v>100</c:v>
                </c:pt>
                <c:pt idx="218">
                  <c:v>100</c:v>
                </c:pt>
                <c:pt idx="219">
                  <c:v>100</c:v>
                </c:pt>
                <c:pt idx="220">
                  <c:v>100</c:v>
                </c:pt>
                <c:pt idx="221">
                  <c:v>100</c:v>
                </c:pt>
                <c:pt idx="222">
                  <c:v>100</c:v>
                </c:pt>
                <c:pt idx="223">
                  <c:v>100</c:v>
                </c:pt>
                <c:pt idx="224">
                  <c:v>100</c:v>
                </c:pt>
                <c:pt idx="225">
                  <c:v>100</c:v>
                </c:pt>
                <c:pt idx="226">
                  <c:v>100</c:v>
                </c:pt>
                <c:pt idx="227">
                  <c:v>100</c:v>
                </c:pt>
                <c:pt idx="228">
                  <c:v>100</c:v>
                </c:pt>
                <c:pt idx="229">
                  <c:v>100</c:v>
                </c:pt>
                <c:pt idx="230">
                  <c:v>100</c:v>
                </c:pt>
                <c:pt idx="231">
                  <c:v>100</c:v>
                </c:pt>
                <c:pt idx="232">
                  <c:v>100</c:v>
                </c:pt>
                <c:pt idx="233">
                  <c:v>100</c:v>
                </c:pt>
                <c:pt idx="234">
                  <c:v>100</c:v>
                </c:pt>
                <c:pt idx="235">
                  <c:v>100</c:v>
                </c:pt>
                <c:pt idx="236">
                  <c:v>100</c:v>
                </c:pt>
                <c:pt idx="237">
                  <c:v>100</c:v>
                </c:pt>
                <c:pt idx="238">
                  <c:v>100</c:v>
                </c:pt>
                <c:pt idx="239">
                  <c:v>100</c:v>
                </c:pt>
                <c:pt idx="240">
                  <c:v>100</c:v>
                </c:pt>
                <c:pt idx="241">
                  <c:v>100</c:v>
                </c:pt>
                <c:pt idx="242">
                  <c:v>100</c:v>
                </c:pt>
                <c:pt idx="243">
                  <c:v>100</c:v>
                </c:pt>
                <c:pt idx="244">
                  <c:v>100</c:v>
                </c:pt>
                <c:pt idx="245">
                  <c:v>100</c:v>
                </c:pt>
                <c:pt idx="246">
                  <c:v>100</c:v>
                </c:pt>
                <c:pt idx="247">
                  <c:v>100</c:v>
                </c:pt>
                <c:pt idx="248">
                  <c:v>100</c:v>
                </c:pt>
                <c:pt idx="249">
                  <c:v>100</c:v>
                </c:pt>
                <c:pt idx="250">
                  <c:v>100</c:v>
                </c:pt>
                <c:pt idx="251">
                  <c:v>100</c:v>
                </c:pt>
                <c:pt idx="252">
                  <c:v>100</c:v>
                </c:pt>
                <c:pt idx="253">
                  <c:v>100</c:v>
                </c:pt>
                <c:pt idx="254">
                  <c:v>100</c:v>
                </c:pt>
                <c:pt idx="255">
                  <c:v>100</c:v>
                </c:pt>
                <c:pt idx="256">
                  <c:v>100</c:v>
                </c:pt>
                <c:pt idx="257">
                  <c:v>100</c:v>
                </c:pt>
                <c:pt idx="258">
                  <c:v>100</c:v>
                </c:pt>
                <c:pt idx="259">
                  <c:v>100</c:v>
                </c:pt>
                <c:pt idx="260">
                  <c:v>100</c:v>
                </c:pt>
                <c:pt idx="261">
                  <c:v>100</c:v>
                </c:pt>
                <c:pt idx="262">
                  <c:v>100</c:v>
                </c:pt>
                <c:pt idx="263">
                  <c:v>100</c:v>
                </c:pt>
                <c:pt idx="264">
                  <c:v>100</c:v>
                </c:pt>
                <c:pt idx="265">
                  <c:v>100</c:v>
                </c:pt>
                <c:pt idx="266">
                  <c:v>100</c:v>
                </c:pt>
                <c:pt idx="267">
                  <c:v>100</c:v>
                </c:pt>
                <c:pt idx="268">
                  <c:v>100</c:v>
                </c:pt>
                <c:pt idx="269">
                  <c:v>100</c:v>
                </c:pt>
                <c:pt idx="270">
                  <c:v>100</c:v>
                </c:pt>
                <c:pt idx="271">
                  <c:v>120</c:v>
                </c:pt>
                <c:pt idx="272">
                  <c:v>140</c:v>
                </c:pt>
                <c:pt idx="273">
                  <c:v>160</c:v>
                </c:pt>
                <c:pt idx="274">
                  <c:v>180</c:v>
                </c:pt>
                <c:pt idx="275">
                  <c:v>200</c:v>
                </c:pt>
                <c:pt idx="276">
                  <c:v>220</c:v>
                </c:pt>
                <c:pt idx="277">
                  <c:v>240</c:v>
                </c:pt>
                <c:pt idx="278">
                  <c:v>260</c:v>
                </c:pt>
                <c:pt idx="279">
                  <c:v>280</c:v>
                </c:pt>
                <c:pt idx="280">
                  <c:v>300</c:v>
                </c:pt>
                <c:pt idx="281">
                  <c:v>320</c:v>
                </c:pt>
                <c:pt idx="282">
                  <c:v>340</c:v>
                </c:pt>
                <c:pt idx="283">
                  <c:v>360</c:v>
                </c:pt>
                <c:pt idx="284">
                  <c:v>380</c:v>
                </c:pt>
                <c:pt idx="285">
                  <c:v>400</c:v>
                </c:pt>
                <c:pt idx="286">
                  <c:v>420</c:v>
                </c:pt>
                <c:pt idx="287">
                  <c:v>440</c:v>
                </c:pt>
                <c:pt idx="288">
                  <c:v>460</c:v>
                </c:pt>
                <c:pt idx="289">
                  <c:v>480</c:v>
                </c:pt>
                <c:pt idx="290">
                  <c:v>500</c:v>
                </c:pt>
                <c:pt idx="291">
                  <c:v>500</c:v>
                </c:pt>
                <c:pt idx="292">
                  <c:v>500</c:v>
                </c:pt>
                <c:pt idx="293">
                  <c:v>500</c:v>
                </c:pt>
                <c:pt idx="294">
                  <c:v>500</c:v>
                </c:pt>
                <c:pt idx="295">
                  <c:v>500</c:v>
                </c:pt>
                <c:pt idx="296">
                  <c:v>500</c:v>
                </c:pt>
                <c:pt idx="297">
                  <c:v>500</c:v>
                </c:pt>
                <c:pt idx="298">
                  <c:v>500</c:v>
                </c:pt>
                <c:pt idx="299">
                  <c:v>500</c:v>
                </c:pt>
                <c:pt idx="300">
                  <c:v>500</c:v>
                </c:pt>
                <c:pt idx="301">
                  <c:v>500</c:v>
                </c:pt>
                <c:pt idx="302">
                  <c:v>500</c:v>
                </c:pt>
                <c:pt idx="303">
                  <c:v>500</c:v>
                </c:pt>
                <c:pt idx="304">
                  <c:v>500</c:v>
                </c:pt>
                <c:pt idx="305">
                  <c:v>500</c:v>
                </c:pt>
                <c:pt idx="306">
                  <c:v>500</c:v>
                </c:pt>
                <c:pt idx="307">
                  <c:v>500</c:v>
                </c:pt>
                <c:pt idx="308">
                  <c:v>500</c:v>
                </c:pt>
                <c:pt idx="309">
                  <c:v>500</c:v>
                </c:pt>
                <c:pt idx="310">
                  <c:v>500</c:v>
                </c:pt>
                <c:pt idx="311">
                  <c:v>500</c:v>
                </c:pt>
                <c:pt idx="312">
                  <c:v>500</c:v>
                </c:pt>
                <c:pt idx="313">
                  <c:v>500</c:v>
                </c:pt>
                <c:pt idx="314">
                  <c:v>500</c:v>
                </c:pt>
                <c:pt idx="315">
                  <c:v>500</c:v>
                </c:pt>
                <c:pt idx="316">
                  <c:v>500</c:v>
                </c:pt>
                <c:pt idx="317">
                  <c:v>500</c:v>
                </c:pt>
                <c:pt idx="318">
                  <c:v>500</c:v>
                </c:pt>
                <c:pt idx="319">
                  <c:v>500</c:v>
                </c:pt>
                <c:pt idx="320">
                  <c:v>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93E-450C-9F69-4CAB793308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7713048"/>
        <c:axId val="527706488"/>
      </c:lineChart>
      <c:catAx>
        <c:axId val="526448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6451800"/>
        <c:crosses val="autoZero"/>
        <c:auto val="1"/>
        <c:lblAlgn val="ctr"/>
        <c:lblOffset val="100"/>
        <c:tickLblSkip val="1"/>
        <c:noMultiLvlLbl val="0"/>
      </c:catAx>
      <c:valAx>
        <c:axId val="526451800"/>
        <c:scaling>
          <c:orientation val="minMax"/>
        </c:scaling>
        <c:delete val="0"/>
        <c:axPos val="l"/>
        <c:majorGridlines>
          <c:spPr>
            <a:ln w="3175" cap="flat" cmpd="sng" algn="ctr">
              <a:solidFill>
                <a:schemeClr val="accent3">
                  <a:alpha val="4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6448848"/>
        <c:crosses val="autoZero"/>
        <c:crossBetween val="between"/>
      </c:valAx>
      <c:valAx>
        <c:axId val="52770648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7713048"/>
        <c:crosses val="max"/>
        <c:crossBetween val="between"/>
      </c:valAx>
      <c:catAx>
        <c:axId val="52771304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2770648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689204693056558"/>
          <c:y val="9.7745878648212589E-2"/>
          <c:w val="0.1593719681752499"/>
          <c:h val="0.2928602248328997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7947D6C-E730-4DCE-9BA2-6911D36B82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976F7F-AB9B-473C-8D1C-0F5C0AB6A0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4491C-D25C-44EA-895B-6873C2D79C61}" type="datetimeFigureOut">
              <a:rPr lang="ko-KR" altLang="en-US" smtClean="0"/>
              <a:t>2026-07-30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CA95FF-0203-467F-8B6F-BB06FA4046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A3EB66-47F0-41FE-AFAB-9571FD7058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D7264-A99F-45E6-B047-FB899C32377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41955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0B3C3-62EC-4941-9737-2C78CBC238D8}" type="datetimeFigureOut">
              <a:rPr lang="ko-KR" altLang="en-US" smtClean="0"/>
              <a:t>2026-07-30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7DFB0-2B7E-4886-A6E6-540480DE8C3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2662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7DFB0-2B7E-4886-A6E6-540480DE8C39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3944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7DFB0-2B7E-4886-A6E6-540480DE8C39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0604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7DFB0-2B7E-4886-A6E6-540480DE8C39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7580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57DFB0-2B7E-4886-A6E6-540480DE8C39}" type="slidenum">
              <a:rPr lang="ko-KR" altLang="en-US" smtClean="0"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03021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8155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976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bg>
      <p:bgPr>
        <a:solidFill>
          <a:srgbClr val="4BBD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2477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A075C7E8-4B71-0F55-EA89-51AE69A86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0" t="5694" r="659" b="1036"/>
          <a:stretch/>
        </p:blipFill>
        <p:spPr>
          <a:xfrm>
            <a:off x="-1" y="6502400"/>
            <a:ext cx="9906001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3769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A075C7E8-4B71-0F55-EA89-51AE69A86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0" t="5694" r="659" b="1036"/>
          <a:stretch/>
        </p:blipFill>
        <p:spPr>
          <a:xfrm>
            <a:off x="-1" y="6502400"/>
            <a:ext cx="9906001" cy="355600"/>
          </a:xfrm>
          <a:prstGeom prst="rect">
            <a:avLst/>
          </a:prstGeom>
        </p:spPr>
      </p:pic>
      <p:sp>
        <p:nvSpPr>
          <p:cNvPr id="4" name="제목 개체 틀 1">
            <a:extLst>
              <a:ext uri="{FF2B5EF4-FFF2-40B4-BE49-F238E27FC236}">
                <a16:creationId xmlns:a16="http://schemas.microsoft.com/office/drawing/2014/main" id="{A68430DE-0FB8-4C3F-A853-78BCFFFD9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34" y="329566"/>
            <a:ext cx="8678129" cy="554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A4B6BFEE-3E50-4AA0-908F-D9FCB6782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834" y="912498"/>
            <a:ext cx="8678129" cy="5264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5E0451-681E-43E3-BD3B-7EC363B8E744}"/>
              </a:ext>
            </a:extLst>
          </p:cNvPr>
          <p:cNvSpPr txBox="1"/>
          <p:nvPr userDrawn="1"/>
        </p:nvSpPr>
        <p:spPr>
          <a:xfrm>
            <a:off x="14748" y="6575901"/>
            <a:ext cx="807147" cy="25917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</a:rPr>
              <a:t>Confidential</a:t>
            </a:r>
            <a:endParaRPr kumimoji="0" lang="ko-KR" altLang="en-US" sz="1000" b="1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368F41-ACB2-45C7-BA39-F99350C042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483" y="6619281"/>
            <a:ext cx="2646040" cy="190240"/>
          </a:xfrm>
          <a:prstGeom prst="rect">
            <a:avLst/>
          </a:prstGeom>
          <a:noFill/>
          <a:ln w="12700" algn="ctr">
            <a:noFill/>
            <a:round/>
            <a:headEnd/>
            <a:tailEnd/>
          </a:ln>
        </p:spPr>
        <p:txBody>
          <a:bodyPr wrap="none" lIns="18000" tIns="18000" rIns="18000" bIns="1800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Ⓒ</a:t>
            </a:r>
            <a:r>
              <a:rPr kumimoji="1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2024 LG Energy Solution, Ltd. </a:t>
            </a:r>
            <a:r>
              <a:rPr kumimoji="1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All rights reserved.</a:t>
            </a:r>
            <a:endParaRPr kumimoji="1" lang="ko-KR" altLang="ko-KR" sz="1000" b="1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BA72A0BE-859C-4A98-8977-3485E0E4570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8000" y="504000"/>
            <a:ext cx="96840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6993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9CCCB695-88FF-48AB-B6A7-BEFC5B90A97D}" type="datetimeFigureOut">
              <a:rPr lang="ko-KR" altLang="en-US" smtClean="0"/>
              <a:t>2026-07-30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612E-2A5A-49BE-A9D7-DDD33D156CB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28633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4033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2" r:id="rId2"/>
    <p:sldLayoutId id="2147483673" r:id="rId3"/>
    <p:sldLayoutId id="2147483674" r:id="rId4"/>
    <p:sldLayoutId id="2147483688" r:id="rId5"/>
    <p:sldLayoutId id="2147483689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2.xml"/><Relationship Id="rId3" Type="http://schemas.openxmlformats.org/officeDocument/2006/relationships/slide" Target="slide13.xml"/><Relationship Id="rId4" Type="http://schemas.openxmlformats.org/officeDocument/2006/relationships/slide" Target="slide16.xml"/><Relationship Id="rId5" Type="http://schemas.openxmlformats.org/officeDocument/2006/relationships/slide" Target="slide28.xml"/><Relationship Id="rId6" Type="http://schemas.openxmlformats.org/officeDocument/2006/relationships/slide" Target="slide17.xml"/><Relationship Id="rId7" Type="http://schemas.openxmlformats.org/officeDocument/2006/relationships/slide" Target="slide30.xml"/><Relationship Id="rId8" Type="http://schemas.openxmlformats.org/officeDocument/2006/relationships/slide" Target="slide2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" Target="slide24.xml"/><Relationship Id="rId5" Type="http://schemas.openxmlformats.org/officeDocument/2006/relationships/slide" Target="slide2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microsoft.com/office/2007/relationships/hdphoto" Target="../media/hdphoto1.wdp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slide" Target="slide2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8.xml"/><Relationship Id="rId3" Type="http://schemas.openxmlformats.org/officeDocument/2006/relationships/slide" Target="slide23.xml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svg"/><Relationship Id="rId6" Type="http://schemas.openxmlformats.org/officeDocument/2006/relationships/image" Target="../media/image34.png"/><Relationship Id="rId7" Type="http://schemas.openxmlformats.org/officeDocument/2006/relationships/image" Target="../media/image35.svg"/><Relationship Id="rId8" Type="http://schemas.openxmlformats.org/officeDocument/2006/relationships/image" Target="../media/image36.png"/><Relationship Id="rId9" Type="http://schemas.openxmlformats.org/officeDocument/2006/relationships/image" Target="../media/image37.svg"/><Relationship Id="rId10" Type="http://schemas.openxmlformats.org/officeDocument/2006/relationships/image" Target="../media/image38.png"/><Relationship Id="rId11" Type="http://schemas.openxmlformats.org/officeDocument/2006/relationships/image" Target="../media/image39.svg"/><Relationship Id="rId12" Type="http://schemas.openxmlformats.org/officeDocument/2006/relationships/image" Target="../media/image40.png"/><Relationship Id="rId13" Type="http://schemas.openxmlformats.org/officeDocument/2006/relationships/image" Target="../media/image41.svg"/><Relationship Id="rId14" Type="http://schemas.openxmlformats.org/officeDocument/2006/relationships/slide" Target="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slide" Target="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Relationship Id="rId4" Type="http://schemas.openxmlformats.org/officeDocument/2006/relationships/image" Target="../media/image34.png"/><Relationship Id="rId5" Type="http://schemas.openxmlformats.org/officeDocument/2006/relationships/image" Target="../media/image35.svg"/><Relationship Id="rId6" Type="http://schemas.openxmlformats.org/officeDocument/2006/relationships/image" Target="../media/image36.png"/><Relationship Id="rId7" Type="http://schemas.openxmlformats.org/officeDocument/2006/relationships/image" Target="../media/image37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47.png"/><Relationship Id="rId13" Type="http://schemas.openxmlformats.org/officeDocument/2006/relationships/image" Target="../media/image48.svg"/><Relationship Id="rId14" Type="http://schemas.openxmlformats.org/officeDocument/2006/relationships/slide" Target="slide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slide" Target="slide25.xml"/><Relationship Id="rId6" Type="http://schemas.openxmlformats.org/officeDocument/2006/relationships/slide" Target="slide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png"/><Relationship Id="rId3" Type="http://schemas.openxmlformats.org/officeDocument/2006/relationships/slide" Target="slide14.xml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30.png"/><Relationship Id="rId3" Type="http://schemas.openxmlformats.org/officeDocument/2006/relationships/image" Target="../media/image540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slide" Target="slide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0.png"/><Relationship Id="rId3" Type="http://schemas.openxmlformats.org/officeDocument/2006/relationships/image" Target="../media/image100.png"/><Relationship Id="rId4" Type="http://schemas.openxmlformats.org/officeDocument/2006/relationships/slide" Target="slide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0.png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150.png"/><Relationship Id="rId7" Type="http://schemas.openxmlformats.org/officeDocument/2006/relationships/image" Target="../media/image160.png"/><Relationship Id="rId8" Type="http://schemas.openxmlformats.org/officeDocument/2006/relationships/slide" Target="slide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slide" Target="slide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slide" Target="slide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래픽 9">
            <a:extLst>
              <a:ext uri="{FF2B5EF4-FFF2-40B4-BE49-F238E27FC236}">
                <a16:creationId xmlns:a16="http://schemas.microsoft.com/office/drawing/2014/main" id="{9846AED3-9CA2-4D31-8D18-9DB90C87426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374" t="947"/>
          <a:stretch/>
        </p:blipFill>
        <p:spPr>
          <a:xfrm>
            <a:off x="0" y="22313"/>
            <a:ext cx="9906001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CF3F2F-8157-464B-B307-4E6A0D13A90D}"/>
              </a:ext>
            </a:extLst>
          </p:cNvPr>
          <p:cNvSpPr txBox="1"/>
          <p:nvPr/>
        </p:nvSpPr>
        <p:spPr>
          <a:xfrm>
            <a:off x="1962650" y="2127874"/>
            <a:ext cx="6086923" cy="954107"/>
          </a:xfrm>
          <a:prstGeom prst="rect">
            <a:avLst/>
          </a:prstGeom>
          <a:noFill/>
          <a:ln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NND</a:t>
            </a:r>
            <a:r>
              <a:rPr lang="ko-KR" altLang="en-US" sz="2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</a:t>
            </a:r>
            <a:endParaRPr lang="en-US" altLang="ko-KR" sz="280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algn="ctr"/>
            <a:r>
              <a:rPr lang="en-US" altLang="ko-KR" sz="2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2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sz="2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5C52A5C-BC00-42A5-AE74-60C8BF15D00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12" y="456079"/>
            <a:ext cx="2725200" cy="400662"/>
          </a:xfrm>
          <a:prstGeom prst="rect">
            <a:avLst/>
          </a:prstGeom>
        </p:spPr>
      </p:pic>
      <p:sp>
        <p:nvSpPr>
          <p:cNvPr id="9" name="Rectangle 7">
            <a:extLst>
              <a:ext uri="{FF2B5EF4-FFF2-40B4-BE49-F238E27FC236}">
                <a16:creationId xmlns:a16="http://schemas.microsoft.com/office/drawing/2014/main" id="{6E3B4F19-C49D-4047-B47F-54E6E1E41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9857" y="4460835"/>
            <a:ext cx="3986283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rIns="72000" anchor="ctr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빅데이터분석</a:t>
            </a:r>
            <a:r>
              <a:rPr kumimoji="1" lang="en-US" altLang="ko-KR" sz="14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kumimoji="1" lang="ko-KR" altLang="en-US" sz="14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팀</a:t>
            </a:r>
            <a:endParaRPr kumimoji="1" lang="en-US" altLang="ko-KR" sz="14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4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박진서</a:t>
            </a:r>
            <a:endParaRPr kumimoji="1" lang="en-US" altLang="ko-KR" sz="14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781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A964987C-C5B1-47B3-B47D-1F41D8F7253D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1077183" y="5017958"/>
            <a:ext cx="0" cy="175681"/>
          </a:xfrm>
          <a:prstGeom prst="straightConnector1">
            <a:avLst/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tailEnd type="triangle"/>
          </a:ln>
          <a:effectLst/>
        </p:spPr>
      </p:cxnSp>
      <p:sp>
        <p:nvSpPr>
          <p:cNvPr id="218" name="AutoShape 12" descr="sdc_bar_plot.png (260×183)">
            <a:extLst>
              <a:ext uri="{FF2B5EF4-FFF2-40B4-BE49-F238E27FC236}">
                <a16:creationId xmlns:a16="http://schemas.microsoft.com/office/drawing/2014/main" id="{0053D8DA-8131-42A3-A337-5CC985AC9B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4285" y="271096"/>
            <a:ext cx="281354" cy="2813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ko-KR" altLang="en-US" sz="1662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" name="Text Box 32">
            <a:extLst>
              <a:ext uri="{FF2B5EF4-FFF2-40B4-BE49-F238E27FC236}">
                <a16:creationId xmlns:a16="http://schemas.microsoft.com/office/drawing/2014/main" id="{11B2AD8A-6E6E-4FEF-BD8E-E862083F3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521" y="1285159"/>
            <a:ext cx="4202459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 w="3175"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현황 및 </a:t>
            </a:r>
            <a:r>
              <a:rPr kumimoji="0" lang="en-US" altLang="ko-KR" sz="1400" b="1" i="0" u="none" strike="noStrike" kern="1200" cap="none" spc="0" normalizeH="0" baseline="0" noProof="0" dirty="0">
                <a:ln w="3175"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Pain Point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C19FE29-3A87-43A9-890C-A318A394853B}"/>
              </a:ext>
            </a:extLst>
          </p:cNvPr>
          <p:cNvSpPr/>
          <p:nvPr/>
        </p:nvSpPr>
        <p:spPr>
          <a:xfrm>
            <a:off x="290261" y="1536155"/>
            <a:ext cx="4679226" cy="1333827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marL="86400" indent="-864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NND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Dryer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부동 후 재가동 시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OUT Zone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건조로의 전극 표면 온도가 목표 온도에 도달하기 위해 실험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평가 기반의 관계식을 활용하여 건조 출력을 조정하고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b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 2" pitchFamily="18" charset="2"/>
              </a:rPr>
              <a:t>IN / MID / OUT Zone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 2" pitchFamily="18" charset="2"/>
              </a:rPr>
              <a:t>경알람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 2" pitchFamily="18" charset="2"/>
              </a:rPr>
              <a:t>*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 2" pitchFamily="18" charset="2"/>
              </a:rPr>
              <a:t>, 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 2" pitchFamily="18" charset="2"/>
              </a:rPr>
              <a:t>OUT Zone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 2" pitchFamily="18" charset="2"/>
              </a:rPr>
              <a:t>중알람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 2" pitchFamily="18" charset="2"/>
              </a:rPr>
              <a:t>*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 2" pitchFamily="18" charset="2"/>
              </a:rPr>
              <a:t>으로 관리하고 있음</a:t>
            </a:r>
            <a:b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 2" pitchFamily="18" charset="2"/>
              </a:rPr>
            </a:b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6400" indent="-864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재가동 초기 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OUT Zone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표면온도 안정적인 관리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 온도 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±10℃)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어려움이 있고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b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 온도보다 고온에서 건조 시 열주름 등의 품질 불량이 발생할 수 있음</a:t>
            </a:r>
          </a:p>
        </p:txBody>
      </p:sp>
      <p:sp>
        <p:nvSpPr>
          <p:cNvPr id="40" name="Text Box 32">
            <a:extLst>
              <a:ext uri="{FF2B5EF4-FFF2-40B4-BE49-F238E27FC236}">
                <a16:creationId xmlns:a16="http://schemas.microsoft.com/office/drawing/2014/main" id="{FE2B1054-6C6E-4C5F-8F72-5C5A38859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80" y="4291218"/>
            <a:ext cx="4202459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 w="3175"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모형 개발</a:t>
            </a:r>
            <a:endParaRPr kumimoji="0" lang="en-US" altLang="ko-KR" sz="1400" b="1" i="0" u="none" strike="noStrike" kern="1200" cap="none" spc="0" normalizeH="0" baseline="0" noProof="0" dirty="0">
              <a:ln w="3175"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8" name="Text Box 32">
            <a:extLst>
              <a:ext uri="{FF2B5EF4-FFF2-40B4-BE49-F238E27FC236}">
                <a16:creationId xmlns:a16="http://schemas.microsoft.com/office/drawing/2014/main" id="{705CEF0B-E4C3-4732-8B4C-754A002AC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296" y="1285159"/>
            <a:ext cx="4202459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 w="3175"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lang="ko-KR" altLang="en-US" sz="1400" b="1" dirty="0">
                <a:ln w="3175">
                  <a:noFill/>
                </a:ln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모형 검증</a:t>
            </a:r>
            <a:r>
              <a:rPr lang="en-US" altLang="ko-KR" sz="1400" b="1" dirty="0">
                <a:ln w="3175">
                  <a:noFill/>
                </a:ln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400" b="1" dirty="0">
                <a:ln w="3175">
                  <a:noFill/>
                </a:ln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성능평가</a:t>
            </a:r>
            <a:endParaRPr kumimoji="0" lang="en-US" altLang="ko-KR" sz="1400" b="1" i="0" u="none" strike="noStrike" kern="1200" cap="none" spc="0" normalizeH="0" baseline="0" noProof="0" dirty="0">
              <a:ln w="3175"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5AF2E4-50C7-4E8E-9E05-74354717E4C9}"/>
              </a:ext>
            </a:extLst>
          </p:cNvPr>
          <p:cNvSpPr txBox="1"/>
          <p:nvPr/>
        </p:nvSpPr>
        <p:spPr>
          <a:xfrm>
            <a:off x="6256985" y="114715"/>
            <a:ext cx="3359819" cy="307777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과제 완료 보고서</a:t>
            </a:r>
          </a:p>
        </p:txBody>
      </p:sp>
      <p:sp>
        <p:nvSpPr>
          <p:cNvPr id="18" name="Text Box 32">
            <a:extLst>
              <a:ext uri="{FF2B5EF4-FFF2-40B4-BE49-F238E27FC236}">
                <a16:creationId xmlns:a16="http://schemas.microsoft.com/office/drawing/2014/main" id="{F24FD1B0-8575-4B4B-92FB-D3F856AF8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296" y="2830324"/>
            <a:ext cx="4202459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 w="3175"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lang="ko-KR" altLang="en-US" sz="1400" b="1" dirty="0">
                <a:ln w="3175">
                  <a:noFill/>
                </a:ln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 적용</a:t>
            </a:r>
            <a:endParaRPr kumimoji="0" lang="en-US" altLang="ko-KR" sz="1400" b="1" i="0" u="none" strike="noStrike" kern="1200" cap="none" spc="0" normalizeH="0" baseline="0" noProof="0" dirty="0">
              <a:ln w="3175"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5" name="모서리가 둥근 직사각형 221">
            <a:extLst>
              <a:ext uri="{FF2B5EF4-FFF2-40B4-BE49-F238E27FC236}">
                <a16:creationId xmlns:a16="http://schemas.microsoft.com/office/drawing/2014/main" id="{080EC09F-E0A6-49A6-8370-5137E85826C0}"/>
              </a:ext>
            </a:extLst>
          </p:cNvPr>
          <p:cNvSpPr/>
          <p:nvPr/>
        </p:nvSpPr>
        <p:spPr>
          <a:xfrm>
            <a:off x="375662" y="4585958"/>
            <a:ext cx="1403042" cy="43200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36000" rIns="36000" rtlCol="0" anchor="ctr"/>
          <a:lstStyle/>
          <a:p>
            <a:pPr algn="ctr" latinLnBrk="0">
              <a:defRPr/>
            </a:pPr>
            <a:r>
              <a:rPr lang="ko-KR" altLang="en-US" sz="1000" b="1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 대상 정의</a:t>
            </a:r>
          </a:p>
        </p:txBody>
      </p:sp>
      <p:sp>
        <p:nvSpPr>
          <p:cNvPr id="46" name="모서리가 둥근 직사각형 221">
            <a:extLst>
              <a:ext uri="{FF2B5EF4-FFF2-40B4-BE49-F238E27FC236}">
                <a16:creationId xmlns:a16="http://schemas.microsoft.com/office/drawing/2014/main" id="{541DF359-873B-4678-B489-CD02C7D7AB6D}"/>
              </a:ext>
            </a:extLst>
          </p:cNvPr>
          <p:cNvSpPr/>
          <p:nvPr/>
        </p:nvSpPr>
        <p:spPr>
          <a:xfrm>
            <a:off x="375662" y="5193639"/>
            <a:ext cx="1403042" cy="43200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36000" rIns="36000" rtlCol="0" anchor="ctr"/>
          <a:lstStyle/>
          <a:p>
            <a:pPr algn="ctr" latinLnBrk="0">
              <a:defRPr/>
            </a:pPr>
            <a:r>
              <a:rPr lang="ko-KR" altLang="en-US" sz="1000" b="1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수집 </a:t>
            </a:r>
            <a:r>
              <a:rPr lang="en-US" altLang="ko-KR" sz="1000" b="1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EDA</a:t>
            </a:r>
            <a:endParaRPr lang="ko-KR" altLang="en-US" sz="1000" b="1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7" name="모서리가 둥근 직사각형 221">
            <a:extLst>
              <a:ext uri="{FF2B5EF4-FFF2-40B4-BE49-F238E27FC236}">
                <a16:creationId xmlns:a16="http://schemas.microsoft.com/office/drawing/2014/main" id="{366AD767-B24D-4BA8-8D3F-1E43798D3E5F}"/>
              </a:ext>
            </a:extLst>
          </p:cNvPr>
          <p:cNvSpPr/>
          <p:nvPr/>
        </p:nvSpPr>
        <p:spPr>
          <a:xfrm>
            <a:off x="375662" y="5799309"/>
            <a:ext cx="1403042" cy="43200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36000" rIns="36000" rtlCol="0" anchor="ctr"/>
          <a:lstStyle/>
          <a:p>
            <a:pPr algn="ctr" latinLnBrk="0">
              <a:defRPr/>
            </a:pPr>
            <a:r>
              <a:rPr lang="ko-KR" altLang="en-US" sz="1000" b="1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 모형 선정</a:t>
            </a:r>
            <a:r>
              <a:rPr lang="en-US" altLang="ko-KR" sz="1000" b="1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b="1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</a:t>
            </a:r>
            <a:endParaRPr lang="ko-KR" altLang="en-US" sz="900" b="1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2F4096A-CB3F-44F7-A317-399A93DD2F0C}"/>
              </a:ext>
            </a:extLst>
          </p:cNvPr>
          <p:cNvSpPr/>
          <p:nvPr/>
        </p:nvSpPr>
        <p:spPr>
          <a:xfrm>
            <a:off x="1778467" y="4594209"/>
            <a:ext cx="3162434" cy="41549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전체 데이터 中 분석 가능한 대상 조건 수립하고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b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수집 대상에 대해 정의</a:t>
            </a:r>
            <a:endParaRPr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B1EA727-24FE-4F4A-BE99-0707F8DC9D6A}"/>
              </a:ext>
            </a:extLst>
          </p:cNvPr>
          <p:cNvSpPr/>
          <p:nvPr/>
        </p:nvSpPr>
        <p:spPr>
          <a:xfrm>
            <a:off x="1778467" y="5201890"/>
            <a:ext cx="3172374" cy="41549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Log 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데이터를 수집 후 탐색적 자료 분석을 진행하여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b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모형 개발에 활용할 인자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특징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(Feature)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을 선정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694B0F5-1AE6-4F36-BBDC-3720151C2B57}"/>
              </a:ext>
            </a:extLst>
          </p:cNvPr>
          <p:cNvSpPr/>
          <p:nvPr/>
        </p:nvSpPr>
        <p:spPr>
          <a:xfrm>
            <a:off x="1778467" y="5738310"/>
            <a:ext cx="2985537" cy="55399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변수 간 관계성 검토하여 예측 모형의</a:t>
            </a:r>
            <a:b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방향을 수립하고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Parameter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Tuning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하여 모형 성능을 최적화 함 </a:t>
            </a:r>
            <a:endParaRPr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2E748EA-CFDB-4210-97B0-A4882A3ACAD6}"/>
              </a:ext>
            </a:extLst>
          </p:cNvPr>
          <p:cNvCxnSpPr/>
          <p:nvPr/>
        </p:nvCxnSpPr>
        <p:spPr>
          <a:xfrm>
            <a:off x="4953000" y="1285159"/>
            <a:ext cx="0" cy="50317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57179270-457D-47B9-BFCA-C52BD887DB7D}"/>
              </a:ext>
            </a:extLst>
          </p:cNvPr>
          <p:cNvSpPr/>
          <p:nvPr/>
        </p:nvSpPr>
        <p:spPr>
          <a:xfrm>
            <a:off x="5136755" y="1584280"/>
            <a:ext cx="4679226" cy="792525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 시뮬레이션 검증</a:t>
            </a:r>
            <a:b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lang="en-US" altLang="ko-KR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실제 </a:t>
            </a:r>
            <a:r>
              <a:rPr lang="en-US" altLang="ko-KR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SCR </a:t>
            </a:r>
            <a:r>
              <a:rPr lang="ko-KR" altLang="en-US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 예측 </a:t>
            </a:r>
            <a:r>
              <a:rPr lang="en-US" altLang="ko-KR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SCR </a:t>
            </a:r>
            <a:r>
              <a:rPr lang="ko-KR" altLang="en-US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의 차이를 비교 분석하여</a:t>
            </a:r>
            <a:r>
              <a:rPr lang="en-US" altLang="ko-KR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모형의 타당성을 검토</a:t>
            </a:r>
            <a:endParaRPr lang="en-US" altLang="ko-KR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실제어 검증</a:t>
            </a:r>
            <a:r>
              <a:rPr lang="en-US" altLang="ko-KR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평가</a:t>
            </a:r>
            <a:br>
              <a:rPr lang="en-US" altLang="ko-KR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- </a:t>
            </a:r>
            <a:r>
              <a:rPr lang="ko-KR" altLang="en-US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모형이 실제 생산 </a:t>
            </a:r>
            <a:r>
              <a:rPr lang="en-US" altLang="ko-KR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Test</a:t>
            </a:r>
            <a:r>
              <a:rPr lang="ko-KR" altLang="en-US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에서도 성능이 우수한지 평가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B0E13A6-0A24-4E32-BF0A-E1A036CEA745}"/>
              </a:ext>
            </a:extLst>
          </p:cNvPr>
          <p:cNvSpPr/>
          <p:nvPr/>
        </p:nvSpPr>
        <p:spPr>
          <a:xfrm>
            <a:off x="5136755" y="3146490"/>
            <a:ext cx="4679226" cy="86177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모형 최종 선정 및 개선점을 보완한 신규 모형 현장 적용</a:t>
            </a:r>
            <a:endParaRPr lang="en-US" altLang="ko-KR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spcBef>
                <a:spcPts val="300"/>
              </a:spcBef>
            </a:pPr>
            <a:r>
              <a:rPr lang="en-US" altLang="ko-KR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- </a:t>
            </a:r>
            <a:r>
              <a:rPr lang="ko-KR" altLang="en-US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기존 상용 모형으로는 목표온도 </a:t>
            </a:r>
            <a:r>
              <a:rPr lang="ko-KR" altLang="en-US" sz="1050" dirty="0" err="1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달성률이</a:t>
            </a:r>
            <a:r>
              <a:rPr lang="ko-KR" altLang="en-US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낮아서</a:t>
            </a:r>
            <a:r>
              <a:rPr lang="en-US" altLang="ko-KR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NND Dryer</a:t>
            </a:r>
            <a:r>
              <a:rPr lang="ko-KR" altLang="en-US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 맞는 학습 방법 및</a:t>
            </a:r>
            <a:endParaRPr lang="en-US" altLang="ko-KR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spcBef>
                <a:spcPts val="300"/>
              </a:spcBef>
            </a:pPr>
            <a:r>
              <a:rPr lang="en-US" altLang="ko-KR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Loss </a:t>
            </a:r>
            <a:r>
              <a:rPr lang="ko-KR" altLang="en-US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함수 개발하여 신규 모형 개발 함</a:t>
            </a:r>
            <a:endParaRPr lang="en-US" altLang="ko-KR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spcBef>
                <a:spcPts val="300"/>
              </a:spcBef>
            </a:pPr>
            <a:r>
              <a:rPr lang="en-US" altLang="ko-KR" sz="105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CD0F00-CDF1-44E7-9D1E-CE1003D5480D}"/>
              </a:ext>
            </a:extLst>
          </p:cNvPr>
          <p:cNvSpPr txBox="1"/>
          <p:nvPr/>
        </p:nvSpPr>
        <p:spPr>
          <a:xfrm>
            <a:off x="144000" y="528138"/>
            <a:ext cx="9691425" cy="584775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NND Dryer </a:t>
            </a:r>
            <a:r>
              <a:rPr lang="ko-KR" altLang="en-US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부동 후 재가동 시 전극 표면 온도의 안정적인 관리를 위해</a:t>
            </a:r>
            <a:r>
              <a:rPr lang="en-US" altLang="ko-KR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데이터</a:t>
            </a:r>
            <a:r>
              <a:rPr lang="en-US" altLang="ko-KR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</a:t>
            </a:r>
            <a:r>
              <a:rPr lang="en-US" altLang="ko-KR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/Lamp</a:t>
            </a:r>
            <a:r>
              <a:rPr lang="ko-KR" altLang="en-US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포면 온도</a:t>
            </a:r>
            <a:r>
              <a:rPr lang="en-US" altLang="ko-KR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MIR Lamp </a:t>
            </a:r>
            <a:r>
              <a:rPr lang="ko-KR" altLang="en-US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 등</a:t>
            </a:r>
            <a:r>
              <a:rPr lang="en-US" altLang="ko-KR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을 활용하여 온도 관리 모형을 개발</a:t>
            </a:r>
            <a:r>
              <a:rPr lang="en-US" altLang="ko-KR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및 적용한 결과 </a:t>
            </a:r>
            <a:r>
              <a:rPr lang="en-US" altLang="ko-KR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GM1 </a:t>
            </a:r>
            <a:r>
              <a:rPr lang="ko-KR" altLang="en-US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음극 라인에서 목표 온도 달성률이 </a:t>
            </a:r>
            <a:r>
              <a:rPr lang="ko-KR" altLang="en-US" sz="1600" b="1" u="sng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개선된 것을 확인함</a:t>
            </a:r>
            <a:endParaRPr lang="ko-KR" altLang="en-US" sz="1600" b="1" u="sng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</p:txBody>
      </p:sp>
      <p:sp>
        <p:nvSpPr>
          <p:cNvPr id="43" name="Text Box 32">
            <a:extLst>
              <a:ext uri="{FF2B5EF4-FFF2-40B4-BE49-F238E27FC236}">
                <a16:creationId xmlns:a16="http://schemas.microsoft.com/office/drawing/2014/main" id="{4B79EAFD-1598-4A72-B7F7-AEE96F4DD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9170" y="4947704"/>
            <a:ext cx="2385135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 w="3175"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성과 및 향후 계획 </a:t>
            </a:r>
            <a:r>
              <a:rPr kumimoji="0" lang="en-US" altLang="ko-KR" sz="1100" i="0" u="none" strike="noStrike" kern="1200" cap="none" spc="0" normalizeH="0" baseline="0" noProof="0" dirty="0">
                <a:ln w="3175"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lang="ko-KR" altLang="en-US" sz="1100" dirty="0">
                <a:ln w="3175">
                  <a:noFill/>
                </a:ln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확산 전개</a:t>
            </a:r>
            <a:r>
              <a:rPr lang="en-US" altLang="ko-KR" sz="1100" dirty="0">
                <a:ln w="3175">
                  <a:noFill/>
                </a:ln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kumimoji="0" lang="en-US" altLang="ko-KR" sz="1400" i="0" u="none" strike="noStrike" kern="1200" cap="none" spc="0" normalizeH="0" baseline="0" noProof="0" dirty="0">
              <a:ln w="3175"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CA2DFF-D9A7-4DF4-BC20-4F25E8E23EC0}"/>
              </a:ext>
            </a:extLst>
          </p:cNvPr>
          <p:cNvSpPr txBox="1"/>
          <p:nvPr/>
        </p:nvSpPr>
        <p:spPr>
          <a:xfrm>
            <a:off x="184365" y="98902"/>
            <a:ext cx="6645059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요약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4" name="실행 단추: 뒤로 또는 앞으로 이동 3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4CEC9EB-CB03-4E48-989F-9C1348A164D1}"/>
              </a:ext>
            </a:extLst>
          </p:cNvPr>
          <p:cNvSpPr/>
          <p:nvPr/>
        </p:nvSpPr>
        <p:spPr>
          <a:xfrm rot="10800000">
            <a:off x="3301934" y="4792055"/>
            <a:ext cx="125248" cy="157034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4F595C3-B2E2-48B2-A70A-4BC0C2A84022}"/>
              </a:ext>
            </a:extLst>
          </p:cNvPr>
          <p:cNvSpPr/>
          <p:nvPr/>
        </p:nvSpPr>
        <p:spPr>
          <a:xfrm>
            <a:off x="5222573" y="2329452"/>
            <a:ext cx="4005068" cy="369332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최적 모형 선정조건</a:t>
            </a:r>
            <a:b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평가 지표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(MAPE,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제어방향성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Target-in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비율 등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 고려하여 현장 적용 모형을 선정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6500F9C-BF27-4269-813D-A0CC9F6806FD}"/>
              </a:ext>
            </a:extLst>
          </p:cNvPr>
          <p:cNvSpPr/>
          <p:nvPr/>
        </p:nvSpPr>
        <p:spPr>
          <a:xfrm>
            <a:off x="5142202" y="3805367"/>
            <a:ext cx="4679226" cy="261610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최종 성능 평가</a:t>
            </a:r>
            <a:endParaRPr lang="en-US" altLang="ko-KR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4" name="실행 단추: 뒤로 또는 앞으로 이동 5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BDC7C75-5B3A-4BD4-B0B1-C0CF5B2FDA45}"/>
              </a:ext>
            </a:extLst>
          </p:cNvPr>
          <p:cNvSpPr/>
          <p:nvPr/>
        </p:nvSpPr>
        <p:spPr>
          <a:xfrm rot="10800000">
            <a:off x="4253984" y="5427704"/>
            <a:ext cx="125248" cy="157034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6" name="실행 단추: 뒤로 또는 앞으로 이동 5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14F9819-278E-47A0-8C83-21D2F02B64AE}"/>
              </a:ext>
            </a:extLst>
          </p:cNvPr>
          <p:cNvSpPr/>
          <p:nvPr/>
        </p:nvSpPr>
        <p:spPr>
          <a:xfrm rot="10800000">
            <a:off x="2809363" y="6100790"/>
            <a:ext cx="125248" cy="157034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7" name="실행 단추: 뒤로 또는 앞으로 이동 6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809F10FB-1ED0-418E-9592-083AEA5B8630}"/>
              </a:ext>
            </a:extLst>
          </p:cNvPr>
          <p:cNvSpPr/>
          <p:nvPr/>
        </p:nvSpPr>
        <p:spPr>
          <a:xfrm rot="10800000">
            <a:off x="6506586" y="1640727"/>
            <a:ext cx="125248" cy="157034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" name="실행 단추: 뒤로 또는 앞으로 이동 67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EAB42390-680D-4962-9939-1DA4A317B54F}"/>
              </a:ext>
            </a:extLst>
          </p:cNvPr>
          <p:cNvSpPr/>
          <p:nvPr/>
        </p:nvSpPr>
        <p:spPr>
          <a:xfrm rot="10800000">
            <a:off x="6256985" y="1994178"/>
            <a:ext cx="125248" cy="157034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9" name="실행 단추: 뒤로 또는 앞으로 이동 68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0E331796-3153-4D41-B0FC-515449CB0E58}"/>
              </a:ext>
            </a:extLst>
          </p:cNvPr>
          <p:cNvSpPr/>
          <p:nvPr/>
        </p:nvSpPr>
        <p:spPr>
          <a:xfrm rot="10800000">
            <a:off x="8350495" y="3184974"/>
            <a:ext cx="125248" cy="157034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1" name="실행 단추: 뒤로 또는 앞으로 이동 70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61AE0908-316E-404D-A78E-3C798E6C9FF6}"/>
              </a:ext>
            </a:extLst>
          </p:cNvPr>
          <p:cNvSpPr/>
          <p:nvPr/>
        </p:nvSpPr>
        <p:spPr>
          <a:xfrm rot="10800000">
            <a:off x="6208918" y="3853330"/>
            <a:ext cx="125248" cy="157034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60824D3-233D-4B8D-A1B0-01B3CA2664C3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>
            <a:off x="1077183" y="5625639"/>
            <a:ext cx="0" cy="173670"/>
          </a:xfrm>
          <a:prstGeom prst="straightConnector1">
            <a:avLst/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tailEnd type="triangle"/>
          </a:ln>
          <a:effectLst/>
        </p:spPr>
      </p:cxnSp>
      <p:sp>
        <p:nvSpPr>
          <p:cNvPr id="44" name="Text Box 32">
            <a:extLst>
              <a:ext uri="{FF2B5EF4-FFF2-40B4-BE49-F238E27FC236}">
                <a16:creationId xmlns:a16="http://schemas.microsoft.com/office/drawing/2014/main" id="{741089F7-B898-4211-A31C-05057B282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80" y="2865133"/>
            <a:ext cx="4202459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 w="3175"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과제 목표 및 일정</a:t>
            </a:r>
            <a:endParaRPr kumimoji="0" lang="en-US" altLang="ko-KR" sz="1400" b="1" i="0" u="none" strike="noStrike" kern="1200" cap="none" spc="0" normalizeH="0" baseline="0" noProof="0" dirty="0">
              <a:ln w="3175"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E47BE6F-1EBC-48D2-AB35-A7DBB74A4C92}"/>
              </a:ext>
            </a:extLst>
          </p:cNvPr>
          <p:cNvSpPr/>
          <p:nvPr/>
        </p:nvSpPr>
        <p:spPr>
          <a:xfrm>
            <a:off x="280320" y="3117354"/>
            <a:ext cx="4679226" cy="482696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marL="86400" indent="-864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재가동 시 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OUT Zone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건조로 온도의 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Target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값 도달을 위한 건조 출력 최적화</a:t>
            </a:r>
            <a:b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→ 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Target-in 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목표온도 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± 10℃)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비율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: 93.6%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이상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달성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5D9FA04-3878-4779-85EA-96E7A68DDD39}"/>
              </a:ext>
            </a:extLst>
          </p:cNvPr>
          <p:cNvSpPr/>
          <p:nvPr/>
        </p:nvSpPr>
        <p:spPr>
          <a:xfrm>
            <a:off x="5213915" y="4977792"/>
            <a:ext cx="4679226" cy="1508105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endParaRPr lang="en-US" altLang="ko-KR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성과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선속 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300mm/s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대응 모형 개발 완료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 온도 달성률 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3.78%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100%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향상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endParaRPr lang="en-US" altLang="ko-KR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endParaRPr lang="en-US" altLang="ko-KR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endParaRPr lang="en-US" altLang="ko-KR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spcBef>
                <a:spcPts val="300"/>
              </a:spcBef>
            </a:pPr>
            <a:endParaRPr lang="en-US" altLang="ko-KR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GM2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음극 대상으로 개발 모형 확산 전개 및 선속 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800mm/s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대응 모형 개발 예정</a:t>
            </a:r>
            <a:endParaRPr lang="en-US" altLang="ko-KR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2826299-3800-42EA-8372-855324BCCA17}"/>
              </a:ext>
            </a:extLst>
          </p:cNvPr>
          <p:cNvSpPr/>
          <p:nvPr/>
        </p:nvSpPr>
        <p:spPr>
          <a:xfrm>
            <a:off x="743203" y="2156557"/>
            <a:ext cx="4042523" cy="230832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경알람 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 온도 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±10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℃ 벗어날 경우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중알람 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 온도 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+20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℃ 벗어날 경우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(PD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발생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9A3B219-71CB-4C11-A014-D79EDF818CF8}"/>
              </a:ext>
            </a:extLst>
          </p:cNvPr>
          <p:cNvSpPr/>
          <p:nvPr/>
        </p:nvSpPr>
        <p:spPr>
          <a:xfrm>
            <a:off x="7269527" y="1034743"/>
            <a:ext cx="1069524" cy="246221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3.78% </a:t>
            </a:r>
            <a:r>
              <a:rPr lang="ko-KR" altLang="en-US" sz="1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</a:t>
            </a:r>
            <a:r>
              <a:rPr lang="en-US" altLang="ko-KR" sz="1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100%</a:t>
            </a:r>
            <a:endParaRPr lang="ko-KR" altLang="en-US" sz="1000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6" name="실행 단추: 뒤로 또는 앞으로 이동 65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8A4F6318-2852-42DE-993F-6698FCDBC5E6}"/>
              </a:ext>
            </a:extLst>
          </p:cNvPr>
          <p:cNvSpPr/>
          <p:nvPr/>
        </p:nvSpPr>
        <p:spPr>
          <a:xfrm rot="10958721">
            <a:off x="1787172" y="1374996"/>
            <a:ext cx="125248" cy="157034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73" name="표 72">
            <a:extLst>
              <a:ext uri="{FF2B5EF4-FFF2-40B4-BE49-F238E27FC236}">
                <a16:creationId xmlns:a16="http://schemas.microsoft.com/office/drawing/2014/main" id="{3E0EB4C5-7847-4B34-A734-F27B93829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454042"/>
              </p:ext>
            </p:extLst>
          </p:nvPr>
        </p:nvGraphicFramePr>
        <p:xfrm>
          <a:off x="5326718" y="4062146"/>
          <a:ext cx="4482000" cy="899160"/>
        </p:xfrm>
        <a:graphic>
          <a:graphicData uri="http://schemas.openxmlformats.org/drawingml/2006/table">
            <a:tbl>
              <a:tblPr/>
              <a:tblGrid>
                <a:gridCol w="630000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64274495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943457052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99932252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458768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Multivariate Linear Regression</a:t>
                      </a:r>
                    </a:p>
                    <a:p>
                      <a:pPr algn="ctr" latinLnBrk="1"/>
                      <a:r>
                        <a:rPr lang="en-US" altLang="ko-KR" sz="7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(5/7)</a:t>
                      </a:r>
                      <a:endParaRPr lang="ko-KR" altLang="en-US" sz="7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</a:t>
                      </a:r>
                    </a:p>
                    <a:p>
                      <a:pPr algn="ctr"/>
                      <a:r>
                        <a:rPr lang="en-US" sz="7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(5/8~10)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LSTM_With_Attention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(5/11~14)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LSTM_With_Transformer</a:t>
                      </a:r>
                      <a:r>
                        <a:rPr lang="en-US" altLang="ko-KR" sz="8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(5/15~8/10)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GCLN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(8/30~10/16)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목표온도 달성률</a:t>
                      </a:r>
                      <a:endParaRPr lang="en-US" sz="8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미적용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미적용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30.22%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52.43%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872404"/>
                  </a:ext>
                </a:extLst>
              </a:tr>
            </a:tbl>
          </a:graphicData>
        </a:graphic>
      </p:graphicFrame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C9F4B6C5-9D3C-411F-AB25-69A0F1A732FD}"/>
              </a:ext>
            </a:extLst>
          </p:cNvPr>
          <p:cNvCxnSpPr>
            <a:cxnSpLocks/>
          </p:cNvCxnSpPr>
          <p:nvPr/>
        </p:nvCxnSpPr>
        <p:spPr>
          <a:xfrm>
            <a:off x="482829" y="3868957"/>
            <a:ext cx="3943583" cy="0"/>
          </a:xfrm>
          <a:prstGeom prst="straightConnector1">
            <a:avLst/>
          </a:prstGeom>
          <a:noFill/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  <a:headEnd type="oval" w="sm" len="sm"/>
            <a:tailEnd type="arrow"/>
          </a:ln>
          <a:effectLst/>
        </p:spPr>
      </p:cxnSp>
      <p:sp>
        <p:nvSpPr>
          <p:cNvPr id="75" name="TextBox 38">
            <a:extLst>
              <a:ext uri="{FF2B5EF4-FFF2-40B4-BE49-F238E27FC236}">
                <a16:creationId xmlns:a16="http://schemas.microsoft.com/office/drawing/2014/main" id="{085FA3DD-2A8E-4114-A330-E5EB17864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3476" y="4059168"/>
            <a:ext cx="48090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데이터</a:t>
            </a:r>
            <a:r>
              <a:rPr lang="en-US" altLang="ko-KR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연동</a:t>
            </a:r>
            <a:endParaRPr lang="en-US" altLang="ko-KR" sz="8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분석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6" name="TextBox 38">
            <a:extLst>
              <a:ext uri="{FF2B5EF4-FFF2-40B4-BE49-F238E27FC236}">
                <a16:creationId xmlns:a16="http://schemas.microsoft.com/office/drawing/2014/main" id="{1A4215E8-93F5-403D-8CC8-565542228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5002" y="4049114"/>
            <a:ext cx="1827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모형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AA142F97-20CF-4C1D-902D-967638272323}"/>
              </a:ext>
            </a:extLst>
          </p:cNvPr>
          <p:cNvSpPr>
            <a:spLocks/>
          </p:cNvSpPr>
          <p:nvPr/>
        </p:nvSpPr>
        <p:spPr>
          <a:xfrm>
            <a:off x="2245799" y="3716209"/>
            <a:ext cx="324000" cy="28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kumimoji="1" lang="en-US" altLang="ko-KR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’</a:t>
            </a:r>
            <a:r>
              <a:rPr kumimoji="1" lang="en-US" altLang="ko-KR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24.6</a:t>
            </a:r>
            <a:endParaRPr kumimoji="1" lang="ko-KR" altLang="en-US" sz="80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F1AD4855-A50C-4BC8-9814-22C95EA6E8D1}"/>
              </a:ext>
            </a:extLst>
          </p:cNvPr>
          <p:cNvSpPr>
            <a:spLocks/>
          </p:cNvSpPr>
          <p:nvPr/>
        </p:nvSpPr>
        <p:spPr>
          <a:xfrm>
            <a:off x="551877" y="3724957"/>
            <a:ext cx="324000" cy="28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kumimoji="1" lang="en-US" altLang="ko-KR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’</a:t>
            </a:r>
            <a:r>
              <a:rPr kumimoji="1" lang="en-US" altLang="ko-KR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24.1</a:t>
            </a:r>
            <a:endParaRPr kumimoji="1" lang="ko-KR" altLang="en-US" sz="80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2738C6F6-9BA4-40C6-A083-39C5B459FE01}"/>
              </a:ext>
            </a:extLst>
          </p:cNvPr>
          <p:cNvSpPr>
            <a:spLocks/>
          </p:cNvSpPr>
          <p:nvPr/>
        </p:nvSpPr>
        <p:spPr>
          <a:xfrm>
            <a:off x="1429690" y="3724957"/>
            <a:ext cx="324000" cy="28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kumimoji="1" lang="en-US" altLang="ko-KR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’</a:t>
            </a:r>
            <a:r>
              <a:rPr kumimoji="1" lang="en-US" altLang="ko-KR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24.3</a:t>
            </a:r>
            <a:endParaRPr kumimoji="1" lang="ko-KR" altLang="en-US" sz="80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0" name="TextBox 38">
            <a:extLst>
              <a:ext uri="{FF2B5EF4-FFF2-40B4-BE49-F238E27FC236}">
                <a16:creationId xmlns:a16="http://schemas.microsoft.com/office/drawing/2014/main" id="{CF44E2E5-02B0-4DB5-9582-11968C414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21" y="4059168"/>
            <a:ext cx="59631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요건 검토</a:t>
            </a:r>
            <a:endParaRPr lang="en-US" altLang="ko-KR" sz="8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구체화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1" name="TextBox 38">
            <a:extLst>
              <a:ext uri="{FF2B5EF4-FFF2-40B4-BE49-F238E27FC236}">
                <a16:creationId xmlns:a16="http://schemas.microsoft.com/office/drawing/2014/main" id="{A9742DDA-34D5-401F-83B9-1CA2ADBAD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486" y="4051463"/>
            <a:ext cx="55303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latinLnBrk="0">
              <a:defRPr/>
            </a:pPr>
            <a:r>
              <a:rPr lang="en-US" altLang="ko-KR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GM1</a:t>
            </a:r>
            <a:r>
              <a:rPr lang="ko-KR" altLang="en-US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적용</a:t>
            </a:r>
            <a:endParaRPr lang="en-US" altLang="ko-KR" sz="8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 algn="ctr" latinLnBrk="0">
              <a:defRPr/>
            </a:pPr>
            <a:r>
              <a:rPr lang="en-US" altLang="ko-KR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검증 및 보완</a:t>
            </a:r>
            <a:endParaRPr lang="en-US" altLang="ko-KR" sz="8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4" name="TextBox 38">
            <a:extLst>
              <a:ext uri="{FF2B5EF4-FFF2-40B4-BE49-F238E27FC236}">
                <a16:creationId xmlns:a16="http://schemas.microsoft.com/office/drawing/2014/main" id="{F8CB9C01-97F3-4DB0-99B7-1EDA84D84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9511" y="4051463"/>
            <a:ext cx="38952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latinLnBrk="0">
              <a:defRPr/>
            </a:pPr>
            <a:r>
              <a:rPr lang="ko-KR" altLang="en-US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모니터링 </a:t>
            </a:r>
            <a:endParaRPr lang="en-US" altLang="ko-KR" sz="8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 algn="ctr" latinLnBrk="0">
              <a:defRPr/>
            </a:pPr>
            <a:r>
              <a:rPr lang="en-US" altLang="ko-KR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안정화</a:t>
            </a:r>
            <a:endParaRPr lang="en-US" altLang="ko-KR" sz="800" kern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4CA0EE31-EA2E-45E8-B59A-2BAF2FB190B9}"/>
              </a:ext>
            </a:extLst>
          </p:cNvPr>
          <p:cNvSpPr>
            <a:spLocks/>
          </p:cNvSpPr>
          <p:nvPr/>
        </p:nvSpPr>
        <p:spPr>
          <a:xfrm>
            <a:off x="3074269" y="3716209"/>
            <a:ext cx="324000" cy="28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kumimoji="1" lang="en-US" altLang="ko-KR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’</a:t>
            </a:r>
            <a:r>
              <a:rPr kumimoji="1" lang="en-US" altLang="ko-KR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24.9</a:t>
            </a:r>
            <a:endParaRPr kumimoji="1" lang="ko-KR" altLang="en-US" sz="80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0B465229-938D-4408-80A1-575F818EBED9}"/>
              </a:ext>
            </a:extLst>
          </p:cNvPr>
          <p:cNvSpPr>
            <a:spLocks/>
          </p:cNvSpPr>
          <p:nvPr/>
        </p:nvSpPr>
        <p:spPr>
          <a:xfrm>
            <a:off x="3872896" y="3716209"/>
            <a:ext cx="324000" cy="28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kumimoji="1" lang="en-US" altLang="ko-KR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’</a:t>
            </a:r>
            <a:r>
              <a:rPr kumimoji="1" lang="en-US" altLang="ko-KR" sz="800" kern="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24.10</a:t>
            </a:r>
            <a:endParaRPr kumimoji="1" lang="ko-KR" altLang="en-US" sz="80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996BEC5-A79A-44E0-BBA8-E7BFFDC90777}"/>
              </a:ext>
            </a:extLst>
          </p:cNvPr>
          <p:cNvSpPr/>
          <p:nvPr/>
        </p:nvSpPr>
        <p:spPr>
          <a:xfrm>
            <a:off x="218199" y="3538083"/>
            <a:ext cx="474810" cy="246221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lang="ko-KR" altLang="en-US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일정</a:t>
            </a:r>
          </a:p>
        </p:txBody>
      </p:sp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6855F328-A2B5-409E-B53D-D2F8329107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12789"/>
              </p:ext>
            </p:extLst>
          </p:nvPr>
        </p:nvGraphicFramePr>
        <p:xfrm>
          <a:off x="5300212" y="5496363"/>
          <a:ext cx="4464000" cy="670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32000">
                  <a:extLst>
                    <a:ext uri="{9D8B030D-6E8A-4147-A177-3AD203B41FA5}">
                      <a16:colId xmlns:a16="http://schemas.microsoft.com/office/drawing/2014/main" val="1740910677"/>
                    </a:ext>
                  </a:extLst>
                </a:gridCol>
                <a:gridCol w="2232000">
                  <a:extLst>
                    <a:ext uri="{9D8B030D-6E8A-4147-A177-3AD203B41FA5}">
                      <a16:colId xmlns:a16="http://schemas.microsoft.com/office/drawing/2014/main" val="942126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  <a:r>
                        <a:rPr lang="en-US" altLang="ko-KR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금액</a:t>
                      </a:r>
                      <a:r>
                        <a:rPr lang="en-US" altLang="ko-KR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정성적 효과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938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약 </a:t>
                      </a:r>
                      <a:r>
                        <a:rPr lang="en-US" altLang="ko-KR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0.3</a:t>
                      </a:r>
                      <a:r>
                        <a:rPr lang="ko-KR" altLang="en-US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억원</a:t>
                      </a:r>
                      <a:r>
                        <a:rPr lang="en-US" altLang="ko-KR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</a:t>
                      </a:r>
                      <a:r>
                        <a:rPr lang="en-US" altLang="ko-KR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(GM2 </a:t>
                      </a:r>
                      <a:r>
                        <a:rPr lang="ko-KR" altLang="en-US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음극 </a:t>
                      </a:r>
                      <a:r>
                        <a:rPr lang="en-US" altLang="ko-KR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라인 기준</a:t>
                      </a:r>
                      <a:r>
                        <a:rPr lang="en-US" altLang="ko-KR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GM2 1</a:t>
                      </a:r>
                      <a:r>
                        <a:rPr lang="ko-KR" altLang="en-US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 기준</a:t>
                      </a:r>
                      <a:r>
                        <a:rPr lang="en-US" altLang="ko-KR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온도편차 감소를 통한 </a:t>
                      </a:r>
                      <a:r>
                        <a:rPr lang="en-US" altLang="ko-KR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BM</a:t>
                      </a:r>
                      <a:r>
                        <a:rPr lang="ko-KR" altLang="en-US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랑 저감에 따른 재무성과</a:t>
                      </a:r>
                      <a:r>
                        <a:rPr lang="en-US" altLang="ko-KR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</a:t>
                      </a:r>
                      <a:r>
                        <a:rPr lang="en-US" altLang="ko-KR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를 산출함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품질 </a:t>
                      </a:r>
                      <a:r>
                        <a:rPr lang="en-US" altLang="ko-KR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Risk </a:t>
                      </a:r>
                      <a:r>
                        <a:rPr lang="ko-KR" altLang="en-US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감소에 기여</a:t>
                      </a:r>
                      <a:endParaRPr lang="en-US" altLang="ko-KR" sz="8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 온도보다 고온에서 건조 시 열주름 등의 품질 불량 발생 가능성 존재</a:t>
                      </a:r>
                      <a:r>
                        <a:rPr lang="en-US" altLang="ko-KR" sz="8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757348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A95CD203-39CF-4C44-8C7D-A6AA8E558BF8}"/>
              </a:ext>
            </a:extLst>
          </p:cNvPr>
          <p:cNvSpPr/>
          <p:nvPr/>
        </p:nvSpPr>
        <p:spPr>
          <a:xfrm>
            <a:off x="5958218" y="4080928"/>
            <a:ext cx="3004525" cy="866063"/>
          </a:xfrm>
          <a:prstGeom prst="rect">
            <a:avLst/>
          </a:prstGeom>
          <a:solidFill>
            <a:schemeClr val="accent6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0869674-F4B2-4DE4-8DBC-8555F525C669}"/>
              </a:ext>
            </a:extLst>
          </p:cNvPr>
          <p:cNvSpPr/>
          <p:nvPr/>
        </p:nvSpPr>
        <p:spPr>
          <a:xfrm>
            <a:off x="8989451" y="4081641"/>
            <a:ext cx="819267" cy="866063"/>
          </a:xfrm>
          <a:prstGeom prst="rect">
            <a:avLst/>
          </a:prstGeom>
          <a:solidFill>
            <a:srgbClr val="AC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43BD7CF-F5BE-435C-A1D2-351957D55719}"/>
              </a:ext>
            </a:extLst>
          </p:cNvPr>
          <p:cNvSpPr/>
          <p:nvPr/>
        </p:nvSpPr>
        <p:spPr>
          <a:xfrm>
            <a:off x="8889020" y="3735455"/>
            <a:ext cx="946405" cy="33855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NND</a:t>
            </a:r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맞게 개발 된 모형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(</a:t>
            </a:r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최종 적용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800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2DABF1B-741E-4071-A63A-FD5309783450}"/>
              </a:ext>
            </a:extLst>
          </p:cNvPr>
          <p:cNvSpPr/>
          <p:nvPr/>
        </p:nvSpPr>
        <p:spPr>
          <a:xfrm>
            <a:off x="7223371" y="3870003"/>
            <a:ext cx="946405" cy="21544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일반 상용 모형</a:t>
            </a:r>
          </a:p>
        </p:txBody>
      </p:sp>
    </p:spTree>
    <p:extLst>
      <p:ext uri="{BB962C8B-B14F-4D97-AF65-F5344CB8AC3E}">
        <p14:creationId xmlns:p14="http://schemas.microsoft.com/office/powerpoint/2010/main" val="383503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12" descr="sdc_bar_plot.png (260×183)">
            <a:extLst>
              <a:ext uri="{FF2B5EF4-FFF2-40B4-BE49-F238E27FC236}">
                <a16:creationId xmlns:a16="http://schemas.microsoft.com/office/drawing/2014/main" id="{9D91FA3A-7C15-42D2-BC9E-36F103FAF2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EBE5910-2EEF-4E20-8725-85FC5C9A49A2}"/>
              </a:ext>
            </a:extLst>
          </p:cNvPr>
          <p:cNvSpPr/>
          <p:nvPr/>
        </p:nvSpPr>
        <p:spPr>
          <a:xfrm>
            <a:off x="92279" y="464719"/>
            <a:ext cx="9813721" cy="2116670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NND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과제 목적 및 구조 설명</a:t>
            </a:r>
            <a:endParaRPr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목적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NND Dryer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건조로 온도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 도달을 위한 건조 출력 최적화를 통해 목표온도 도달 비율을 높이고자 함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부동 후 재가동시 전극의 표면 온도 관리를 위한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DX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개발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타겟시점은 주행 </a:t>
            </a:r>
            <a:r>
              <a:rPr lang="ko-KR" altLang="en-US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시작 후 </a:t>
            </a:r>
            <a:r>
              <a:rPr lang="en-US" altLang="ko-KR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</a:t>
            </a:r>
            <a:r>
              <a:rPr lang="ko-KR" altLang="en-US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 OUT Zone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 온도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±10°C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경알람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).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관리온도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+20°C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중알람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PD </a:t>
            </a:r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발생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기존에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PLC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로직 사용 시 주행 후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초시점에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목표온도 타겟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비율 약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3.78%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수준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목표온도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도달시간은 주행 시작 후 평균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38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 소요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3685B244-3657-4A94-9087-B0525A9984E3}"/>
              </a:ext>
            </a:extLst>
          </p:cNvPr>
          <p:cNvSpPr/>
          <p:nvPr/>
        </p:nvSpPr>
        <p:spPr>
          <a:xfrm>
            <a:off x="300538" y="2167403"/>
            <a:ext cx="441146" cy="369332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74B517C8-0EB7-4573-8908-B532D67A366B}"/>
              </a:ext>
            </a:extLst>
          </p:cNvPr>
          <p:cNvSpPr/>
          <p:nvPr/>
        </p:nvSpPr>
        <p:spPr>
          <a:xfrm>
            <a:off x="612775" y="2212787"/>
            <a:ext cx="6524746" cy="30835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기존에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PLC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로직 사용 시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초시점에 목표온도 타겟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비율 약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3.78%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수준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도달시간 주생 시작 후 평균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38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 소요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1074A5B3-ED14-43F1-8A5F-7AF1DF9CA75F}"/>
              </a:ext>
            </a:extLst>
          </p:cNvPr>
          <p:cNvCxnSpPr>
            <a:cxnSpLocks/>
          </p:cNvCxnSpPr>
          <p:nvPr/>
        </p:nvCxnSpPr>
        <p:spPr>
          <a:xfrm flipV="1">
            <a:off x="184365" y="1797672"/>
            <a:ext cx="9445410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42C1576F-40DF-422F-A5FF-FD861B74F6F6}"/>
              </a:ext>
            </a:extLst>
          </p:cNvPr>
          <p:cNvSpPr/>
          <p:nvPr/>
        </p:nvSpPr>
        <p:spPr>
          <a:xfrm>
            <a:off x="225260" y="1879684"/>
            <a:ext cx="1098378" cy="276999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항목 관련 설명</a:t>
            </a:r>
            <a:endParaRPr lang="ko-KR" altLang="en-US" sz="1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4EF9F1A-D9DC-44C3-B5B1-371E8DBE646C}"/>
              </a:ext>
            </a:extLst>
          </p:cNvPr>
          <p:cNvGrpSpPr/>
          <p:nvPr/>
        </p:nvGrpSpPr>
        <p:grpSpPr>
          <a:xfrm>
            <a:off x="300538" y="2763831"/>
            <a:ext cx="3765489" cy="2070503"/>
            <a:chOff x="458441" y="2122555"/>
            <a:chExt cx="3474891" cy="1944216"/>
          </a:xfrm>
        </p:grpSpPr>
        <p:grpSp>
          <p:nvGrpSpPr>
            <p:cNvPr id="169" name="그룹 168">
              <a:extLst>
                <a:ext uri="{FF2B5EF4-FFF2-40B4-BE49-F238E27FC236}">
                  <a16:creationId xmlns:a16="http://schemas.microsoft.com/office/drawing/2014/main" id="{566C033B-CAFE-47C9-B803-880C2687AD5C}"/>
                </a:ext>
              </a:extLst>
            </p:cNvPr>
            <p:cNvGrpSpPr/>
            <p:nvPr/>
          </p:nvGrpSpPr>
          <p:grpSpPr>
            <a:xfrm>
              <a:off x="1240276" y="2355046"/>
              <a:ext cx="2693056" cy="1711725"/>
              <a:chOff x="832955" y="2106650"/>
              <a:chExt cx="5155582" cy="4260089"/>
            </a:xfrm>
          </p:grpSpPr>
          <p:pic>
            <p:nvPicPr>
              <p:cNvPr id="170" name="그림 169">
                <a:extLst>
                  <a:ext uri="{FF2B5EF4-FFF2-40B4-BE49-F238E27FC236}">
                    <a16:creationId xmlns:a16="http://schemas.microsoft.com/office/drawing/2014/main" id="{3D7A87D4-7909-4AA3-956D-176E4B63D5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32955" y="2262283"/>
                <a:ext cx="5112567" cy="4104456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p:spPr>
          </p:pic>
          <p:cxnSp>
            <p:nvCxnSpPr>
              <p:cNvPr id="171" name="직선 화살표 연결선 170">
                <a:extLst>
                  <a:ext uri="{FF2B5EF4-FFF2-40B4-BE49-F238E27FC236}">
                    <a16:creationId xmlns:a16="http://schemas.microsoft.com/office/drawing/2014/main" id="{94FEF667-8497-4779-8C31-64FF49FFA206}"/>
                  </a:ext>
                </a:extLst>
              </p:cNvPr>
              <p:cNvCxnSpPr/>
              <p:nvPr/>
            </p:nvCxnSpPr>
            <p:spPr>
              <a:xfrm>
                <a:off x="1007531" y="5509764"/>
                <a:ext cx="1246829" cy="0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화살표 연결선 171">
                <a:extLst>
                  <a:ext uri="{FF2B5EF4-FFF2-40B4-BE49-F238E27FC236}">
                    <a16:creationId xmlns:a16="http://schemas.microsoft.com/office/drawing/2014/main" id="{22FEDACA-3B23-4CFE-85C0-719AA71BECA5}"/>
                  </a:ext>
                </a:extLst>
              </p:cNvPr>
              <p:cNvCxnSpPr/>
              <p:nvPr/>
            </p:nvCxnSpPr>
            <p:spPr>
              <a:xfrm flipH="1" flipV="1">
                <a:off x="2262552" y="3312170"/>
                <a:ext cx="0" cy="2198571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화살표 연결선 172">
                <a:extLst>
                  <a:ext uri="{FF2B5EF4-FFF2-40B4-BE49-F238E27FC236}">
                    <a16:creationId xmlns:a16="http://schemas.microsoft.com/office/drawing/2014/main" id="{8A4EAE47-EFFC-4C48-9CB4-483433F7B68A}"/>
                  </a:ext>
                </a:extLst>
              </p:cNvPr>
              <p:cNvCxnSpPr/>
              <p:nvPr/>
            </p:nvCxnSpPr>
            <p:spPr>
              <a:xfrm>
                <a:off x="2262552" y="3326217"/>
                <a:ext cx="2269229" cy="0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화살표 연결선 173">
                <a:extLst>
                  <a:ext uri="{FF2B5EF4-FFF2-40B4-BE49-F238E27FC236}">
                    <a16:creationId xmlns:a16="http://schemas.microsoft.com/office/drawing/2014/main" id="{5D890D9A-192F-464D-B1EA-E0C80F747F3E}"/>
                  </a:ext>
                </a:extLst>
              </p:cNvPr>
              <p:cNvCxnSpPr/>
              <p:nvPr/>
            </p:nvCxnSpPr>
            <p:spPr>
              <a:xfrm flipH="1">
                <a:off x="4536970" y="3342709"/>
                <a:ext cx="0" cy="2198571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화살표 연결선 174">
                <a:extLst>
                  <a:ext uri="{FF2B5EF4-FFF2-40B4-BE49-F238E27FC236}">
                    <a16:creationId xmlns:a16="http://schemas.microsoft.com/office/drawing/2014/main" id="{803DA022-2D1C-4044-970A-F7670E4FF64D}"/>
                  </a:ext>
                </a:extLst>
              </p:cNvPr>
              <p:cNvCxnSpPr/>
              <p:nvPr/>
            </p:nvCxnSpPr>
            <p:spPr>
              <a:xfrm>
                <a:off x="4536970" y="5530771"/>
                <a:ext cx="1246829" cy="0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직사각형 175">
                <a:extLst>
                  <a:ext uri="{FF2B5EF4-FFF2-40B4-BE49-F238E27FC236}">
                    <a16:creationId xmlns:a16="http://schemas.microsoft.com/office/drawing/2014/main" id="{7D256A14-E578-48B8-B21A-EB39937735CD}"/>
                  </a:ext>
                </a:extLst>
              </p:cNvPr>
              <p:cNvSpPr/>
              <p:nvPr/>
            </p:nvSpPr>
            <p:spPr>
              <a:xfrm>
                <a:off x="1805591" y="3619394"/>
                <a:ext cx="698302" cy="1641782"/>
              </a:xfrm>
              <a:prstGeom prst="rect">
                <a:avLst/>
              </a:prstGeom>
              <a:solidFill>
                <a:srgbClr val="EB0000">
                  <a:alpha val="2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77" name="직사각형 176">
                <a:extLst>
                  <a:ext uri="{FF2B5EF4-FFF2-40B4-BE49-F238E27FC236}">
                    <a16:creationId xmlns:a16="http://schemas.microsoft.com/office/drawing/2014/main" id="{96F8839A-7687-4E1D-9B59-61301001A9D2}"/>
                  </a:ext>
                </a:extLst>
              </p:cNvPr>
              <p:cNvSpPr/>
              <p:nvPr/>
            </p:nvSpPr>
            <p:spPr>
              <a:xfrm>
                <a:off x="4299525" y="3601660"/>
                <a:ext cx="648424" cy="1641782"/>
              </a:xfrm>
              <a:prstGeom prst="rect">
                <a:avLst/>
              </a:prstGeom>
              <a:solidFill>
                <a:srgbClr val="EB0000">
                  <a:alpha val="2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78" name="직사각형 177">
                <a:extLst>
                  <a:ext uri="{FF2B5EF4-FFF2-40B4-BE49-F238E27FC236}">
                    <a16:creationId xmlns:a16="http://schemas.microsoft.com/office/drawing/2014/main" id="{E292856F-34A9-4E2C-B667-CA3ED38A4B27}"/>
                  </a:ext>
                </a:extLst>
              </p:cNvPr>
              <p:cNvSpPr/>
              <p:nvPr/>
            </p:nvSpPr>
            <p:spPr>
              <a:xfrm>
                <a:off x="2653528" y="2812550"/>
                <a:ext cx="1496362" cy="78911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2E8F0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미사용</a:t>
                </a:r>
              </a:p>
            </p:txBody>
          </p:sp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E143A565-74A1-4E5F-8935-CC56583875A1}"/>
                  </a:ext>
                </a:extLst>
              </p:cNvPr>
              <p:cNvSpPr/>
              <p:nvPr/>
            </p:nvSpPr>
            <p:spPr>
              <a:xfrm rot="10536781">
                <a:off x="4230370" y="3209351"/>
                <a:ext cx="74810" cy="87943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8C35AA90-6079-4A10-8428-96383365344D}"/>
                  </a:ext>
                </a:extLst>
              </p:cNvPr>
              <p:cNvSpPr/>
              <p:nvPr/>
            </p:nvSpPr>
            <p:spPr>
              <a:xfrm rot="21336781">
                <a:off x="4230369" y="3365171"/>
                <a:ext cx="74810" cy="87943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DE1993E6-71A1-45A5-A735-7F1C6208A370}"/>
                  </a:ext>
                </a:extLst>
              </p:cNvPr>
              <p:cNvSpPr/>
              <p:nvPr/>
            </p:nvSpPr>
            <p:spPr>
              <a:xfrm rot="15936781">
                <a:off x="4564549" y="5307883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35B45CCB-3A2A-4F8A-8D2E-7DFC59F4B9D1}"/>
                  </a:ext>
                </a:extLst>
              </p:cNvPr>
              <p:cNvSpPr/>
              <p:nvPr/>
            </p:nvSpPr>
            <p:spPr>
              <a:xfrm rot="5136781">
                <a:off x="4414913" y="5307883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3" name="타원 182">
                <a:extLst>
                  <a:ext uri="{FF2B5EF4-FFF2-40B4-BE49-F238E27FC236}">
                    <a16:creationId xmlns:a16="http://schemas.microsoft.com/office/drawing/2014/main" id="{A4D89D3B-3615-4342-BD4E-B1F0BB6441AC}"/>
                  </a:ext>
                </a:extLst>
              </p:cNvPr>
              <p:cNvSpPr/>
              <p:nvPr/>
            </p:nvSpPr>
            <p:spPr>
              <a:xfrm rot="15936781">
                <a:off x="2294284" y="3487209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4" name="타원 183">
                <a:extLst>
                  <a:ext uri="{FF2B5EF4-FFF2-40B4-BE49-F238E27FC236}">
                    <a16:creationId xmlns:a16="http://schemas.microsoft.com/office/drawing/2014/main" id="{C786AAA3-4590-4906-95E6-AB0EF3D68BA9}"/>
                  </a:ext>
                </a:extLst>
              </p:cNvPr>
              <p:cNvSpPr/>
              <p:nvPr/>
            </p:nvSpPr>
            <p:spPr>
              <a:xfrm rot="5136781">
                <a:off x="2150828" y="3490195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5" name="직사각형 184">
                <a:extLst>
                  <a:ext uri="{FF2B5EF4-FFF2-40B4-BE49-F238E27FC236}">
                    <a16:creationId xmlns:a16="http://schemas.microsoft.com/office/drawing/2014/main" id="{B2F5FFF2-669E-45FA-95A8-66E2D014CC6C}"/>
                  </a:ext>
                </a:extLst>
              </p:cNvPr>
              <p:cNvSpPr/>
              <p:nvPr/>
            </p:nvSpPr>
            <p:spPr>
              <a:xfrm>
                <a:off x="2639188" y="4747521"/>
                <a:ext cx="827020" cy="582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rgbClr val="E2E8F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IN</a:t>
                </a:r>
              </a:p>
              <a:p>
                <a:pPr algn="ctr"/>
                <a:r>
                  <a:rPr lang="en-US" altLang="ko-KR" sz="800" b="1" dirty="0">
                    <a:solidFill>
                      <a:srgbClr val="E2E8F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Zone</a:t>
                </a:r>
                <a:endParaRPr lang="ko-KR" altLang="en-US" sz="8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6" name="직사각형 185">
                <a:extLst>
                  <a:ext uri="{FF2B5EF4-FFF2-40B4-BE49-F238E27FC236}">
                    <a16:creationId xmlns:a16="http://schemas.microsoft.com/office/drawing/2014/main" id="{DF746F6C-F8F6-4C6C-8F8B-582DAAB47517}"/>
                  </a:ext>
                </a:extLst>
              </p:cNvPr>
              <p:cNvSpPr/>
              <p:nvPr/>
            </p:nvSpPr>
            <p:spPr>
              <a:xfrm>
                <a:off x="2975728" y="2106650"/>
                <a:ext cx="827020" cy="582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rgbClr val="E2E8F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MID</a:t>
                </a:r>
              </a:p>
              <a:p>
                <a:pPr algn="ctr"/>
                <a:r>
                  <a:rPr lang="en-US" altLang="ko-KR" sz="800" b="1" dirty="0">
                    <a:solidFill>
                      <a:srgbClr val="E2E8F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Zone</a:t>
                </a:r>
                <a:endParaRPr lang="ko-KR" altLang="en-US" sz="8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7" name="직사각형 186">
                <a:extLst>
                  <a:ext uri="{FF2B5EF4-FFF2-40B4-BE49-F238E27FC236}">
                    <a16:creationId xmlns:a16="http://schemas.microsoft.com/office/drawing/2014/main" id="{333BDF75-92CD-4D83-9E4A-C8CD9ADC8B8A}"/>
                  </a:ext>
                </a:extLst>
              </p:cNvPr>
              <p:cNvSpPr/>
              <p:nvPr/>
            </p:nvSpPr>
            <p:spPr>
              <a:xfrm>
                <a:off x="5161517" y="4747521"/>
                <a:ext cx="827020" cy="582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rgbClr val="E2E8F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OUT</a:t>
                </a:r>
              </a:p>
              <a:p>
                <a:pPr algn="ctr"/>
                <a:r>
                  <a:rPr lang="en-US" altLang="ko-KR" sz="800" b="1" dirty="0">
                    <a:solidFill>
                      <a:srgbClr val="E2E8F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Zone</a:t>
                </a:r>
                <a:endParaRPr lang="ko-KR" altLang="en-US" sz="8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6E392953-AD63-4DBA-A28D-1EFFFE89493D}"/>
                </a:ext>
              </a:extLst>
            </p:cNvPr>
            <p:cNvSpPr/>
            <p:nvPr/>
          </p:nvSpPr>
          <p:spPr>
            <a:xfrm>
              <a:off x="458441" y="3546444"/>
              <a:ext cx="996581" cy="318527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전극 진행 방향</a:t>
              </a:r>
            </a:p>
          </p:txBody>
        </p:sp>
        <p:cxnSp>
          <p:nvCxnSpPr>
            <p:cNvPr id="189" name="직선 연결선 188">
              <a:extLst>
                <a:ext uri="{FF2B5EF4-FFF2-40B4-BE49-F238E27FC236}">
                  <a16:creationId xmlns:a16="http://schemas.microsoft.com/office/drawing/2014/main" id="{A28C32EC-E128-4730-8442-05933270DE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15553" y="2943902"/>
              <a:ext cx="421018" cy="178180"/>
            </a:xfrm>
            <a:prstGeom prst="line">
              <a:avLst/>
            </a:prstGeom>
            <a:ln>
              <a:solidFill>
                <a:srgbClr val="FF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425B4BF7-83D2-44EE-AC6E-F5CF7C465020}"/>
                </a:ext>
              </a:extLst>
            </p:cNvPr>
            <p:cNvSpPr/>
            <p:nvPr/>
          </p:nvSpPr>
          <p:spPr>
            <a:xfrm>
              <a:off x="778209" y="2700019"/>
              <a:ext cx="624824" cy="3185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IR(</a:t>
              </a:r>
              <a:r>
                <a:rPr lang="ko-KR" altLang="en-US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적외선</a:t>
              </a:r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 Lamp</a:t>
              </a:r>
              <a:endPara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49994321-0247-4203-9CEB-AA1A1DAD5890}"/>
                </a:ext>
              </a:extLst>
            </p:cNvPr>
            <p:cNvSpPr txBox="1"/>
            <p:nvPr/>
          </p:nvSpPr>
          <p:spPr>
            <a:xfrm>
              <a:off x="1640632" y="2122555"/>
              <a:ext cx="1860687" cy="230832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&lt;NND</a:t>
              </a:r>
              <a:r>
                <a:rPr lang="ko-KR" altLang="en-US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Dryer</a:t>
              </a:r>
              <a:r>
                <a:rPr lang="ko-KR" altLang="en-US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설비 구조도</a:t>
              </a:r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&gt;</a:t>
              </a:r>
              <a:r>
                <a:rPr lang="ko-KR" altLang="en-US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</a:p>
          </p:txBody>
        </p:sp>
      </p:grp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BB4F85FD-13A7-4306-90C7-F5B074426AA2}"/>
              </a:ext>
            </a:extLst>
          </p:cNvPr>
          <p:cNvSpPr/>
          <p:nvPr/>
        </p:nvSpPr>
        <p:spPr>
          <a:xfrm>
            <a:off x="5095048" y="1324760"/>
            <a:ext cx="3144367" cy="200055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ko-KR" altLang="en-US" sz="7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건조로에 외부 전극이 건조로 내부에 투입 후 밖으로 나오는데 소요된 시간</a:t>
            </a:r>
            <a:endParaRPr lang="en-US" altLang="ko-KR" sz="700" b="1" dirty="0">
              <a:solidFill>
                <a:schemeClr val="accent6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C28B47-F025-437A-97E8-1BD899E29BD0}"/>
              </a:ext>
            </a:extLst>
          </p:cNvPr>
          <p:cNvSpPr txBox="1"/>
          <p:nvPr/>
        </p:nvSpPr>
        <p:spPr>
          <a:xfrm>
            <a:off x="184365" y="98902"/>
            <a:ext cx="7588035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E4FCF87-2D55-40FC-89CB-B9FE48EE3188}"/>
              </a:ext>
            </a:extLst>
          </p:cNvPr>
          <p:cNvGrpSpPr/>
          <p:nvPr/>
        </p:nvGrpSpPr>
        <p:grpSpPr>
          <a:xfrm>
            <a:off x="4442431" y="2620534"/>
            <a:ext cx="4900062" cy="2492912"/>
            <a:chOff x="4833267" y="2413619"/>
            <a:chExt cx="4217752" cy="1951784"/>
          </a:xfrm>
        </p:grpSpPr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11B666A2-96EF-46CF-B77A-53BBD393964B}"/>
                </a:ext>
              </a:extLst>
            </p:cNvPr>
            <p:cNvSpPr/>
            <p:nvPr/>
          </p:nvSpPr>
          <p:spPr>
            <a:xfrm>
              <a:off x="8438719" y="2710637"/>
              <a:ext cx="339205" cy="137376"/>
            </a:xfrm>
            <a:prstGeom prst="rect">
              <a:avLst/>
            </a:prstGeom>
            <a:solidFill>
              <a:srgbClr val="009C3C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B9FCAD50-6AFF-416C-98F7-DB7C5BFFF61B}"/>
                </a:ext>
              </a:extLst>
            </p:cNvPr>
            <p:cNvSpPr/>
            <p:nvPr/>
          </p:nvSpPr>
          <p:spPr>
            <a:xfrm>
              <a:off x="8377372" y="2854749"/>
              <a:ext cx="673647" cy="205263"/>
            </a:xfrm>
            <a:prstGeom prst="rect">
              <a:avLst/>
            </a:prstGeom>
            <a:ln/>
          </p:spPr>
          <p:txBody>
            <a:bodyPr wrap="none">
              <a:spAutoFit/>
            </a:bodyPr>
            <a:lstStyle/>
            <a:p>
              <a:r>
                <a:rPr kumimoji="1" lang="ko-KR" altLang="en-US" sz="10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자동보정 영역</a:t>
              </a:r>
              <a:endParaRPr lang="ko-KR" altLang="en-US" sz="10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07ACD3DE-9DAF-4361-95FC-A272F15AC854}"/>
                </a:ext>
              </a:extLst>
            </p:cNvPr>
            <p:cNvSpPr/>
            <p:nvPr/>
          </p:nvSpPr>
          <p:spPr>
            <a:xfrm>
              <a:off x="4833267" y="2413619"/>
              <a:ext cx="1080745" cy="230832"/>
            </a:xfrm>
            <a:prstGeom prst="rect">
              <a:avLst/>
            </a:prstGeom>
            <a:ln/>
          </p:spPr>
          <p:txBody>
            <a:bodyPr wrap="none">
              <a:spAutoFit/>
            </a:bodyPr>
            <a:lstStyle/>
            <a:p>
              <a:r>
                <a:rPr lang="en-US" altLang="ko-KR" sz="900" u="sng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DX</a:t>
              </a:r>
              <a:r>
                <a:rPr lang="ko-KR" altLang="en-US" sz="900" u="sng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적용 전 현 수준</a:t>
              </a:r>
              <a:endParaRPr lang="ko-KR" altLang="en-US" sz="900" u="sng" dirty="0"/>
            </a:p>
          </p:txBody>
        </p:sp>
        <p:sp>
          <p:nvSpPr>
            <p:cNvPr id="5" name="화살표: 오른쪽 4">
              <a:extLst>
                <a:ext uri="{FF2B5EF4-FFF2-40B4-BE49-F238E27FC236}">
                  <a16:creationId xmlns:a16="http://schemas.microsoft.com/office/drawing/2014/main" id="{A5CF2B63-C1C6-4AE0-87CE-271B9AC61232}"/>
                </a:ext>
              </a:extLst>
            </p:cNvPr>
            <p:cNvSpPr/>
            <p:nvPr/>
          </p:nvSpPr>
          <p:spPr>
            <a:xfrm>
              <a:off x="7472519" y="3210234"/>
              <a:ext cx="609999" cy="330497"/>
            </a:xfrm>
            <a:prstGeom prst="right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A760966-DEE7-41C9-9D7B-EFEAF756861D}"/>
                </a:ext>
              </a:extLst>
            </p:cNvPr>
            <p:cNvSpPr/>
            <p:nvPr/>
          </p:nvSpPr>
          <p:spPr>
            <a:xfrm>
              <a:off x="7291998" y="3588519"/>
              <a:ext cx="998991" cy="485261"/>
            </a:xfrm>
            <a:prstGeom prst="rect">
              <a:avLst/>
            </a:prstGeom>
            <a:ln/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전극 이동에 따른 </a:t>
              </a:r>
              <a:endParaRPr lang="en-US" altLang="ko-KR" sz="900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9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온도 변화</a:t>
              </a:r>
              <a:endParaRPr lang="en-US" altLang="ko-KR" sz="900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948C143-66E0-4FE9-814D-E8ED2A90F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0" y="2580606"/>
              <a:ext cx="3311174" cy="1784797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7977178-CFC8-477A-826F-5767A9377F6D}"/>
                </a:ext>
              </a:extLst>
            </p:cNvPr>
            <p:cNvSpPr txBox="1"/>
            <p:nvPr/>
          </p:nvSpPr>
          <p:spPr>
            <a:xfrm>
              <a:off x="5387500" y="2948932"/>
              <a:ext cx="345734" cy="184666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100</a:t>
              </a:r>
              <a:endParaRPr lang="ko-KR" altLang="en-US" sz="6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001C0F4-595C-4E57-984D-E7D5B550CD09}"/>
                </a:ext>
              </a:extLst>
            </p:cNvPr>
            <p:cNvSpPr txBox="1"/>
            <p:nvPr/>
          </p:nvSpPr>
          <p:spPr>
            <a:xfrm>
              <a:off x="5387499" y="2786311"/>
              <a:ext cx="1118297" cy="184666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타겟온도 </a:t>
              </a:r>
              <a:r>
                <a:rPr lang="en-US" altLang="ko-KR" sz="6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 110</a:t>
              </a:r>
              <a:endParaRPr lang="ko-KR" altLang="en-US" sz="6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80DB52D3-AD3F-4381-9A84-0CF892B0C78E}"/>
                </a:ext>
              </a:extLst>
            </p:cNvPr>
            <p:cNvSpPr/>
            <p:nvPr/>
          </p:nvSpPr>
          <p:spPr>
            <a:xfrm>
              <a:off x="6270270" y="2632918"/>
              <a:ext cx="1947870" cy="1513959"/>
            </a:xfrm>
            <a:prstGeom prst="rect">
              <a:avLst/>
            </a:prstGeom>
            <a:solidFill>
              <a:srgbClr val="009C3C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03EC3E89-9EA0-425F-B421-BF053CADC75F}"/>
                </a:ext>
              </a:extLst>
            </p:cNvPr>
            <p:cNvSpPr/>
            <p:nvPr/>
          </p:nvSpPr>
          <p:spPr>
            <a:xfrm>
              <a:off x="6934076" y="3060012"/>
              <a:ext cx="1023255" cy="215444"/>
            </a:xfrm>
            <a:prstGeom prst="rect">
              <a:avLst/>
            </a:prstGeom>
            <a:solidFill>
              <a:srgbClr val="000C4C"/>
            </a:solidFill>
            <a:ln/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목표 온도 타겟 지점</a:t>
              </a:r>
              <a:endParaRPr lang="ko-KR" altLang="en-US" sz="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E78FF7ED-770C-4D77-9BAB-CF8AB5437431}"/>
                </a:ext>
              </a:extLst>
            </p:cNvPr>
            <p:cNvCxnSpPr/>
            <p:nvPr/>
          </p:nvCxnSpPr>
          <p:spPr>
            <a:xfrm flipV="1">
              <a:off x="6908149" y="2632918"/>
              <a:ext cx="0" cy="1518689"/>
            </a:xfrm>
            <a:prstGeom prst="line">
              <a:avLst/>
            </a:prstGeom>
            <a:ln>
              <a:solidFill>
                <a:srgbClr val="6474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EBBF3C9-8F42-4192-9D1B-14E2E08BDEEE}"/>
                </a:ext>
              </a:extLst>
            </p:cNvPr>
            <p:cNvSpPr txBox="1"/>
            <p:nvPr/>
          </p:nvSpPr>
          <p:spPr>
            <a:xfrm>
              <a:off x="6298360" y="3434797"/>
              <a:ext cx="713651" cy="215444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가속 후 </a:t>
              </a:r>
              <a:r>
                <a:rPr lang="en-US" altLang="ko-KR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20s</a:t>
              </a:r>
              <a:endParaRPr lang="ko-KR" altLang="en-US" sz="800" dirty="0">
                <a:solidFill>
                  <a:schemeClr val="accent4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4EA0A3B7-7535-41EE-AD73-A30B682D75EF}"/>
              </a:ext>
            </a:extLst>
          </p:cNvPr>
          <p:cNvSpPr txBox="1"/>
          <p:nvPr/>
        </p:nvSpPr>
        <p:spPr>
          <a:xfrm>
            <a:off x="5095535" y="2925399"/>
            <a:ext cx="401664" cy="184666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120</a:t>
            </a:r>
            <a:endParaRPr lang="ko-KR" altLang="en-US" sz="6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6195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9CA99F4-0CC3-4B38-87BF-9ADAFA01B253}"/>
              </a:ext>
            </a:extLst>
          </p:cNvPr>
          <p:cNvSpPr/>
          <p:nvPr/>
        </p:nvSpPr>
        <p:spPr>
          <a:xfrm>
            <a:off x="89142" y="495327"/>
            <a:ext cx="9900248" cy="2262671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선속 </a:t>
            </a: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개발 개요 및 목적</a:t>
            </a:r>
            <a:endParaRPr lang="ko-KR" altLang="en-US" sz="1600" b="1" dirty="0">
              <a:solidFill>
                <a:srgbClr val="424242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- 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현재 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GM1 1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호기 음극 양산 라인에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Dryer 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부동 후 재가동 시 전극 표면온도 관리 모형 적용함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(1,000mm/s 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대응 모형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 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선속 외에 다른 선속에서도 부동 후 재가동 하는 경우가 존재함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 </a:t>
            </a:r>
            <a:r>
              <a:rPr lang="en-US" altLang="ko-KR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 </a:t>
            </a:r>
            <a:r>
              <a:rPr lang="ko-KR" altLang="en-US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선속외에서도 대응 가능하도록 추가 선속 모형 개발이 필요</a:t>
            </a:r>
            <a:endParaRPr lang="en-US" altLang="ko-KR" sz="12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ND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공정기술팀에서 요청한 모형 개발 순위는 아래와 같음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① </a:t>
            </a:r>
            <a:r>
              <a:rPr lang="ko-KR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1순위: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</a:t>
            </a:r>
            <a:r>
              <a:rPr lang="ko-KR" altLang="ko-KR" sz="1100" b="1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mm</a:t>
            </a:r>
            <a:r>
              <a:rPr lang="ko-KR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/s(완료), </a:t>
            </a:r>
            <a:r>
              <a:rPr lang="ko-KR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2순위: 300mm/s(진행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중</a:t>
            </a:r>
            <a:r>
              <a:rPr lang="ko-KR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3순위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</a:t>
            </a:r>
            <a:r>
              <a:rPr lang="ko-KR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800mm/s</a:t>
            </a:r>
            <a:r>
              <a:rPr lang="ko-KR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추후 </a:t>
            </a:r>
            <a:r>
              <a:rPr lang="ko-KR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예정)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4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순위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100mm/s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추후 진행 예정</a:t>
            </a:r>
            <a:r>
              <a:rPr lang="en-US" altLang="ko-KR" sz="1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 </a:t>
            </a:r>
            <a:r>
              <a:rPr lang="en-US" altLang="ko-KR" sz="1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*ND</a:t>
            </a:r>
            <a:r>
              <a:rPr lang="ko-KR" altLang="en-US" sz="1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공정기술팀 요청 사항</a:t>
            </a:r>
            <a:endParaRPr lang="en-US" altLang="ko-KR" sz="10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즉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1,000mm/s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속도 모형 다음 순위인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속도 모형 개발을 위해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EDA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 필요 함</a:t>
            </a:r>
            <a:endParaRPr lang="ko-KR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900" i="0" dirty="0">
              <a:solidFill>
                <a:srgbClr val="424242"/>
              </a:solidFill>
              <a:effectLst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43F3A7C-8832-4225-BF69-8340538F5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030618"/>
              </p:ext>
            </p:extLst>
          </p:nvPr>
        </p:nvGraphicFramePr>
        <p:xfrm>
          <a:off x="487097" y="3072474"/>
          <a:ext cx="6604664" cy="2527280"/>
        </p:xfrm>
        <a:graphic>
          <a:graphicData uri="http://schemas.openxmlformats.org/drawingml/2006/table">
            <a:tbl>
              <a:tblPr/>
              <a:tblGrid>
                <a:gridCol w="725311">
                  <a:extLst>
                    <a:ext uri="{9D8B030D-6E8A-4147-A177-3AD203B41FA5}">
                      <a16:colId xmlns:a16="http://schemas.microsoft.com/office/drawing/2014/main" val="1741708011"/>
                    </a:ext>
                  </a:extLst>
                </a:gridCol>
                <a:gridCol w="710394">
                  <a:extLst>
                    <a:ext uri="{9D8B030D-6E8A-4147-A177-3AD203B41FA5}">
                      <a16:colId xmlns:a16="http://schemas.microsoft.com/office/drawing/2014/main" val="614220347"/>
                    </a:ext>
                  </a:extLst>
                </a:gridCol>
                <a:gridCol w="2783078">
                  <a:extLst>
                    <a:ext uri="{9D8B030D-6E8A-4147-A177-3AD203B41FA5}">
                      <a16:colId xmlns:a16="http://schemas.microsoft.com/office/drawing/2014/main" val="581170303"/>
                    </a:ext>
                  </a:extLst>
                </a:gridCol>
                <a:gridCol w="772932">
                  <a:extLst>
                    <a:ext uri="{9D8B030D-6E8A-4147-A177-3AD203B41FA5}">
                      <a16:colId xmlns:a16="http://schemas.microsoft.com/office/drawing/2014/main" val="3969269990"/>
                    </a:ext>
                  </a:extLst>
                </a:gridCol>
                <a:gridCol w="1612949">
                  <a:extLst>
                    <a:ext uri="{9D8B030D-6E8A-4147-A177-3AD203B41FA5}">
                      <a16:colId xmlns:a16="http://schemas.microsoft.com/office/drawing/2014/main" val="1348525842"/>
                    </a:ext>
                  </a:extLst>
                </a:gridCol>
              </a:tblGrid>
              <a:tr h="505456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5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설비</a:t>
                      </a:r>
                    </a:p>
                    <a:p>
                      <a:pPr algn="ctr" fontAlgn="t"/>
                      <a:r>
                        <a:rPr lang="en-US" altLang="ko-KR" sz="105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양극</a:t>
                      </a:r>
                      <a:r>
                        <a:rPr lang="en-US" altLang="ko-KR" sz="105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5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음극</a:t>
                      </a:r>
                      <a:r>
                        <a:rPr lang="en-US" altLang="ko-KR" sz="105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5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선속</a:t>
                      </a:r>
                    </a:p>
                    <a:p>
                      <a:pPr algn="ctr" fontAlgn="t"/>
                      <a:r>
                        <a:rPr lang="en-US" altLang="ko-KR" sz="105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sz="105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mm/s)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5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상황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Dryer</a:t>
                      </a:r>
                    </a:p>
                    <a:p>
                      <a:pPr algn="ctr" fontAlgn="t"/>
                      <a:r>
                        <a:rPr lang="en-US" sz="105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ON/OFF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5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DX </a:t>
                      </a:r>
                      <a:r>
                        <a:rPr lang="ko-KR" altLang="en-US" sz="105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학습</a:t>
                      </a:r>
                    </a:p>
                    <a:p>
                      <a:pPr algn="ctr" fontAlgn="t"/>
                      <a:r>
                        <a:rPr lang="ko-KR" altLang="en-US" sz="105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우선순위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539837"/>
                  </a:ext>
                </a:extLst>
              </a:tr>
              <a:tr h="505456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공통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1,000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일반적인 양산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ON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5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105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256597"/>
                  </a:ext>
                </a:extLst>
              </a:tr>
              <a:tr h="505456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공통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300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R2R </a:t>
                      </a:r>
                      <a:r>
                        <a:rPr lang="ko-KR" altLang="en-US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설비 자재교체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ON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884140"/>
                  </a:ext>
                </a:extLst>
              </a:tr>
              <a:tr h="505456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공통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주행 중 자재 파단 시</a:t>
                      </a:r>
                    </a:p>
                    <a:p>
                      <a:pPr algn="ctr" fontAlgn="t"/>
                      <a:r>
                        <a:rPr lang="ko-KR" altLang="en-US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설비 내 전극 연결을 위해 낮은 선속으로 주행함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OFF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994644"/>
                  </a:ext>
                </a:extLst>
              </a:tr>
              <a:tr h="505456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음극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작업자가 전극 상태에 따라 임의로 선속을 바꿈</a:t>
                      </a:r>
                      <a:r>
                        <a:rPr lang="en-US" altLang="ko-KR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</a:p>
                    <a:p>
                      <a:pPr algn="ctr" fontAlgn="t"/>
                      <a:r>
                        <a:rPr lang="ko-KR" altLang="en-US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 경우 대부분 </a:t>
                      </a:r>
                      <a:r>
                        <a:rPr lang="en-US" altLang="ko-KR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800 mm/s </a:t>
                      </a:r>
                      <a:r>
                        <a:rPr lang="ko-KR" altLang="en-US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선속으로 생산함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ON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5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74817" marR="74817" marT="52372" marB="52372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24158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A5D67E3-2D32-4805-83DA-E5F3C16DBB4E}"/>
              </a:ext>
            </a:extLst>
          </p:cNvPr>
          <p:cNvSpPr/>
          <p:nvPr/>
        </p:nvSpPr>
        <p:spPr>
          <a:xfrm>
            <a:off x="418086" y="2710545"/>
            <a:ext cx="4953000" cy="318677"/>
          </a:xfrm>
          <a:prstGeom prst="rect">
            <a:avLst/>
          </a:prstGeom>
          <a:ln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전극 표면온도 관리 강화 모형 고도화 우선 순위</a:t>
            </a:r>
            <a:endParaRPr lang="en-US" altLang="ko-KR" sz="11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F9FAC-7344-4853-B089-0BAD3961C4AB}"/>
              </a:ext>
            </a:extLst>
          </p:cNvPr>
          <p:cNvSpPr txBox="1"/>
          <p:nvPr/>
        </p:nvSpPr>
        <p:spPr>
          <a:xfrm>
            <a:off x="184365" y="98902"/>
            <a:ext cx="7588035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9655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9CA99F4-0CC3-4B38-87BF-9ADAFA01B253}"/>
              </a:ext>
            </a:extLst>
          </p:cNvPr>
          <p:cNvSpPr/>
          <p:nvPr/>
        </p:nvSpPr>
        <p:spPr>
          <a:xfrm>
            <a:off x="89142" y="495327"/>
            <a:ext cx="9900248" cy="1082925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검토 히스토리 및 진행 방향 설정</a:t>
            </a:r>
            <a:endParaRPr lang="ko-KR" altLang="en-US" sz="1600" b="1" dirty="0">
              <a:solidFill>
                <a:srgbClr val="424242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기존에는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Case 2(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빅데이터분석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팀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Case 4(CNS)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검토한 이력이 있음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현재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ND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공정기술팀에서는 </a:t>
            </a:r>
            <a:r>
              <a:rPr lang="ko-KR" altLang="en-US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현재 설정된 상태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외에 추가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PLC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수정이   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필요 없는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Case 2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방향을 요청하였음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Case2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우선 검토 진행함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가능성 확보 불가시 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Case4 </a:t>
            </a:r>
            <a:r>
              <a:rPr lang="ko-KR" altLang="en-US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검토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ko-KR" altLang="en-US" sz="1000" i="0" dirty="0">
              <a:solidFill>
                <a:srgbClr val="424242"/>
              </a:solidFill>
              <a:effectLst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9AB8C6-CA0C-4C8C-A736-068E20E4A195}"/>
              </a:ext>
            </a:extLst>
          </p:cNvPr>
          <p:cNvSpPr txBox="1"/>
          <p:nvPr/>
        </p:nvSpPr>
        <p:spPr>
          <a:xfrm>
            <a:off x="6431161" y="1108807"/>
            <a:ext cx="2773221" cy="338554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4ECE5D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현재 </a:t>
            </a:r>
            <a:r>
              <a:rPr lang="en-US" altLang="ko-KR" sz="800" dirty="0">
                <a:solidFill>
                  <a:srgbClr val="4ECE5D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IN, MID, OUT </a:t>
            </a:r>
            <a:r>
              <a:rPr lang="ko-KR" altLang="en-US" sz="800" dirty="0">
                <a:solidFill>
                  <a:srgbClr val="4ECE5D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</a:t>
            </a:r>
            <a:r>
              <a:rPr lang="en-US" altLang="ko-KR" sz="800" dirty="0">
                <a:solidFill>
                  <a:srgbClr val="4ECE5D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7S, 8S, 9S</a:t>
            </a:r>
            <a:r>
              <a:rPr lang="ko-KR" altLang="en-US" sz="800" dirty="0">
                <a:solidFill>
                  <a:srgbClr val="4ECE5D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까지만 모형으로 제어하고</a:t>
            </a:r>
            <a:r>
              <a:rPr lang="en-US" altLang="ko-KR" sz="800" dirty="0">
                <a:solidFill>
                  <a:srgbClr val="4ECE5D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</a:p>
          <a:p>
            <a:r>
              <a:rPr lang="ko-KR" altLang="en-US" sz="800" dirty="0">
                <a:solidFill>
                  <a:srgbClr val="4ECE5D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 이후에는 자동보정 제어 사용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0EF58D9-F5FC-473C-9D5A-998DF0996A77}"/>
              </a:ext>
            </a:extLst>
          </p:cNvPr>
          <p:cNvGraphicFramePr>
            <a:graphicFrameLocks noGrp="1"/>
          </p:cNvGraphicFramePr>
          <p:nvPr/>
        </p:nvGraphicFramePr>
        <p:xfrm>
          <a:off x="495384" y="1477837"/>
          <a:ext cx="8915232" cy="1880917"/>
        </p:xfrm>
        <a:graphic>
          <a:graphicData uri="http://schemas.openxmlformats.org/drawingml/2006/table">
            <a:tbl>
              <a:tblPr/>
              <a:tblGrid>
                <a:gridCol w="616619">
                  <a:extLst>
                    <a:ext uri="{9D8B030D-6E8A-4147-A177-3AD203B41FA5}">
                      <a16:colId xmlns:a16="http://schemas.microsoft.com/office/drawing/2014/main" val="381579124"/>
                    </a:ext>
                  </a:extLst>
                </a:gridCol>
                <a:gridCol w="4175185">
                  <a:extLst>
                    <a:ext uri="{9D8B030D-6E8A-4147-A177-3AD203B41FA5}">
                      <a16:colId xmlns:a16="http://schemas.microsoft.com/office/drawing/2014/main" val="2171141094"/>
                    </a:ext>
                  </a:extLst>
                </a:gridCol>
                <a:gridCol w="2130724">
                  <a:extLst>
                    <a:ext uri="{9D8B030D-6E8A-4147-A177-3AD203B41FA5}">
                      <a16:colId xmlns:a16="http://schemas.microsoft.com/office/drawing/2014/main" val="4136958720"/>
                    </a:ext>
                  </a:extLst>
                </a:gridCol>
                <a:gridCol w="1992704">
                  <a:extLst>
                    <a:ext uri="{9D8B030D-6E8A-4147-A177-3AD203B41FA5}">
                      <a16:colId xmlns:a16="http://schemas.microsoft.com/office/drawing/2014/main" val="2983067334"/>
                    </a:ext>
                  </a:extLst>
                </a:gridCol>
              </a:tblGrid>
              <a:tr h="239333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8155" marR="58155" marT="40708" marB="4070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방향성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8155" marR="58155" marT="40708" marB="4070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검토 </a:t>
                      </a:r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 </a:t>
                      </a:r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해결 사항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8155" marR="58155" marT="40708" marB="4070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업무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990019"/>
                  </a:ext>
                </a:extLst>
              </a:tr>
              <a:tr h="3979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Case 1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선속에 따라 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 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Profile (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초기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보상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Peak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 시간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조정 이후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</a:t>
                      </a:r>
                    </a:p>
                    <a:p>
                      <a:pPr algn="l" fontAlgn="t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 온도 검토 시점의 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 모형 개발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선속에 따른 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 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Profile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조정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PLC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수정 多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알고리즘 개발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776370"/>
                  </a:ext>
                </a:extLst>
              </a:tr>
              <a:tr h="3979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Case 2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1,000mm/s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와 동일하게 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7,8,9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 시점의 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 모형 개발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b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이후는 기존 등속 구간 제어 로직 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자동보정 로직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활용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선속 변동에 따른 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7,8,9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 시점에</a:t>
                      </a:r>
                    </a:p>
                    <a:p>
                      <a:pPr algn="l" fontAlgn="t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 모형 개발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PLC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수정 無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알고리즘 개발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342180"/>
                  </a:ext>
                </a:extLst>
              </a:tr>
              <a:tr h="3979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Case 3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 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Profile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변경 없이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선속에 무관하게</a:t>
                      </a:r>
                      <a:b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7,8,9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 시점의 목표 온도 범위에 도달하는 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 모형 개발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선속 변동에 따른 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7,8,9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 시점에</a:t>
                      </a:r>
                    </a:p>
                    <a:p>
                      <a:pPr algn="l" fontAlgn="t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 모형 개발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PLC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수정 無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알고리즘 개발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458783"/>
                  </a:ext>
                </a:extLst>
              </a:tr>
              <a:tr h="44770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Case 4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7,8,9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초의 온도는 기존 제어 로직 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(Or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 개발된 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 모형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활용하고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</a:t>
                      </a:r>
                    </a:p>
                    <a:p>
                      <a:pPr algn="l" fontAlgn="t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7,8,9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 이후의 등속 구간 제어를 대체하는 신규 등속 구간 제어 로직 개발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 등속 구간 제어 로직 개발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PLC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수정 少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알고리즘 개발</a:t>
                      </a:r>
                    </a:p>
                  </a:txBody>
                  <a:tcPr marL="58155" marR="58155" marT="40708" marB="40708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349207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B527F7-2F34-44FD-BA02-743418CA1372}"/>
              </a:ext>
            </a:extLst>
          </p:cNvPr>
          <p:cNvSpPr/>
          <p:nvPr/>
        </p:nvSpPr>
        <p:spPr>
          <a:xfrm>
            <a:off x="107999" y="3315554"/>
            <a:ext cx="9881391" cy="1513235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Case 2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방향 진행 내용</a:t>
            </a:r>
            <a:endParaRPr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300mm/s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목표 온도 타겟 시점 검토 배경 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(Dryer</a:t>
            </a:r>
            <a:r>
              <a:rPr lang="ko-KR" altLang="en-US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가속 후 시점 기준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- 1,000mm/s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속도의 경우에는 평균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7.35s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</a:t>
            </a:r>
            <a:r>
              <a:rPr lang="en-US" altLang="ko-KR" sz="1100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OUT_Zone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도달하지만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300mm/s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경우 전극 이동속도가 더 느리기 때문에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</a:p>
          <a:p>
            <a:pPr>
              <a:lnSpc>
                <a:spcPct val="12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</a:t>
            </a:r>
            <a:r>
              <a:rPr lang="en-US" altLang="ko-KR" sz="1100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OUT_Zone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도착 시간이 더 걸림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평균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17.69s)</a:t>
            </a:r>
          </a:p>
          <a:p>
            <a:pPr>
              <a:lnSpc>
                <a:spcPct val="12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설정 속도가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경우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설정된 타겟온도 시점인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7s(IN Zone), 8s(MID Zone), 9s(OUT Zone)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동일하게 가져갈 경우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Dryer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투입 된 전극이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도달하지 못 함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경우 새로운 타겟 온도 시점 검토 필요 함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666C3C8-BC83-4F5C-A50A-397518F5977A}"/>
              </a:ext>
            </a:extLst>
          </p:cNvPr>
          <p:cNvGraphicFramePr>
            <a:graphicFrameLocks noGrp="1"/>
          </p:cNvGraphicFramePr>
          <p:nvPr/>
        </p:nvGraphicFramePr>
        <p:xfrm>
          <a:off x="502941" y="5197819"/>
          <a:ext cx="7884000" cy="1162050"/>
        </p:xfrm>
        <a:graphic>
          <a:graphicData uri="http://schemas.openxmlformats.org/drawingml/2006/table">
            <a:tbl>
              <a:tblPr/>
              <a:tblGrid>
                <a:gridCol w="1116000">
                  <a:extLst>
                    <a:ext uri="{9D8B030D-6E8A-4147-A177-3AD203B41FA5}">
                      <a16:colId xmlns:a16="http://schemas.microsoft.com/office/drawing/2014/main" val="4291347420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270174453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037176198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372066105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977959953"/>
                    </a:ext>
                  </a:extLst>
                </a:gridCol>
              </a:tblGrid>
              <a:tr h="332003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생산속도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재가동 횟수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외부 전극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indent="0" algn="ctr" fontAlgn="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 </a:t>
                      </a:r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건조로 통과 시점 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외부 전극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indent="0" algn="ctr" fontAlgn="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 </a:t>
                      </a:r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건조로 통과 시점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외부 전극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indent="0" algn="ctr" fontAlgn="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 </a:t>
                      </a:r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건조로 통과 시점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02097"/>
                  </a:ext>
                </a:extLst>
              </a:tr>
              <a:tr h="309461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1,000mm/s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455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</a:t>
                      </a:r>
                      <a:endParaRPr lang="ko-KR" alt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3.80s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5.54s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7.07s</a:t>
                      </a:r>
                      <a:endParaRPr 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265906"/>
                  </a:ext>
                </a:extLst>
              </a:tr>
              <a:tr h="309461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300mm/s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275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</a:t>
                      </a:r>
                      <a:endParaRPr lang="ko-KR" alt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6.05s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12.02s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17.69s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766146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E272C376-E6DF-432E-9419-E90A3A4E948F}"/>
              </a:ext>
            </a:extLst>
          </p:cNvPr>
          <p:cNvSpPr/>
          <p:nvPr/>
        </p:nvSpPr>
        <p:spPr>
          <a:xfrm>
            <a:off x="427610" y="4911458"/>
            <a:ext cx="5420739" cy="318677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rgbClr val="E2E8F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※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GM1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호기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24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~ 2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22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각 건조로 통과 시점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평균시간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17C03D-EC20-4EE3-9D92-D04005892F67}"/>
              </a:ext>
            </a:extLst>
          </p:cNvPr>
          <p:cNvSpPr txBox="1"/>
          <p:nvPr/>
        </p:nvSpPr>
        <p:spPr>
          <a:xfrm>
            <a:off x="7105866" y="6331294"/>
            <a:ext cx="2685114" cy="215444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4ECE5D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실제 관리 시점은 편차가 있기 때문에 </a:t>
            </a:r>
            <a:r>
              <a:rPr lang="en-US" altLang="ko-KR" sz="800" dirty="0">
                <a:solidFill>
                  <a:srgbClr val="4ECE5D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+2</a:t>
            </a:r>
            <a:r>
              <a:rPr lang="ko-KR" altLang="en-US" sz="800" dirty="0">
                <a:solidFill>
                  <a:srgbClr val="4ECE5D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 정도 여유 마진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76F88A-89A3-46D6-8916-1FD6AFE84F0B}"/>
              </a:ext>
            </a:extLst>
          </p:cNvPr>
          <p:cNvSpPr txBox="1"/>
          <p:nvPr/>
        </p:nvSpPr>
        <p:spPr>
          <a:xfrm>
            <a:off x="184364" y="98902"/>
            <a:ext cx="8521485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개발을 위한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EDA (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1725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FBFC0E9-A8AA-4A8A-8BB8-791DA2505FE6}"/>
              </a:ext>
            </a:extLst>
          </p:cNvPr>
          <p:cNvSpPr txBox="1"/>
          <p:nvPr/>
        </p:nvSpPr>
        <p:spPr>
          <a:xfrm>
            <a:off x="6431161" y="158260"/>
            <a:ext cx="3359819" cy="307777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EDA </a:t>
            </a:r>
            <a:r>
              <a:rPr lang="ko-KR" altLang="en-US" sz="14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결과서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B527F7-2F34-44FD-BA02-743418CA1372}"/>
              </a:ext>
            </a:extLst>
          </p:cNvPr>
          <p:cNvSpPr/>
          <p:nvPr/>
        </p:nvSpPr>
        <p:spPr>
          <a:xfrm>
            <a:off x="107999" y="499886"/>
            <a:ext cx="9881391" cy="1159676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Case 2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방향 진행 내용</a:t>
            </a:r>
            <a:endParaRPr lang="en-US" altLang="ko-KR" sz="1600" b="1" dirty="0">
              <a:solidFill>
                <a:schemeClr val="bg1">
                  <a:lumMod val="6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 온도 타겟 시점 설정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추후 추가선속 모형개발까지 고려하면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방법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 유리할 것으로 판단됨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방법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Dryer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 초기 전극이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OUT_Zone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통과하는 때 기준으로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개발을 위한 데이터 분석을 우선 진행함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endParaRPr lang="ko-KR" altLang="en-US" sz="9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666C3C8-BC83-4F5C-A50A-397518F5977A}"/>
              </a:ext>
            </a:extLst>
          </p:cNvPr>
          <p:cNvGraphicFramePr>
            <a:graphicFrameLocks noGrp="1"/>
          </p:cNvGraphicFramePr>
          <p:nvPr/>
        </p:nvGraphicFramePr>
        <p:xfrm>
          <a:off x="521435" y="1898334"/>
          <a:ext cx="8312728" cy="1447800"/>
        </p:xfrm>
        <a:graphic>
          <a:graphicData uri="http://schemas.openxmlformats.org/drawingml/2006/table">
            <a:tbl>
              <a:tblPr/>
              <a:tblGrid>
                <a:gridCol w="866428">
                  <a:extLst>
                    <a:ext uri="{9D8B030D-6E8A-4147-A177-3AD203B41FA5}">
                      <a16:colId xmlns:a16="http://schemas.microsoft.com/office/drawing/2014/main" val="4291347420"/>
                    </a:ext>
                  </a:extLst>
                </a:gridCol>
                <a:gridCol w="3723150">
                  <a:extLst>
                    <a:ext uri="{9D8B030D-6E8A-4147-A177-3AD203B41FA5}">
                      <a16:colId xmlns:a16="http://schemas.microsoft.com/office/drawing/2014/main" val="2270174453"/>
                    </a:ext>
                  </a:extLst>
                </a:gridCol>
                <a:gridCol w="3723150">
                  <a:extLst>
                    <a:ext uri="{9D8B030D-6E8A-4147-A177-3AD203B41FA5}">
                      <a16:colId xmlns:a16="http://schemas.microsoft.com/office/drawing/2014/main" val="2037176198"/>
                    </a:ext>
                  </a:extLst>
                </a:gridCol>
              </a:tblGrid>
              <a:tr h="318482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방법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 (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이동 거리기준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방법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 (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이동시간 기준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02097"/>
                  </a:ext>
                </a:extLst>
              </a:tr>
              <a:tr h="318482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설명 </a:t>
                      </a:r>
                      <a:endParaRPr 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Dryer 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재가동 시 초기 전극이 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 Zone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을 통과했을 때 온도 기준</a:t>
                      </a:r>
                      <a:endParaRPr lang="en-US" altLang="ko-KR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Dryer 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재가동 후 특정 시간이 지났을 때 온도 기준</a:t>
                      </a:r>
                      <a:endParaRPr 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293476"/>
                  </a:ext>
                </a:extLst>
              </a:tr>
              <a:tr h="318482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장점 </a:t>
                      </a:r>
                      <a:endParaRPr 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추가 선속 개발 시 통합 가능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속도 별 관리 복잡도 ↓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각 선속별로 온도 안정화 최적 시점 반영 가능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861681"/>
                  </a:ext>
                </a:extLst>
              </a:tr>
              <a:tr h="318482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단점 </a:t>
                      </a:r>
                      <a:endParaRPr 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각 선속별로 온도 안정화 최적 시점 반영 어려움이 있음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추가 선속 개발 시 통합 불가능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속도 별 관리 복잡도 ↑</a:t>
                      </a:r>
                      <a:endParaRPr 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44588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E66EEC00-1B79-49E9-B8E2-191F7CFD776F}"/>
              </a:ext>
            </a:extLst>
          </p:cNvPr>
          <p:cNvSpPr/>
          <p:nvPr/>
        </p:nvSpPr>
        <p:spPr>
          <a:xfrm>
            <a:off x="212774" y="3442804"/>
            <a:ext cx="8624477" cy="1254574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3)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자동보정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Logic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활용 시점 확인 </a:t>
            </a: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초기 전극이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OUT_Zone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통과하는 기준으로 목표 온도 타겟 시점으로 설정 시 자동보정을 활용하여야 하는 시간은 아래표와 같음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건조로 통과 시점 같은 경우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300mm/s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는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보다 속도가 느리기 때문에 통과 시점이 늦어짐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기존의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PLC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로직은 모형을 통해 가속 후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7s(IN), 8s(MID), 9s(OUT)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까지만 출력을 인가하게 되어 있어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 뒤 시점은 모형 출력으로 제어할 수 없음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 Zone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경우는 자동보정을 이용하지 않아도 되지만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MID/OUT Zone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은 각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4.02s, 5.12s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동안 자동보정 로직을 이용해야 함 </a:t>
            </a:r>
            <a:endParaRPr lang="ko-KR" altLang="en-US" sz="1100" b="1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ED04A8B-F877-4EE4-82F7-5802A942C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613985"/>
              </p:ext>
            </p:extLst>
          </p:nvPr>
        </p:nvGraphicFramePr>
        <p:xfrm>
          <a:off x="521435" y="5031399"/>
          <a:ext cx="6480000" cy="1314450"/>
        </p:xfrm>
        <a:graphic>
          <a:graphicData uri="http://schemas.openxmlformats.org/drawingml/2006/table">
            <a:tbl>
              <a:tblPr/>
              <a:tblGrid>
                <a:gridCol w="864000">
                  <a:extLst>
                    <a:ext uri="{9D8B030D-6E8A-4147-A177-3AD203B41FA5}">
                      <a16:colId xmlns:a16="http://schemas.microsoft.com/office/drawing/2014/main" val="726195323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57466297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851587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428826425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871676930"/>
                    </a:ext>
                  </a:extLst>
                </a:gridCol>
              </a:tblGrid>
              <a:tr h="461944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생산속도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재가동 횟수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외부 전극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 </a:t>
                      </a:r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건조로 통과 시점 </a:t>
                      </a:r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</a:t>
                      </a:r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외부 전극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 </a:t>
                      </a:r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건조로 통과 시점 </a:t>
                      </a:r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</a:t>
                      </a:r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외부 전극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 </a:t>
                      </a:r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건조로 통과 시점 </a:t>
                      </a:r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</a:t>
                      </a:r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rgbClr val="333333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335074"/>
                  </a:ext>
                </a:extLst>
              </a:tr>
              <a:tr h="283127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1,000mm/s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455</a:t>
                      </a:r>
                      <a:endParaRPr lang="ko-KR" alt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95452"/>
                  </a:ext>
                </a:extLst>
              </a:tr>
              <a:tr h="283127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300mm/s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275</a:t>
                      </a:r>
                      <a:endParaRPr lang="ko-KR" altLang="en-US" sz="1000" dirty="0"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4.02s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8.67s</a:t>
                      </a:r>
                    </a:p>
                  </a:txBody>
                  <a:tcPr marL="95250" marR="95250" marT="66675" marB="6667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000396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342CF61B-DE62-4494-82D6-DF04A6746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45" y="4815406"/>
            <a:ext cx="4642618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defTabSz="914400"/>
            <a:r>
              <a:rPr lang="en-US" altLang="ko-KR" sz="900" b="1" dirty="0">
                <a:solidFill>
                  <a:srgbClr val="E2E8F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※ </a:t>
            </a:r>
            <a:r>
              <a:rPr lang="ko-KR" altLang="ko-KR" sz="9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GM1 음극 1호기 1월 3일 ~ 2월 22일 각 전조로 자동보정 로직 이용 시간(외부전극 투입 기준</a:t>
            </a:r>
            <a:r>
              <a:rPr lang="en-US" altLang="ko-KR" sz="9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ko-KR" sz="9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8B914233-FED4-4AA8-A9C8-0780F5DE7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45" y="1686665"/>
            <a:ext cx="4641014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defTabSz="914400"/>
            <a:r>
              <a:rPr lang="en-US" altLang="ko-KR" sz="9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ko-KR" sz="9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GM1 음극 1호기 1월 3일 ~ 2월 22일 각 전조로 자동보정 로직 이용 시간(외부전극 투입 기준)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D020CF-AF1F-4AD9-A409-27B19C08D93A}"/>
              </a:ext>
            </a:extLst>
          </p:cNvPr>
          <p:cNvSpPr txBox="1"/>
          <p:nvPr/>
        </p:nvSpPr>
        <p:spPr>
          <a:xfrm>
            <a:off x="184364" y="98902"/>
            <a:ext cx="8521485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 방향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5573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B527F7-2F34-44FD-BA02-743418CA1372}"/>
              </a:ext>
            </a:extLst>
          </p:cNvPr>
          <p:cNvSpPr/>
          <p:nvPr/>
        </p:nvSpPr>
        <p:spPr>
          <a:xfrm>
            <a:off x="107999" y="499886"/>
            <a:ext cx="9682981" cy="6363409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Dryer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전극 표면온도 관리 </a:t>
            </a: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EDA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개요 및 진행 방향</a:t>
            </a:r>
            <a:endParaRPr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1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부동 후 재가동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속도가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때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적용 가능한 모형 개발을 목적으로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EDA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2) GM1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음극에서 검증 된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Line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속도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모형을 기준으로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300mm/s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비교해서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EDA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진행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-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추후 다 선속 통합 모형 개발을 위해서는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속도 모형에서 사용하는 입력값들이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에서도 유용해야 하기 때문에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</a:p>
          <a:p>
            <a:pPr>
              <a:lnSpc>
                <a:spcPct val="12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속도에서도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특징값들이 유용한지 확인 진행</a:t>
            </a:r>
            <a:endParaRPr lang="en-US" altLang="ko-KR" sz="1100" b="1" u="sng" dirty="0">
              <a:solidFill>
                <a:srgbClr val="0D24F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3)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데이터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: GM1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음극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호기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24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~ 2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22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까지 데이터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약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50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1,000mm/s : 455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:275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NND Dryer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설비 데이터 수집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EDA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대상 케이스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1)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케이스 확인 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(300mm/s </a:t>
            </a:r>
            <a:r>
              <a:rPr lang="ko-KR" altLang="en-US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케이스는 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R2R </a:t>
            </a:r>
            <a:r>
              <a:rPr lang="ko-KR" altLang="en-US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설비 교체 시 사용 함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 대상은 부동 후 재가동 시 선속 세팅값이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 경우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-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 선속이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통과할 때까지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등속이 유지 된 경우만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 진행함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(Case2, 3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은 제외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-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현재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PLC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설정 된 모형의 제어 로직은 가속 시작이 확인 되면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바로 값을 주기 때문에 도중에 속도가 변경한 케이스까지 반영하는데 한계가 있음</a:t>
            </a:r>
            <a:endParaRPr lang="en-US" altLang="ko-KR" sz="1100" b="1" u="sng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FBFC0E9-A8AA-4A8A-8BB8-791DA2505FE6}"/>
              </a:ext>
            </a:extLst>
          </p:cNvPr>
          <p:cNvSpPr txBox="1"/>
          <p:nvPr/>
        </p:nvSpPr>
        <p:spPr>
          <a:xfrm>
            <a:off x="6431161" y="158260"/>
            <a:ext cx="3359819" cy="307777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EDA </a:t>
            </a:r>
            <a:r>
              <a:rPr lang="ko-KR" altLang="en-US" sz="14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결과서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C6C3B93-6785-48D6-96E5-75FC412B5DE8}"/>
              </a:ext>
            </a:extLst>
          </p:cNvPr>
          <p:cNvGrpSpPr/>
          <p:nvPr/>
        </p:nvGrpSpPr>
        <p:grpSpPr>
          <a:xfrm>
            <a:off x="519394" y="3216530"/>
            <a:ext cx="7208491" cy="2419005"/>
            <a:chOff x="519394" y="3004934"/>
            <a:chExt cx="7208491" cy="2419005"/>
          </a:xfrm>
        </p:grpSpPr>
        <p:pic>
          <p:nvPicPr>
            <p:cNvPr id="27" name="Picture 7" descr="temp_graph22.png">
              <a:extLst>
                <a:ext uri="{FF2B5EF4-FFF2-40B4-BE49-F238E27FC236}">
                  <a16:creationId xmlns:a16="http://schemas.microsoft.com/office/drawing/2014/main" id="{39FB8254-CA8F-486C-B8EE-96CC67C728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03" t="12734" r="67258"/>
            <a:stretch/>
          </p:blipFill>
          <p:spPr>
            <a:xfrm>
              <a:off x="2536400" y="3234077"/>
              <a:ext cx="1396159" cy="1851308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9D7ACB7-BBC8-4398-B0C8-F9047FF8354F}"/>
                </a:ext>
              </a:extLst>
            </p:cNvPr>
            <p:cNvSpPr txBox="1"/>
            <p:nvPr/>
          </p:nvSpPr>
          <p:spPr>
            <a:xfrm>
              <a:off x="1036911" y="3020837"/>
              <a:ext cx="1018004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대표 </a:t>
              </a:r>
              <a:r>
                <a:rPr lang="en-US" altLang="ko-KR" sz="10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Case1</a:t>
              </a:r>
              <a:endParaRPr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pic>
          <p:nvPicPr>
            <p:cNvPr id="37" name="Picture 3" descr="temp_graph22.png">
              <a:extLst>
                <a:ext uri="{FF2B5EF4-FFF2-40B4-BE49-F238E27FC236}">
                  <a16:creationId xmlns:a16="http://schemas.microsoft.com/office/drawing/2014/main" id="{527B3CE1-C45F-4AE4-9643-95B61062C7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817" t="11883" r="66717"/>
            <a:stretch/>
          </p:blipFill>
          <p:spPr>
            <a:xfrm>
              <a:off x="519394" y="3234077"/>
              <a:ext cx="1472284" cy="1851308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B64238D-A256-4038-A610-707FB1F0B90F}"/>
                </a:ext>
              </a:extLst>
            </p:cNvPr>
            <p:cNvSpPr txBox="1"/>
            <p:nvPr/>
          </p:nvSpPr>
          <p:spPr>
            <a:xfrm>
              <a:off x="3029190" y="3025637"/>
              <a:ext cx="1018004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대표 </a:t>
              </a:r>
              <a:r>
                <a:rPr lang="en-US" altLang="ko-KR" sz="10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Case2</a:t>
              </a:r>
              <a:endParaRPr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D508194-476E-4245-9F9F-542DAD4738B9}"/>
                </a:ext>
              </a:extLst>
            </p:cNvPr>
            <p:cNvSpPr txBox="1"/>
            <p:nvPr/>
          </p:nvSpPr>
          <p:spPr>
            <a:xfrm>
              <a:off x="4945832" y="3004934"/>
              <a:ext cx="1018004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대표 </a:t>
              </a:r>
              <a:r>
                <a:rPr lang="en-US" altLang="ko-KR" sz="10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Case3</a:t>
              </a:r>
              <a:endParaRPr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4C9827CA-4CF4-49FE-8278-965E4B3FEA3A}"/>
                </a:ext>
              </a:extLst>
            </p:cNvPr>
            <p:cNvSpPr/>
            <p:nvPr/>
          </p:nvSpPr>
          <p:spPr>
            <a:xfrm>
              <a:off x="1482675" y="4580144"/>
              <a:ext cx="355646" cy="163682"/>
            </a:xfrm>
            <a:prstGeom prst="ellipse">
              <a:avLst/>
            </a:prstGeom>
            <a:noFill/>
            <a:ln>
              <a:solidFill>
                <a:srgbClr val="94A3B8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556C4AD-7890-43CA-85F3-86D2C8E2534F}"/>
                </a:ext>
              </a:extLst>
            </p:cNvPr>
            <p:cNvSpPr txBox="1"/>
            <p:nvPr/>
          </p:nvSpPr>
          <p:spPr>
            <a:xfrm>
              <a:off x="727476" y="5085385"/>
              <a:ext cx="2654879" cy="230832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</a:t>
              </a:r>
              <a:r>
                <a:rPr lang="ko-KR" altLang="en-US" sz="9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정상적 </a:t>
              </a:r>
              <a:r>
                <a:rPr lang="en-US" altLang="ko-KR" sz="9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300mm/s </a:t>
              </a:r>
              <a:r>
                <a:rPr lang="ko-KR" altLang="en-US" sz="9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케이스 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1C4EA7D-E2C0-4EE0-ACEB-258B213A9EAD}"/>
                </a:ext>
              </a:extLst>
            </p:cNvPr>
            <p:cNvSpPr txBox="1"/>
            <p:nvPr/>
          </p:nvSpPr>
          <p:spPr>
            <a:xfrm>
              <a:off x="6216888" y="3441362"/>
              <a:ext cx="1510997" cy="338554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전극에 붙어있는 테이프 제거를 </a:t>
              </a:r>
              <a:endParaRPr lang="en-US" altLang="ko-KR" sz="8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r>
                <a:rPr lang="ko-KR" altLang="en-US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위해 저속 주행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7CA1D46-C714-4CC4-B6E8-E4D017723228}"/>
                </a:ext>
              </a:extLst>
            </p:cNvPr>
            <p:cNvSpPr txBox="1"/>
            <p:nvPr/>
          </p:nvSpPr>
          <p:spPr>
            <a:xfrm>
              <a:off x="2536400" y="5085385"/>
              <a:ext cx="1933757" cy="338554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- 500</a:t>
              </a:r>
              <a:r>
                <a:rPr lang="ko-KR" altLang="en-US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속으로 설정하였지만</a:t>
              </a:r>
              <a:r>
                <a:rPr lang="en-US" altLang="ko-KR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</a:t>
              </a:r>
              <a:r>
                <a:rPr lang="ko-KR" altLang="en-US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전극에 테이프    </a:t>
              </a:r>
              <a:endPara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r>
                <a:rPr lang="ko-KR" altLang="en-US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 부착 확인 후 </a:t>
              </a:r>
              <a:r>
                <a:rPr lang="en-US" altLang="ko-KR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300</a:t>
              </a:r>
              <a:r>
                <a:rPr lang="ko-KR" altLang="en-US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으로 변경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2072E45-62FE-4B5E-AB47-B5293A8DF580}"/>
                </a:ext>
              </a:extLst>
            </p:cNvPr>
            <p:cNvSpPr txBox="1"/>
            <p:nvPr/>
          </p:nvSpPr>
          <p:spPr>
            <a:xfrm>
              <a:off x="4470157" y="5051702"/>
              <a:ext cx="1933757" cy="338554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- 300</a:t>
              </a:r>
              <a:r>
                <a:rPr lang="ko-KR" altLang="en-US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속으로 주행 하였지만</a:t>
              </a:r>
              <a:r>
                <a:rPr lang="en-US" altLang="ko-KR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OUT Zone</a:t>
              </a:r>
              <a:r>
                <a:rPr lang="ko-KR" altLang="en-US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을     </a:t>
              </a:r>
              <a:endPara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r>
                <a:rPr lang="en-US" altLang="ko-KR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 </a:t>
              </a:r>
              <a:r>
                <a:rPr lang="ko-KR" altLang="en-US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통과하기전에 저속주행으로 변경</a:t>
              </a:r>
            </a:p>
          </p:txBody>
        </p:sp>
        <p:pic>
          <p:nvPicPr>
            <p:cNvPr id="50" name="Picture 6" descr="temp_graph22.png">
              <a:extLst>
                <a:ext uri="{FF2B5EF4-FFF2-40B4-BE49-F238E27FC236}">
                  <a16:creationId xmlns:a16="http://schemas.microsoft.com/office/drawing/2014/main" id="{29C41684-B251-4C1C-84E2-F6D1B76007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644" t="13287" r="66873"/>
            <a:stretch/>
          </p:blipFill>
          <p:spPr>
            <a:xfrm>
              <a:off x="4434490" y="3269405"/>
              <a:ext cx="1424318" cy="1774662"/>
            </a:xfrm>
            <a:prstGeom prst="rect">
              <a:avLst/>
            </a:prstGeom>
          </p:spPr>
        </p:pic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5AD30D2F-8F4D-476D-8679-D1AC4F8B99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5536" y="3412852"/>
              <a:ext cx="0" cy="1431821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DA963622-3779-4A5F-AD71-20D74D5927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4479" y="3412851"/>
              <a:ext cx="0" cy="1431821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4890B5E-3CD9-4CED-A7F6-C2F40308EA61}"/>
                </a:ext>
              </a:extLst>
            </p:cNvPr>
            <p:cNvSpPr txBox="1"/>
            <p:nvPr/>
          </p:nvSpPr>
          <p:spPr>
            <a:xfrm>
              <a:off x="6216888" y="3113117"/>
              <a:ext cx="1100173" cy="338554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OUT Zone </a:t>
              </a:r>
              <a:r>
                <a:rPr lang="ko-KR" altLang="en-US" sz="8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통과 시점</a:t>
              </a:r>
              <a:endPara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r>
                <a:rPr lang="en-US" altLang="ko-KR" sz="8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</a:t>
              </a:r>
              <a:r>
                <a:rPr lang="ko-KR" altLang="en-US" sz="8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약 </a:t>
              </a:r>
              <a:r>
                <a:rPr lang="en-US" altLang="ko-KR" sz="8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17s)</a:t>
              </a:r>
              <a:endPara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498B46D3-563D-40FE-BBE5-2E32F00ECBCF}"/>
                </a:ext>
              </a:extLst>
            </p:cNvPr>
            <p:cNvCxnSpPr>
              <a:cxnSpLocks/>
            </p:cNvCxnSpPr>
            <p:nvPr/>
          </p:nvCxnSpPr>
          <p:spPr>
            <a:xfrm>
              <a:off x="6030709" y="3245980"/>
              <a:ext cx="218211" cy="0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99561BFA-3BD8-4C61-9EF0-0C278356F1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86795" y="3387953"/>
              <a:ext cx="0" cy="1431821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9B10A89C-2ACB-4C7F-B506-172248104CFF}"/>
                </a:ext>
              </a:extLst>
            </p:cNvPr>
            <p:cNvSpPr/>
            <p:nvPr/>
          </p:nvSpPr>
          <p:spPr>
            <a:xfrm>
              <a:off x="6000221" y="3485396"/>
              <a:ext cx="248699" cy="127212"/>
            </a:xfrm>
            <a:prstGeom prst="ellipse">
              <a:avLst/>
            </a:prstGeom>
            <a:noFill/>
            <a:ln>
              <a:solidFill>
                <a:srgbClr val="94A3B8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3B294B49-D115-4985-98E9-861AF7A64A97}"/>
                </a:ext>
              </a:extLst>
            </p:cNvPr>
            <p:cNvSpPr/>
            <p:nvPr/>
          </p:nvSpPr>
          <p:spPr>
            <a:xfrm>
              <a:off x="5050410" y="4506302"/>
              <a:ext cx="321966" cy="182903"/>
            </a:xfrm>
            <a:prstGeom prst="ellipse">
              <a:avLst/>
            </a:prstGeom>
            <a:noFill/>
            <a:ln>
              <a:solidFill>
                <a:srgbClr val="94A3B8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FE06840-4E59-4548-99A9-73B0CD9A5862}"/>
              </a:ext>
            </a:extLst>
          </p:cNvPr>
          <p:cNvSpPr txBox="1"/>
          <p:nvPr/>
        </p:nvSpPr>
        <p:spPr>
          <a:xfrm>
            <a:off x="184364" y="98902"/>
            <a:ext cx="8521485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개발을 위한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EDA (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421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05AC38B3-2E80-4393-89D0-EFAEBF5D26A8}"/>
              </a:ext>
            </a:extLst>
          </p:cNvPr>
          <p:cNvSpPr/>
          <p:nvPr/>
        </p:nvSpPr>
        <p:spPr>
          <a:xfrm>
            <a:off x="107999" y="508739"/>
            <a:ext cx="9682981" cy="421526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 구성</a:t>
            </a:r>
            <a:endParaRPr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80" name="Text Box 32">
            <a:extLst>
              <a:ext uri="{FF2B5EF4-FFF2-40B4-BE49-F238E27FC236}">
                <a16:creationId xmlns:a16="http://schemas.microsoft.com/office/drawing/2014/main" id="{A14594DC-912C-428C-9835-6F002DE94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668" y="898153"/>
            <a:ext cx="3879193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422041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lang="ko-KR" altLang="en-US" sz="1200" b="1" dirty="0">
                <a:ln w="3175">
                  <a:noFill/>
                </a:ln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분석 인자 확인</a:t>
            </a:r>
            <a:endParaRPr lang="en-US" altLang="ko-KR" sz="1200" b="1" dirty="0">
              <a:ln w="3175">
                <a:noFill/>
              </a:ln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8A1B0E88-5EAD-4C3F-8AAB-B3D1BF8BD61F}"/>
              </a:ext>
            </a:extLst>
          </p:cNvPr>
          <p:cNvSpPr/>
          <p:nvPr/>
        </p:nvSpPr>
        <p:spPr>
          <a:xfrm>
            <a:off x="265220" y="1129708"/>
            <a:ext cx="8836321" cy="261610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PLC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에서 실시간 데이터를 수집하여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분석에 활용할 인자 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Feature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확인</a:t>
            </a:r>
          </a:p>
        </p:txBody>
      </p:sp>
      <p:graphicFrame>
        <p:nvGraphicFramePr>
          <p:cNvPr id="284" name="표 283">
            <a:extLst>
              <a:ext uri="{FF2B5EF4-FFF2-40B4-BE49-F238E27FC236}">
                <a16:creationId xmlns:a16="http://schemas.microsoft.com/office/drawing/2014/main" id="{F0AF2585-D958-4EA4-B2C8-799851F81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38762"/>
              </p:ext>
            </p:extLst>
          </p:nvPr>
        </p:nvGraphicFramePr>
        <p:xfrm>
          <a:off x="378993" y="1423027"/>
          <a:ext cx="9140991" cy="1791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331">
                  <a:extLst>
                    <a:ext uri="{9D8B030D-6E8A-4147-A177-3AD203B41FA5}">
                      <a16:colId xmlns:a16="http://schemas.microsoft.com/office/drawing/2014/main" val="2153753345"/>
                    </a:ext>
                  </a:extLst>
                </a:gridCol>
                <a:gridCol w="1588732">
                  <a:extLst>
                    <a:ext uri="{9D8B030D-6E8A-4147-A177-3AD203B41FA5}">
                      <a16:colId xmlns:a16="http://schemas.microsoft.com/office/drawing/2014/main" val="489075749"/>
                    </a:ext>
                  </a:extLst>
                </a:gridCol>
                <a:gridCol w="1588732">
                  <a:extLst>
                    <a:ext uri="{9D8B030D-6E8A-4147-A177-3AD203B41FA5}">
                      <a16:colId xmlns:a16="http://schemas.microsoft.com/office/drawing/2014/main" val="2111066648"/>
                    </a:ext>
                  </a:extLst>
                </a:gridCol>
                <a:gridCol w="1588732">
                  <a:extLst>
                    <a:ext uri="{9D8B030D-6E8A-4147-A177-3AD203B41FA5}">
                      <a16:colId xmlns:a16="http://schemas.microsoft.com/office/drawing/2014/main" val="2868398036"/>
                    </a:ext>
                  </a:extLst>
                </a:gridCol>
                <a:gridCol w="1588732">
                  <a:extLst>
                    <a:ext uri="{9D8B030D-6E8A-4147-A177-3AD203B41FA5}">
                      <a16:colId xmlns:a16="http://schemas.microsoft.com/office/drawing/2014/main" val="3262126177"/>
                    </a:ext>
                  </a:extLst>
                </a:gridCol>
                <a:gridCol w="1588732">
                  <a:extLst>
                    <a:ext uri="{9D8B030D-6E8A-4147-A177-3AD203B41FA5}">
                      <a16:colId xmlns:a16="http://schemas.microsoft.com/office/drawing/2014/main" val="112788143"/>
                    </a:ext>
                  </a:extLst>
                </a:gridCol>
              </a:tblGrid>
              <a:tr h="2703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GM LV </a:t>
                      </a:r>
                      <a:r>
                        <a:rPr lang="ko-KR" altLang="en-US" sz="10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음극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Pilot 4</a:t>
                      </a:r>
                      <a:r>
                        <a:rPr lang="ko-KR" altLang="en-US" sz="10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 양극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Pilot</a:t>
                      </a:r>
                      <a:r>
                        <a:rPr lang="ko-KR" altLang="en-US" sz="10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10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 음극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Pilot 5</a:t>
                      </a:r>
                      <a:r>
                        <a:rPr lang="ko-KR" altLang="en-US" sz="10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 양극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GM1 </a:t>
                      </a:r>
                      <a:r>
                        <a:rPr lang="ko-KR" altLang="en-US" sz="10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음극 </a:t>
                      </a:r>
                      <a:r>
                        <a:rPr lang="en-US" altLang="ko-KR" sz="10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791145"/>
                  </a:ext>
                </a:extLst>
              </a:tr>
              <a:tr h="2534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위치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소형 조립 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 조립 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 조립 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소형 조립 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GM1</a:t>
                      </a:r>
                      <a:endParaRPr lang="ko-KR" altLang="en-US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737343"/>
                  </a:ext>
                </a:extLst>
              </a:tr>
              <a:tr h="8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활용 인자</a:t>
                      </a:r>
                      <a:endParaRPr lang="en-US" altLang="ko-KR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MIR Lamp 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출력 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전극표면온도 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Line Speed (1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MIR Lamp 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출력 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전극표면온도 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Lamp 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표면온도 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Line Speed (1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MIR Lamp 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출력 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전극표면온도 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Lamp 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표면온도 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Line Speed (1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MIR Lamp 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출력 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전극표면온도 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Lamp 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표면온도 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Line Speed (1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MIR Lamp 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출력 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전극표면온도 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E2E8F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Lamp 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E2E8F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표면온도 </a:t>
                      </a: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E2E8F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E2E8F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E2E8F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Line Speed (1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857500"/>
                  </a:ext>
                </a:extLst>
              </a:tr>
              <a:tr h="4055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MIR Lamp 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출력값</a:t>
                      </a:r>
                      <a:endParaRPr lang="en-US" altLang="ko-KR" sz="9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결정 기준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OUT Zone </a:t>
                      </a:r>
                    </a:p>
                    <a:p>
                      <a:pPr algn="ctr" latinLnBrk="1"/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 표면온도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OUT Zone </a:t>
                      </a:r>
                    </a:p>
                    <a:p>
                      <a:pPr algn="ctr" latinLnBrk="1"/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Lamp 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표면 온도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116178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5C18CA0C-F2D4-4C47-8D61-87E85A892B88}"/>
              </a:ext>
            </a:extLst>
          </p:cNvPr>
          <p:cNvSpPr/>
          <p:nvPr/>
        </p:nvSpPr>
        <p:spPr>
          <a:xfrm>
            <a:off x="7939889" y="1423026"/>
            <a:ext cx="1587118" cy="1791140"/>
          </a:xfrm>
          <a:prstGeom prst="rect">
            <a:avLst/>
          </a:prstGeom>
          <a:noFill/>
          <a:ln w="19050">
            <a:solidFill>
              <a:srgbClr val="94A3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02EEEA-CE54-4D6D-9604-F4EF71F03989}"/>
              </a:ext>
            </a:extLst>
          </p:cNvPr>
          <p:cNvSpPr/>
          <p:nvPr/>
        </p:nvSpPr>
        <p:spPr>
          <a:xfrm>
            <a:off x="7914342" y="1160929"/>
            <a:ext cx="793807" cy="261610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대상호기 </a:t>
            </a:r>
          </a:p>
        </p:txBody>
      </p:sp>
      <p:sp>
        <p:nvSpPr>
          <p:cNvPr id="33" name="이등변 삼각형 32">
            <a:extLst>
              <a:ext uri="{FF2B5EF4-FFF2-40B4-BE49-F238E27FC236}">
                <a16:creationId xmlns:a16="http://schemas.microsoft.com/office/drawing/2014/main" id="{C2ECFE86-4765-4CCE-BC4F-10245717BCEF}"/>
              </a:ext>
            </a:extLst>
          </p:cNvPr>
          <p:cNvSpPr/>
          <p:nvPr/>
        </p:nvSpPr>
        <p:spPr>
          <a:xfrm rot="5400000">
            <a:off x="4052546" y="5099369"/>
            <a:ext cx="1996022" cy="360012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3F3849-6E94-43DE-A00E-19FAF0A0968D}"/>
              </a:ext>
            </a:extLst>
          </p:cNvPr>
          <p:cNvSpPr txBox="1"/>
          <p:nvPr/>
        </p:nvSpPr>
        <p:spPr>
          <a:xfrm>
            <a:off x="4652993" y="5154875"/>
            <a:ext cx="809963" cy="215444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변수 정의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44CEAFBD-7C20-4A1C-89AB-510553BF2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72611"/>
              </p:ext>
            </p:extLst>
          </p:nvPr>
        </p:nvGraphicFramePr>
        <p:xfrm>
          <a:off x="5381083" y="4455787"/>
          <a:ext cx="4393146" cy="169273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13581">
                  <a:extLst>
                    <a:ext uri="{9D8B030D-6E8A-4147-A177-3AD203B41FA5}">
                      <a16:colId xmlns:a16="http://schemas.microsoft.com/office/drawing/2014/main" val="1068348274"/>
                    </a:ext>
                  </a:extLst>
                </a:gridCol>
                <a:gridCol w="3479565">
                  <a:extLst>
                    <a:ext uri="{9D8B030D-6E8A-4147-A177-3AD203B41FA5}">
                      <a16:colId xmlns:a16="http://schemas.microsoft.com/office/drawing/2014/main" val="557911901"/>
                    </a:ext>
                  </a:extLst>
                </a:gridCol>
              </a:tblGrid>
              <a:tr h="2040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활용 </a:t>
                      </a:r>
                      <a:r>
                        <a:rPr lang="en-US" altLang="ko-KR" sz="900" b="1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Data</a:t>
                      </a: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변수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150085"/>
                  </a:ext>
                </a:extLst>
              </a:tr>
              <a:tr h="2040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OP_State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직전 부동 시간 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직전 구간 가동 시간</a:t>
                      </a: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347209"/>
                  </a:ext>
                </a:extLst>
              </a:tr>
              <a:tr h="20407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 표면온도</a:t>
                      </a:r>
                      <a:b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(IN/MID/OUT)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건조로 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Zone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별 전극 표면온도 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(IN/MID/OUT, 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가동 시점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653042"/>
                  </a:ext>
                </a:extLst>
              </a:tr>
              <a:tr h="40039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건조로 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Zone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별 전극 표면온도 </a:t>
                      </a:r>
                      <a:b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(IN: 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가속 시작 후 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초 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MID: 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가속 시작 후 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초 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OUT: 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가속 시작 후 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초 시점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229789"/>
                  </a:ext>
                </a:extLst>
              </a:tr>
              <a:tr h="40039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*MIR Lamp 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출력</a:t>
                      </a:r>
                      <a:b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(IN/MID/OUT)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건조로 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Zone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별 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MIR Lamp 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출력 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(IN: 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가속 시작 후 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초 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MID: 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가속 시작 후 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초 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OUT: 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가속 시작 후 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초 시점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 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799150"/>
                  </a:ext>
                </a:extLst>
              </a:tr>
              <a:tr h="20407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램프온도</a:t>
                      </a:r>
                      <a:b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(OUT)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건조로 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Zone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별 램프온도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(OUT, 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가동시점</a:t>
                      </a: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205341"/>
                  </a:ext>
                </a:extLst>
              </a:tr>
            </a:tbl>
          </a:graphicData>
        </a:graphic>
      </p:graphicFrame>
      <p:grpSp>
        <p:nvGrpSpPr>
          <p:cNvPr id="36" name="그룹 35">
            <a:extLst>
              <a:ext uri="{FF2B5EF4-FFF2-40B4-BE49-F238E27FC236}">
                <a16:creationId xmlns:a16="http://schemas.microsoft.com/office/drawing/2014/main" id="{69000640-CCB0-4E98-A0EE-A57FA80BC2FC}"/>
              </a:ext>
            </a:extLst>
          </p:cNvPr>
          <p:cNvGrpSpPr/>
          <p:nvPr/>
        </p:nvGrpSpPr>
        <p:grpSpPr>
          <a:xfrm>
            <a:off x="378993" y="4356865"/>
            <a:ext cx="4359122" cy="1923279"/>
            <a:chOff x="5286797" y="1651531"/>
            <a:chExt cx="4359122" cy="1574757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1C20F101-1120-45EE-AE63-16DFE02EA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86797" y="1651531"/>
              <a:ext cx="4359122" cy="1574757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C6F206DF-F8D3-4E45-981D-C632E9751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78225" y="1730916"/>
              <a:ext cx="571142" cy="574188"/>
            </a:xfrm>
            <a:prstGeom prst="rect">
              <a:avLst/>
            </a:prstGeom>
          </p:spPr>
        </p:pic>
      </p:grpSp>
      <p:sp>
        <p:nvSpPr>
          <p:cNvPr id="39" name="Text Box 32">
            <a:extLst>
              <a:ext uri="{FF2B5EF4-FFF2-40B4-BE49-F238E27FC236}">
                <a16:creationId xmlns:a16="http://schemas.microsoft.com/office/drawing/2014/main" id="{2D688F3F-44A5-4185-A210-B45801A3F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25" y="3354643"/>
            <a:ext cx="3879193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422041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lang="ko-KR" altLang="en-US" sz="1200" b="1" dirty="0">
                <a:ln w="3175">
                  <a:noFill/>
                </a:ln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b="1" dirty="0">
                <a:ln w="3175">
                  <a:noFill/>
                </a:ln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</a:t>
            </a:r>
            <a:r>
              <a:rPr lang="en-US" altLang="ko-KR" sz="1200" dirty="0">
                <a:ln w="3175">
                  <a:noFill/>
                </a:ln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ln w="3175">
                  <a:noFill/>
                </a:ln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</a:t>
            </a:r>
            <a:r>
              <a:rPr lang="en-US" altLang="ko-KR" sz="1200" dirty="0">
                <a:ln w="3175">
                  <a:noFill/>
                </a:ln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200" b="1" dirty="0">
                <a:ln w="3175">
                  <a:noFill/>
                </a:ln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정의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3E0C7CA-9537-427F-A9B3-1635FD151606}"/>
              </a:ext>
            </a:extLst>
          </p:cNvPr>
          <p:cNvSpPr/>
          <p:nvPr/>
        </p:nvSpPr>
        <p:spPr>
          <a:xfrm>
            <a:off x="307678" y="3597520"/>
            <a:ext cx="9682981" cy="67710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marL="86400" indent="-8640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MIR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Lamp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출력 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(IN/MID/OUT), Line Speed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등 변수 현황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및 특성을 파악하고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알고리즘 모형 개발에 </a:t>
            </a:r>
            <a:r>
              <a:rPr lang="ko-KR" altLang="en-US" sz="1100" b="1" u="sng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사용할 파생 변수를 정의함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  <a:p>
            <a:pPr>
              <a:spcBef>
                <a:spcPts val="300"/>
              </a:spcBef>
            </a:pP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부동후 재가동 케이스만 제어를 하는 것이 목표이므로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재가동 되는 케이스만 필터하여 재가동되는 시점으로 부터 </a:t>
            </a:r>
            <a:r>
              <a:rPr lang="ko-KR" altLang="en-US" sz="1100" b="1" u="sng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초기전극 표면온도</a:t>
            </a:r>
            <a:r>
              <a:rPr lang="en-US" altLang="ko-KR" sz="1100" b="1" u="sng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(IN/MID/OUT</a:t>
            </a:r>
            <a:r>
              <a:rPr lang="ko-KR" altLang="en-US" sz="1100" b="1" u="sng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추출</a:t>
            </a:r>
            <a:r>
              <a:rPr lang="en-US" altLang="ko-KR" sz="1100" b="1" u="sng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100" b="1" u="sng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및 램프온도 </a:t>
            </a:r>
            <a:r>
              <a:rPr lang="en-US" altLang="ko-KR" sz="1100" b="1" u="sng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(OUT),</a:t>
            </a:r>
          </a:p>
          <a:p>
            <a:pPr>
              <a:spcBef>
                <a:spcPts val="300"/>
              </a:spcBef>
            </a:pPr>
            <a:r>
              <a:rPr lang="en-US" altLang="ko-KR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100" b="1" u="sng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가속 후 </a:t>
            </a:r>
            <a:r>
              <a:rPr lang="en-US" altLang="ko-KR" sz="1100" b="1" u="sng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20</a:t>
            </a:r>
            <a:r>
              <a:rPr lang="ko-KR" altLang="en-US" sz="1100" b="1" u="sng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초 시점의 </a:t>
            </a:r>
            <a:r>
              <a:rPr lang="en-US" altLang="ko-KR" sz="1100" b="1" u="sng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MIR Lamp </a:t>
            </a:r>
            <a:r>
              <a:rPr lang="ko-KR" altLang="en-US" sz="1100" b="1" u="sng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 추출</a:t>
            </a:r>
            <a:r>
              <a:rPr lang="en-US" altLang="ko-KR" sz="1100" b="1" u="sng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(IN/MID/OUT)</a:t>
            </a:r>
          </a:p>
        </p:txBody>
      </p:sp>
      <p:sp>
        <p:nvSpPr>
          <p:cNvPr id="5" name="실행 단추: 앞으로 또는 다음으로 이동 4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C27F82B2-8A31-48F6-BD25-C27F41130952}"/>
              </a:ext>
            </a:extLst>
          </p:cNvPr>
          <p:cNvSpPr/>
          <p:nvPr/>
        </p:nvSpPr>
        <p:spPr>
          <a:xfrm>
            <a:off x="8437252" y="3641374"/>
            <a:ext cx="280658" cy="177775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5D1E68-DA64-464C-A0BA-92FAD43F2D9F}"/>
              </a:ext>
            </a:extLst>
          </p:cNvPr>
          <p:cNvSpPr/>
          <p:nvPr/>
        </p:nvSpPr>
        <p:spPr>
          <a:xfrm>
            <a:off x="8672645" y="3609867"/>
            <a:ext cx="966931" cy="230832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 전처리 방법</a:t>
            </a:r>
          </a:p>
        </p:txBody>
      </p:sp>
      <p:sp>
        <p:nvSpPr>
          <p:cNvPr id="44" name="실행 단추: 뒤로 또는 앞으로 이동 4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F57E9F3-977E-45C6-98F9-05287FF63CE4}"/>
              </a:ext>
            </a:extLst>
          </p:cNvPr>
          <p:cNvSpPr/>
          <p:nvPr/>
        </p:nvSpPr>
        <p:spPr>
          <a:xfrm rot="10800000">
            <a:off x="1768096" y="3369234"/>
            <a:ext cx="262379" cy="245883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21C72B0-C547-45BE-B309-1D4BDFD890FD}"/>
              </a:ext>
            </a:extLst>
          </p:cNvPr>
          <p:cNvSpPr/>
          <p:nvPr/>
        </p:nvSpPr>
        <p:spPr>
          <a:xfrm>
            <a:off x="1978491" y="3379035"/>
            <a:ext cx="1069524" cy="230832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 추출 관련내용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DD3322-3865-4492-9E8C-B107317E80AF}"/>
              </a:ext>
            </a:extLst>
          </p:cNvPr>
          <p:cNvSpPr txBox="1"/>
          <p:nvPr/>
        </p:nvSpPr>
        <p:spPr>
          <a:xfrm>
            <a:off x="184364" y="98902"/>
            <a:ext cx="8521485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개발을 위한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EDA (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C3558D4-03A3-4C35-BB44-C94D484B6E54}"/>
              </a:ext>
            </a:extLst>
          </p:cNvPr>
          <p:cNvSpPr/>
          <p:nvPr/>
        </p:nvSpPr>
        <p:spPr>
          <a:xfrm>
            <a:off x="4949488" y="6287162"/>
            <a:ext cx="4986922" cy="21544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MIR(Mid-Infrared Radiation) Lamp 출력 : IR 건조(적외선 건조 시 복사열 전열을 이용한 건조법) 시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내부 </a:t>
            </a:r>
            <a:r>
              <a:rPr lang="ko-KR" altLang="en-US" sz="800" dirty="0" err="1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Lamp의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dirty="0" err="1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출력값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(%)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실행 단추: 뒤로 또는 앞으로 이동 22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A8A4703-296F-426F-A622-E1E0C4215E2C}"/>
              </a:ext>
            </a:extLst>
          </p:cNvPr>
          <p:cNvSpPr/>
          <p:nvPr/>
        </p:nvSpPr>
        <p:spPr>
          <a:xfrm rot="10800000">
            <a:off x="8082162" y="2958429"/>
            <a:ext cx="174597" cy="207837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CE73588-27B0-45AA-9D2F-7E233D6E487D}"/>
              </a:ext>
            </a:extLst>
          </p:cNvPr>
          <p:cNvSpPr/>
          <p:nvPr/>
        </p:nvSpPr>
        <p:spPr>
          <a:xfrm>
            <a:off x="8256759" y="2923556"/>
            <a:ext cx="832279" cy="230832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분석인자 설명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829F0B1-7D54-4BDE-A736-3B436C8D1975}"/>
              </a:ext>
            </a:extLst>
          </p:cNvPr>
          <p:cNvSpPr/>
          <p:nvPr/>
        </p:nvSpPr>
        <p:spPr>
          <a:xfrm>
            <a:off x="7871469" y="4175411"/>
            <a:ext cx="2034531" cy="246221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E2E8F0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*</a:t>
            </a:r>
            <a:r>
              <a:rPr lang="ko-KR" altLang="en-US" sz="1000" dirty="0">
                <a:solidFill>
                  <a:srgbClr val="E2E8F0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모든 인자는 </a:t>
            </a:r>
            <a:r>
              <a:rPr lang="en-US" altLang="ko-KR" sz="1000" dirty="0">
                <a:solidFill>
                  <a:srgbClr val="E2E8F0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Numerical Features</a:t>
            </a:r>
            <a:endParaRPr lang="ko-KR" altLang="en-US" sz="1000" dirty="0"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7876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05824" y="496807"/>
            <a:ext cx="10072776" cy="1277273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공정 데이터 확인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1) Target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도달 시간 및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통과 시점을 타겟으로 설정 시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Target-In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현황 확인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Zone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온도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Target-In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비율이 높아지는 지점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(90%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이상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은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은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134s, OUT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은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110s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이상임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자동보정 로직으로는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Target-In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하기 위해 많은 시간이 걸림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자동보정 로직 전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등속제어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모형제어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구간에서 목표온도 달성을 시키는 것이 중요해 보임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lang="en-US" altLang="ko-KR" sz="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-  OUT Zone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통과시 </a:t>
            </a:r>
            <a:r>
              <a:rPr lang="en-US" altLang="ko-KR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Target-In </a:t>
            </a:r>
            <a:r>
              <a:rPr lang="ko-KR" altLang="en-US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비율은 약 </a:t>
            </a:r>
            <a:r>
              <a:rPr lang="en-US" altLang="ko-KR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4% </a:t>
            </a:r>
            <a:r>
              <a:rPr lang="ko-KR" altLang="en-US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수준임</a:t>
            </a:r>
            <a:endParaRPr lang="en-US" altLang="ko-KR" sz="1100" u="sng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4DE6EEE-B42B-4795-9598-D52D6CAB0908}"/>
              </a:ext>
            </a:extLst>
          </p:cNvPr>
          <p:cNvGrpSpPr/>
          <p:nvPr/>
        </p:nvGrpSpPr>
        <p:grpSpPr>
          <a:xfrm>
            <a:off x="315365" y="4401459"/>
            <a:ext cx="5403896" cy="1880519"/>
            <a:chOff x="224287" y="1089050"/>
            <a:chExt cx="12192000" cy="4348155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3DF21772-C656-4F97-8FDF-CBA2A34FC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4287" y="1089050"/>
              <a:ext cx="12192000" cy="349825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2993680-0222-498C-93EE-DC5E80308CAC}"/>
                </a:ext>
              </a:extLst>
            </p:cNvPr>
            <p:cNvSpPr txBox="1"/>
            <p:nvPr/>
          </p:nvSpPr>
          <p:spPr>
            <a:xfrm>
              <a:off x="889963" y="2319608"/>
              <a:ext cx="1849069" cy="533732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상한 </a:t>
              </a:r>
              <a:r>
                <a:rPr lang="en-US" altLang="ko-KR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:100</a:t>
              </a:r>
              <a:endParaRPr lang="ko-KR" altLang="en-US" sz="9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3FF66E6-466E-4531-A239-0E6A6BF80DA4}"/>
                </a:ext>
              </a:extLst>
            </p:cNvPr>
            <p:cNvSpPr txBox="1"/>
            <p:nvPr/>
          </p:nvSpPr>
          <p:spPr>
            <a:xfrm>
              <a:off x="932542" y="3063458"/>
              <a:ext cx="2722782" cy="533732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하한 </a:t>
              </a:r>
              <a:r>
                <a:rPr lang="en-US" altLang="ko-KR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:80</a:t>
              </a:r>
              <a:endParaRPr lang="ko-KR" altLang="en-US" sz="9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34B7904-A3AD-4D74-B14B-418F01E0CDBD}"/>
                </a:ext>
              </a:extLst>
            </p:cNvPr>
            <p:cNvSpPr/>
            <p:nvPr/>
          </p:nvSpPr>
          <p:spPr>
            <a:xfrm>
              <a:off x="1124096" y="1353031"/>
              <a:ext cx="45719" cy="2846895"/>
            </a:xfrm>
            <a:prstGeom prst="rect">
              <a:avLst/>
            </a:prstGeom>
            <a:solidFill>
              <a:srgbClr val="005CA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A3B352F0-9331-47F5-AC88-6ED5B99A98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8344" y="1747068"/>
              <a:ext cx="722389" cy="35645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C9159CA-B425-48E4-B4DE-62D0DD027F5F}"/>
                </a:ext>
              </a:extLst>
            </p:cNvPr>
            <p:cNvSpPr txBox="1"/>
            <p:nvPr/>
          </p:nvSpPr>
          <p:spPr>
            <a:xfrm>
              <a:off x="1960733" y="1304916"/>
              <a:ext cx="3254699" cy="533732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IN</a:t>
              </a:r>
              <a:r>
                <a:rPr lang="ko-KR" altLang="en-US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en-US" altLang="ko-KR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Zone </a:t>
              </a:r>
              <a:r>
                <a:rPr lang="ko-KR" altLang="en-US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도달 시점</a:t>
              </a:r>
              <a:r>
                <a:rPr lang="en-US" altLang="ko-KR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(6.05s)</a:t>
              </a:r>
              <a:endParaRPr lang="ko-KR" altLang="en-US" sz="900" b="1" dirty="0">
                <a:solidFill>
                  <a:schemeClr val="accent1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C0B5DAF-096F-43A5-9D69-F6EC8EF47C5B}"/>
                </a:ext>
              </a:extLst>
            </p:cNvPr>
            <p:cNvSpPr/>
            <p:nvPr/>
          </p:nvSpPr>
          <p:spPr>
            <a:xfrm>
              <a:off x="8513312" y="1322766"/>
              <a:ext cx="3647095" cy="2846895"/>
            </a:xfrm>
            <a:prstGeom prst="rect">
              <a:avLst/>
            </a:prstGeom>
            <a:solidFill>
              <a:srgbClr val="0F172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FD6B3A1A-BE52-4D31-81D6-100A55113F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32622" y="3839456"/>
              <a:ext cx="780690" cy="703125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3F71930-A5A0-40A3-8E06-6A89D1361AD3}"/>
                </a:ext>
              </a:extLst>
            </p:cNvPr>
            <p:cNvSpPr txBox="1"/>
            <p:nvPr/>
          </p:nvSpPr>
          <p:spPr>
            <a:xfrm>
              <a:off x="5310849" y="4583232"/>
              <a:ext cx="5568375" cy="853973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Target-In </a:t>
              </a:r>
              <a:r>
                <a:rPr lang="ko-KR" altLang="en-US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비율이 높아지는 시점</a:t>
              </a:r>
              <a:r>
                <a:rPr lang="en-US" altLang="ko-KR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(90%</a:t>
              </a:r>
              <a:r>
                <a:rPr lang="ko-KR" altLang="en-US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이상</a:t>
              </a:r>
              <a:r>
                <a:rPr lang="en-US" altLang="ko-KR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), </a:t>
              </a:r>
              <a:r>
                <a:rPr lang="ko-KR" altLang="en-US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가속시작 후 약  </a:t>
              </a:r>
              <a:r>
                <a:rPr lang="en-US" altLang="ko-KR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134s </a:t>
              </a:r>
              <a:r>
                <a:rPr lang="ko-KR" altLang="en-US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되는 시점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5306000-BE12-4891-835C-08B7E52673CE}"/>
              </a:ext>
            </a:extLst>
          </p:cNvPr>
          <p:cNvGrpSpPr/>
          <p:nvPr/>
        </p:nvGrpSpPr>
        <p:grpSpPr>
          <a:xfrm>
            <a:off x="3731323" y="1836854"/>
            <a:ext cx="5247183" cy="1647998"/>
            <a:chOff x="0" y="-61517"/>
            <a:chExt cx="12192000" cy="4532776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C0E66D84-4B7E-450E-916B-1B6D9B588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32160"/>
              <a:ext cx="12192000" cy="3549646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40C9559-AD86-42D2-893C-6045521AF90B}"/>
                </a:ext>
              </a:extLst>
            </p:cNvPr>
            <p:cNvSpPr txBox="1"/>
            <p:nvPr/>
          </p:nvSpPr>
          <p:spPr>
            <a:xfrm>
              <a:off x="396653" y="1383225"/>
              <a:ext cx="1928174" cy="634897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상한 </a:t>
              </a:r>
              <a:r>
                <a:rPr lang="en-US" altLang="ko-KR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 120</a:t>
              </a:r>
              <a:endParaRPr lang="ko-KR" altLang="en-US" sz="9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0B0C2AE-83A9-4026-AC5A-3650062001AA}"/>
                </a:ext>
              </a:extLst>
            </p:cNvPr>
            <p:cNvSpPr txBox="1"/>
            <p:nvPr/>
          </p:nvSpPr>
          <p:spPr>
            <a:xfrm>
              <a:off x="356962" y="2198278"/>
              <a:ext cx="2019612" cy="634897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하한 </a:t>
              </a:r>
              <a:r>
                <a:rPr lang="en-US" altLang="ko-KR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 100</a:t>
              </a:r>
              <a:endParaRPr lang="ko-KR" altLang="en-US" sz="9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711E1FD1-695F-478F-8C8E-04D7FE718695}"/>
                </a:ext>
              </a:extLst>
            </p:cNvPr>
            <p:cNvSpPr/>
            <p:nvPr/>
          </p:nvSpPr>
          <p:spPr>
            <a:xfrm>
              <a:off x="1575691" y="808405"/>
              <a:ext cx="45719" cy="2846895"/>
            </a:xfrm>
            <a:prstGeom prst="rect">
              <a:avLst/>
            </a:prstGeom>
            <a:solidFill>
              <a:srgbClr val="005CA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561DE02D-EC2A-4751-AC6B-CB44937C6E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2552" y="514364"/>
              <a:ext cx="1649634" cy="64225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EDC836D-C740-4E65-9C24-609A46426E0B}"/>
                </a:ext>
              </a:extLst>
            </p:cNvPr>
            <p:cNvSpPr txBox="1"/>
            <p:nvPr/>
          </p:nvSpPr>
          <p:spPr>
            <a:xfrm>
              <a:off x="3036069" y="-61517"/>
              <a:ext cx="3574443" cy="634897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OUT</a:t>
              </a:r>
              <a:r>
                <a:rPr lang="ko-KR" altLang="en-US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en-US" altLang="ko-KR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Zone </a:t>
              </a:r>
              <a:r>
                <a:rPr lang="ko-KR" altLang="en-US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도달 시점</a:t>
              </a:r>
              <a:r>
                <a:rPr lang="en-US" altLang="ko-KR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(17.69s)</a:t>
              </a:r>
              <a:endParaRPr lang="ko-KR" altLang="en-US" sz="900" b="1" dirty="0">
                <a:solidFill>
                  <a:schemeClr val="accent1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AB2690E-29D0-4C6E-8265-1E4F23122728}"/>
                </a:ext>
              </a:extLst>
            </p:cNvPr>
            <p:cNvSpPr/>
            <p:nvPr/>
          </p:nvSpPr>
          <p:spPr>
            <a:xfrm>
              <a:off x="6922839" y="808404"/>
              <a:ext cx="5059250" cy="2846894"/>
            </a:xfrm>
            <a:prstGeom prst="rect">
              <a:avLst/>
            </a:prstGeom>
            <a:solidFill>
              <a:srgbClr val="0F172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8B5AACB-0095-44C4-8CF1-26B3D3E4A8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3155" y="3143176"/>
              <a:ext cx="1110003" cy="77023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E9DA19A-372D-4D07-BE2A-04D6D4C6E6C0}"/>
                </a:ext>
              </a:extLst>
            </p:cNvPr>
            <p:cNvSpPr txBox="1"/>
            <p:nvPr/>
          </p:nvSpPr>
          <p:spPr>
            <a:xfrm>
              <a:off x="2426862" y="3836362"/>
              <a:ext cx="8574808" cy="634897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Target-In </a:t>
              </a:r>
              <a:r>
                <a:rPr lang="ko-KR" altLang="en-US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비율이 높아지는 시점</a:t>
              </a:r>
              <a:r>
                <a:rPr lang="en-US" altLang="ko-KR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(90%</a:t>
              </a:r>
              <a:r>
                <a:rPr lang="ko-KR" altLang="en-US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이상</a:t>
              </a:r>
              <a:r>
                <a:rPr lang="en-US" altLang="ko-KR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), </a:t>
              </a:r>
              <a:r>
                <a:rPr lang="ko-KR" altLang="en-US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가속시작 후 약  </a:t>
              </a:r>
              <a:r>
                <a:rPr lang="en-US" altLang="ko-KR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110s </a:t>
              </a:r>
              <a:r>
                <a:rPr lang="ko-KR" altLang="en-US" sz="9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되는 시점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F4EA63B-DD4E-472E-9028-44E37F7A7E61}"/>
              </a:ext>
            </a:extLst>
          </p:cNvPr>
          <p:cNvGrpSpPr/>
          <p:nvPr/>
        </p:nvGrpSpPr>
        <p:grpSpPr>
          <a:xfrm>
            <a:off x="180440" y="1958251"/>
            <a:ext cx="3410536" cy="1984988"/>
            <a:chOff x="291787" y="875431"/>
            <a:chExt cx="4058595" cy="2900059"/>
          </a:xfrm>
        </p:grpSpPr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6CA8327B-1297-4092-9F52-818FBF45A0A6}"/>
                </a:ext>
              </a:extLst>
            </p:cNvPr>
            <p:cNvGrpSpPr/>
            <p:nvPr/>
          </p:nvGrpSpPr>
          <p:grpSpPr>
            <a:xfrm>
              <a:off x="454043" y="875431"/>
              <a:ext cx="3896339" cy="2426613"/>
              <a:chOff x="198092" y="1277269"/>
              <a:chExt cx="6487616" cy="5089470"/>
            </a:xfrm>
          </p:grpSpPr>
          <p:pic>
            <p:nvPicPr>
              <p:cNvPr id="84" name="그림 83">
                <a:extLst>
                  <a:ext uri="{FF2B5EF4-FFF2-40B4-BE49-F238E27FC236}">
                    <a16:creationId xmlns:a16="http://schemas.microsoft.com/office/drawing/2014/main" id="{B954AF55-AC44-440C-A4DF-408F473F5A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32955" y="2262283"/>
                <a:ext cx="5112567" cy="4104456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p:spPr>
          </p:pic>
          <p:cxnSp>
            <p:nvCxnSpPr>
              <p:cNvPr id="85" name="직선 화살표 연결선 84">
                <a:extLst>
                  <a:ext uri="{FF2B5EF4-FFF2-40B4-BE49-F238E27FC236}">
                    <a16:creationId xmlns:a16="http://schemas.microsoft.com/office/drawing/2014/main" id="{B4ADBF0F-7E2C-4CAA-B3EC-0B0B8F1F2B83}"/>
                  </a:ext>
                </a:extLst>
              </p:cNvPr>
              <p:cNvCxnSpPr/>
              <p:nvPr/>
            </p:nvCxnSpPr>
            <p:spPr>
              <a:xfrm>
                <a:off x="1007531" y="5509764"/>
                <a:ext cx="1246829" cy="0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화살표 연결선 85">
                <a:extLst>
                  <a:ext uri="{FF2B5EF4-FFF2-40B4-BE49-F238E27FC236}">
                    <a16:creationId xmlns:a16="http://schemas.microsoft.com/office/drawing/2014/main" id="{73FDAEC2-C891-4922-8924-4E7643DE2C29}"/>
                  </a:ext>
                </a:extLst>
              </p:cNvPr>
              <p:cNvCxnSpPr/>
              <p:nvPr/>
            </p:nvCxnSpPr>
            <p:spPr>
              <a:xfrm flipH="1" flipV="1">
                <a:off x="2262552" y="3312170"/>
                <a:ext cx="0" cy="2198571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화살표 연결선 86">
                <a:extLst>
                  <a:ext uri="{FF2B5EF4-FFF2-40B4-BE49-F238E27FC236}">
                    <a16:creationId xmlns:a16="http://schemas.microsoft.com/office/drawing/2014/main" id="{D9E17822-FBB9-4DF8-B51A-0892A6C18494}"/>
                  </a:ext>
                </a:extLst>
              </p:cNvPr>
              <p:cNvCxnSpPr/>
              <p:nvPr/>
            </p:nvCxnSpPr>
            <p:spPr>
              <a:xfrm>
                <a:off x="2262552" y="3326217"/>
                <a:ext cx="2269229" cy="0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화살표 연결선 87">
                <a:extLst>
                  <a:ext uri="{FF2B5EF4-FFF2-40B4-BE49-F238E27FC236}">
                    <a16:creationId xmlns:a16="http://schemas.microsoft.com/office/drawing/2014/main" id="{365E38AE-F345-4F93-8990-AB2FCFB79FD4}"/>
                  </a:ext>
                </a:extLst>
              </p:cNvPr>
              <p:cNvCxnSpPr/>
              <p:nvPr/>
            </p:nvCxnSpPr>
            <p:spPr>
              <a:xfrm flipH="1">
                <a:off x="4536970" y="3342709"/>
                <a:ext cx="0" cy="2198571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화살표 연결선 88">
                <a:extLst>
                  <a:ext uri="{FF2B5EF4-FFF2-40B4-BE49-F238E27FC236}">
                    <a16:creationId xmlns:a16="http://schemas.microsoft.com/office/drawing/2014/main" id="{7A5DA47E-5C08-46E4-B0AA-AE076D7DC104}"/>
                  </a:ext>
                </a:extLst>
              </p:cNvPr>
              <p:cNvCxnSpPr/>
              <p:nvPr/>
            </p:nvCxnSpPr>
            <p:spPr>
              <a:xfrm>
                <a:off x="4536970" y="5530771"/>
                <a:ext cx="1246829" cy="0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540DBA92-51A6-4DA6-85D3-D031E7D21F48}"/>
                  </a:ext>
                </a:extLst>
              </p:cNvPr>
              <p:cNvSpPr/>
              <p:nvPr/>
            </p:nvSpPr>
            <p:spPr>
              <a:xfrm>
                <a:off x="1805591" y="3619394"/>
                <a:ext cx="698302" cy="1641782"/>
              </a:xfrm>
              <a:prstGeom prst="rect">
                <a:avLst/>
              </a:prstGeom>
              <a:solidFill>
                <a:srgbClr val="EB0000">
                  <a:alpha val="2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91" name="직사각형 90">
                <a:extLst>
                  <a:ext uri="{FF2B5EF4-FFF2-40B4-BE49-F238E27FC236}">
                    <a16:creationId xmlns:a16="http://schemas.microsoft.com/office/drawing/2014/main" id="{3831E8BE-DC44-4707-BE2C-CEB3529C8418}"/>
                  </a:ext>
                </a:extLst>
              </p:cNvPr>
              <p:cNvSpPr/>
              <p:nvPr/>
            </p:nvSpPr>
            <p:spPr>
              <a:xfrm>
                <a:off x="4299525" y="3601660"/>
                <a:ext cx="648424" cy="1641782"/>
              </a:xfrm>
              <a:prstGeom prst="rect">
                <a:avLst/>
              </a:prstGeom>
              <a:solidFill>
                <a:srgbClr val="EB0000">
                  <a:alpha val="2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97597D61-B997-4351-BF69-6E6AEFEF38DB}"/>
                  </a:ext>
                </a:extLst>
              </p:cNvPr>
              <p:cNvSpPr/>
              <p:nvPr/>
            </p:nvSpPr>
            <p:spPr>
              <a:xfrm rot="10536781">
                <a:off x="4230370" y="3209351"/>
                <a:ext cx="74810" cy="87943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1DE9CFE0-DB58-457D-9A78-A2EC5E417B40}"/>
                  </a:ext>
                </a:extLst>
              </p:cNvPr>
              <p:cNvSpPr/>
              <p:nvPr/>
            </p:nvSpPr>
            <p:spPr>
              <a:xfrm rot="21336781">
                <a:off x="4230369" y="3365171"/>
                <a:ext cx="74810" cy="87943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2284FF6F-9F26-4695-B5A5-F886CDD7095C}"/>
                  </a:ext>
                </a:extLst>
              </p:cNvPr>
              <p:cNvSpPr/>
              <p:nvPr/>
            </p:nvSpPr>
            <p:spPr>
              <a:xfrm rot="15936781">
                <a:off x="4564549" y="5307883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7A0E2CD4-F861-4265-90BA-1B2AC05FAFE5}"/>
                  </a:ext>
                </a:extLst>
              </p:cNvPr>
              <p:cNvSpPr/>
              <p:nvPr/>
            </p:nvSpPr>
            <p:spPr>
              <a:xfrm rot="5136781">
                <a:off x="4414913" y="5307883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97" name="타원 96">
                <a:extLst>
                  <a:ext uri="{FF2B5EF4-FFF2-40B4-BE49-F238E27FC236}">
                    <a16:creationId xmlns:a16="http://schemas.microsoft.com/office/drawing/2014/main" id="{C0DBF5A4-3657-4268-BED3-35A9E0AED621}"/>
                  </a:ext>
                </a:extLst>
              </p:cNvPr>
              <p:cNvSpPr/>
              <p:nvPr/>
            </p:nvSpPr>
            <p:spPr>
              <a:xfrm rot="15936781">
                <a:off x="2294284" y="3487209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41607F57-8625-42E9-A756-80D1CCC564D8}"/>
                  </a:ext>
                </a:extLst>
              </p:cNvPr>
              <p:cNvSpPr/>
              <p:nvPr/>
            </p:nvSpPr>
            <p:spPr>
              <a:xfrm rot="5136781">
                <a:off x="2150828" y="3490195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831DB390-E859-4B52-8A42-61F8208FFCF7}"/>
                  </a:ext>
                </a:extLst>
              </p:cNvPr>
              <p:cNvSpPr/>
              <p:nvPr/>
            </p:nvSpPr>
            <p:spPr>
              <a:xfrm>
                <a:off x="198092" y="3891649"/>
                <a:ext cx="1208791" cy="77570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IN Zone</a:t>
                </a:r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2B527723-CA0F-4E32-A72E-9D37A0EA2846}"/>
                  </a:ext>
                </a:extLst>
              </p:cNvPr>
              <p:cNvSpPr/>
              <p:nvPr/>
            </p:nvSpPr>
            <p:spPr>
              <a:xfrm>
                <a:off x="2748217" y="1277269"/>
                <a:ext cx="1322791" cy="11879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MID Zone</a:t>
                </a:r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A9600CF6-A491-4CCB-99B6-7BA41D79982B}"/>
                  </a:ext>
                </a:extLst>
              </p:cNvPr>
              <p:cNvSpPr/>
              <p:nvPr/>
            </p:nvSpPr>
            <p:spPr>
              <a:xfrm>
                <a:off x="5286631" y="4162221"/>
                <a:ext cx="1399077" cy="58237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OUT Zone</a:t>
                </a:r>
              </a:p>
            </p:txBody>
          </p:sp>
        </p:grp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98883F7A-C62E-4265-B31A-05659775872B}"/>
                </a:ext>
              </a:extLst>
            </p:cNvPr>
            <p:cNvSpPr/>
            <p:nvPr/>
          </p:nvSpPr>
          <p:spPr>
            <a:xfrm>
              <a:off x="340459" y="2615658"/>
              <a:ext cx="780657" cy="318526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전극 진행 방향</a:t>
              </a:r>
            </a:p>
          </p:txBody>
        </p: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7FCA2AE4-5364-4578-BA32-9C622F8494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0607" y="1859728"/>
              <a:ext cx="421018" cy="178180"/>
            </a:xfrm>
            <a:prstGeom prst="line">
              <a:avLst/>
            </a:prstGeom>
            <a:ln>
              <a:solidFill>
                <a:srgbClr val="FF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12FD3D67-4446-4124-A6F9-53609462F60C}"/>
                </a:ext>
              </a:extLst>
            </p:cNvPr>
            <p:cNvSpPr/>
            <p:nvPr/>
          </p:nvSpPr>
          <p:spPr>
            <a:xfrm>
              <a:off x="291787" y="1615845"/>
              <a:ext cx="706299" cy="3185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IR Lamp</a:t>
              </a:r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63824020-3934-4E8E-867E-1796E54C52D7}"/>
                </a:ext>
              </a:extLst>
            </p:cNvPr>
            <p:cNvSpPr/>
            <p:nvPr/>
          </p:nvSpPr>
          <p:spPr>
            <a:xfrm>
              <a:off x="2670838" y="1618770"/>
              <a:ext cx="438837" cy="453990"/>
            </a:xfrm>
            <a:prstGeom prst="ellipse">
              <a:avLst/>
            </a:prstGeom>
            <a:solidFill>
              <a:srgbClr val="009C3C">
                <a:alpha val="28000"/>
              </a:srgbClr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C7A9AA3E-6BC0-457A-8643-BB4F2CF53FC1}"/>
                </a:ext>
              </a:extLst>
            </p:cNvPr>
            <p:cNvSpPr/>
            <p:nvPr/>
          </p:nvSpPr>
          <p:spPr>
            <a:xfrm>
              <a:off x="351614" y="1178471"/>
              <a:ext cx="751610" cy="3185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온도 센서</a:t>
              </a:r>
              <a:endParaRPr lang="en-US" altLang="ko-KR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r>
                <a:rPr lang="en-US" altLang="ko-KR" sz="9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(IN)</a:t>
              </a:r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1B46F20F-2824-43A2-B3D5-033DFB218F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4793" y="1430641"/>
              <a:ext cx="515344" cy="470734"/>
            </a:xfrm>
            <a:prstGeom prst="line">
              <a:avLst/>
            </a:prstGeom>
            <a:ln>
              <a:solidFill>
                <a:srgbClr val="FF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DBCDD717-C3E0-4F9E-B8F8-9F94816FE7C6}"/>
                </a:ext>
              </a:extLst>
            </p:cNvPr>
            <p:cNvSpPr/>
            <p:nvPr/>
          </p:nvSpPr>
          <p:spPr>
            <a:xfrm>
              <a:off x="3120761" y="1112158"/>
              <a:ext cx="745681" cy="3185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온도 센서</a:t>
              </a:r>
              <a:endParaRPr lang="en-US" altLang="ko-KR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r>
                <a:rPr lang="en-US" altLang="ko-KR" sz="9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(MID)</a:t>
              </a:r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E0173116-4654-42B5-992B-703DA1416C1C}"/>
                </a:ext>
              </a:extLst>
            </p:cNvPr>
            <p:cNvSpPr/>
            <p:nvPr/>
          </p:nvSpPr>
          <p:spPr>
            <a:xfrm>
              <a:off x="2816030" y="3456964"/>
              <a:ext cx="751610" cy="3185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온도 센서</a:t>
              </a:r>
              <a:endParaRPr lang="en-US" altLang="ko-KR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r>
                <a:rPr lang="en-US" altLang="ko-KR" sz="9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(OUT)</a:t>
              </a:r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110" name="직선 연결선 109">
              <a:extLst>
                <a:ext uri="{FF2B5EF4-FFF2-40B4-BE49-F238E27FC236}">
                  <a16:creationId xmlns:a16="http://schemas.microsoft.com/office/drawing/2014/main" id="{6AD2C614-5FD1-497B-B0F9-87971E1667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8991" y="1407643"/>
              <a:ext cx="282256" cy="390934"/>
            </a:xfrm>
            <a:prstGeom prst="line">
              <a:avLst/>
            </a:prstGeom>
            <a:ln>
              <a:solidFill>
                <a:srgbClr val="FF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2AE5B7C8-0E07-484F-934C-E20EA5C01A5E}"/>
                </a:ext>
              </a:extLst>
            </p:cNvPr>
            <p:cNvSpPr/>
            <p:nvPr/>
          </p:nvSpPr>
          <p:spPr>
            <a:xfrm>
              <a:off x="1469892" y="1695524"/>
              <a:ext cx="438837" cy="453990"/>
            </a:xfrm>
            <a:prstGeom prst="ellipse">
              <a:avLst/>
            </a:prstGeom>
            <a:solidFill>
              <a:srgbClr val="009C3C">
                <a:alpha val="28000"/>
              </a:srgbClr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593CFEC3-DDAE-4100-BD80-53E402A11A45}"/>
                </a:ext>
              </a:extLst>
            </p:cNvPr>
            <p:cNvSpPr/>
            <p:nvPr/>
          </p:nvSpPr>
          <p:spPr>
            <a:xfrm>
              <a:off x="2816030" y="2565408"/>
              <a:ext cx="438837" cy="453990"/>
            </a:xfrm>
            <a:prstGeom prst="ellipse">
              <a:avLst/>
            </a:prstGeom>
            <a:solidFill>
              <a:srgbClr val="009C3C">
                <a:alpha val="28000"/>
              </a:srgbClr>
            </a:solidFill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7737661E-B05D-4F14-A774-F58346DF3AC4}"/>
                </a:ext>
              </a:extLst>
            </p:cNvPr>
            <p:cNvCxnSpPr>
              <a:cxnSpLocks/>
            </p:cNvCxnSpPr>
            <p:nvPr/>
          </p:nvCxnSpPr>
          <p:spPr>
            <a:xfrm>
              <a:off x="3056775" y="2903463"/>
              <a:ext cx="198091" cy="470048"/>
            </a:xfrm>
            <a:prstGeom prst="line">
              <a:avLst/>
            </a:prstGeom>
            <a:ln>
              <a:solidFill>
                <a:srgbClr val="FF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9F4CE6D-FE72-453B-B36B-2AE07F7C0BDD}"/>
              </a:ext>
            </a:extLst>
          </p:cNvPr>
          <p:cNvCxnSpPr>
            <a:cxnSpLocks/>
          </p:cNvCxnSpPr>
          <p:nvPr/>
        </p:nvCxnSpPr>
        <p:spPr>
          <a:xfrm flipH="1">
            <a:off x="546212" y="3285834"/>
            <a:ext cx="526986" cy="1150349"/>
          </a:xfrm>
          <a:prstGeom prst="line">
            <a:avLst/>
          </a:prstGeom>
          <a:ln w="19050">
            <a:solidFill>
              <a:srgbClr val="94A3B8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3F1B104A-DBE9-4C2F-840E-28E9A047DFCD}"/>
              </a:ext>
            </a:extLst>
          </p:cNvPr>
          <p:cNvCxnSpPr>
            <a:cxnSpLocks/>
          </p:cNvCxnSpPr>
          <p:nvPr/>
        </p:nvCxnSpPr>
        <p:spPr>
          <a:xfrm>
            <a:off x="1499033" y="3242022"/>
            <a:ext cx="4087177" cy="1252796"/>
          </a:xfrm>
          <a:prstGeom prst="line">
            <a:avLst/>
          </a:prstGeom>
          <a:ln w="19050">
            <a:solidFill>
              <a:srgbClr val="94A3B8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07204F4D-2DFC-46AC-808F-F71ED6FE1E32}"/>
              </a:ext>
            </a:extLst>
          </p:cNvPr>
          <p:cNvCxnSpPr>
            <a:cxnSpLocks/>
          </p:cNvCxnSpPr>
          <p:nvPr/>
        </p:nvCxnSpPr>
        <p:spPr>
          <a:xfrm flipV="1">
            <a:off x="2722793" y="2165671"/>
            <a:ext cx="1064924" cy="532991"/>
          </a:xfrm>
          <a:prstGeom prst="line">
            <a:avLst/>
          </a:prstGeom>
          <a:ln w="19050">
            <a:solidFill>
              <a:srgbClr val="94A3B8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227B03E5-41E7-4B5C-AA3D-A50E70E5DA51}"/>
              </a:ext>
            </a:extLst>
          </p:cNvPr>
          <p:cNvCxnSpPr>
            <a:cxnSpLocks/>
          </p:cNvCxnSpPr>
          <p:nvPr/>
        </p:nvCxnSpPr>
        <p:spPr>
          <a:xfrm flipV="1">
            <a:off x="2748323" y="3184380"/>
            <a:ext cx="1078866" cy="44932"/>
          </a:xfrm>
          <a:prstGeom prst="line">
            <a:avLst/>
          </a:prstGeom>
          <a:ln w="19050">
            <a:solidFill>
              <a:srgbClr val="94A3B8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8326A2F-0DE6-458E-94F8-B17A48D244ED}"/>
              </a:ext>
            </a:extLst>
          </p:cNvPr>
          <p:cNvSpPr txBox="1"/>
          <p:nvPr/>
        </p:nvSpPr>
        <p:spPr>
          <a:xfrm>
            <a:off x="709044" y="4205924"/>
            <a:ext cx="989833" cy="276999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 Zone</a:t>
            </a:r>
            <a:endParaRPr lang="ko-KR" altLang="en-US" sz="12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13078EC-4D24-470E-9E2A-E5497F539C22}"/>
              </a:ext>
            </a:extLst>
          </p:cNvPr>
          <p:cNvSpPr txBox="1"/>
          <p:nvPr/>
        </p:nvSpPr>
        <p:spPr>
          <a:xfrm>
            <a:off x="3849064" y="1837415"/>
            <a:ext cx="1291863" cy="276999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</a:t>
            </a:r>
            <a:endParaRPr lang="ko-KR" altLang="en-US" sz="12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CCD61B7C-639A-493D-9B04-1D687B5E1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9342" y="3533747"/>
            <a:ext cx="1590299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sng" strike="noStrike" cap="none" normalizeH="0" baseline="0" dirty="0">
                <a:ln>
                  <a:noFill/>
                </a:ln>
                <a:solidFill>
                  <a:srgbClr val="E2E8F0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Target</a:t>
            </a:r>
            <a:r>
              <a:rPr kumimoji="0" lang="en-US" altLang="ko-KR" sz="1000" b="1" i="0" u="sng" strike="noStrike" cap="none" normalizeH="0" baseline="0" dirty="0">
                <a:ln>
                  <a:noFill/>
                </a:ln>
                <a:solidFill>
                  <a:srgbClr val="E2E8F0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kumimoji="0" lang="ko-KR" altLang="ko-KR" sz="1000" b="1" i="0" u="sng" strike="noStrike" cap="none" normalizeH="0" baseline="0" dirty="0">
                <a:ln>
                  <a:noFill/>
                </a:ln>
                <a:solidFill>
                  <a:srgbClr val="E2E8F0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 비율</a:t>
            </a:r>
            <a:endParaRPr kumimoji="0" lang="ko-KR" altLang="ko-KR" sz="6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83269224-9667-4C2D-A977-E2DEAD8922B1}"/>
              </a:ext>
            </a:extLst>
          </p:cNvPr>
          <p:cNvGrpSpPr/>
          <p:nvPr/>
        </p:nvGrpSpPr>
        <p:grpSpPr>
          <a:xfrm>
            <a:off x="6140453" y="5856931"/>
            <a:ext cx="2266704" cy="530842"/>
            <a:chOff x="5509127" y="5270165"/>
            <a:chExt cx="2266704" cy="1543115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E9E10AE9-5FDB-4BAE-BCFB-9E366D5E5089}"/>
                </a:ext>
              </a:extLst>
            </p:cNvPr>
            <p:cNvSpPr/>
            <p:nvPr/>
          </p:nvSpPr>
          <p:spPr>
            <a:xfrm>
              <a:off x="5509127" y="5782203"/>
              <a:ext cx="379977" cy="18359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14D30A7-2BE2-428A-8892-F9F12CF4785C}"/>
                </a:ext>
              </a:extLst>
            </p:cNvPr>
            <p:cNvSpPr/>
            <p:nvPr/>
          </p:nvSpPr>
          <p:spPr>
            <a:xfrm>
              <a:off x="5509127" y="6453069"/>
              <a:ext cx="379977" cy="183590"/>
            </a:xfrm>
            <a:prstGeom prst="rect">
              <a:avLst/>
            </a:prstGeom>
            <a:solidFill>
              <a:srgbClr val="EB000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8F3C2BD-D7B0-4AB9-80B5-12A9CF469F9E}"/>
                </a:ext>
              </a:extLst>
            </p:cNvPr>
            <p:cNvSpPr txBox="1"/>
            <p:nvPr/>
          </p:nvSpPr>
          <p:spPr>
            <a:xfrm>
              <a:off x="5887172" y="5270165"/>
              <a:ext cx="1888659" cy="536809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ko-KR" altLang="en-US" sz="6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알람없이 </a:t>
              </a:r>
              <a:r>
                <a:rPr lang="en-US" altLang="ko-KR" sz="6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Target</a:t>
              </a:r>
              <a:r>
                <a:rPr lang="ko-KR" altLang="en-US" sz="6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범위를 유지하면서 생산을 진행한 구간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98E5906-C21A-49CE-8BBA-085EA5FBFEA6}"/>
                </a:ext>
              </a:extLst>
            </p:cNvPr>
            <p:cNvSpPr txBox="1"/>
            <p:nvPr/>
          </p:nvSpPr>
          <p:spPr>
            <a:xfrm>
              <a:off x="5887172" y="5941039"/>
              <a:ext cx="1233030" cy="536809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ko-KR" altLang="en-US" sz="6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경알람과 함께 생산을 진행한 구간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9D1160C-F0B0-4156-B9E1-B1E07B3A851D}"/>
                </a:ext>
              </a:extLst>
            </p:cNvPr>
            <p:cNvSpPr txBox="1"/>
            <p:nvPr/>
          </p:nvSpPr>
          <p:spPr>
            <a:xfrm>
              <a:off x="5887172" y="6276471"/>
              <a:ext cx="1233030" cy="536809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ko-KR" altLang="en-US" sz="6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중알람과 함께 생산을 진행한 구간</a:t>
              </a: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05C2F4A5-B56F-4207-94A0-A4640517B992}"/>
                </a:ext>
              </a:extLst>
            </p:cNvPr>
            <p:cNvSpPr/>
            <p:nvPr/>
          </p:nvSpPr>
          <p:spPr>
            <a:xfrm>
              <a:off x="5509127" y="6117636"/>
              <a:ext cx="379977" cy="18359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6FC8C23-420F-407A-B62A-1799BEC9CAEB}"/>
                </a:ext>
              </a:extLst>
            </p:cNvPr>
            <p:cNvSpPr txBox="1"/>
            <p:nvPr/>
          </p:nvSpPr>
          <p:spPr>
            <a:xfrm>
              <a:off x="5887172" y="5605606"/>
              <a:ext cx="1074333" cy="536809"/>
            </a:xfrm>
            <a:prstGeom prst="rect">
              <a:avLst/>
            </a:prstGeom>
            <a:noFill/>
            <a:ln/>
          </p:spPr>
          <p:txBody>
            <a:bodyPr wrap="none" rtlCol="0" anchor="ctr">
              <a:spAutoFit/>
            </a:bodyPr>
            <a:lstStyle/>
            <a:p>
              <a:r>
                <a:rPr lang="ko-KR" altLang="en-US" sz="6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알람없이 생산을 진행한 구간</a:t>
              </a: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88A5BD76-4857-4DDC-8A37-1A374F7A05E8}"/>
                </a:ext>
              </a:extLst>
            </p:cNvPr>
            <p:cNvSpPr/>
            <p:nvPr/>
          </p:nvSpPr>
          <p:spPr>
            <a:xfrm>
              <a:off x="5509127" y="5447530"/>
              <a:ext cx="379977" cy="18359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1C63DB47-9CA0-40C4-A44B-BA52774FE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242406"/>
              </p:ext>
            </p:extLst>
          </p:nvPr>
        </p:nvGraphicFramePr>
        <p:xfrm>
          <a:off x="5922887" y="3784301"/>
          <a:ext cx="2788776" cy="2094930"/>
        </p:xfrm>
        <a:graphic>
          <a:graphicData uri="http://schemas.openxmlformats.org/drawingml/2006/table">
            <a:tbl>
              <a:tblPr/>
              <a:tblGrid>
                <a:gridCol w="526710">
                  <a:extLst>
                    <a:ext uri="{9D8B030D-6E8A-4147-A177-3AD203B41FA5}">
                      <a16:colId xmlns:a16="http://schemas.microsoft.com/office/drawing/2014/main" val="1730406852"/>
                    </a:ext>
                  </a:extLst>
                </a:gridCol>
                <a:gridCol w="604323">
                  <a:extLst>
                    <a:ext uri="{9D8B030D-6E8A-4147-A177-3AD203B41FA5}">
                      <a16:colId xmlns:a16="http://schemas.microsoft.com/office/drawing/2014/main" val="302085395"/>
                    </a:ext>
                  </a:extLst>
                </a:gridCol>
                <a:gridCol w="526710">
                  <a:extLst>
                    <a:ext uri="{9D8B030D-6E8A-4147-A177-3AD203B41FA5}">
                      <a16:colId xmlns:a16="http://schemas.microsoft.com/office/drawing/2014/main" val="1580078358"/>
                    </a:ext>
                  </a:extLst>
                </a:gridCol>
                <a:gridCol w="604323">
                  <a:extLst>
                    <a:ext uri="{9D8B030D-6E8A-4147-A177-3AD203B41FA5}">
                      <a16:colId xmlns:a16="http://schemas.microsoft.com/office/drawing/2014/main" val="1645796425"/>
                    </a:ext>
                  </a:extLst>
                </a:gridCol>
                <a:gridCol w="526710">
                  <a:extLst>
                    <a:ext uri="{9D8B030D-6E8A-4147-A177-3AD203B41FA5}">
                      <a16:colId xmlns:a16="http://schemas.microsoft.com/office/drawing/2014/main" val="2587480877"/>
                    </a:ext>
                  </a:extLst>
                </a:gridCol>
              </a:tblGrid>
              <a:tr h="20949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Target </a:t>
                      </a:r>
                      <a:br>
                        <a:rPr lang="en-US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범위 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℃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IN Zone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OUT Zone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955922"/>
                  </a:ext>
                </a:extLst>
              </a:tr>
              <a:tr h="2094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Temp_IN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비율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Temp_OUT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비율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640842"/>
                  </a:ext>
                </a:extLst>
              </a:tr>
              <a:tr h="2094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 ~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B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B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B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B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349935"/>
                  </a:ext>
                </a:extLst>
              </a:tr>
              <a:tr h="2094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 ~ 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63087"/>
                  </a:ext>
                </a:extLst>
              </a:tr>
              <a:tr h="2094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 ~ 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10010"/>
                  </a:ext>
                </a:extLst>
              </a:tr>
              <a:tr h="2094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-3 ~ 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999399"/>
                  </a:ext>
                </a:extLst>
              </a:tr>
              <a:tr h="2094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-10 ~ -3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938338"/>
                  </a:ext>
                </a:extLst>
              </a:tr>
              <a:tr h="2094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-20 ~ -10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67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135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49%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452234"/>
                  </a:ext>
                </a:extLst>
              </a:tr>
              <a:tr h="2094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 -20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208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76%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130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47%</a:t>
                      </a:r>
                    </a:p>
                  </a:txBody>
                  <a:tcPr marL="9525" marR="3600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606073"/>
                  </a:ext>
                </a:extLst>
              </a:tr>
              <a:tr h="209493"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275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50" b="0" i="0" u="none" strike="noStrike" baseline="0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275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301580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6F27A913-D0A0-44C8-B267-937D9159B606}"/>
              </a:ext>
            </a:extLst>
          </p:cNvPr>
          <p:cNvSpPr txBox="1"/>
          <p:nvPr/>
        </p:nvSpPr>
        <p:spPr>
          <a:xfrm>
            <a:off x="184364" y="98902"/>
            <a:ext cx="8521485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개발을 위한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EDA (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9BF101F-8E19-4C1B-A273-1465E9274C10}"/>
              </a:ext>
            </a:extLst>
          </p:cNvPr>
          <p:cNvSpPr/>
          <p:nvPr/>
        </p:nvSpPr>
        <p:spPr>
          <a:xfrm>
            <a:off x="1534270" y="2434881"/>
            <a:ext cx="699631" cy="33766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미사용</a:t>
            </a:r>
          </a:p>
        </p:txBody>
      </p:sp>
    </p:spTree>
    <p:extLst>
      <p:ext uri="{BB962C8B-B14F-4D97-AF65-F5344CB8AC3E}">
        <p14:creationId xmlns:p14="http://schemas.microsoft.com/office/powerpoint/2010/main" val="980153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496265"/>
            <a:ext cx="9885226" cy="304480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공정 데이터 확인</a:t>
            </a:r>
            <a:endParaRPr lang="en-US" altLang="ko-KR" sz="1600" b="1" dirty="0">
              <a:solidFill>
                <a:schemeClr val="bg1">
                  <a:lumMod val="6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2) IN_Zone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경우는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모두 등속출력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출력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 적용 가능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- IN Zone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SCR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출력값은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비해 약하게 출력되며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IN Zone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통과하는 동안 전극 온도 상승은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비해 적음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3) OUT Zone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경우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에서는 모형 출력 외에 자동보정 제어를 이용하여야 함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경우 외부 투입 전극이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통과하기까지 등속출력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출력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사용할 수 있지만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300mm/s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경우 자동보정 제어를 이용해야 함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자동보정 활용구간에서는 온도 변화가 크지 않아 보임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-  9s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까지는 등속출력 및 모형제어 시간이지만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외부 투입 전극이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통과하기 까지 평균적으로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17.69s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필요 하기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때문에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9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 이후에는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8.67s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간 자동보정    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로직을 활용해야 함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4)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유사 현상 확인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두 속도 모두 온도 관리 구간인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등속출력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모형제어 구간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구간에서 온도가 급격하게 상승하고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결정 된 온도가 자동보정 구간에서도 유사한 것으로 보임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 동일하게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에서도 등속출력이 온도관리에 중요해 보이며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상관분석을 통해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속에서도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속과 동일한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사용이 가능한지</a:t>
            </a:r>
            <a:endParaRPr lang="en-US" altLang="ko-KR" sz="1100" b="1" u="sng" dirty="0">
              <a:solidFill>
                <a:srgbClr val="0D24F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확인 필요해 보임</a:t>
            </a:r>
            <a:endParaRPr lang="en-US" altLang="ko-KR" sz="1100" b="1" u="sng" dirty="0">
              <a:solidFill>
                <a:srgbClr val="0D24F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DDA60A3-C435-4953-929C-0A3D7C988F6A}"/>
              </a:ext>
            </a:extLst>
          </p:cNvPr>
          <p:cNvSpPr txBox="1"/>
          <p:nvPr/>
        </p:nvSpPr>
        <p:spPr>
          <a:xfrm>
            <a:off x="1746702" y="3727837"/>
            <a:ext cx="1747906" cy="276999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 </a:t>
            </a:r>
            <a:r>
              <a:rPr lang="ko-KR" altLang="en-US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EECAB05-F764-4663-B972-9D495E9FC7D7}"/>
              </a:ext>
            </a:extLst>
          </p:cNvPr>
          <p:cNvSpPr txBox="1"/>
          <p:nvPr/>
        </p:nvSpPr>
        <p:spPr>
          <a:xfrm>
            <a:off x="5152715" y="3727837"/>
            <a:ext cx="1945967" cy="276999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2DFCFFA6-B92F-435A-B828-788411BDB876}"/>
              </a:ext>
            </a:extLst>
          </p:cNvPr>
          <p:cNvSpPr txBox="1"/>
          <p:nvPr/>
        </p:nvSpPr>
        <p:spPr>
          <a:xfrm>
            <a:off x="1802971" y="3966362"/>
            <a:ext cx="1578499" cy="230832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240106-13h 49m 07s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96" name="그림 195">
            <a:extLst>
              <a:ext uri="{FF2B5EF4-FFF2-40B4-BE49-F238E27FC236}">
                <a16:creationId xmlns:a16="http://schemas.microsoft.com/office/drawing/2014/main" id="{478B150E-FB7C-496A-9F4D-78E0F40F55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7025"/>
          <a:stretch/>
        </p:blipFill>
        <p:spPr>
          <a:xfrm>
            <a:off x="2545046" y="4196122"/>
            <a:ext cx="1672849" cy="1856564"/>
          </a:xfrm>
          <a:prstGeom prst="rect">
            <a:avLst/>
          </a:prstGeom>
        </p:spPr>
      </p:pic>
      <p:pic>
        <p:nvPicPr>
          <p:cNvPr id="197" name="그림 196">
            <a:extLst>
              <a:ext uri="{FF2B5EF4-FFF2-40B4-BE49-F238E27FC236}">
                <a16:creationId xmlns:a16="http://schemas.microsoft.com/office/drawing/2014/main" id="{C498286F-881E-4C45-AF4D-91FF92561A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116" t="6650"/>
          <a:stretch/>
        </p:blipFill>
        <p:spPr>
          <a:xfrm>
            <a:off x="945457" y="4185689"/>
            <a:ext cx="1628946" cy="1848535"/>
          </a:xfrm>
          <a:prstGeom prst="rect">
            <a:avLst/>
          </a:prstGeom>
        </p:spPr>
      </p:pic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E1C656A8-F6F0-405A-93D2-4650A95529F3}"/>
              </a:ext>
            </a:extLst>
          </p:cNvPr>
          <p:cNvSpPr/>
          <p:nvPr/>
        </p:nvSpPr>
        <p:spPr>
          <a:xfrm>
            <a:off x="1182853" y="6077491"/>
            <a:ext cx="310448" cy="90055"/>
          </a:xfrm>
          <a:prstGeom prst="rect">
            <a:avLst/>
          </a:prstGeom>
          <a:solidFill>
            <a:srgbClr val="000C4C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3877D7FF-3537-40A1-83ED-E76667CC7CF0}"/>
              </a:ext>
            </a:extLst>
          </p:cNvPr>
          <p:cNvSpPr/>
          <p:nvPr/>
        </p:nvSpPr>
        <p:spPr>
          <a:xfrm>
            <a:off x="3595268" y="6079324"/>
            <a:ext cx="310448" cy="90055"/>
          </a:xfrm>
          <a:prstGeom prst="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24F23107-B081-43A0-A3E8-9E72F86AEA01}"/>
              </a:ext>
            </a:extLst>
          </p:cNvPr>
          <p:cNvSpPr txBox="1"/>
          <p:nvPr/>
        </p:nvSpPr>
        <p:spPr>
          <a:xfrm>
            <a:off x="1454131" y="6012616"/>
            <a:ext cx="748264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IN_Zone</a:t>
            </a:r>
            <a:endParaRPr lang="ko-KR" altLang="en-US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2B01518-A36F-419D-8071-AF3EC85EBDE3}"/>
              </a:ext>
            </a:extLst>
          </p:cNvPr>
          <p:cNvSpPr txBox="1"/>
          <p:nvPr/>
        </p:nvSpPr>
        <p:spPr>
          <a:xfrm>
            <a:off x="2883522" y="5997751"/>
            <a:ext cx="792903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OUT_Zone</a:t>
            </a:r>
            <a:endParaRPr lang="ko-KR" altLang="en-US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ED142B02-E4BC-4F2F-928B-E85A3FA6C6FD}"/>
              </a:ext>
            </a:extLst>
          </p:cNvPr>
          <p:cNvSpPr/>
          <p:nvPr/>
        </p:nvSpPr>
        <p:spPr>
          <a:xfrm>
            <a:off x="1101324" y="4311280"/>
            <a:ext cx="395652" cy="1532841"/>
          </a:xfrm>
          <a:prstGeom prst="rect">
            <a:avLst/>
          </a:prstGeom>
          <a:solidFill>
            <a:srgbClr val="000C4C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D637119F-0CB8-4F9F-913C-B6CB7E544286}"/>
              </a:ext>
            </a:extLst>
          </p:cNvPr>
          <p:cNvSpPr/>
          <p:nvPr/>
        </p:nvSpPr>
        <p:spPr>
          <a:xfrm>
            <a:off x="3575561" y="4304702"/>
            <a:ext cx="353919" cy="1558316"/>
          </a:xfrm>
          <a:prstGeom prst="rect">
            <a:avLst/>
          </a:prstGeom>
          <a:solidFill>
            <a:srgbClr val="1E293B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204" name="그림 203">
            <a:extLst>
              <a:ext uri="{FF2B5EF4-FFF2-40B4-BE49-F238E27FC236}">
                <a16:creationId xmlns:a16="http://schemas.microsoft.com/office/drawing/2014/main" id="{AC81AF67-749F-4D29-85C4-88472ED65A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1025" t="7568"/>
          <a:stretch/>
        </p:blipFill>
        <p:spPr>
          <a:xfrm>
            <a:off x="6203628" y="4246289"/>
            <a:ext cx="1669419" cy="1788165"/>
          </a:xfrm>
          <a:prstGeom prst="rect">
            <a:avLst/>
          </a:prstGeom>
        </p:spPr>
      </p:pic>
      <p:pic>
        <p:nvPicPr>
          <p:cNvPr id="205" name="그림 204">
            <a:extLst>
              <a:ext uri="{FF2B5EF4-FFF2-40B4-BE49-F238E27FC236}">
                <a16:creationId xmlns:a16="http://schemas.microsoft.com/office/drawing/2014/main" id="{8C74D839-C246-4B82-9756-2B40315FF63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1399" t="6887"/>
          <a:stretch/>
        </p:blipFill>
        <p:spPr>
          <a:xfrm>
            <a:off x="4457607" y="4226920"/>
            <a:ext cx="1660535" cy="1807533"/>
          </a:xfrm>
          <a:prstGeom prst="rect">
            <a:avLst/>
          </a:prstGeom>
        </p:spPr>
      </p:pic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2ABB7408-0648-4BDB-81FD-7FC1D6C9198D}"/>
              </a:ext>
            </a:extLst>
          </p:cNvPr>
          <p:cNvSpPr/>
          <p:nvPr/>
        </p:nvSpPr>
        <p:spPr>
          <a:xfrm>
            <a:off x="4683164" y="6079134"/>
            <a:ext cx="310448" cy="90055"/>
          </a:xfrm>
          <a:prstGeom prst="rect">
            <a:avLst/>
          </a:prstGeom>
          <a:solidFill>
            <a:srgbClr val="000C4C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21BE201A-6913-436B-ADAD-7ED3948BD2C4}"/>
              </a:ext>
            </a:extLst>
          </p:cNvPr>
          <p:cNvSpPr/>
          <p:nvPr/>
        </p:nvSpPr>
        <p:spPr>
          <a:xfrm>
            <a:off x="7244121" y="6075833"/>
            <a:ext cx="310448" cy="90055"/>
          </a:xfrm>
          <a:prstGeom prst="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0EB47C3C-57F5-42D7-B6EC-26D646B65DF5}"/>
              </a:ext>
            </a:extLst>
          </p:cNvPr>
          <p:cNvSpPr txBox="1"/>
          <p:nvPr/>
        </p:nvSpPr>
        <p:spPr>
          <a:xfrm>
            <a:off x="4961001" y="5998580"/>
            <a:ext cx="792903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IN_Zone</a:t>
            </a:r>
            <a:endParaRPr lang="ko-KR" altLang="en-US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2053883A-0FB8-486C-847F-F8F06DC6455C}"/>
              </a:ext>
            </a:extLst>
          </p:cNvPr>
          <p:cNvSpPr txBox="1"/>
          <p:nvPr/>
        </p:nvSpPr>
        <p:spPr>
          <a:xfrm>
            <a:off x="6499138" y="6002882"/>
            <a:ext cx="792903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OUT_Zone</a:t>
            </a:r>
            <a:endParaRPr lang="ko-KR" altLang="en-US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BF1DC1C-4662-4EC1-B9B9-575344018D85}"/>
              </a:ext>
            </a:extLst>
          </p:cNvPr>
          <p:cNvSpPr txBox="1"/>
          <p:nvPr/>
        </p:nvSpPr>
        <p:spPr>
          <a:xfrm>
            <a:off x="5370570" y="3966362"/>
            <a:ext cx="1578499" cy="230832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240221-04h 39m 25s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2A508767-2161-4544-83D1-28F6863AEC28}"/>
              </a:ext>
            </a:extLst>
          </p:cNvPr>
          <p:cNvSpPr/>
          <p:nvPr/>
        </p:nvSpPr>
        <p:spPr>
          <a:xfrm>
            <a:off x="7200650" y="4300527"/>
            <a:ext cx="353919" cy="1558316"/>
          </a:xfrm>
          <a:prstGeom prst="rect">
            <a:avLst/>
          </a:prstGeom>
          <a:solidFill>
            <a:srgbClr val="1E293B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701CAEAF-47A1-4F45-BDC6-83B20B5627A7}"/>
              </a:ext>
            </a:extLst>
          </p:cNvPr>
          <p:cNvSpPr/>
          <p:nvPr/>
        </p:nvSpPr>
        <p:spPr>
          <a:xfrm>
            <a:off x="4605517" y="4326002"/>
            <a:ext cx="395652" cy="1532841"/>
          </a:xfrm>
          <a:prstGeom prst="rect">
            <a:avLst/>
          </a:prstGeom>
          <a:solidFill>
            <a:srgbClr val="000C4C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3" name="타원 212">
            <a:extLst>
              <a:ext uri="{FF2B5EF4-FFF2-40B4-BE49-F238E27FC236}">
                <a16:creationId xmlns:a16="http://schemas.microsoft.com/office/drawing/2014/main" id="{FFE49D6E-BBBA-4236-8F45-5B9F33634445}"/>
              </a:ext>
            </a:extLst>
          </p:cNvPr>
          <p:cNvSpPr/>
          <p:nvPr/>
        </p:nvSpPr>
        <p:spPr>
          <a:xfrm>
            <a:off x="6919597" y="5449226"/>
            <a:ext cx="125097" cy="132281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48DDEE38-CB54-4761-9A06-9EFFE306941D}"/>
              </a:ext>
            </a:extLst>
          </p:cNvPr>
          <p:cNvCxnSpPr>
            <a:cxnSpLocks/>
          </p:cNvCxnSpPr>
          <p:nvPr/>
        </p:nvCxnSpPr>
        <p:spPr>
          <a:xfrm flipH="1">
            <a:off x="7037359" y="5323983"/>
            <a:ext cx="163290" cy="191383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5798115E-D365-4D26-BE90-3E9D9FD4DB26}"/>
              </a:ext>
            </a:extLst>
          </p:cNvPr>
          <p:cNvSpPr txBox="1"/>
          <p:nvPr/>
        </p:nvSpPr>
        <p:spPr>
          <a:xfrm>
            <a:off x="6622538" y="5084478"/>
            <a:ext cx="1365523" cy="369332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자동보정 적용시점 </a:t>
            </a:r>
            <a:r>
              <a:rPr lang="en-US" altLang="ko-KR" sz="9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OUT_ZONE(9s)</a:t>
            </a:r>
            <a:endParaRPr lang="ko-KR" altLang="en-US" sz="9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6" name="타원 215">
            <a:extLst>
              <a:ext uri="{FF2B5EF4-FFF2-40B4-BE49-F238E27FC236}">
                <a16:creationId xmlns:a16="http://schemas.microsoft.com/office/drawing/2014/main" id="{A179C2C0-B03B-405B-8589-68A6346DD46E}"/>
              </a:ext>
            </a:extLst>
          </p:cNvPr>
          <p:cNvSpPr/>
          <p:nvPr/>
        </p:nvSpPr>
        <p:spPr>
          <a:xfrm>
            <a:off x="5054670" y="5526600"/>
            <a:ext cx="125097" cy="132281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217" name="직선 화살표 연결선 216">
            <a:extLst>
              <a:ext uri="{FF2B5EF4-FFF2-40B4-BE49-F238E27FC236}">
                <a16:creationId xmlns:a16="http://schemas.microsoft.com/office/drawing/2014/main" id="{991A9608-073D-4F56-BD3D-4E8BDB7A89C1}"/>
              </a:ext>
            </a:extLst>
          </p:cNvPr>
          <p:cNvCxnSpPr>
            <a:cxnSpLocks/>
          </p:cNvCxnSpPr>
          <p:nvPr/>
        </p:nvCxnSpPr>
        <p:spPr>
          <a:xfrm flipH="1">
            <a:off x="5172432" y="5505391"/>
            <a:ext cx="290643" cy="8734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11A2E5A6-1E35-4722-BC2B-DDFAF116542A}"/>
              </a:ext>
            </a:extLst>
          </p:cNvPr>
          <p:cNvSpPr txBox="1"/>
          <p:nvPr/>
        </p:nvSpPr>
        <p:spPr>
          <a:xfrm>
            <a:off x="4941771" y="5257657"/>
            <a:ext cx="1365523" cy="369332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자동보정 적용시점 </a:t>
            </a:r>
            <a:endParaRPr lang="en-US" altLang="ko-KR" sz="9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en-US" altLang="ko-KR" sz="9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IN_ZONE(7s)</a:t>
            </a:r>
            <a:endParaRPr lang="ko-KR" altLang="en-US" sz="9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9" name="타원 218">
            <a:extLst>
              <a:ext uri="{FF2B5EF4-FFF2-40B4-BE49-F238E27FC236}">
                <a16:creationId xmlns:a16="http://schemas.microsoft.com/office/drawing/2014/main" id="{730285B3-2761-438C-85FA-4B2396FA818A}"/>
              </a:ext>
            </a:extLst>
          </p:cNvPr>
          <p:cNvSpPr/>
          <p:nvPr/>
        </p:nvSpPr>
        <p:spPr>
          <a:xfrm>
            <a:off x="1515043" y="5259345"/>
            <a:ext cx="125097" cy="132281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220" name="직선 화살표 연결선 219">
            <a:extLst>
              <a:ext uri="{FF2B5EF4-FFF2-40B4-BE49-F238E27FC236}">
                <a16:creationId xmlns:a16="http://schemas.microsoft.com/office/drawing/2014/main" id="{18B3E7BE-BAD9-49EF-A0B0-8AAEA7ED8488}"/>
              </a:ext>
            </a:extLst>
          </p:cNvPr>
          <p:cNvCxnSpPr>
            <a:cxnSpLocks/>
            <a:stCxn id="221" idx="0"/>
          </p:cNvCxnSpPr>
          <p:nvPr/>
        </p:nvCxnSpPr>
        <p:spPr>
          <a:xfrm flipH="1" flipV="1">
            <a:off x="1588943" y="5420424"/>
            <a:ext cx="479659" cy="13679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22B695CE-1B1D-45F2-8AA1-01A6023490D1}"/>
              </a:ext>
            </a:extLst>
          </p:cNvPr>
          <p:cNvSpPr txBox="1"/>
          <p:nvPr/>
        </p:nvSpPr>
        <p:spPr>
          <a:xfrm>
            <a:off x="1385840" y="5557214"/>
            <a:ext cx="1365523" cy="369332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자동보정 적용시점 </a:t>
            </a:r>
            <a:endParaRPr lang="en-US" altLang="ko-KR" sz="9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en-US" altLang="ko-KR" sz="9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IN_ZONE(7s)</a:t>
            </a:r>
            <a:endParaRPr lang="ko-KR" altLang="en-US" sz="9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2" name="타원 221">
            <a:extLst>
              <a:ext uri="{FF2B5EF4-FFF2-40B4-BE49-F238E27FC236}">
                <a16:creationId xmlns:a16="http://schemas.microsoft.com/office/drawing/2014/main" id="{1959AEAE-CDF5-4E1E-9E5A-3C2D530EF383}"/>
              </a:ext>
            </a:extLst>
          </p:cNvPr>
          <p:cNvSpPr/>
          <p:nvPr/>
        </p:nvSpPr>
        <p:spPr>
          <a:xfrm>
            <a:off x="3921014" y="5206602"/>
            <a:ext cx="125097" cy="132281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4D6E1654-BE30-4D9D-A528-D735FC96ABCA}"/>
              </a:ext>
            </a:extLst>
          </p:cNvPr>
          <p:cNvCxnSpPr>
            <a:cxnSpLocks/>
            <a:stCxn id="224" idx="0"/>
          </p:cNvCxnSpPr>
          <p:nvPr/>
        </p:nvCxnSpPr>
        <p:spPr>
          <a:xfrm flipV="1">
            <a:off x="3691090" y="5338884"/>
            <a:ext cx="211230" cy="14697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9C2C8454-F23D-47E9-9223-D8EF09BBB04C}"/>
              </a:ext>
            </a:extLst>
          </p:cNvPr>
          <p:cNvSpPr txBox="1"/>
          <p:nvPr/>
        </p:nvSpPr>
        <p:spPr>
          <a:xfrm>
            <a:off x="3008328" y="5485862"/>
            <a:ext cx="1365523" cy="369332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자동보정 적용시점 </a:t>
            </a:r>
            <a:r>
              <a:rPr lang="en-US" altLang="ko-KR" sz="9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OUT_ZONE(9s)</a:t>
            </a:r>
            <a:endParaRPr lang="ko-KR" altLang="en-US" sz="9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44CAACB-E4B8-4816-9D05-EF2C34CA989A}"/>
              </a:ext>
            </a:extLst>
          </p:cNvPr>
          <p:cNvSpPr/>
          <p:nvPr/>
        </p:nvSpPr>
        <p:spPr>
          <a:xfrm>
            <a:off x="7870097" y="4369809"/>
            <a:ext cx="1969818" cy="584775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 </a:t>
            </a:r>
            <a:r>
              <a:rPr lang="ko-KR" altLang="en-US" sz="8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그래프 시각화 용이성을 위해    </a:t>
            </a:r>
            <a:endParaRPr lang="en-US" altLang="ko-KR" sz="800" b="1" dirty="0">
              <a:solidFill>
                <a:srgbClr val="7A869A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vel(Velocity PV) </a:t>
            </a:r>
            <a:r>
              <a:rPr lang="ko-KR" altLang="en-US" sz="8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 조정함</a:t>
            </a:r>
            <a:r>
              <a:rPr lang="en-US" altLang="ko-KR" sz="8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</a:p>
          <a:p>
            <a:r>
              <a:rPr lang="en-US" altLang="ko-KR" sz="8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ko-KR" altLang="en-US" sz="8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즉</a:t>
            </a:r>
            <a:r>
              <a:rPr lang="en-US" altLang="ko-KR" sz="8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8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속도는 그래프에 표시된 값에서 </a:t>
            </a:r>
            <a:endParaRPr lang="en-US" altLang="ko-KR" sz="800" b="1" dirty="0">
              <a:solidFill>
                <a:srgbClr val="7A869A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ko-KR" altLang="en-US" sz="8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곱하기 </a:t>
            </a:r>
            <a:r>
              <a:rPr lang="en-US" altLang="ko-KR" sz="8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10</a:t>
            </a:r>
            <a:r>
              <a:rPr lang="ko-KR" altLang="en-US" sz="8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하면 됨</a:t>
            </a:r>
            <a:endParaRPr lang="ko-KR" altLang="en-US" sz="800" b="1" i="0" dirty="0">
              <a:solidFill>
                <a:srgbClr val="424242"/>
              </a:solidFill>
              <a:effectLst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A1BB6F-BFCC-42EF-A991-CC91D08C666A}"/>
              </a:ext>
            </a:extLst>
          </p:cNvPr>
          <p:cNvSpPr txBox="1"/>
          <p:nvPr/>
        </p:nvSpPr>
        <p:spPr>
          <a:xfrm>
            <a:off x="184364" y="98902"/>
            <a:ext cx="8521485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개발을 위한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EDA (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6738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496265"/>
            <a:ext cx="9790981" cy="310668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상관분석 진행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1) DNN</a:t>
            </a:r>
            <a:r>
              <a:rPr lang="ko-KR" altLang="en-US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사용하는 변수를 베이스로 해서 </a:t>
            </a:r>
            <a:r>
              <a:rPr lang="en-US" altLang="ko-KR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</a:t>
            </a:r>
            <a:r>
              <a:rPr lang="ko-KR" altLang="en-US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 </a:t>
            </a:r>
            <a:r>
              <a:rPr lang="en-US" altLang="ko-KR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상관분석 진행</a:t>
            </a:r>
            <a:endParaRPr lang="en-US" altLang="ko-KR" sz="13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-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기존에 사용하는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DNN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모형에서 사용하는 변수를 베이스로 해서 상관분석을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진행함 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2) </a:t>
            </a:r>
            <a:r>
              <a:rPr lang="ko-KR" altLang="en-US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산점도 확인</a:t>
            </a:r>
            <a:r>
              <a:rPr lang="en-US" altLang="ko-KR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(1,000mm/s, 300mm/s</a:t>
            </a:r>
            <a:r>
              <a:rPr lang="ko-KR" altLang="en-US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비교</a:t>
            </a:r>
            <a:r>
              <a:rPr lang="en-US" altLang="ko-KR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2-1) OUT Zone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전극 표면 온도와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변수들 산점도 확인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- Y : Temp OUT(OUT Zone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전극 표면온도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- X : log_NonOP_Time(log_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부동시간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log_Prev_OP_Time(log_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이전가동시간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Init_Temp_IN(IN Zone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초기 전극 표면 온도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</a:t>
            </a: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Init_Temp_OUT(OUT Zone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초기 전극 표면 온도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Temp_IN(IN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Zone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전극 표면 온도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SCR_IN(IN Zone MIR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램프 출력 값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</a:t>
            </a: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SCR_OUT(OUT Zone MIR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램프 출력 값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 </a:t>
            </a:r>
            <a:endParaRPr lang="en-US" altLang="ko-KR" sz="1100" dirty="0">
              <a:solidFill>
                <a:srgbClr val="424242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산점도 확인 결과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1,000mm/s, 300mm/s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변수들 트랜드 유사해 보임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X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변수들 간의 관계도 추가 확인 필요해 보임</a:t>
            </a: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75E43509-CF86-4315-8D94-197523BD1150}"/>
              </a:ext>
            </a:extLst>
          </p:cNvPr>
          <p:cNvCxnSpPr>
            <a:cxnSpLocks/>
          </p:cNvCxnSpPr>
          <p:nvPr/>
        </p:nvCxnSpPr>
        <p:spPr>
          <a:xfrm flipV="1">
            <a:off x="5021893" y="3598213"/>
            <a:ext cx="0" cy="2676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D0BC778E-2BF9-4FBC-97D6-C46217743138}"/>
              </a:ext>
            </a:extLst>
          </p:cNvPr>
          <p:cNvSpPr txBox="1"/>
          <p:nvPr/>
        </p:nvSpPr>
        <p:spPr>
          <a:xfrm>
            <a:off x="1723348" y="3384652"/>
            <a:ext cx="2047947" cy="276999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 </a:t>
            </a:r>
            <a:r>
              <a:rPr lang="ko-KR" altLang="en-US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7A34449-7543-4F1A-B422-12782458D9F9}"/>
              </a:ext>
            </a:extLst>
          </p:cNvPr>
          <p:cNvSpPr txBox="1"/>
          <p:nvPr/>
        </p:nvSpPr>
        <p:spPr>
          <a:xfrm>
            <a:off x="6257217" y="3384652"/>
            <a:ext cx="2047952" cy="276999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B67E7E4-3AE4-471E-8504-E75B5E724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56" y="3661651"/>
            <a:ext cx="4376433" cy="260453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E667F00-A3A8-4B52-9F74-D6A0288E8E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157" y="3661651"/>
            <a:ext cx="4460803" cy="26547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78C5CE-DCC3-4B66-AB26-1E43DB0E9706}"/>
              </a:ext>
            </a:extLst>
          </p:cNvPr>
          <p:cNvSpPr txBox="1"/>
          <p:nvPr/>
        </p:nvSpPr>
        <p:spPr>
          <a:xfrm>
            <a:off x="184364" y="98902"/>
            <a:ext cx="8521485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개발을 위한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EDA (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3566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496265"/>
            <a:ext cx="9790981" cy="1560107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상관분석 진행</a:t>
            </a:r>
            <a:endParaRPr lang="en-US" altLang="ko-KR" sz="1600" b="1" dirty="0">
              <a:solidFill>
                <a:schemeClr val="bg1">
                  <a:lumMod val="6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2) </a:t>
            </a:r>
            <a:r>
              <a:rPr lang="ko-KR" altLang="en-US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산점도 확인</a:t>
            </a:r>
            <a:r>
              <a:rPr lang="en-US" altLang="ko-KR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(1,000mm/s, 300mm/s</a:t>
            </a:r>
            <a:r>
              <a:rPr lang="ko-KR" altLang="en-US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비교</a:t>
            </a:r>
            <a:r>
              <a:rPr lang="en-US" altLang="ko-KR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2-2) X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변수들 간의 관계도 산점도 시각화 진행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(Pair Plot)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- X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변수들 간의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산점도도 유사한 트렌드를 보이는 것을 확인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보다 정확하게 확인하기 위해 상관관계 수치 확인 필요해 보임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050D8C4-D7D2-4E58-8880-6E15EB97D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73" y="2099807"/>
            <a:ext cx="4700725" cy="419132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C36223C-8FFE-4B8D-89A3-5158F6013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121" y="2110190"/>
            <a:ext cx="4668653" cy="4180945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6989557-86DA-448F-BF76-5C09E38C949F}"/>
              </a:ext>
            </a:extLst>
          </p:cNvPr>
          <p:cNvCxnSpPr>
            <a:cxnSpLocks/>
          </p:cNvCxnSpPr>
          <p:nvPr/>
        </p:nvCxnSpPr>
        <p:spPr>
          <a:xfrm flipV="1">
            <a:off x="4952998" y="2040348"/>
            <a:ext cx="0" cy="4314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E686301-4B80-4BC7-85E2-77C2466CB8C3}"/>
              </a:ext>
            </a:extLst>
          </p:cNvPr>
          <p:cNvSpPr txBox="1"/>
          <p:nvPr/>
        </p:nvSpPr>
        <p:spPr>
          <a:xfrm>
            <a:off x="1434464" y="1801864"/>
            <a:ext cx="1944395" cy="276999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 </a:t>
            </a:r>
            <a:r>
              <a:rPr lang="ko-KR" altLang="en-US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CE8A45-C595-4ABA-83E7-27A998CDEADF}"/>
              </a:ext>
            </a:extLst>
          </p:cNvPr>
          <p:cNvSpPr txBox="1"/>
          <p:nvPr/>
        </p:nvSpPr>
        <p:spPr>
          <a:xfrm>
            <a:off x="6421220" y="1801864"/>
            <a:ext cx="1944404" cy="276999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1AF3F4-67A0-4C7C-93A7-077B5A33C507}"/>
              </a:ext>
            </a:extLst>
          </p:cNvPr>
          <p:cNvSpPr txBox="1"/>
          <p:nvPr/>
        </p:nvSpPr>
        <p:spPr>
          <a:xfrm>
            <a:off x="184364" y="98902"/>
            <a:ext cx="8521485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개발을 위한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EDA (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4704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496265"/>
            <a:ext cx="9790981" cy="4852226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상관분석 진행</a:t>
            </a:r>
            <a:endParaRPr lang="en-US" altLang="ko-KR" sz="1600" b="1" dirty="0">
              <a:solidFill>
                <a:schemeClr val="bg1">
                  <a:lumMod val="6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3) </a:t>
            </a:r>
            <a:r>
              <a:rPr lang="ko-KR" altLang="en-US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상관관계 수치 확인</a:t>
            </a:r>
            <a:r>
              <a:rPr lang="en-US" altLang="ko-KR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_</a:t>
            </a:r>
            <a:r>
              <a:rPr lang="ko-KR" altLang="en-US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</a:t>
            </a:r>
            <a:r>
              <a:rPr lang="en-US" altLang="ko-KR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DNN</a:t>
            </a:r>
            <a:r>
              <a:rPr lang="ko-KR" altLang="en-US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모형 사용 변수</a:t>
            </a:r>
            <a:r>
              <a:rPr lang="en-US" altLang="ko-KR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(1,000mm/s, 300mm/s</a:t>
            </a:r>
            <a:r>
              <a:rPr lang="ko-KR" altLang="en-US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비교</a:t>
            </a:r>
            <a:r>
              <a:rPr lang="en-US" altLang="ko-KR" sz="13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5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값이 온도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(OUT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Zone)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경우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3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- 1,000mm/s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값과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 사이에 상관관계가 유사하게 나타났으며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통계적으로도 모두 유의미함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값이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SCR_IN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 경우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3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- 1,000mm/s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값과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 사이에 상관관계가 일부 변수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(log_Prev_OP_Time)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제외 유사하게 나타남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altLang="ko-KR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(1,000mm/s </a:t>
            </a:r>
            <a:r>
              <a:rPr lang="ko-KR" altLang="en-US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일부 변수 제외하고 통계적으로 모두 유의미함</a:t>
            </a:r>
            <a:r>
              <a:rPr lang="en-US" altLang="ko-KR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값이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SCR_OUT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 경우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3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- 1,000mm/s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값과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 사이에 상관관계가 일부 변수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(log_Prev_OP_Time)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제외 유사하게 나타남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altLang="ko-KR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(1,000mm/s </a:t>
            </a:r>
            <a:r>
              <a:rPr lang="ko-KR" altLang="en-US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일부 변수 제외하고 통계적으로 모두 유의미함</a:t>
            </a:r>
            <a:r>
              <a:rPr lang="en-US" altLang="ko-KR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B513D1C-E081-4585-8D68-8720D8E21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681544"/>
              </p:ext>
            </p:extLst>
          </p:nvPr>
        </p:nvGraphicFramePr>
        <p:xfrm>
          <a:off x="613568" y="3625968"/>
          <a:ext cx="6509148" cy="840892"/>
        </p:xfrm>
        <a:graphic>
          <a:graphicData uri="http://schemas.openxmlformats.org/drawingml/2006/table">
            <a:tbl>
              <a:tblPr/>
              <a:tblGrid>
                <a:gridCol w="1084858">
                  <a:extLst>
                    <a:ext uri="{9D8B030D-6E8A-4147-A177-3AD203B41FA5}">
                      <a16:colId xmlns:a16="http://schemas.microsoft.com/office/drawing/2014/main" val="1923951129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3003320213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2006341520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469017698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4151902141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45927569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선속</a:t>
                      </a:r>
                    </a:p>
                  </a:txBody>
                  <a:tcPr marL="56179" marR="84268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log_NonOP_Time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179" marR="84268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log_Prev_OP_Time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179" marR="84268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Init_Temp_IN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179" marR="84268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Init_Temp_OUT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179" marR="84268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Temp_OUT</a:t>
                      </a:r>
                    </a:p>
                  </a:txBody>
                  <a:tcPr marL="56179" marR="84268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314210"/>
                  </a:ext>
                </a:extLst>
              </a:tr>
              <a:tr h="24044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1,000mm/s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0.85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-0.83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-0.93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-0.54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185621"/>
                  </a:ext>
                </a:extLst>
              </a:tr>
              <a:tr h="24044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300mm/s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0.71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-0.30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-0.82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-0.90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-0.60</a:t>
                      </a:r>
                    </a:p>
                  </a:txBody>
                  <a:tcPr marL="56179" marR="56179" marT="39325" marB="39325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403567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076A07D-744A-4A2C-8F6B-8F3CB30D7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626577"/>
              </p:ext>
            </p:extLst>
          </p:nvPr>
        </p:nvGraphicFramePr>
        <p:xfrm>
          <a:off x="613568" y="1819870"/>
          <a:ext cx="7594006" cy="847174"/>
        </p:xfrm>
        <a:graphic>
          <a:graphicData uri="http://schemas.openxmlformats.org/drawingml/2006/table">
            <a:tbl>
              <a:tblPr/>
              <a:tblGrid>
                <a:gridCol w="1084858">
                  <a:extLst>
                    <a:ext uri="{9D8B030D-6E8A-4147-A177-3AD203B41FA5}">
                      <a16:colId xmlns:a16="http://schemas.microsoft.com/office/drawing/2014/main" val="3348084406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3183180780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1027789500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2287787168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1266070948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1344089379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164617088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선속</a:t>
                      </a:r>
                    </a:p>
                  </a:txBody>
                  <a:tcPr marL="56913" marR="85369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log_NonOP_Time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913" marR="85369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log_Prev_OP_Time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913" marR="85369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Init_Temp_IN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913" marR="85369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Init_Temp_OUT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913" marR="85369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SCR_IN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913" marR="85369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SCR_OUT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913" marR="85369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073952"/>
                  </a:ext>
                </a:extLst>
              </a:tr>
              <a:tr h="24358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1,000mm/s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-0.21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0.23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0.85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0.77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-0.55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-0.54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455634"/>
                  </a:ext>
                </a:extLst>
              </a:tr>
              <a:tr h="24358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300mm/s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-0.36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0.23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0.86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0.80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-0.61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-0.62</a:t>
                      </a:r>
                    </a:p>
                  </a:txBody>
                  <a:tcPr marL="56913" marR="56913" marT="39839" marB="39839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707141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C131082-DB36-494D-A0CA-B092D147B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933821"/>
              </p:ext>
            </p:extLst>
          </p:nvPr>
        </p:nvGraphicFramePr>
        <p:xfrm>
          <a:off x="613568" y="5263755"/>
          <a:ext cx="6509148" cy="845030"/>
        </p:xfrm>
        <a:graphic>
          <a:graphicData uri="http://schemas.openxmlformats.org/drawingml/2006/table">
            <a:tbl>
              <a:tblPr/>
              <a:tblGrid>
                <a:gridCol w="1084858">
                  <a:extLst>
                    <a:ext uri="{9D8B030D-6E8A-4147-A177-3AD203B41FA5}">
                      <a16:colId xmlns:a16="http://schemas.microsoft.com/office/drawing/2014/main" val="3087551178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3715614064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2191227413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3551120954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2571928798"/>
                    </a:ext>
                  </a:extLst>
                </a:gridCol>
                <a:gridCol w="1084858">
                  <a:extLst>
                    <a:ext uri="{9D8B030D-6E8A-4147-A177-3AD203B41FA5}">
                      <a16:colId xmlns:a16="http://schemas.microsoft.com/office/drawing/2014/main" val="14585164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선속</a:t>
                      </a:r>
                    </a:p>
                  </a:txBody>
                  <a:tcPr marL="56662" marR="84994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log_NonOP_Time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662" marR="84994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log_Prev_OP_Time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662" marR="84994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Init_Temp_IN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662" marR="84994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Init_Temp_OUT</a:t>
                      </a:r>
                      <a:endParaRPr lang="en-US" sz="900" b="1" dirty="0">
                        <a:solidFill>
                          <a:srgbClr val="424242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662" marR="84994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Temp_OUT</a:t>
                      </a:r>
                    </a:p>
                  </a:txBody>
                  <a:tcPr marL="56662" marR="84994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109934"/>
                  </a:ext>
                </a:extLst>
              </a:tr>
              <a:tr h="24251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1,000mm/s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0.85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-0.82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-0.93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-0.53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745780"/>
                  </a:ext>
                </a:extLst>
              </a:tr>
              <a:tr h="24251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300mm/s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0.72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-0.31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-0.83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-0.91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-0.61</a:t>
                      </a:r>
                    </a:p>
                  </a:txBody>
                  <a:tcPr marL="56662" marR="56662" marT="39664" marB="39664" anchor="ctr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48750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3732A22-A091-41E5-84DD-C0F6CDC17EA3}"/>
              </a:ext>
            </a:extLst>
          </p:cNvPr>
          <p:cNvSpPr/>
          <p:nvPr/>
        </p:nvSpPr>
        <p:spPr>
          <a:xfrm>
            <a:off x="7070349" y="622333"/>
            <a:ext cx="2222083" cy="215444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pPr algn="ctr" fontAlgn="t"/>
            <a:r>
              <a:rPr lang="en-US" altLang="ko-KR" sz="800" b="1" dirty="0">
                <a:solidFill>
                  <a:srgbClr val="E2E8F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※ </a:t>
            </a:r>
            <a:r>
              <a:rPr lang="en-US" altLang="ko-KR" sz="8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ko-KR" altLang="en-US" sz="8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는 통계적으로 유의미하지 않다는 것을 의미함</a:t>
            </a:r>
            <a:endParaRPr lang="en-US" altLang="ko-KR" sz="800" b="1" dirty="0">
              <a:solidFill>
                <a:schemeClr val="bg1">
                  <a:lumMod val="6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실행 단추: 홈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6888E96-5B94-48AF-A08B-81CCF1A0786E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954F46-58A3-43D8-8EEA-CEB0BB48201D}"/>
              </a:ext>
            </a:extLst>
          </p:cNvPr>
          <p:cNvSpPr txBox="1"/>
          <p:nvPr/>
        </p:nvSpPr>
        <p:spPr>
          <a:xfrm>
            <a:off x="184364" y="98902"/>
            <a:ext cx="8521485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개발을 위한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EDA (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B4DC2B2-7D12-469E-BC56-893E3FC3873E}"/>
              </a:ext>
            </a:extLst>
          </p:cNvPr>
          <p:cNvSpPr/>
          <p:nvPr/>
        </p:nvSpPr>
        <p:spPr>
          <a:xfrm>
            <a:off x="8207574" y="6254013"/>
            <a:ext cx="2368961" cy="21544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 SCR : Silicon Controlled Rectifier</a:t>
            </a:r>
            <a:endParaRPr lang="ko-KR" alt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035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552297"/>
            <a:ext cx="9790981" cy="246291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도메인 지식을 활용한 최종 변수 추출</a:t>
            </a: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물리법칙</a:t>
            </a: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열전달</a:t>
            </a: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NND Dryer 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관련 도메인 지식을 활용하여 상관분석에서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추출된 변수들 중 실제 모델링에 필요할 변수들을 크로스 체크하여 추출 진행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- NND Dryer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타겟시점</a:t>
            </a:r>
            <a:r>
              <a:rPr lang="en-US" altLang="ko-KR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(Temp_OUT)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온도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는 </a:t>
            </a:r>
            <a:r>
              <a:rPr lang="en-US" altLang="ko-KR" sz="12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Dryer </a:t>
            </a:r>
            <a:r>
              <a:rPr lang="ko-KR" altLang="en-US" sz="12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내에 초기온도가 주어질 때</a:t>
            </a:r>
            <a:r>
              <a:rPr lang="en-US" altLang="ko-KR" sz="12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MIR Lamp</a:t>
            </a:r>
            <a:r>
              <a:rPr lang="ko-KR" altLang="en-US" sz="12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열의 복사와 대류로 인해 열전달이 일어난 결과임</a:t>
            </a:r>
            <a:endParaRPr lang="en-US" altLang="ko-KR" sz="1200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- 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실제로 열전달은 열평형 상태가 이루어질 때 까지 전달되므로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열을 전달 받는 대상체의 온도와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전달하는 대상체의 온도 정보가 중요함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이에 따른      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램프온도 데이터 및 초기의 전극 표면온도는 유효한 변수로 예상됨</a:t>
            </a:r>
            <a:r>
              <a:rPr lang="en-US" altLang="ko-KR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(Init_Lamp_Temp_OUT, Init_Temp_IN/MID/OUT, </a:t>
            </a:r>
            <a:r>
              <a:rPr lang="en-US" altLang="ko-KR" sz="1000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Temp_OUT</a:t>
            </a:r>
            <a:r>
              <a:rPr lang="en-US" altLang="ko-KR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또한 대류의 경우 습도에도 영향을 받음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습도의 경우 드라이어 건조 시간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직전 가동상태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부동 상태에 따라서 드라이어 초기 환경 정도 유추가능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이에 따른 가동 상태에 대변 변수들도 유효한 변수로 예상됨</a:t>
            </a:r>
            <a:r>
              <a:rPr lang="en-US" altLang="ko-KR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(NonOP_Time, Prev_OP_Time)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최종선택 된 </a:t>
            </a:r>
            <a:r>
              <a:rPr lang="ko-KR" altLang="en-US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변수들 다중공선성까지 확인 한 결과 일부 변수에서 </a:t>
            </a:r>
            <a:r>
              <a:rPr lang="en-US" altLang="ko-KR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VIF</a:t>
            </a:r>
            <a:r>
              <a:rPr lang="ko-KR" altLang="en-US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값이 높지만 필요한 변수라 생각하여 제거하지 않고 사용</a:t>
            </a:r>
            <a:r>
              <a:rPr lang="en-US" altLang="ko-KR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변수 해석이 중요한 과제가 아님</a:t>
            </a:r>
            <a:r>
              <a:rPr lang="en-US" altLang="ko-KR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21A783E-ECA1-429A-9CEA-0FD8AC907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839" y="7624763"/>
            <a:ext cx="3530154" cy="259080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E925B60-3344-443C-A923-A04D2D5FD80D}"/>
              </a:ext>
            </a:extLst>
          </p:cNvPr>
          <p:cNvSpPr/>
          <p:nvPr/>
        </p:nvSpPr>
        <p:spPr>
          <a:xfrm>
            <a:off x="419756" y="3352162"/>
            <a:ext cx="9181506" cy="616259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결론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1,000mm/s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모형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인자와의 호환성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상관관계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Information Gain,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도메인 지식을 활용하여 </a:t>
            </a:r>
            <a:r>
              <a:rPr lang="ko-KR" altLang="en-US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총 </a:t>
            </a:r>
            <a:r>
              <a:rPr lang="en-US" altLang="ko-KR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</a:t>
            </a:r>
            <a:r>
              <a:rPr lang="ko-KR" altLang="en-US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개의 특징 선택함 </a:t>
            </a:r>
            <a:endParaRPr lang="en-US" altLang="ko-KR" sz="1200" b="1" u="sng" dirty="0">
              <a:solidFill>
                <a:srgbClr val="0D24F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(</a:t>
            </a:r>
            <a:r>
              <a:rPr lang="en-US" altLang="ko-KR" sz="1200" b="1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Non_OpTime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b="1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Prev_OP_Time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 </a:t>
            </a:r>
            <a:r>
              <a:rPr lang="en-US" altLang="ko-KR" sz="1200" b="1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Init_Lamp_Temp_OUT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en-US" altLang="ko-KR" sz="1200" b="1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Init_Temp_IN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/MID/OUT, </a:t>
            </a:r>
            <a:r>
              <a:rPr lang="en-US" altLang="ko-KR" sz="1200" b="1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Temp_OUT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14" name="실행 단추: 끝으로 이동 1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11A6101-C763-43EC-B208-7A56469D1B55}"/>
              </a:ext>
            </a:extLst>
          </p:cNvPr>
          <p:cNvSpPr/>
          <p:nvPr/>
        </p:nvSpPr>
        <p:spPr>
          <a:xfrm>
            <a:off x="4043587" y="2944314"/>
            <a:ext cx="273652" cy="140090"/>
          </a:xfrm>
          <a:prstGeom prst="actionButtonEnd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677AEA7-B7CF-499A-B9DC-7F3CD65C1081}"/>
              </a:ext>
            </a:extLst>
          </p:cNvPr>
          <p:cNvSpPr/>
          <p:nvPr/>
        </p:nvSpPr>
        <p:spPr>
          <a:xfrm>
            <a:off x="4341294" y="2898943"/>
            <a:ext cx="1223412" cy="230832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다중공선성 확인결과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447958-2B7E-4B58-9439-6455CCD9C046}"/>
              </a:ext>
            </a:extLst>
          </p:cNvPr>
          <p:cNvSpPr txBox="1"/>
          <p:nvPr/>
        </p:nvSpPr>
        <p:spPr>
          <a:xfrm>
            <a:off x="184364" y="98902"/>
            <a:ext cx="8521485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NND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Dryer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전극표면 온도관리모형 개발을 위한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EDA (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실행 단추: 끝으로 이동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03D2BAB-42C8-4BE2-8A88-0B74B14CD2B8}"/>
              </a:ext>
            </a:extLst>
          </p:cNvPr>
          <p:cNvSpPr/>
          <p:nvPr/>
        </p:nvSpPr>
        <p:spPr>
          <a:xfrm>
            <a:off x="3769935" y="3326632"/>
            <a:ext cx="273652" cy="140090"/>
          </a:xfrm>
          <a:prstGeom prst="actionButtonEnd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E6C23D-D6A7-4027-8CEE-0E871CCCDDBC}"/>
              </a:ext>
            </a:extLst>
          </p:cNvPr>
          <p:cNvSpPr/>
          <p:nvPr/>
        </p:nvSpPr>
        <p:spPr>
          <a:xfrm>
            <a:off x="4067642" y="3281261"/>
            <a:ext cx="1569660" cy="230832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(Information Gain </a:t>
            </a:r>
            <a:r>
              <a:rPr lang="ko-KR" altLang="en-US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확인결과</a:t>
            </a:r>
            <a:r>
              <a:rPr lang="en-US" altLang="ko-KR" sz="90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228128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466037"/>
            <a:ext cx="9790981" cy="1218923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개발 방향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857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EDA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통해 추출한 특징을 기반으로 하여 </a:t>
            </a:r>
            <a:r>
              <a:rPr lang="ko-KR" altLang="en-US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출력예측에 적합한 회귀 모형을 선정함</a:t>
            </a:r>
            <a:endParaRPr lang="en-US" altLang="ko-KR" sz="12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현재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PLC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제어를 통해 수집된 데이터는 목표온도 도달률이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3.78%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수준으로 낮기 때문에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희소 구간에 대한 예측 혹은 외삽에 대한 예측을 수행하여야 함 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외삽에 유리한 스케일러 및 모형을 사용해야함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외삽에 불리한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Tree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계열의 모델은 모형 후보군에서 제외함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CCA55D3-66FB-4866-945D-91D989C9631E}"/>
              </a:ext>
            </a:extLst>
          </p:cNvPr>
          <p:cNvSpPr/>
          <p:nvPr/>
        </p:nvSpPr>
        <p:spPr>
          <a:xfrm>
            <a:off x="199800" y="1856853"/>
            <a:ext cx="9790981" cy="461664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marL="73623" indent="-73623">
              <a:spcBef>
                <a:spcPts val="256"/>
              </a:spcBef>
              <a:buFont typeface="Wingdings" panose="05000000000000000000" pitchFamily="2" charset="2"/>
              <a:buChar char="§"/>
            </a:pP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후보 모형 선정 및 평가 기준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스케일러 선정 근거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피쳐마다 스케일이 다름으로 스케일러 필요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다만 외삽이 중요하기 때문에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외삽에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유리한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Standard, Robust Sclaer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사용하려 함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회귀모형 선정 근거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 NND Dryer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연속형 종속 변수인 출력값을 예측하기 위한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회귀 모형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(Regression Model)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후보 선정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  <a:p>
            <a:pPr>
              <a:spcBef>
                <a:spcPts val="256"/>
              </a:spcBef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-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평가 기준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모형을 만드는 목적은 재가동시 각기 다른 초기조건에서도 원하는 타겟 시점에 목표온도에 도달하게 하는 것이 목적이므로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가지 지표를 보고 판단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MAPE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직관적 성능을 비교하기위해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MAPE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지표로 하여 비교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Bef>
                <a:spcPts val="256"/>
              </a:spcBef>
            </a:pP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 2)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상관관계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제어를 위해 제어방향성을 평가하기 위한 지표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목표온도를 높였을 때 출력값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 올라야 하기때문에 출력과 온도 변화가 양의 상관관계로 존재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				     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하여야 함</a:t>
            </a:r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9F076478-C2EF-47C5-A9B2-43F3FF3EC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455053"/>
              </p:ext>
            </p:extLst>
          </p:nvPr>
        </p:nvGraphicFramePr>
        <p:xfrm>
          <a:off x="422134" y="3628156"/>
          <a:ext cx="8532084" cy="1927273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440084">
                  <a:extLst>
                    <a:ext uri="{9D8B030D-6E8A-4147-A177-3AD203B41FA5}">
                      <a16:colId xmlns:a16="http://schemas.microsoft.com/office/drawing/2014/main" val="3484561319"/>
                    </a:ext>
                  </a:extLst>
                </a:gridCol>
                <a:gridCol w="7092000">
                  <a:extLst>
                    <a:ext uri="{9D8B030D-6E8A-4147-A177-3AD203B41FA5}">
                      <a16:colId xmlns:a16="http://schemas.microsoft.com/office/drawing/2014/main" val="976983908"/>
                    </a:ext>
                  </a:extLst>
                </a:gridCol>
              </a:tblGrid>
              <a:tr h="2250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대표 알고리즘</a:t>
                      </a:r>
                    </a:p>
                  </a:txBody>
                  <a:tcPr marL="84406" marR="84406" marT="42203" marB="42203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대표 알고리즘 설명</a:t>
                      </a:r>
                    </a:p>
                  </a:txBody>
                  <a:tcPr marL="84406" marR="84406" marT="42203" marB="42203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12699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Multivariate Linear Regression</a:t>
                      </a:r>
                      <a:endParaRPr lang="ko-KR" altLang="en-US" sz="1050" b="1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4406" marR="84406" marT="42203" marB="4220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다중 종속 변수</a:t>
                      </a:r>
                      <a:r>
                        <a:rPr lang="en-US" altLang="ko-KR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여러 타겟 변수</a:t>
                      </a:r>
                      <a:r>
                        <a:rPr lang="en-US" altLang="ko-KR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r>
                        <a:rPr lang="ko-KR" altLang="en-US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를 동시에 예측하는 회귀 모형</a:t>
                      </a:r>
                    </a:p>
                  </a:txBody>
                  <a:tcPr marL="84406" marR="84406" marT="42203" marB="42203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94946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DNN</a:t>
                      </a:r>
                      <a:endParaRPr lang="ko-KR" altLang="en-US" sz="1050" b="1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4406" marR="84406" marT="42203" marB="4220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여러 층의 뉴런</a:t>
                      </a:r>
                      <a:r>
                        <a:rPr lang="en-US" altLang="ko-KR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노드</a:t>
                      </a:r>
                      <a:r>
                        <a:rPr lang="en-US" altLang="ko-KR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r>
                        <a:rPr lang="ko-KR" altLang="en-US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을 사용해 복잡한 데이터를 학습하고 예측</a:t>
                      </a:r>
                    </a:p>
                  </a:txBody>
                  <a:tcPr marL="84406" marR="84406" marT="42203" marB="42203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044880"/>
                  </a:ext>
                </a:extLst>
              </a:tr>
              <a:tr h="1125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LSTM</a:t>
                      </a:r>
                      <a:endParaRPr lang="ko-KR" altLang="en-US" sz="1050" b="1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4406" marR="84406" marT="42203" marB="4220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순환 신경망</a:t>
                      </a:r>
                      <a:r>
                        <a:rPr lang="en-US" altLang="ko-KR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(RNN)</a:t>
                      </a:r>
                      <a:r>
                        <a:rPr lang="ko-KR" altLang="en-US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의 한 유형으로</a:t>
                      </a:r>
                      <a:r>
                        <a:rPr lang="en-US" altLang="ko-KR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시퀀스 데이터를 처리하는 데 특화된 신경망 구조</a:t>
                      </a:r>
                    </a:p>
                  </a:txBody>
                  <a:tcPr marL="84406" marR="84406" marT="42203" marB="42203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682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LSTM_with_</a:t>
                      </a:r>
                    </a:p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Attention</a:t>
                      </a:r>
                    </a:p>
                  </a:txBody>
                  <a:tcPr marL="84406" marR="84406" marT="42203" marB="4220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LSTM </a:t>
                      </a:r>
                      <a:r>
                        <a:rPr lang="ko-KR" altLang="en-US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네트워크에 </a:t>
                      </a:r>
                      <a:r>
                        <a:rPr lang="en-US" altLang="ko-KR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Attention Mechanism</a:t>
                      </a:r>
                      <a:r>
                        <a:rPr lang="ko-KR" altLang="en-US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을 추가하여 시퀀스 데이터를 처리하는 모델</a:t>
                      </a:r>
                      <a:endParaRPr lang="en-US" altLang="ko-KR" sz="105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Attention </a:t>
                      </a:r>
                      <a:r>
                        <a:rPr lang="ko-KR" altLang="en-US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메커니즘은 입력 시퀀스의 각 요소에 가중치를 부여하여 모델이 중요한 정보를 강조할 수 있게 함</a:t>
                      </a:r>
                    </a:p>
                  </a:txBody>
                  <a:tcPr marL="84406" marR="84406" marT="42203" marB="42203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843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LSTM_with_</a:t>
                      </a:r>
                    </a:p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Transformer</a:t>
                      </a:r>
                    </a:p>
                  </a:txBody>
                  <a:tcPr marL="84406" marR="84406" marT="42203" marB="4220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LSTM</a:t>
                      </a:r>
                      <a:r>
                        <a:rPr lang="ko-KR" altLang="en-US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은 입력 시퀀스를 인코딩하고</a:t>
                      </a:r>
                      <a:r>
                        <a:rPr lang="en-US" altLang="ko-KR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Transformer</a:t>
                      </a:r>
                      <a:r>
                        <a:rPr lang="ko-KR" altLang="en-US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는 인코딩된 데이터를 통해 더 높은 수준의 표현 학습을 수행</a:t>
                      </a:r>
                      <a:r>
                        <a:rPr lang="en-US" altLang="ko-KR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05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4406" marR="84406" marT="42203" marB="42203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400885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66B0558B-D7CA-4BF5-B744-AB54CDCF286B}"/>
              </a:ext>
            </a:extLst>
          </p:cNvPr>
          <p:cNvSpPr/>
          <p:nvPr/>
        </p:nvSpPr>
        <p:spPr>
          <a:xfrm>
            <a:off x="4573172" y="6132589"/>
            <a:ext cx="1407758" cy="298095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제어 시뮬레이션</a:t>
            </a:r>
            <a:r>
              <a:rPr lang="en-US" altLang="ko-KR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5" name="실행 단추: 앞으로 또는 다음으로 이동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7567A33-2958-4874-B7B2-120E4EDE9C33}"/>
              </a:ext>
            </a:extLst>
          </p:cNvPr>
          <p:cNvSpPr/>
          <p:nvPr/>
        </p:nvSpPr>
        <p:spPr>
          <a:xfrm>
            <a:off x="5876815" y="6222561"/>
            <a:ext cx="208230" cy="181566"/>
          </a:xfrm>
          <a:prstGeom prst="actionButtonForwardNex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DE26725-5A5B-4DFF-B25E-253FF2F73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746171"/>
              </p:ext>
            </p:extLst>
          </p:nvPr>
        </p:nvGraphicFramePr>
        <p:xfrm>
          <a:off x="422134" y="2461219"/>
          <a:ext cx="8532084" cy="71393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440084">
                  <a:extLst>
                    <a:ext uri="{9D8B030D-6E8A-4147-A177-3AD203B41FA5}">
                      <a16:colId xmlns:a16="http://schemas.microsoft.com/office/drawing/2014/main" val="3484561319"/>
                    </a:ext>
                  </a:extLst>
                </a:gridCol>
                <a:gridCol w="7092000">
                  <a:extLst>
                    <a:ext uri="{9D8B030D-6E8A-4147-A177-3AD203B41FA5}">
                      <a16:colId xmlns:a16="http://schemas.microsoft.com/office/drawing/2014/main" val="976983908"/>
                    </a:ext>
                  </a:extLst>
                </a:gridCol>
              </a:tblGrid>
              <a:tr h="2250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대표 스케일러</a:t>
                      </a:r>
                    </a:p>
                  </a:txBody>
                  <a:tcPr marL="84406" marR="84406" marT="42203" marB="42203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대표 스케일러 설명</a:t>
                      </a:r>
                    </a:p>
                  </a:txBody>
                  <a:tcPr marL="84406" marR="84406" marT="42203" marB="42203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12699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StandardScaler</a:t>
                      </a:r>
                      <a:endParaRPr lang="ko-KR" altLang="en-US" sz="1050" b="1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4406" marR="84406" marT="42203" marB="4220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모델이 훈련된 범위 밖의 값도 상대적으로 잘 처리 가능</a:t>
                      </a:r>
                      <a:r>
                        <a:rPr lang="en-US" altLang="ko-KR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외삽이 필요한 선형 모델</a:t>
                      </a:r>
                      <a:r>
                        <a:rPr lang="en-US" altLang="ko-KR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(LR, SVM)</a:t>
                      </a:r>
                      <a:r>
                        <a:rPr lang="ko-KR" altLang="en-US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이나 신경망에 적합</a:t>
                      </a:r>
                      <a:r>
                        <a:rPr lang="en-US" altLang="ko-KR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05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4406" marR="84406" marT="42203" marB="42203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94946"/>
                  </a:ext>
                </a:extLst>
              </a:tr>
              <a:tr h="1125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RobustScaler</a:t>
                      </a:r>
                      <a:endParaRPr lang="ko-KR" altLang="en-US" sz="1050" b="1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4406" marR="84406" marT="42203" marB="4220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데이터에 이상치가 많을 때 외삽이 필요한 경우</a:t>
                      </a:r>
                      <a:r>
                        <a:rPr lang="en-US" altLang="ko-KR" sz="105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05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4406" marR="84406" marT="42203" marB="42203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68265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EA8AE8F-5899-4B0C-817F-D77E14A2DE66}"/>
              </a:ext>
            </a:extLst>
          </p:cNvPr>
          <p:cNvSpPr txBox="1"/>
          <p:nvPr/>
        </p:nvSpPr>
        <p:spPr>
          <a:xfrm>
            <a:off x="107999" y="72000"/>
            <a:ext cx="9882782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NND Dryer </a:t>
            </a:r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전극 표면온도 관리 모형 개발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(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904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8AC2A19-893A-4724-839E-2F721EAF9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728880"/>
              </p:ext>
            </p:extLst>
          </p:nvPr>
        </p:nvGraphicFramePr>
        <p:xfrm>
          <a:off x="474509" y="4648991"/>
          <a:ext cx="9072000" cy="1783773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642744956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943457052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99932252"/>
                    </a:ext>
                  </a:extLst>
                </a:gridCol>
              </a:tblGrid>
              <a:tr h="2267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Multivariate Linear Regression</a:t>
                      </a:r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LSTM_With_Attention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LSTM_With_Transformer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153993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방샹성 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시뮬레이션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82758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466037"/>
            <a:ext cx="9790981" cy="421526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모형 별 테스트 결과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372FD4E-A31C-4969-9940-624F00DC4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196430"/>
              </p:ext>
            </p:extLst>
          </p:nvPr>
        </p:nvGraphicFramePr>
        <p:xfrm>
          <a:off x="456633" y="2615067"/>
          <a:ext cx="7030013" cy="1524000"/>
        </p:xfrm>
        <a:graphic>
          <a:graphicData uri="http://schemas.openxmlformats.org/drawingml/2006/table">
            <a:tbl>
              <a:tblPr/>
              <a:tblGrid>
                <a:gridCol w="571086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837295">
                  <a:extLst>
                    <a:ext uri="{9D8B030D-6E8A-4147-A177-3AD203B41FA5}">
                      <a16:colId xmlns:a16="http://schemas.microsoft.com/office/drawing/2014/main" val="2092513496"/>
                    </a:ext>
                  </a:extLst>
                </a:gridCol>
                <a:gridCol w="135802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  <a:gridCol w="1155892">
                  <a:extLst>
                    <a:ext uri="{9D8B030D-6E8A-4147-A177-3AD203B41FA5}">
                      <a16:colId xmlns:a16="http://schemas.microsoft.com/office/drawing/2014/main" val="642744956"/>
                    </a:ext>
                  </a:extLst>
                </a:gridCol>
                <a:gridCol w="1487720">
                  <a:extLst>
                    <a:ext uri="{9D8B030D-6E8A-4147-A177-3AD203B41FA5}">
                      <a16:colId xmlns:a16="http://schemas.microsoft.com/office/drawing/2014/main" val="94345705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99932252"/>
                    </a:ext>
                  </a:extLst>
                </a:gridCol>
              </a:tblGrid>
              <a:tr h="251798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Multivariate Linear Regression</a:t>
                      </a:r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LSTM_With_Attention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LSTM_With_Transformer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121920">
                <a:tc rowSpan="3"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82758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4.12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184228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697679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 방향 시뮬레이션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상관계수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872404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E2D6E8C-7575-47D8-BD01-3BF9DE39044E}"/>
              </a:ext>
            </a:extLst>
          </p:cNvPr>
          <p:cNvGraphicFramePr>
            <a:graphicFrameLocks noGrp="1"/>
          </p:cNvGraphicFramePr>
          <p:nvPr/>
        </p:nvGraphicFramePr>
        <p:xfrm>
          <a:off x="456633" y="1649334"/>
          <a:ext cx="8824980" cy="5295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64980">
                  <a:extLst>
                    <a:ext uri="{9D8B030D-6E8A-4147-A177-3AD203B41FA5}">
                      <a16:colId xmlns:a16="http://schemas.microsoft.com/office/drawing/2014/main" val="2553320181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4187970287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15770504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E2E8F0"/>
                          </a:solidFill>
                        </a:rPr>
                        <a:t>Train Set</a:t>
                      </a:r>
                      <a:endParaRPr lang="ko-KR" altLang="en-US" sz="10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Validation Set</a:t>
                      </a:r>
                      <a:endParaRPr lang="ko-KR" altLang="en-US" sz="10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Test set</a:t>
                      </a:r>
                      <a:endParaRPr lang="ko-KR" altLang="en-US" sz="10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597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재가동 케이스 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750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(240319~240413, 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약 한달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</a:p>
                  </a:txBody>
                  <a:tcPr marL="95250" marR="95250" marT="66675" marB="6667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재가동 케이스 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250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(240414~240428, 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약 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재가동 케이스 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250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(240429~240510, 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약 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20007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3E31FFE-BB26-4DD4-8DCE-EB62F9520588}"/>
              </a:ext>
            </a:extLst>
          </p:cNvPr>
          <p:cNvSpPr/>
          <p:nvPr/>
        </p:nvSpPr>
        <p:spPr>
          <a:xfrm>
            <a:off x="302719" y="829229"/>
            <a:ext cx="9634209" cy="595676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 셋 구성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: GM1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호기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24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19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~ 5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13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까지 수집 된 총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1250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개의 재가동 케이스를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Train(60%), Validation(20%)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Test(20%)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나누어 학습 및 테스트 진행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39F12CB-99DF-4193-AD8B-182504FECAC0}"/>
              </a:ext>
            </a:extLst>
          </p:cNvPr>
          <p:cNvSpPr/>
          <p:nvPr/>
        </p:nvSpPr>
        <p:spPr>
          <a:xfrm>
            <a:off x="350726" y="1421171"/>
            <a:ext cx="1144865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 셋 정보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9B894D4-3835-40F6-A09F-EDF07FA7BB2A}"/>
              </a:ext>
            </a:extLst>
          </p:cNvPr>
          <p:cNvSpPr/>
          <p:nvPr/>
        </p:nvSpPr>
        <p:spPr>
          <a:xfrm>
            <a:off x="374805" y="2375145"/>
            <a:ext cx="8494633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테스트 결과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성능이 좋았던 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r>
              <a:rPr lang="ko-KR" altLang="en-US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가지 순위만 표기함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모두 </a:t>
            </a:r>
            <a:r>
              <a:rPr lang="en-US" altLang="ko-KR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Standard Scaler </a:t>
            </a:r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시 성능이 가장 좋았음 </a:t>
            </a:r>
            <a:r>
              <a:rPr lang="en-US" altLang="ko-KR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Optuna</a:t>
            </a:r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통한 하이퍼 파라미터 최적화 진행 </a:t>
            </a:r>
            <a:r>
              <a:rPr lang="en-US" altLang="ko-KR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추론 시간 </a:t>
            </a:r>
            <a:r>
              <a:rPr lang="en-US" altLang="ko-KR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1s</a:t>
            </a:r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이내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82080BD-92B0-40EE-B9E1-62EAE934F6A6}"/>
              </a:ext>
            </a:extLst>
          </p:cNvPr>
          <p:cNvSpPr/>
          <p:nvPr/>
        </p:nvSpPr>
        <p:spPr>
          <a:xfrm>
            <a:off x="379577" y="4349410"/>
            <a:ext cx="1544012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 시뮬레이션 결과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93D1E0-6D51-48F2-8299-33EDC1898322}"/>
              </a:ext>
            </a:extLst>
          </p:cNvPr>
          <p:cNvSpPr/>
          <p:nvPr/>
        </p:nvSpPr>
        <p:spPr>
          <a:xfrm>
            <a:off x="1976006" y="4325619"/>
            <a:ext cx="1255472" cy="277512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제어 시뮬레이션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20" name="실행 단추: 앞으로 또는 다음으로 이동 19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B22CD44-C3BC-496E-A921-E4C022D30787}"/>
              </a:ext>
            </a:extLst>
          </p:cNvPr>
          <p:cNvSpPr/>
          <p:nvPr/>
        </p:nvSpPr>
        <p:spPr>
          <a:xfrm>
            <a:off x="1819474" y="4385585"/>
            <a:ext cx="208230" cy="181566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BC5C5D4-DFFB-414D-9286-EA13570DB9CF}"/>
              </a:ext>
            </a:extLst>
          </p:cNvPr>
          <p:cNvSpPr/>
          <p:nvPr/>
        </p:nvSpPr>
        <p:spPr>
          <a:xfrm>
            <a:off x="3753402" y="2503680"/>
            <a:ext cx="675185" cy="246221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최고 우위</a:t>
            </a:r>
          </a:p>
        </p:txBody>
      </p:sp>
      <p:sp>
        <p:nvSpPr>
          <p:cNvPr id="14" name="실행 단추: 앞으로 또는 다음으로 이동 1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A0B7627-682C-4BB6-9F6D-5EA242089781}"/>
              </a:ext>
            </a:extLst>
          </p:cNvPr>
          <p:cNvSpPr/>
          <p:nvPr/>
        </p:nvSpPr>
        <p:spPr>
          <a:xfrm>
            <a:off x="7553325" y="2733675"/>
            <a:ext cx="342900" cy="177565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DD67E5B-8854-4230-B50F-542D7A788305}"/>
              </a:ext>
            </a:extLst>
          </p:cNvPr>
          <p:cNvSpPr/>
          <p:nvPr/>
        </p:nvSpPr>
        <p:spPr>
          <a:xfrm>
            <a:off x="7884939" y="2743455"/>
            <a:ext cx="627095" cy="230832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구조</a:t>
            </a:r>
            <a:endParaRPr lang="ko-KR" altLang="en-US" sz="9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C2BB758-7A97-4BDB-AA87-260459B0F699}"/>
              </a:ext>
            </a:extLst>
          </p:cNvPr>
          <p:cNvSpPr/>
          <p:nvPr/>
        </p:nvSpPr>
        <p:spPr>
          <a:xfrm>
            <a:off x="4380212" y="2613843"/>
            <a:ext cx="1477663" cy="1524000"/>
          </a:xfrm>
          <a:prstGeom prst="rect">
            <a:avLst/>
          </a:prstGeom>
          <a:solidFill>
            <a:srgbClr val="AC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6319F089-B44C-429C-A121-B3CBDF7EF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6646" y="4918091"/>
            <a:ext cx="2018445" cy="1464076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09092D30-4615-4967-ACEF-7F196C2CCA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1687" y="4928498"/>
            <a:ext cx="2018445" cy="138540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1C5758E4-0E8B-4B7D-B94B-600390D6F3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7992" y="4918091"/>
            <a:ext cx="2018445" cy="1385408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4804C072-5F72-4E4C-B0B1-84E12A19D2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8103" y="4951338"/>
            <a:ext cx="2033375" cy="1392010"/>
          </a:xfrm>
          <a:prstGeom prst="rect">
            <a:avLst/>
          </a:prstGeom>
        </p:spPr>
      </p:pic>
      <p:sp>
        <p:nvSpPr>
          <p:cNvPr id="38" name="실행 단추: 홈 8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2BAFFE41-BFF8-478B-A5E8-19044DCF866A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A5B4F0-A9CA-41FD-BCA0-84B28F8804F5}"/>
              </a:ext>
            </a:extLst>
          </p:cNvPr>
          <p:cNvSpPr txBox="1"/>
          <p:nvPr/>
        </p:nvSpPr>
        <p:spPr>
          <a:xfrm>
            <a:off x="107999" y="72000"/>
            <a:ext cx="9882782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NND Dryer </a:t>
            </a:r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전극 표면온도 관리 모형 개발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(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910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466037"/>
            <a:ext cx="9790981" cy="421526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모형 현장 적용 결과 및 개선점 파악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E31FFE-BB26-4DD4-8DCE-EB62F9520588}"/>
              </a:ext>
            </a:extLst>
          </p:cNvPr>
          <p:cNvSpPr/>
          <p:nvPr/>
        </p:nvSpPr>
        <p:spPr>
          <a:xfrm>
            <a:off x="325207" y="974895"/>
            <a:ext cx="9634209" cy="1103507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marL="90488" indent="-904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현장적용 결과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: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테스트 결과가 좋았던 모형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Top2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 현장적용하여 평가 진행함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평균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씩 적용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모형제어방향성이 음수인것은 적용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현장적용 테스트 결과 모형의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Mape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실제 현장에서 제어 결과인 목표온도 </a:t>
            </a:r>
            <a:r>
              <a:rPr lang="ko-KR" altLang="en-US" sz="1100" b="1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달성률은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일치하지 않는 것으로 확인됨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실제 목표 온도 달성률은 </a:t>
            </a:r>
            <a:r>
              <a:rPr lang="en-US" altLang="ko-KR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93%</a:t>
            </a:r>
            <a:r>
              <a:rPr lang="ko-KR" altLang="en-US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이상인데 그에 </a:t>
            </a:r>
            <a:r>
              <a:rPr lang="ko-KR" altLang="en-US" sz="1100" u="sng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못미치는</a:t>
            </a:r>
            <a:r>
              <a:rPr lang="en-US" altLang="ko-KR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결과를 확인하였으므로</a:t>
            </a:r>
            <a:r>
              <a:rPr lang="en-US" altLang="ko-KR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개선이 필요함 </a:t>
            </a:r>
            <a:endParaRPr lang="en-US" altLang="ko-KR" sz="1100" u="sng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C662403F-623D-4253-978E-57FC441F7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097504"/>
              </p:ext>
            </p:extLst>
          </p:nvPr>
        </p:nvGraphicFramePr>
        <p:xfrm>
          <a:off x="529061" y="2124569"/>
          <a:ext cx="7030013" cy="720240"/>
        </p:xfrm>
        <a:graphic>
          <a:graphicData uri="http://schemas.openxmlformats.org/drawingml/2006/table">
            <a:tbl>
              <a:tblPr/>
              <a:tblGrid>
                <a:gridCol w="1408381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135802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  <a:gridCol w="1155892">
                  <a:extLst>
                    <a:ext uri="{9D8B030D-6E8A-4147-A177-3AD203B41FA5}">
                      <a16:colId xmlns:a16="http://schemas.microsoft.com/office/drawing/2014/main" val="642744956"/>
                    </a:ext>
                  </a:extLst>
                </a:gridCol>
                <a:gridCol w="1487720">
                  <a:extLst>
                    <a:ext uri="{9D8B030D-6E8A-4147-A177-3AD203B41FA5}">
                      <a16:colId xmlns:a16="http://schemas.microsoft.com/office/drawing/2014/main" val="94345705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99932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Multivariate Linear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LSTM_With_Attention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(5/11~14, 24</a:t>
                      </a:r>
                      <a:r>
                        <a:rPr lang="ko-KR" altLang="en-US" sz="9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LSTM_With_Transformer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(5/15~18, 30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목표온도 달성률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미적용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미적용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30.22%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52.43%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8724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978FC3B-E7DF-4A74-9507-CE444D2A6B08}"/>
                  </a:ext>
                </a:extLst>
              </p:cNvPr>
              <p:cNvSpPr/>
              <p:nvPr/>
            </p:nvSpPr>
            <p:spPr>
              <a:xfrm>
                <a:off x="6914093" y="679361"/>
                <a:ext cx="2584362" cy="416461"/>
              </a:xfrm>
              <a:prstGeom prst="rect">
                <a:avLst/>
              </a:prstGeom>
              <a:ln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1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※</a:t>
                </a:r>
                <a:r>
                  <a:rPr lang="ko-KR" altLang="en-US" sz="11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목표온도 달성률 </a:t>
                </a:r>
                <a:r>
                  <a:rPr lang="en-US" altLang="ko-KR" sz="11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fPr>
                      <m:num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목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표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온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도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타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겟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인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비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율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</m:num>
                      <m:den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재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가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동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횟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수</m:t>
                        </m:r>
                      </m:den>
                    </m:f>
                  </m:oMath>
                </a14:m>
                <a:endPara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978FC3B-E7DF-4A74-9507-CE444D2A6B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093" y="679361"/>
                <a:ext cx="2584362" cy="416461"/>
              </a:xfrm>
              <a:prstGeom prst="rect">
                <a:avLst/>
              </a:prstGeom>
              <a:blipFill>
                <a:blip r:embed="rId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직사각형 14">
            <a:extLst>
              <a:ext uri="{FF2B5EF4-FFF2-40B4-BE49-F238E27FC236}">
                <a16:creationId xmlns:a16="http://schemas.microsoft.com/office/drawing/2014/main" id="{03DD1969-ACBE-4152-8352-4F89E188C095}"/>
              </a:ext>
            </a:extLst>
          </p:cNvPr>
          <p:cNvSpPr/>
          <p:nvPr/>
        </p:nvSpPr>
        <p:spPr>
          <a:xfrm>
            <a:off x="7800080" y="1128783"/>
            <a:ext cx="1617751" cy="215444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목표온도 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: </a:t>
            </a:r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기준 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110</a:t>
            </a:r>
            <a:r>
              <a:rPr kumimoji="1" lang="en-US" altLang="ko-KR" sz="8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±10 °C</a:t>
            </a:r>
            <a:endParaRPr lang="ko-KR" alt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6E563F0-DB92-4D22-9906-0F53AF10F6C0}"/>
              </a:ext>
            </a:extLst>
          </p:cNvPr>
          <p:cNvSpPr/>
          <p:nvPr/>
        </p:nvSpPr>
        <p:spPr>
          <a:xfrm>
            <a:off x="325207" y="3089954"/>
            <a:ext cx="9634209" cy="1103507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marL="90488" indent="-904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목표온도 미달 원인 분석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MAPE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낮다고 제어 방향성이 더 좋다고 보여지지 않음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목표온도를 높이라고 했을 때 출력이 오히려 떨어지는 경향도 보임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(Multivariate Linear Regression)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모형의 학습 시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함수를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MAE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및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MSE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주어진 데이터에 정답만 학습이 가능하지 제어 방향성을 반영하여 학습하지 못함</a:t>
            </a:r>
            <a:r>
              <a:rPr lang="en-US" altLang="ko-KR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타겟온도가 오르면 출력도 올라야 함</a:t>
            </a:r>
            <a:r>
              <a:rPr lang="en-US" altLang="ko-KR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따라서 제어방향성에 대한 정보까지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함수에 반영시켜 학습을 진행해야 함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이에 따라 기존 상용 알고리즘이 아닌 신규 알고리즘 개발이 필요함 </a:t>
            </a:r>
            <a:endParaRPr lang="en-US" altLang="ko-KR" sz="1100" b="1" u="sng" dirty="0">
              <a:solidFill>
                <a:srgbClr val="0D24F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8A2FF311-1632-4C4D-BE30-7E2D4716F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3923"/>
              </p:ext>
            </p:extLst>
          </p:nvPr>
        </p:nvGraphicFramePr>
        <p:xfrm>
          <a:off x="606311" y="4193206"/>
          <a:ext cx="9126814" cy="2287773"/>
        </p:xfrm>
        <a:graphic>
          <a:graphicData uri="http://schemas.openxmlformats.org/drawingml/2006/table">
            <a:tbl>
              <a:tblPr/>
              <a:tblGrid>
                <a:gridCol w="774814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642744956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943457052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99932252"/>
                    </a:ext>
                  </a:extLst>
                </a:gridCol>
              </a:tblGrid>
              <a:tr h="2267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Multivariate Linear Regression</a:t>
                      </a:r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LSTM_With_Attention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LSTM_With_Transformer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MAPE</a:t>
                      </a:r>
                    </a:p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917329"/>
                  </a:ext>
                </a:extLst>
              </a:tr>
              <a:tr h="153993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방향성 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시뮬레이션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827581"/>
                  </a:ext>
                </a:extLst>
              </a:tr>
            </a:tbl>
          </a:graphicData>
        </a:graphic>
      </p:graphicFrame>
      <p:pic>
        <p:nvPicPr>
          <p:cNvPr id="32" name="그림 31">
            <a:extLst>
              <a:ext uri="{FF2B5EF4-FFF2-40B4-BE49-F238E27FC236}">
                <a16:creationId xmlns:a16="http://schemas.microsoft.com/office/drawing/2014/main" id="{5B88F5BF-879C-47F8-8E2C-AB3313E7B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365" y="4971038"/>
            <a:ext cx="2018445" cy="1464076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5F1B1FB3-C9D0-4E0A-94F6-FF0BFD1608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5739" y="4999965"/>
            <a:ext cx="2018445" cy="138540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C69ECD23-EB80-42BF-A58F-EAE454D6AA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762" y="5010372"/>
            <a:ext cx="2018445" cy="1385408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66443F7C-E276-4358-A03A-495D57DD7C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5817" y="4999965"/>
            <a:ext cx="2033375" cy="1392010"/>
          </a:xfrm>
          <a:prstGeom prst="rect">
            <a:avLst/>
          </a:prstGeom>
        </p:spPr>
      </p:pic>
      <p:sp>
        <p:nvSpPr>
          <p:cNvPr id="36" name="실행 단추: 홈 8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2AA949BA-8404-4CE4-AA23-5EF3C7D61FB6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1D9713-75B2-4937-A776-183709F998A2}"/>
              </a:ext>
            </a:extLst>
          </p:cNvPr>
          <p:cNvSpPr txBox="1"/>
          <p:nvPr/>
        </p:nvSpPr>
        <p:spPr>
          <a:xfrm>
            <a:off x="107999" y="72000"/>
            <a:ext cx="9882782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NND Dryer </a:t>
            </a:r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전극 표면온도 관리 모형 개발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(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162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466037"/>
            <a:ext cx="9790981" cy="331699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개선아이디어 도출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신규모형 개발아이디어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모형의 제어방향성이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MAPE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일치하지 않기 때문에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매번 제어시뮬레이션을 하며 하이퍼 파라미터를 튜닝하는데 시간이 많이 소요됨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또한 제어방향성이 나온다고 하더라도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현장적용 하기 전까지 출력 </a:t>
            </a:r>
            <a:r>
              <a:rPr lang="ko-KR" altLang="en-US" sz="1100" b="1" u="sng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상승폭에대한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기울기가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어느정도 되어야하는 알 수 없음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아이디어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예측 모형을 통해 사전 검증을 해보자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출력예측에 기대온도를 넣어 얻은 출력값을 온도 예측 모형에 넣었을 때 목표온도 수준이 나오면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OK </a:t>
            </a:r>
          </a:p>
          <a:p>
            <a:pPr marL="85725"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이를 통해 현장에 적용하지 않아도 사전에 확인을 해볼 수 있음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하지만 테스트 결과 온도 예측모형도 외삽 및 희귀데이터에 취약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아이디어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외삽이 안 되는거면 외삽이 잘 되도록 우리가 외삽에 대해 잘 맞출 수 있는 정보를 주면 될 것 같음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외삽에 대한 제어방향성을 학습할 수 있는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값을 만들어 학습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아이디어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제어방향성 까지 학습 시켰는데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기울기는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어느 정도 줘야되는지 정보는 어떻게 줄 수 있을까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예측모형의 도움을 받으면 될 것 같음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예측모형에서 추론한 출력 값을 온도 예측 모형에 넣어서 예측되는 온도와 기대온도의 차이를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값에 반영하여 학습 진행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▶ 결론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아이디어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1,2,3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결합하여 위의 여러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감소되어 학습한 모형은 외삽 및 희소데이터에 대해 강건할 확률이 높을 것으로 판단하여 모형개발 진행함 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978FC3B-E7DF-4A74-9507-CE444D2A6B08}"/>
                  </a:ext>
                </a:extLst>
              </p:cNvPr>
              <p:cNvSpPr/>
              <p:nvPr/>
            </p:nvSpPr>
            <p:spPr>
              <a:xfrm>
                <a:off x="6914093" y="679361"/>
                <a:ext cx="2584362" cy="416461"/>
              </a:xfrm>
              <a:prstGeom prst="rect">
                <a:avLst/>
              </a:prstGeom>
              <a:ln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1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※</a:t>
                </a:r>
                <a:r>
                  <a:rPr lang="ko-KR" altLang="en-US" sz="11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목표온도 달성률 </a:t>
                </a:r>
                <a:r>
                  <a:rPr lang="en-US" altLang="ko-KR" sz="11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fPr>
                      <m:num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목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표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온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도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타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겟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인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비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율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</m:num>
                      <m:den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재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가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동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횟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수</m:t>
                        </m:r>
                      </m:den>
                    </m:f>
                  </m:oMath>
                </a14:m>
                <a:endPara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978FC3B-E7DF-4A74-9507-CE444D2A6B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093" y="679361"/>
                <a:ext cx="2584362" cy="416461"/>
              </a:xfrm>
              <a:prstGeom prst="rect">
                <a:avLst/>
              </a:prstGeom>
              <a:blipFill>
                <a:blip r:embed="rId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직사각형 19">
            <a:extLst>
              <a:ext uri="{FF2B5EF4-FFF2-40B4-BE49-F238E27FC236}">
                <a16:creationId xmlns:a16="http://schemas.microsoft.com/office/drawing/2014/main" id="{27A472BB-0045-4386-8399-E649DCCC9B16}"/>
              </a:ext>
            </a:extLst>
          </p:cNvPr>
          <p:cNvSpPr/>
          <p:nvPr/>
        </p:nvSpPr>
        <p:spPr>
          <a:xfrm>
            <a:off x="267779" y="4260734"/>
            <a:ext cx="9370441" cy="2247346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방법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예측모형과 온도 예측모형을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교차 학습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수집된 데이터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 방향성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Loss,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시뮬레이션 결과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등을 각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Step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따라 반영하여 모든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수렴하도록 학습을 유도함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총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단계로 학습이 진행되며 매 단계마다 학습 진행</a:t>
            </a:r>
            <a:r>
              <a:rPr lang="en-US" altLang="ko-KR" sz="90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단계마다 학습을 진행하는 이유는 미세 튜닝을 하기위함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예측모형 과 온도 예측모형이 학습이 완료되면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최적 제어값을 추론할 때는 출력 예측모형만을 사용해서 추론 진행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네트워크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예측모형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출력예측모형 모두 </a:t>
            </a:r>
            <a:r>
              <a:rPr lang="en-US" altLang="ko-KR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DNN </a:t>
            </a:r>
            <a:r>
              <a:rPr lang="ko-KR" altLang="en-US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구조의 </a:t>
            </a:r>
            <a:r>
              <a:rPr lang="en-US" altLang="ko-KR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Neural Network </a:t>
            </a:r>
            <a:r>
              <a:rPr lang="ko-KR" altLang="en-US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</a:t>
            </a:r>
            <a:endParaRPr lang="en-US" altLang="ko-KR" sz="105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1BAACAE-B440-4E59-B239-5E00BC1D1CD1}"/>
              </a:ext>
            </a:extLst>
          </p:cNvPr>
          <p:cNvSpPr/>
          <p:nvPr/>
        </p:nvSpPr>
        <p:spPr>
          <a:xfrm>
            <a:off x="1297997" y="5495926"/>
            <a:ext cx="827015" cy="373902"/>
          </a:xfrm>
          <a:prstGeom prst="rect">
            <a:avLst/>
          </a:prstGeom>
          <a:solidFill>
            <a:srgbClr val="009C3C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E2E8F0"/>
                </a:solidFill>
              </a:rPr>
              <a:t>출력 예측모형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BD09E7B-9E36-4C08-A4F6-7944A9AB6017}"/>
              </a:ext>
            </a:extLst>
          </p:cNvPr>
          <p:cNvSpPr/>
          <p:nvPr/>
        </p:nvSpPr>
        <p:spPr>
          <a:xfrm>
            <a:off x="2746845" y="5495927"/>
            <a:ext cx="827015" cy="377268"/>
          </a:xfrm>
          <a:prstGeom prst="rect">
            <a:avLst/>
          </a:prstGeom>
          <a:solidFill>
            <a:srgbClr val="009C3C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rgbClr val="E2E8F0"/>
                </a:solidFill>
              </a:rPr>
              <a:t>온도 </a:t>
            </a:r>
            <a:r>
              <a:rPr lang="ko-KR" altLang="en-US" sz="900" dirty="0">
                <a:solidFill>
                  <a:srgbClr val="E2E8F0"/>
                </a:solidFill>
              </a:rPr>
              <a:t>예측모형</a:t>
            </a: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96EF0F74-DEFE-4842-A56B-ED215B8EC9BE}"/>
              </a:ext>
            </a:extLst>
          </p:cNvPr>
          <p:cNvCxnSpPr>
            <a:cxnSpLocks/>
            <a:stCxn id="23" idx="0"/>
            <a:endCxn id="22" idx="0"/>
          </p:cNvCxnSpPr>
          <p:nvPr/>
        </p:nvCxnSpPr>
        <p:spPr>
          <a:xfrm rot="16200000" flipV="1">
            <a:off x="2435929" y="4771503"/>
            <a:ext cx="1" cy="1448848"/>
          </a:xfrm>
          <a:prstGeom prst="bentConnector3">
            <a:avLst>
              <a:gd name="adj1" fmla="val 2286010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1CF511C8-47F1-43DE-9D64-8BF49C51F95E}"/>
              </a:ext>
            </a:extLst>
          </p:cNvPr>
          <p:cNvCxnSpPr>
            <a:cxnSpLocks/>
            <a:stCxn id="22" idx="2"/>
            <a:endCxn id="23" idx="2"/>
          </p:cNvCxnSpPr>
          <p:nvPr/>
        </p:nvCxnSpPr>
        <p:spPr>
          <a:xfrm rot="16200000" flipH="1">
            <a:off x="2434246" y="5147087"/>
            <a:ext cx="3367" cy="1448848"/>
          </a:xfrm>
          <a:prstGeom prst="bentConnector3">
            <a:avLst>
              <a:gd name="adj1" fmla="val 6889427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61A5411-574D-40F7-948E-8E0E83338655}"/>
              </a:ext>
            </a:extLst>
          </p:cNvPr>
          <p:cNvSpPr/>
          <p:nvPr/>
        </p:nvSpPr>
        <p:spPr>
          <a:xfrm>
            <a:off x="1097232" y="5210176"/>
            <a:ext cx="2617366" cy="942974"/>
          </a:xfrm>
          <a:prstGeom prst="rect">
            <a:avLst/>
          </a:prstGeom>
          <a:noFill/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F4D06F-696A-4B53-B466-9D18B234F0EE}"/>
              </a:ext>
            </a:extLst>
          </p:cNvPr>
          <p:cNvSpPr txBox="1"/>
          <p:nvPr/>
        </p:nvSpPr>
        <p:spPr>
          <a:xfrm>
            <a:off x="1082581" y="5205248"/>
            <a:ext cx="798829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시 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7FE1C9A-37BF-499F-99BC-4C45AC51F4C9}"/>
              </a:ext>
            </a:extLst>
          </p:cNvPr>
          <p:cNvSpPr/>
          <p:nvPr/>
        </p:nvSpPr>
        <p:spPr>
          <a:xfrm>
            <a:off x="4902785" y="5606602"/>
            <a:ext cx="827015" cy="379957"/>
          </a:xfrm>
          <a:prstGeom prst="rect">
            <a:avLst/>
          </a:prstGeom>
          <a:solidFill>
            <a:srgbClr val="009C3C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E2E8F0"/>
                </a:solidFill>
              </a:rPr>
              <a:t>출력 예측모형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3DFA178-8F16-4B9E-8131-5923082B716C}"/>
              </a:ext>
            </a:extLst>
          </p:cNvPr>
          <p:cNvSpPr/>
          <p:nvPr/>
        </p:nvSpPr>
        <p:spPr>
          <a:xfrm>
            <a:off x="3996852" y="5210176"/>
            <a:ext cx="2617366" cy="942974"/>
          </a:xfrm>
          <a:prstGeom prst="rect">
            <a:avLst/>
          </a:prstGeom>
          <a:noFill/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BE46E0-06DB-4609-963C-E175C9839BD9}"/>
              </a:ext>
            </a:extLst>
          </p:cNvPr>
          <p:cNvSpPr txBox="1"/>
          <p:nvPr/>
        </p:nvSpPr>
        <p:spPr>
          <a:xfrm>
            <a:off x="3996852" y="5173173"/>
            <a:ext cx="1511922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추론 시 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BD3FC739-3A08-4A4C-92C5-08B0E91B1840}"/>
              </a:ext>
            </a:extLst>
          </p:cNvPr>
          <p:cNvCxnSpPr>
            <a:cxnSpLocks/>
            <a:stCxn id="40" idx="3"/>
            <a:endCxn id="35" idx="1"/>
          </p:cNvCxnSpPr>
          <p:nvPr/>
        </p:nvCxnSpPr>
        <p:spPr>
          <a:xfrm>
            <a:off x="4642822" y="5792747"/>
            <a:ext cx="259963" cy="383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D95534D9-2C77-44D9-8058-FA9D26FA975D}"/>
              </a:ext>
            </a:extLst>
          </p:cNvPr>
          <p:cNvCxnSpPr>
            <a:cxnSpLocks/>
            <a:stCxn id="35" idx="3"/>
            <a:endCxn id="41" idx="1"/>
          </p:cNvCxnSpPr>
          <p:nvPr/>
        </p:nvCxnSpPr>
        <p:spPr>
          <a:xfrm>
            <a:off x="5729800" y="5796581"/>
            <a:ext cx="214858" cy="560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0B72A28-DD01-46A1-96CE-4C247FFF8114}"/>
              </a:ext>
            </a:extLst>
          </p:cNvPr>
          <p:cNvSpPr/>
          <p:nvPr/>
        </p:nvSpPr>
        <p:spPr>
          <a:xfrm>
            <a:off x="4072845" y="5665703"/>
            <a:ext cx="569977" cy="254087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E2E8F0"/>
                </a:solidFill>
              </a:rPr>
              <a:t>입력값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EFA903A-184A-457A-B92F-35FB0E41F235}"/>
              </a:ext>
            </a:extLst>
          </p:cNvPr>
          <p:cNvSpPr/>
          <p:nvPr/>
        </p:nvSpPr>
        <p:spPr>
          <a:xfrm>
            <a:off x="5944658" y="5681130"/>
            <a:ext cx="615083" cy="24210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E2E8F0"/>
                </a:solidFill>
              </a:rPr>
              <a:t>출력 값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749EDD-9CFE-457A-8CE2-81AD43082C2F}"/>
              </a:ext>
            </a:extLst>
          </p:cNvPr>
          <p:cNvSpPr/>
          <p:nvPr/>
        </p:nvSpPr>
        <p:spPr>
          <a:xfrm>
            <a:off x="263931" y="3703989"/>
            <a:ext cx="9456156" cy="572593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marL="85725"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과정에서 기존 데이터 학습 셋 및 외삽을 가정한 데이터를 생성하고 온도예측모형에서 검증을 하며 학습이 이루어지는 모형으로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GCLN(Generate Co-    </a:t>
            </a:r>
          </a:p>
          <a:p>
            <a:pPr marL="85725">
              <a:lnSpc>
                <a:spcPct val="150000"/>
              </a:lnSpc>
            </a:pP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work-Learning </a:t>
            </a:r>
            <a:r>
              <a:rPr lang="en-US" altLang="ko-KR" sz="1100" b="1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Nework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라고 이름을 명명함 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BCB69F2-2020-4C81-BD00-256EBDF5E36B}"/>
              </a:ext>
            </a:extLst>
          </p:cNvPr>
          <p:cNvSpPr/>
          <p:nvPr/>
        </p:nvSpPr>
        <p:spPr>
          <a:xfrm>
            <a:off x="185913" y="3443775"/>
            <a:ext cx="1717137" cy="339260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pPr marL="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신규모형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(GCLN)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설명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9340BA-E944-4C95-8040-D67B3D17F900}"/>
              </a:ext>
            </a:extLst>
          </p:cNvPr>
          <p:cNvSpPr txBox="1"/>
          <p:nvPr/>
        </p:nvSpPr>
        <p:spPr>
          <a:xfrm>
            <a:off x="107999" y="72000"/>
            <a:ext cx="9882782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NND Dryer </a:t>
            </a:r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전극 표면온도 관리 모형 개발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(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734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466037"/>
            <a:ext cx="9790981" cy="96500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신규 모형 개발 및 현장적용 결과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신규모형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(GCLN)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결과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-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상용 알고리즘과 동일한 데이터 셋으로 학습 진행 후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GM1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호기에 적용한 결과</a:t>
            </a:r>
            <a:r>
              <a:rPr lang="en-US" altLang="ko-KR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약 </a:t>
            </a:r>
            <a:r>
              <a:rPr lang="en-US" altLang="ko-KR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50</a:t>
            </a:r>
            <a:r>
              <a:rPr lang="ko-KR" altLang="en-US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  <a:r>
              <a:rPr lang="en-US" altLang="ko-KR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 온도 </a:t>
            </a:r>
            <a:r>
              <a:rPr lang="ko-KR" altLang="en-US" sz="1100" b="1" u="sng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달성률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99.3%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수준 확보함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978FC3B-E7DF-4A74-9507-CE444D2A6B08}"/>
                  </a:ext>
                </a:extLst>
              </p:cNvPr>
              <p:cNvSpPr/>
              <p:nvPr/>
            </p:nvSpPr>
            <p:spPr>
              <a:xfrm>
                <a:off x="6914093" y="679361"/>
                <a:ext cx="2584362" cy="416461"/>
              </a:xfrm>
              <a:prstGeom prst="rect">
                <a:avLst/>
              </a:prstGeom>
              <a:ln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1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※</a:t>
                </a:r>
                <a:r>
                  <a:rPr lang="ko-KR" altLang="en-US" sz="11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목표온도 달성률 </a:t>
                </a:r>
                <a:r>
                  <a:rPr lang="en-US" altLang="ko-KR" sz="11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fPr>
                      <m:num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목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표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온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도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타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겟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인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비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율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</m:num>
                      <m:den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재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가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동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횟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수</m:t>
                        </m:r>
                      </m:den>
                    </m:f>
                  </m:oMath>
                </a14:m>
                <a:endPara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978FC3B-E7DF-4A74-9507-CE444D2A6B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093" y="679361"/>
                <a:ext cx="2584362" cy="416461"/>
              </a:xfrm>
              <a:prstGeom prst="rect">
                <a:avLst/>
              </a:prstGeom>
              <a:blipFill>
                <a:blip r:embed="rId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42A7806E-1C8F-4C22-AB80-7F52021A1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113044"/>
              </p:ext>
            </p:extLst>
          </p:nvPr>
        </p:nvGraphicFramePr>
        <p:xfrm>
          <a:off x="389958" y="2822496"/>
          <a:ext cx="3100381" cy="1848000"/>
        </p:xfrm>
        <a:graphic>
          <a:graphicData uri="http://schemas.openxmlformats.org/drawingml/2006/table">
            <a:tbl>
              <a:tblPr/>
              <a:tblGrid>
                <a:gridCol w="571086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837295">
                  <a:extLst>
                    <a:ext uri="{9D8B030D-6E8A-4147-A177-3AD203B41FA5}">
                      <a16:colId xmlns:a16="http://schemas.microsoft.com/office/drawing/2014/main" val="2092513496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</a:tblGrid>
              <a:tr h="251798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GCLN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(8/30~10/16, 572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121920">
                <a:tc rowSpan="3"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MAEP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82758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1.13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184228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2.07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697679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 방향 시뮬레이션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상관계수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8724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목표온도 달성률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581767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AF36B874-C0BE-4ABA-8DE0-867F0CDCE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14032"/>
              </p:ext>
            </p:extLst>
          </p:nvPr>
        </p:nvGraphicFramePr>
        <p:xfrm>
          <a:off x="389958" y="1808256"/>
          <a:ext cx="8824980" cy="5295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64980">
                  <a:extLst>
                    <a:ext uri="{9D8B030D-6E8A-4147-A177-3AD203B41FA5}">
                      <a16:colId xmlns:a16="http://schemas.microsoft.com/office/drawing/2014/main" val="2553320181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4187970287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15770504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E2E8F0"/>
                          </a:solidFill>
                        </a:rPr>
                        <a:t>Train Set</a:t>
                      </a:r>
                      <a:endParaRPr lang="ko-KR" altLang="en-US" sz="10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Validation Set</a:t>
                      </a:r>
                      <a:endParaRPr lang="ko-KR" altLang="en-US" sz="10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Test set</a:t>
                      </a:r>
                      <a:endParaRPr lang="ko-KR" altLang="en-US" sz="10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597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재가동 케이스 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750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(240319~240413, 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약 한달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</a:p>
                  </a:txBody>
                  <a:tcPr marL="95250" marR="95250" marT="66675" marB="66675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재가동 케이스 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250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(240414~240428, 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약 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재가동 케이스 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250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(240429~240510, 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약 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</a:t>
                      </a: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20007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1F9332E2-303B-4120-B957-0EE5D8C6AF69}"/>
              </a:ext>
            </a:extLst>
          </p:cNvPr>
          <p:cNvSpPr/>
          <p:nvPr/>
        </p:nvSpPr>
        <p:spPr>
          <a:xfrm>
            <a:off x="284051" y="1551655"/>
            <a:ext cx="1144865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 셋 정보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4FF8490-7CBC-4C4B-9E19-F73AE0ACFB94}"/>
              </a:ext>
            </a:extLst>
          </p:cNvPr>
          <p:cNvSpPr/>
          <p:nvPr/>
        </p:nvSpPr>
        <p:spPr>
          <a:xfrm>
            <a:off x="312792" y="2568580"/>
            <a:ext cx="1544012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및 현장적용 결과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F565C32-4421-410B-8927-3B8C2C575518}"/>
              </a:ext>
            </a:extLst>
          </p:cNvPr>
          <p:cNvSpPr/>
          <p:nvPr/>
        </p:nvSpPr>
        <p:spPr>
          <a:xfrm>
            <a:off x="3687505" y="2568580"/>
            <a:ext cx="1866217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제어방향성 시뮬레이션 결과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DBBDB2E0-DC4F-44EF-A55F-0E86BB07F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300" y="2822496"/>
            <a:ext cx="3139793" cy="19400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C21B2AF5-28A5-450D-AA96-5526396E06E4}"/>
              </a:ext>
            </a:extLst>
          </p:cNvPr>
          <p:cNvSpPr txBox="1"/>
          <p:nvPr/>
        </p:nvSpPr>
        <p:spPr>
          <a:xfrm>
            <a:off x="107999" y="72000"/>
            <a:ext cx="9882782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NND Dryer </a:t>
            </a:r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전극 표면온도 관리 모형 개발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(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027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FBFC0E9-A8AA-4A8A-8BB8-791DA2505FE6}"/>
              </a:ext>
            </a:extLst>
          </p:cNvPr>
          <p:cNvSpPr txBox="1"/>
          <p:nvPr/>
        </p:nvSpPr>
        <p:spPr>
          <a:xfrm>
            <a:off x="6431161" y="158260"/>
            <a:ext cx="3359819" cy="307777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EDA </a:t>
            </a:r>
            <a:r>
              <a:rPr lang="ko-KR" altLang="en-US" sz="14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결과서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115019" y="466037"/>
            <a:ext cx="9790981" cy="708592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성과 및 향후계획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성과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부동 후 재가동 시 선속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대응 모형 개발 완료함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목표온도 관리 달성률 </a:t>
            </a:r>
            <a:r>
              <a:rPr lang="en-US" altLang="ko-KR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3.78%</a:t>
            </a:r>
            <a:r>
              <a:rPr lang="ko-KR" altLang="en-US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</a:t>
            </a:r>
            <a:r>
              <a:rPr lang="en-US" altLang="ko-KR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100%</a:t>
            </a:r>
            <a:r>
              <a:rPr lang="ko-KR" altLang="en-US" sz="12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향상 완료함</a:t>
            </a:r>
            <a:endParaRPr lang="en-US" altLang="ko-KR" sz="1200" b="1" u="sng" dirty="0">
              <a:solidFill>
                <a:srgbClr val="0D24F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FC780F6-EFF4-417D-A784-A0E1167D1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704051"/>
              </p:ext>
            </p:extLst>
          </p:nvPr>
        </p:nvGraphicFramePr>
        <p:xfrm>
          <a:off x="365125" y="1528572"/>
          <a:ext cx="7128000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64000">
                  <a:extLst>
                    <a:ext uri="{9D8B030D-6E8A-4147-A177-3AD203B41FA5}">
                      <a16:colId xmlns:a16="http://schemas.microsoft.com/office/drawing/2014/main" val="1740910677"/>
                    </a:ext>
                  </a:extLst>
                </a:gridCol>
                <a:gridCol w="3564000">
                  <a:extLst>
                    <a:ext uri="{9D8B030D-6E8A-4147-A177-3AD203B41FA5}">
                      <a16:colId xmlns:a16="http://schemas.microsoft.com/office/drawing/2014/main" val="9421263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금액</a:t>
                      </a:r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정석적 효과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938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약 </a:t>
                      </a:r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0.3</a:t>
                      </a:r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억원</a:t>
                      </a:r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</a:t>
                      </a:r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(gm2 </a:t>
                      </a:r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음극 </a:t>
                      </a:r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 라인 기준</a:t>
                      </a:r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※ GM2 1</a:t>
                      </a:r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 기준</a:t>
                      </a:r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온도편차 감소를 통한 </a:t>
                      </a:r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BM</a:t>
                      </a:r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랑 저감에 따른 재무성과</a:t>
                      </a:r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</a:t>
                      </a:r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를 산출함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품질 </a:t>
                      </a:r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Risk </a:t>
                      </a:r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감소에 기여</a:t>
                      </a:r>
                      <a:endParaRPr lang="en-US" altLang="ko-KR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 온도보다 고온에서 건조 시 </a:t>
                      </a:r>
                      <a:r>
                        <a:rPr lang="ko-KR" altLang="en-US" sz="1200" dirty="0" err="1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열주름</a:t>
                      </a:r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탈리</a:t>
                      </a:r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등의 품질 불량 발생 가능성 존재</a:t>
                      </a:r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757348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7A3AEB-9893-4B9B-A916-1EB9376E90FF}"/>
              </a:ext>
            </a:extLst>
          </p:cNvPr>
          <p:cNvSpPr/>
          <p:nvPr/>
        </p:nvSpPr>
        <p:spPr>
          <a:xfrm>
            <a:off x="365125" y="1274656"/>
            <a:ext cx="1822935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정량적 성과 및 정성적 성과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B0EECDE-5C44-46D3-883B-DEE20A83B6A5}"/>
              </a:ext>
            </a:extLst>
          </p:cNvPr>
          <p:cNvSpPr/>
          <p:nvPr/>
        </p:nvSpPr>
        <p:spPr>
          <a:xfrm>
            <a:off x="115019" y="2847269"/>
            <a:ext cx="5619031" cy="339260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marL="171450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향후 계획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선속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800mm/s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대응모형 추가 개발 및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GM2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확산전개 예정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08C4E9-1F9A-426F-B527-15744E8F499B}"/>
              </a:ext>
            </a:extLst>
          </p:cNvPr>
          <p:cNvSpPr txBox="1"/>
          <p:nvPr/>
        </p:nvSpPr>
        <p:spPr>
          <a:xfrm>
            <a:off x="107999" y="72000"/>
            <a:ext cx="8846219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상세내용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NND Dryer </a:t>
            </a:r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전극 표면온도 관리 강화 모형 개발 결과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(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음극 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300mm/s)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3DCAE2-1AEC-425B-8B14-E1306EBFC056}"/>
              </a:ext>
            </a:extLst>
          </p:cNvPr>
          <p:cNvSpPr/>
          <p:nvPr/>
        </p:nvSpPr>
        <p:spPr>
          <a:xfrm>
            <a:off x="365125" y="2535379"/>
            <a:ext cx="2184893" cy="276999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E2E8F0"/>
                </a:solidFill>
                <a:latin typeface="LG"/>
              </a:rPr>
              <a:t>* BM : Breakdown Maintenance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81801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AutoShape 12" descr="sdc_bar_plot.png (260×183)">
            <a:extLst>
              <a:ext uri="{FF2B5EF4-FFF2-40B4-BE49-F238E27FC236}">
                <a16:creationId xmlns:a16="http://schemas.microsoft.com/office/drawing/2014/main" id="{0053D8DA-8131-42A3-A337-5CC985AC9B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4285" y="271096"/>
            <a:ext cx="281354" cy="2813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ko-KR" altLang="en-US" sz="1662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CD0F00-CDF1-44E7-9D1E-CE1003D5480D}"/>
              </a:ext>
            </a:extLst>
          </p:cNvPr>
          <p:cNvSpPr txBox="1"/>
          <p:nvPr/>
        </p:nvSpPr>
        <p:spPr>
          <a:xfrm>
            <a:off x="144000" y="508888"/>
            <a:ext cx="9691425" cy="584775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NND Dryer </a:t>
            </a:r>
            <a:r>
              <a:rPr lang="ko-KR" altLang="en-US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부동 후 재가동 시</a:t>
            </a:r>
            <a:r>
              <a:rPr lang="en-US" altLang="ko-KR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OUT Zone </a:t>
            </a:r>
            <a:r>
              <a:rPr lang="ko-KR" altLang="en-US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 표면 온도 안정적인 관리</a:t>
            </a:r>
            <a:r>
              <a:rPr lang="en-US" altLang="ko-KR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 온도 </a:t>
            </a:r>
            <a:r>
              <a:rPr lang="en-US" altLang="ko-KR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±10℃)</a:t>
            </a:r>
            <a:r>
              <a:rPr lang="ko-KR" altLang="en-US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 어려움이 있음</a:t>
            </a:r>
            <a:r>
              <a:rPr lang="en-US" altLang="ko-KR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  <a:p>
            <a:r>
              <a:rPr lang="en-US" altLang="ko-KR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→ </a:t>
            </a:r>
            <a:r>
              <a:rPr lang="ko-KR" altLang="en-US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건조 출력 관리 모형</a:t>
            </a:r>
            <a:r>
              <a:rPr lang="en-US" altLang="ko-KR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(DX </a:t>
            </a:r>
            <a:r>
              <a:rPr lang="ko-KR" altLang="en-US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알고리즘</a:t>
            </a:r>
            <a:r>
              <a:rPr lang="en-US" altLang="ko-KR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을 개발하여 </a:t>
            </a:r>
            <a:r>
              <a:rPr lang="en-US" altLang="ko-KR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Target </a:t>
            </a:r>
            <a:r>
              <a:rPr lang="ko-KR" altLang="en-US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값 도달을 위한 건조 출력을 최적화하고자 함</a:t>
            </a:r>
            <a:r>
              <a:rPr lang="en-US" altLang="ko-KR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ko-KR" altLang="en-US" sz="16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BDC4AB63-61C4-4BA9-A119-760698540690}"/>
              </a:ext>
            </a:extLst>
          </p:cNvPr>
          <p:cNvGraphicFramePr>
            <a:graphicFrameLocks noGrp="1"/>
          </p:cNvGraphicFramePr>
          <p:nvPr/>
        </p:nvGraphicFramePr>
        <p:xfrm>
          <a:off x="345653" y="2388667"/>
          <a:ext cx="9295907" cy="3833559"/>
        </p:xfrm>
        <a:graphic>
          <a:graphicData uri="http://schemas.openxmlformats.org/drawingml/2006/table">
            <a:tbl>
              <a:tblPr firstRow="1" bandRow="1"/>
              <a:tblGrid>
                <a:gridCol w="4711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4819">
                  <a:extLst>
                    <a:ext uri="{9D8B030D-6E8A-4147-A177-3AD203B41FA5}">
                      <a16:colId xmlns:a16="http://schemas.microsoft.com/office/drawing/2014/main" val="1283172594"/>
                    </a:ext>
                  </a:extLst>
                </a:gridCol>
              </a:tblGrid>
              <a:tr h="2788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/>
                        </a:rPr>
                        <a:t>(As-is)</a:t>
                      </a:r>
                      <a:r>
                        <a:rPr lang="ko-KR" altLang="en-US" sz="1200" b="1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/>
                        </a:rPr>
                        <a:t> 전극 표면온도 제어 방법 </a:t>
                      </a:r>
                      <a:endParaRPr lang="en-US" altLang="ko-KR" sz="12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kern="120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/>
                        </a:rPr>
                        <a:t>(To-be) </a:t>
                      </a:r>
                      <a:r>
                        <a:rPr lang="ko-KR" altLang="en-US" sz="1200" b="1" kern="120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/>
                        </a:rPr>
                        <a:t>전극 표면온도 제어 방법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536376"/>
                  </a:ext>
                </a:extLst>
              </a:tr>
              <a:tr h="3554755">
                <a:tc>
                  <a:txBody>
                    <a:bodyPr/>
                    <a:lstStyle/>
                    <a:p>
                      <a:pPr algn="ctr" latinLnBrk="1"/>
                      <a:endParaRPr lang="en-US" altLang="ko-KR" sz="10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/>
                      </a:endParaRPr>
                    </a:p>
                    <a:p>
                      <a:pPr algn="ctr" latinLnBrk="1"/>
                      <a:endParaRPr lang="en-US" altLang="ko-KR" sz="1000" b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2DDB3F51-1B7F-44D0-8D59-DDD1D2B0439E}"/>
              </a:ext>
            </a:extLst>
          </p:cNvPr>
          <p:cNvSpPr/>
          <p:nvPr/>
        </p:nvSpPr>
        <p:spPr>
          <a:xfrm>
            <a:off x="6826372" y="2897446"/>
            <a:ext cx="2766991" cy="3327185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25BBE9-F22F-4134-8859-271B127B27A9}"/>
              </a:ext>
            </a:extLst>
          </p:cNvPr>
          <p:cNvSpPr txBox="1"/>
          <p:nvPr/>
        </p:nvSpPr>
        <p:spPr>
          <a:xfrm>
            <a:off x="206861" y="1252669"/>
            <a:ext cx="8617542" cy="433068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eaLnBrk="1" fontAlgn="auto" latinLnBrk="0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 sz="1400" kern="0">
                <a:solidFill>
                  <a:sysClr val="windowText" lastClr="000000"/>
                </a:solidFill>
                <a:latin typeface="LG스마트체 Regular" pitchFamily="50" charset="-127"/>
                <a:ea typeface="LG스마트체 Regular" pitchFamily="50" charset="-127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180975" lvl="0" indent="-180975" defTabSz="714375">
              <a:buFont typeface="Wingdings" panose="05000000000000000000" pitchFamily="2" charset="2"/>
              <a:buChar char="§"/>
              <a:defRPr/>
            </a:pPr>
            <a:r>
              <a:rPr lang="ko-KR" altLang="en-US" sz="1100" b="1" noProof="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문  제 </a:t>
            </a:r>
            <a:r>
              <a:rPr lang="en-US" altLang="ko-KR" sz="1100" b="1" noProof="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en-US" altLang="ko-KR" sz="1100" noProof="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1)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목표 온도보다 고온에서 건조 시 열주름 등의 품질 불량이 발생할 수 있는 상황임</a:t>
            </a:r>
            <a:b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</a:b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           2)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중알람 발생으로 인한 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PD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발생 가능성 존재</a:t>
            </a:r>
            <a:endParaRPr lang="en-US" altLang="ko-KR" sz="1100" dirty="0">
              <a:solidFill>
                <a:srgbClr val="C00000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C2037B-9970-4319-9A97-B54B2C2331FD}"/>
              </a:ext>
            </a:extLst>
          </p:cNvPr>
          <p:cNvSpPr txBox="1"/>
          <p:nvPr/>
        </p:nvSpPr>
        <p:spPr>
          <a:xfrm>
            <a:off x="3313195" y="1448414"/>
            <a:ext cx="4487833" cy="2308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kumimoji="1"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경알람 </a:t>
            </a:r>
            <a:r>
              <a:rPr kumimoji="1"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1"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목표온도 </a:t>
            </a:r>
            <a:r>
              <a:rPr kumimoji="1"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±10℃ </a:t>
            </a:r>
            <a:r>
              <a:rPr kumimoji="1"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초과</a:t>
            </a:r>
            <a:r>
              <a:rPr kumimoji="1"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15</a:t>
            </a:r>
            <a:r>
              <a:rPr kumimoji="1"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초 지속 </a:t>
            </a:r>
            <a:r>
              <a:rPr kumimoji="1"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kumimoji="1"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중알람 </a:t>
            </a:r>
            <a:r>
              <a:rPr kumimoji="1"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1"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목표온도＋</a:t>
            </a:r>
            <a:r>
              <a:rPr kumimoji="1"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20℃ </a:t>
            </a:r>
            <a:r>
              <a:rPr kumimoji="1"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초과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E8EFC0-D3D8-4A3B-9461-43B47B527CE7}"/>
              </a:ext>
            </a:extLst>
          </p:cNvPr>
          <p:cNvSpPr txBox="1"/>
          <p:nvPr/>
        </p:nvSpPr>
        <p:spPr>
          <a:xfrm>
            <a:off x="206861" y="1673973"/>
            <a:ext cx="5756672" cy="263791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eaLnBrk="1" fontAlgn="auto" latinLnBrk="0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 sz="1400" kern="0">
                <a:solidFill>
                  <a:sysClr val="windowText" lastClr="000000"/>
                </a:solidFill>
                <a:latin typeface="LG스마트체 Regular" pitchFamily="50" charset="-127"/>
                <a:ea typeface="LG스마트체 Regular" pitchFamily="50" charset="-127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180975" lvl="0" indent="-180975" defTabSz="714375">
              <a:buFont typeface="Wingdings" panose="05000000000000000000" pitchFamily="2" charset="2"/>
              <a:buChar char="§"/>
              <a:defRPr/>
            </a:pPr>
            <a:r>
              <a:rPr lang="ko-KR" altLang="en-US" sz="1100" b="1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제  안 </a:t>
            </a:r>
            <a:r>
              <a:rPr lang="en-US" altLang="ko-KR" sz="1100" b="1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: 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NND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공정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/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설비를 안정적으로 관리하기 위해 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DX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기반 알고리즘을 적용하고자 함</a:t>
            </a:r>
            <a:endParaRPr lang="en-US" altLang="ko-KR" sz="1100" dirty="0">
              <a:solidFill>
                <a:srgbClr val="C00000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1139EDD-A58D-4B89-B079-104D48015D91}"/>
              </a:ext>
            </a:extLst>
          </p:cNvPr>
          <p:cNvSpPr/>
          <p:nvPr/>
        </p:nvSpPr>
        <p:spPr>
          <a:xfrm>
            <a:off x="3293476" y="1848538"/>
            <a:ext cx="3594291" cy="246221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/>
              </a:rPr>
              <a:t>└ 목표온도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/>
              </a:rPr>
              <a:t> ±10℃ 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/>
              </a:rPr>
              <a:t>이내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/>
              </a:rPr>
              <a:t>, Target-in 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/>
              </a:rPr>
              <a:t>비율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/>
              </a:rPr>
              <a:t>90% ↑ 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/>
              </a:rPr>
              <a:t>확보 목표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BD50F3B-DB85-4A72-A81D-1B03AA9B2FF2}"/>
              </a:ext>
            </a:extLst>
          </p:cNvPr>
          <p:cNvSpPr/>
          <p:nvPr/>
        </p:nvSpPr>
        <p:spPr>
          <a:xfrm>
            <a:off x="247096" y="6239295"/>
            <a:ext cx="9215858" cy="21544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MIR(Mid-Infrared Radiation) Lamp 출력 : IR 건조(적외선 건조 시 복사열 전열을 이용한 건조법) 시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내부 Lamp의 출력값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(%)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으로서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건조로 내부 온도를 조정할 수 있는 지표임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(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 표면온도가 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MIR LAMP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출력으로 결정됨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.)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45431ACC-8B67-47E0-9F30-26BB258DCF6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789" y="2935728"/>
            <a:ext cx="4176464" cy="931548"/>
          </a:xfrm>
          <a:prstGeom prst="rect">
            <a:avLst/>
          </a:prstGeom>
        </p:spPr>
      </p:pic>
      <p:sp>
        <p:nvSpPr>
          <p:cNvPr id="55" name="직사각형 54">
            <a:extLst>
              <a:ext uri="{FF2B5EF4-FFF2-40B4-BE49-F238E27FC236}">
                <a16:creationId xmlns:a16="http://schemas.microsoft.com/office/drawing/2014/main" id="{7811A957-E746-4F96-ADEC-107BD94A2DAE}"/>
              </a:ext>
            </a:extLst>
          </p:cNvPr>
          <p:cNvSpPr/>
          <p:nvPr/>
        </p:nvSpPr>
        <p:spPr>
          <a:xfrm>
            <a:off x="501788" y="2715410"/>
            <a:ext cx="1438877" cy="246221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&lt; Recipe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입력 화면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&gt;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CE7D7CFF-00E0-4C57-9810-16EDF49A0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11" y="4157425"/>
            <a:ext cx="2661209" cy="818383"/>
          </a:xfrm>
          <a:prstGeom prst="rect">
            <a:avLst/>
          </a:prstGeom>
        </p:spPr>
      </p:pic>
      <p:sp>
        <p:nvSpPr>
          <p:cNvPr id="67" name="직사각형 66">
            <a:extLst>
              <a:ext uri="{FF2B5EF4-FFF2-40B4-BE49-F238E27FC236}">
                <a16:creationId xmlns:a16="http://schemas.microsoft.com/office/drawing/2014/main" id="{910A1FBE-5D2A-4031-90C9-AA55021C7BDC}"/>
              </a:ext>
            </a:extLst>
          </p:cNvPr>
          <p:cNvSpPr/>
          <p:nvPr/>
        </p:nvSpPr>
        <p:spPr>
          <a:xfrm>
            <a:off x="501788" y="3947741"/>
            <a:ext cx="1438877" cy="246221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&lt; 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 예시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&gt;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0BC33D2-9DDE-49F6-B57E-6B0913B410D9}"/>
              </a:ext>
            </a:extLst>
          </p:cNvPr>
          <p:cNvSpPr txBox="1"/>
          <p:nvPr/>
        </p:nvSpPr>
        <p:spPr>
          <a:xfrm>
            <a:off x="459844" y="5517866"/>
            <a:ext cx="4471096" cy="682431"/>
          </a:xfrm>
          <a:prstGeom prst="rect">
            <a:avLst/>
          </a:prstGeom>
          <a:noFill/>
          <a:ln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buFont typeface="Arial" panose="020B0604020202020204" pitchFamily="34" charset="0"/>
              <a:buChar char="•"/>
              <a:defRPr sz="12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>
              <a:lnSpc>
                <a:spcPct val="120000"/>
              </a:lnSpc>
              <a:buNone/>
            </a:pPr>
            <a:r>
              <a:rPr kumimoji="1"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</a:rPr>
              <a:t>P={(P1-P2-P3+P4)/(T2-T1)*(T-T1)+P2-P1}*(V-100)/900+(P3-P1)/(T2-T1)*(T-T1)+P1</a:t>
            </a:r>
            <a:br>
              <a:rPr kumimoji="1"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</a:rPr>
            </a:br>
            <a:r>
              <a:rPr kumimoji="1"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</a:rPr>
              <a:t>P : Output </a:t>
            </a:r>
            <a:r>
              <a:rPr kumimoji="1"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</a:rPr>
              <a:t>출력</a:t>
            </a:r>
            <a:r>
              <a:rPr kumimoji="1"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</a:rPr>
              <a:t>(%), T : </a:t>
            </a:r>
            <a:r>
              <a:rPr kumimoji="1"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</a:rPr>
              <a:t>초기 온도</a:t>
            </a:r>
            <a:r>
              <a:rPr kumimoji="1"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</a:rPr>
              <a:t>(℃), V : </a:t>
            </a:r>
            <a:r>
              <a:rPr kumimoji="1"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</a:rPr>
              <a:t>선속</a:t>
            </a:r>
            <a:r>
              <a:rPr kumimoji="1"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</a:rPr>
              <a:t>(mm/s)</a:t>
            </a:r>
          </a:p>
          <a:p>
            <a:pPr lvl="0">
              <a:lnSpc>
                <a:spcPct val="120000"/>
              </a:lnSpc>
              <a:buNone/>
            </a:pPr>
            <a:endParaRPr kumimoji="1" lang="en-US" altLang="ko-KR" sz="110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C6F7ABF-BCF9-4E16-AA0C-1C621A916C8E}"/>
              </a:ext>
            </a:extLst>
          </p:cNvPr>
          <p:cNvSpPr/>
          <p:nvPr/>
        </p:nvSpPr>
        <p:spPr>
          <a:xfrm>
            <a:off x="476621" y="5275286"/>
            <a:ext cx="1438877" cy="246221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&lt; MIR* 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 계산식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&gt;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1" name="이등변 삼각형 70">
            <a:extLst>
              <a:ext uri="{FF2B5EF4-FFF2-40B4-BE49-F238E27FC236}">
                <a16:creationId xmlns:a16="http://schemas.microsoft.com/office/drawing/2014/main" id="{31A86BF3-8A50-4D74-8C4F-837B2D819DC4}"/>
              </a:ext>
            </a:extLst>
          </p:cNvPr>
          <p:cNvSpPr/>
          <p:nvPr/>
        </p:nvSpPr>
        <p:spPr>
          <a:xfrm rot="10800000">
            <a:off x="753817" y="5061485"/>
            <a:ext cx="3672408" cy="280912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F73DA54-895E-40A6-83EE-F13C357CFBBA}"/>
              </a:ext>
            </a:extLst>
          </p:cNvPr>
          <p:cNvSpPr/>
          <p:nvPr/>
        </p:nvSpPr>
        <p:spPr>
          <a:xfrm>
            <a:off x="2197266" y="5076665"/>
            <a:ext cx="785508" cy="246221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 계산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091407A-8EC5-4045-806F-8FA3609915A0}"/>
              </a:ext>
            </a:extLst>
          </p:cNvPr>
          <p:cNvSpPr txBox="1"/>
          <p:nvPr/>
        </p:nvSpPr>
        <p:spPr>
          <a:xfrm>
            <a:off x="753816" y="2028684"/>
            <a:ext cx="8280920" cy="233014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eaLnBrk="1" fontAlgn="auto" latinLnBrk="0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 sz="1400" kern="0">
                <a:solidFill>
                  <a:sysClr val="windowText" lastClr="000000"/>
                </a:solidFill>
                <a:latin typeface="LG스마트체 Regular" pitchFamily="50" charset="-127"/>
                <a:ea typeface="LG스마트체 Regular" pitchFamily="50" charset="-127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lvl="0" defTabSz="714375">
              <a:defRPr/>
            </a:pP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※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전극 표면온도는 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MIR Lamp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출력값으로 관리 되기 때문에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, f(x)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는 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X’s(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표면온도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,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가동 시간 등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)~Y(MIR Lamp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출력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*)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형태로 관계식 수립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EB4D4FA8-00D5-4F16-9F5A-029A2F18E098}"/>
              </a:ext>
            </a:extLst>
          </p:cNvPr>
          <p:cNvSpPr/>
          <p:nvPr/>
        </p:nvSpPr>
        <p:spPr>
          <a:xfrm>
            <a:off x="5883788" y="3232911"/>
            <a:ext cx="786375" cy="169878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CCF261D6-D5DA-41E0-8EA8-15B1BD6322D9}"/>
              </a:ext>
            </a:extLst>
          </p:cNvPr>
          <p:cNvSpPr/>
          <p:nvPr/>
        </p:nvSpPr>
        <p:spPr>
          <a:xfrm>
            <a:off x="5097016" y="2891839"/>
            <a:ext cx="1547549" cy="2726257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D7CED26-FF60-4771-A711-09C0CC444364}"/>
              </a:ext>
            </a:extLst>
          </p:cNvPr>
          <p:cNvSpPr/>
          <p:nvPr/>
        </p:nvSpPr>
        <p:spPr>
          <a:xfrm>
            <a:off x="8891213" y="4828260"/>
            <a:ext cx="677524" cy="1118471"/>
          </a:xfrm>
          <a:prstGeom prst="rect">
            <a:avLst/>
          </a:prstGeom>
          <a:solidFill>
            <a:srgbClr val="1E293B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77" name="그래픽 76" descr="서버">
            <a:extLst>
              <a:ext uri="{FF2B5EF4-FFF2-40B4-BE49-F238E27FC236}">
                <a16:creationId xmlns:a16="http://schemas.microsoft.com/office/drawing/2014/main" id="{11CAE5ED-6283-4B93-8788-AFE431A685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55325" y="3321745"/>
            <a:ext cx="713165" cy="2214337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091579B9-8D69-4934-9837-C1832BDD637C}"/>
              </a:ext>
            </a:extLst>
          </p:cNvPr>
          <p:cNvSpPr txBox="1"/>
          <p:nvPr/>
        </p:nvSpPr>
        <p:spPr>
          <a:xfrm>
            <a:off x="5199091" y="3267039"/>
            <a:ext cx="809963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 </a:t>
            </a:r>
            <a:r>
              <a:rPr lang="ko-KR" altLang="en-US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</a:t>
            </a:r>
            <a:r>
              <a:rPr lang="en-US" altLang="ko-KR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79" name="그래픽 78" descr="원격 제어">
            <a:extLst>
              <a:ext uri="{FF2B5EF4-FFF2-40B4-BE49-F238E27FC236}">
                <a16:creationId xmlns:a16="http://schemas.microsoft.com/office/drawing/2014/main" id="{64D70073-42FD-4CFA-BC1E-E26A8E41CD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3532" y="3971713"/>
            <a:ext cx="914400" cy="91440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FF9C7DDB-3197-44CF-B11F-3976E4BE62A1}"/>
              </a:ext>
            </a:extLst>
          </p:cNvPr>
          <p:cNvSpPr txBox="1"/>
          <p:nvPr/>
        </p:nvSpPr>
        <p:spPr>
          <a:xfrm>
            <a:off x="6141786" y="3742524"/>
            <a:ext cx="809963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 PLC ]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6A24587B-E5AE-49C3-85B2-8F741DAA1785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5868490" y="4428914"/>
            <a:ext cx="291244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CE1CB146-4B6D-4A6A-B49D-9D199AEDAD0B}"/>
              </a:ext>
            </a:extLst>
          </p:cNvPr>
          <p:cNvSpPr txBox="1"/>
          <p:nvPr/>
        </p:nvSpPr>
        <p:spPr>
          <a:xfrm>
            <a:off x="5800357" y="4151339"/>
            <a:ext cx="502986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</a:t>
            </a:r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6C744D76-3DD8-4F9C-A028-6F29AEC05D54}"/>
              </a:ext>
            </a:extLst>
          </p:cNvPr>
          <p:cNvCxnSpPr>
            <a:cxnSpLocks/>
            <a:stCxn id="79" idx="3"/>
            <a:endCxn id="86" idx="1"/>
          </p:cNvCxnSpPr>
          <p:nvPr/>
        </p:nvCxnSpPr>
        <p:spPr>
          <a:xfrm flipV="1">
            <a:off x="6877932" y="3538981"/>
            <a:ext cx="393004" cy="88993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91B9D716-8669-4E35-9A5E-09D49F4994D8}"/>
              </a:ext>
            </a:extLst>
          </p:cNvPr>
          <p:cNvSpPr txBox="1"/>
          <p:nvPr/>
        </p:nvSpPr>
        <p:spPr>
          <a:xfrm>
            <a:off x="6800313" y="3917610"/>
            <a:ext cx="781442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Data</a:t>
            </a:r>
            <a:r>
              <a:rPr lang="ko-KR" altLang="en-US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수집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71E31E4-5961-40D7-B2A8-7A0C16BDEBFA}"/>
              </a:ext>
            </a:extLst>
          </p:cNvPr>
          <p:cNvSpPr txBox="1"/>
          <p:nvPr/>
        </p:nvSpPr>
        <p:spPr>
          <a:xfrm>
            <a:off x="6052172" y="3589640"/>
            <a:ext cx="723275" cy="230832"/>
          </a:xfrm>
          <a:prstGeom prst="rect">
            <a:avLst/>
          </a:prstGeom>
          <a:noFill/>
          <a:ln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lang="ko-KR" altLang="en-US" dirty="0">
                <a:solidFill>
                  <a:srgbClr val="E2E8F0"/>
                </a:solidFill>
              </a:rPr>
              <a:t>이더넷 통신</a:t>
            </a:r>
          </a:p>
        </p:txBody>
      </p:sp>
      <p:pic>
        <p:nvPicPr>
          <p:cNvPr id="86" name="그래픽 85" descr="은행 수표">
            <a:extLst>
              <a:ext uri="{FF2B5EF4-FFF2-40B4-BE49-F238E27FC236}">
                <a16:creationId xmlns:a16="http://schemas.microsoft.com/office/drawing/2014/main" id="{C575665C-D09F-4BD0-A0B6-5D19BFBA1C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70936" y="3081781"/>
            <a:ext cx="504003" cy="914400"/>
          </a:xfrm>
          <a:prstGeom prst="rect">
            <a:avLst/>
          </a:prstGeom>
        </p:spPr>
      </p:pic>
      <p:pic>
        <p:nvPicPr>
          <p:cNvPr id="87" name="그래픽 86" descr="은행 수표">
            <a:extLst>
              <a:ext uri="{FF2B5EF4-FFF2-40B4-BE49-F238E27FC236}">
                <a16:creationId xmlns:a16="http://schemas.microsoft.com/office/drawing/2014/main" id="{9524C80B-69BF-4E52-903E-4D19734AE6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70936" y="5013281"/>
            <a:ext cx="504003" cy="914400"/>
          </a:xfrm>
          <a:prstGeom prst="rect">
            <a:avLst/>
          </a:prstGeom>
        </p:spPr>
      </p:pic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03BCE5FA-FC6B-4B4B-9B0F-CE95730106BD}"/>
              </a:ext>
            </a:extLst>
          </p:cNvPr>
          <p:cNvCxnSpPr>
            <a:cxnSpLocks/>
            <a:stCxn id="79" idx="3"/>
            <a:endCxn id="87" idx="1"/>
          </p:cNvCxnSpPr>
          <p:nvPr/>
        </p:nvCxnSpPr>
        <p:spPr>
          <a:xfrm>
            <a:off x="6877932" y="4428913"/>
            <a:ext cx="393004" cy="1041568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BB1FA770-6131-44B6-A2BD-1FB76CB6E23A}"/>
              </a:ext>
            </a:extLst>
          </p:cNvPr>
          <p:cNvSpPr txBox="1"/>
          <p:nvPr/>
        </p:nvSpPr>
        <p:spPr>
          <a:xfrm>
            <a:off x="6800313" y="4621798"/>
            <a:ext cx="781442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Data</a:t>
            </a:r>
            <a:r>
              <a:rPr lang="ko-KR" altLang="en-US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수집</a:t>
            </a: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E526E303-ED28-4416-8F1D-CD6BFCD98E4B}"/>
              </a:ext>
            </a:extLst>
          </p:cNvPr>
          <p:cNvCxnSpPr>
            <a:cxnSpLocks/>
            <a:stCxn id="86" idx="3"/>
            <a:endCxn id="91" idx="1"/>
          </p:cNvCxnSpPr>
          <p:nvPr/>
        </p:nvCxnSpPr>
        <p:spPr>
          <a:xfrm flipV="1">
            <a:off x="7774939" y="3537957"/>
            <a:ext cx="340719" cy="102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그래픽 90" descr="목록 RTL">
            <a:extLst>
              <a:ext uri="{FF2B5EF4-FFF2-40B4-BE49-F238E27FC236}">
                <a16:creationId xmlns:a16="http://schemas.microsoft.com/office/drawing/2014/main" id="{784F9835-D26B-46F1-9998-6B764B4290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15658" y="3309308"/>
            <a:ext cx="914400" cy="457297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A06F1DE8-B2F3-48A9-9CFF-DD5D6F681DE7}"/>
              </a:ext>
            </a:extLst>
          </p:cNvPr>
          <p:cNvSpPr txBox="1"/>
          <p:nvPr/>
        </p:nvSpPr>
        <p:spPr>
          <a:xfrm>
            <a:off x="7723212" y="3534659"/>
            <a:ext cx="464396" cy="430887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Log</a:t>
            </a:r>
          </a:p>
          <a:p>
            <a:r>
              <a:rPr lang="ko-KR" altLang="en-US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생성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5090B3B-3F61-4F7C-85B1-76FAC0543711}"/>
              </a:ext>
            </a:extLst>
          </p:cNvPr>
          <p:cNvSpPr txBox="1"/>
          <p:nvPr/>
        </p:nvSpPr>
        <p:spPr>
          <a:xfrm>
            <a:off x="6972947" y="3080990"/>
            <a:ext cx="1410614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프로그램</a:t>
            </a:r>
            <a:r>
              <a:rPr lang="en-US" altLang="ko-KR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 </a:t>
            </a:r>
            <a:r>
              <a:rPr lang="en-US" altLang="ko-KR" sz="8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(Python)</a:t>
            </a:r>
            <a:endParaRPr lang="ko-KR" altLang="en-US" sz="10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3970275-DB3B-494B-BB82-992EE1FBC101}"/>
              </a:ext>
            </a:extLst>
          </p:cNvPr>
          <p:cNvSpPr txBox="1"/>
          <p:nvPr/>
        </p:nvSpPr>
        <p:spPr>
          <a:xfrm>
            <a:off x="6969224" y="5039594"/>
            <a:ext cx="1410614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프로그램</a:t>
            </a:r>
            <a:r>
              <a:rPr lang="en-US" altLang="ko-KR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 </a:t>
            </a:r>
            <a:r>
              <a:rPr lang="en-US" altLang="ko-KR" sz="8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(Python)</a:t>
            </a:r>
            <a:endParaRPr lang="ko-KR" altLang="en-US" sz="10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DDE137FE-4D58-4111-989E-419A4CB291A5}"/>
              </a:ext>
            </a:extLst>
          </p:cNvPr>
          <p:cNvGrpSpPr/>
          <p:nvPr/>
        </p:nvGrpSpPr>
        <p:grpSpPr>
          <a:xfrm>
            <a:off x="7940763" y="5111261"/>
            <a:ext cx="612638" cy="716354"/>
            <a:chOff x="5650402" y="3461199"/>
            <a:chExt cx="1324755" cy="361528"/>
          </a:xfrm>
        </p:grpSpPr>
        <p:sp>
          <p:nvSpPr>
            <p:cNvPr id="96" name="순서도: 판단 95">
              <a:extLst>
                <a:ext uri="{FF2B5EF4-FFF2-40B4-BE49-F238E27FC236}">
                  <a16:creationId xmlns:a16="http://schemas.microsoft.com/office/drawing/2014/main" id="{A8A6DCF9-FF5D-4538-A918-A4D530A1526D}"/>
                </a:ext>
              </a:extLst>
            </p:cNvPr>
            <p:cNvSpPr/>
            <p:nvPr/>
          </p:nvSpPr>
          <p:spPr>
            <a:xfrm>
              <a:off x="5650402" y="3461199"/>
              <a:ext cx="1324755" cy="361528"/>
            </a:xfrm>
            <a:prstGeom prst="flowChartDecision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B930E35C-B322-4581-B3F1-FED9354D1CC4}"/>
                </a:ext>
              </a:extLst>
            </p:cNvPr>
            <p:cNvSpPr txBox="1"/>
            <p:nvPr/>
          </p:nvSpPr>
          <p:spPr>
            <a:xfrm>
              <a:off x="5754901" y="3602227"/>
              <a:ext cx="1150811" cy="1397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제어</a:t>
              </a:r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Trigger</a:t>
              </a:r>
            </a:p>
            <a:p>
              <a:pPr algn="ctr"/>
              <a:r>
                <a:rPr lang="ko-KR" altLang="en-US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검토</a:t>
              </a:r>
              <a:endPara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4367E80E-BF16-4B52-8E3C-72D1F3C8450E}"/>
              </a:ext>
            </a:extLst>
          </p:cNvPr>
          <p:cNvCxnSpPr>
            <a:cxnSpLocks/>
            <a:stCxn id="87" idx="3"/>
            <a:endCxn id="96" idx="1"/>
          </p:cNvCxnSpPr>
          <p:nvPr/>
        </p:nvCxnSpPr>
        <p:spPr>
          <a:xfrm flipV="1">
            <a:off x="7774939" y="5469438"/>
            <a:ext cx="165824" cy="1043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73966522-53EE-4C4E-AD0D-D8EAB9673F9F}"/>
              </a:ext>
            </a:extLst>
          </p:cNvPr>
          <p:cNvSpPr txBox="1"/>
          <p:nvPr/>
        </p:nvSpPr>
        <p:spPr>
          <a:xfrm>
            <a:off x="7450232" y="5888827"/>
            <a:ext cx="846707" cy="230832"/>
          </a:xfrm>
          <a:prstGeom prst="rect">
            <a:avLst/>
          </a:prstGeom>
          <a:noFill/>
          <a:ln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>
                <a:solidFill>
                  <a:srgbClr val="E2E8F0"/>
                </a:solidFill>
              </a:rPr>
              <a:t>Data </a:t>
            </a:r>
            <a:r>
              <a:rPr lang="ko-KR" altLang="en-US" dirty="0">
                <a:solidFill>
                  <a:srgbClr val="E2E8F0"/>
                </a:solidFill>
              </a:rPr>
              <a:t>수집</a:t>
            </a:r>
            <a:r>
              <a:rPr lang="en-US" altLang="ko-KR" dirty="0">
                <a:solidFill>
                  <a:srgbClr val="E2E8F0"/>
                </a:solidFill>
              </a:rPr>
              <a:t>/</a:t>
            </a:r>
            <a:r>
              <a:rPr lang="ko-KR" altLang="en-US" dirty="0">
                <a:solidFill>
                  <a:srgbClr val="E2E8F0"/>
                </a:solidFill>
              </a:rPr>
              <a:t>검토</a:t>
            </a:r>
          </a:p>
        </p:txBody>
      </p: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ACF71295-C73F-4EAD-A2D0-78B4FC387A8B}"/>
              </a:ext>
            </a:extLst>
          </p:cNvPr>
          <p:cNvCxnSpPr>
            <a:cxnSpLocks/>
            <a:stCxn id="96" idx="2"/>
          </p:cNvCxnSpPr>
          <p:nvPr/>
        </p:nvCxnSpPr>
        <p:spPr>
          <a:xfrm rot="5400000" flipH="1">
            <a:off x="7787792" y="5368347"/>
            <a:ext cx="169226" cy="749354"/>
          </a:xfrm>
          <a:prstGeom prst="bentConnector4">
            <a:avLst>
              <a:gd name="adj1" fmla="val -145947"/>
              <a:gd name="adj2" fmla="val 100098"/>
            </a:avLst>
          </a:prstGeom>
          <a:ln>
            <a:solidFill>
              <a:srgbClr val="94A3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99F8DF22-1958-4725-8A45-C8BDE2DB693A}"/>
              </a:ext>
            </a:extLst>
          </p:cNvPr>
          <p:cNvSpPr txBox="1"/>
          <p:nvPr/>
        </p:nvSpPr>
        <p:spPr>
          <a:xfrm>
            <a:off x="8260755" y="5798907"/>
            <a:ext cx="121828" cy="138499"/>
          </a:xfrm>
          <a:prstGeom prst="rect">
            <a:avLst/>
          </a:prstGeom>
          <a:noFill/>
          <a:ln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lang="en-US" altLang="ko-KR" dirty="0">
                <a:solidFill>
                  <a:srgbClr val="E2E8F0"/>
                </a:solidFill>
              </a:rPr>
              <a:t>No</a:t>
            </a:r>
            <a:endParaRPr lang="ko-KR" altLang="en-US" dirty="0">
              <a:solidFill>
                <a:srgbClr val="C00000"/>
              </a:solidFill>
            </a:endParaRP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42FD3778-136C-41EC-A341-0355EB94ED4E}"/>
              </a:ext>
            </a:extLst>
          </p:cNvPr>
          <p:cNvCxnSpPr>
            <a:cxnSpLocks/>
            <a:stCxn id="96" idx="3"/>
            <a:endCxn id="104" idx="1"/>
          </p:cNvCxnSpPr>
          <p:nvPr/>
        </p:nvCxnSpPr>
        <p:spPr>
          <a:xfrm>
            <a:off x="8553401" y="5469438"/>
            <a:ext cx="351650" cy="648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6181CF7-9DEB-4041-8417-2F2FCA488667}"/>
              </a:ext>
            </a:extLst>
          </p:cNvPr>
          <p:cNvSpPr txBox="1"/>
          <p:nvPr/>
        </p:nvSpPr>
        <p:spPr>
          <a:xfrm>
            <a:off x="8625408" y="5308133"/>
            <a:ext cx="163506" cy="138499"/>
          </a:xfrm>
          <a:prstGeom prst="rect">
            <a:avLst/>
          </a:prstGeom>
          <a:noFill/>
          <a:ln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lang="en-US" altLang="ko-KR" dirty="0">
                <a:solidFill>
                  <a:srgbClr val="E2E8F0"/>
                </a:solidFill>
              </a:rPr>
              <a:t>Yes</a:t>
            </a:r>
            <a:endParaRPr lang="ko-KR" altLang="en-US" dirty="0">
              <a:solidFill>
                <a:srgbClr val="0000FF"/>
              </a:solidFill>
            </a:endParaRPr>
          </a:p>
        </p:txBody>
      </p:sp>
      <p:pic>
        <p:nvPicPr>
          <p:cNvPr id="104" name="그래픽 103" descr="프로세서">
            <a:extLst>
              <a:ext uri="{FF2B5EF4-FFF2-40B4-BE49-F238E27FC236}">
                <a16:creationId xmlns:a16="http://schemas.microsoft.com/office/drawing/2014/main" id="{1ED98B80-81CC-4FC1-8D7B-505CA5E2B10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05051" y="5047464"/>
            <a:ext cx="620293" cy="845243"/>
          </a:xfrm>
          <a:prstGeom prst="rect">
            <a:avLst/>
          </a:prstGeom>
        </p:spPr>
      </p:pic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768DE6EA-575D-4520-97BE-A7344FA71584}"/>
              </a:ext>
            </a:extLst>
          </p:cNvPr>
          <p:cNvCxnSpPr>
            <a:cxnSpLocks/>
            <a:stCxn id="104" idx="2"/>
            <a:endCxn id="79" idx="2"/>
          </p:cNvCxnSpPr>
          <p:nvPr/>
        </p:nvCxnSpPr>
        <p:spPr>
          <a:xfrm rot="5400000" flipH="1">
            <a:off x="7314668" y="3992177"/>
            <a:ext cx="1006594" cy="2794466"/>
          </a:xfrm>
          <a:prstGeom prst="bentConnector3">
            <a:avLst>
              <a:gd name="adj1" fmla="val -24376"/>
            </a:avLst>
          </a:prstGeom>
          <a:ln>
            <a:solidFill>
              <a:srgbClr val="94A3B8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9C3ADB20-9955-4B89-94F3-2F520DB65C60}"/>
              </a:ext>
            </a:extLst>
          </p:cNvPr>
          <p:cNvSpPr txBox="1"/>
          <p:nvPr/>
        </p:nvSpPr>
        <p:spPr>
          <a:xfrm>
            <a:off x="8824402" y="4866360"/>
            <a:ext cx="911813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DX</a:t>
            </a:r>
            <a:r>
              <a:rPr lang="ko-KR" altLang="en-US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알고리즘</a:t>
            </a:r>
            <a:endParaRPr lang="ko-KR" altLang="en-US" sz="10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6086A7C-D118-471E-9DD1-C1C97D322455}"/>
              </a:ext>
            </a:extLst>
          </p:cNvPr>
          <p:cNvSpPr txBox="1"/>
          <p:nvPr/>
        </p:nvSpPr>
        <p:spPr>
          <a:xfrm>
            <a:off x="8121352" y="3080381"/>
            <a:ext cx="1002838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데이터</a:t>
            </a:r>
            <a:endParaRPr lang="ko-KR" altLang="en-US" sz="10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08" name="연결선: 꺾임 107">
            <a:extLst>
              <a:ext uri="{FF2B5EF4-FFF2-40B4-BE49-F238E27FC236}">
                <a16:creationId xmlns:a16="http://schemas.microsoft.com/office/drawing/2014/main" id="{92A61EBF-D19E-41F3-9A0D-A2E0E69EEDA9}"/>
              </a:ext>
            </a:extLst>
          </p:cNvPr>
          <p:cNvCxnSpPr>
            <a:cxnSpLocks/>
            <a:stCxn id="76" idx="0"/>
            <a:endCxn id="91" idx="3"/>
          </p:cNvCxnSpPr>
          <p:nvPr/>
        </p:nvCxnSpPr>
        <p:spPr>
          <a:xfrm rot="16200000" flipV="1">
            <a:off x="8484866" y="4083150"/>
            <a:ext cx="1290303" cy="199917"/>
          </a:xfrm>
          <a:prstGeom prst="bentConnector2">
            <a:avLst/>
          </a:prstGeom>
          <a:ln>
            <a:solidFill>
              <a:srgbClr val="94A3B8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D9313CAF-AF8F-4C72-9957-3AD768527337}"/>
              </a:ext>
            </a:extLst>
          </p:cNvPr>
          <p:cNvSpPr txBox="1"/>
          <p:nvPr/>
        </p:nvSpPr>
        <p:spPr>
          <a:xfrm>
            <a:off x="8619012" y="4130007"/>
            <a:ext cx="545021" cy="138499"/>
          </a:xfrm>
          <a:prstGeom prst="rect">
            <a:avLst/>
          </a:prstGeom>
          <a:noFill/>
          <a:ln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lang="en-US" altLang="ko-KR" dirty="0">
                <a:solidFill>
                  <a:srgbClr val="E2E8F0"/>
                </a:solidFill>
              </a:rPr>
              <a:t>Daily </a:t>
            </a:r>
            <a:r>
              <a:rPr lang="ko-KR" altLang="en-US" dirty="0">
                <a:solidFill>
                  <a:srgbClr val="E2E8F0"/>
                </a:solidFill>
              </a:rPr>
              <a:t>재학습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71F31B4-E084-4471-B4E1-517575230CE5}"/>
              </a:ext>
            </a:extLst>
          </p:cNvPr>
          <p:cNvSpPr txBox="1"/>
          <p:nvPr/>
        </p:nvSpPr>
        <p:spPr>
          <a:xfrm>
            <a:off x="5557112" y="5632305"/>
            <a:ext cx="1846706" cy="338554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sz="1100" dirty="0">
                <a:solidFill>
                  <a:srgbClr val="E2E8F0"/>
                </a:solidFill>
                <a:highlight>
                  <a:srgbClr val="FFFF00"/>
                </a:highlight>
              </a:rPr>
              <a:t>DX </a:t>
            </a:r>
            <a:r>
              <a:rPr lang="ko-KR" altLang="en-US" sz="1100" dirty="0">
                <a:solidFill>
                  <a:srgbClr val="E2E8F0"/>
                </a:solidFill>
                <a:highlight>
                  <a:srgbClr val="FFFF00"/>
                </a:highlight>
              </a:rPr>
              <a:t>기반 알고리즘</a:t>
            </a:r>
            <a:r>
              <a:rPr lang="ko-KR" altLang="en-US" sz="1100" dirty="0">
                <a:solidFill>
                  <a:srgbClr val="E2E8F0"/>
                </a:solidFill>
              </a:rPr>
              <a:t>으로</a:t>
            </a:r>
            <a:endParaRPr lang="en-US" altLang="ko-KR" sz="1100" dirty="0">
              <a:solidFill>
                <a:srgbClr val="0000FF"/>
              </a:solidFill>
            </a:endParaRPr>
          </a:p>
          <a:p>
            <a:r>
              <a:rPr lang="en-US" altLang="ko-KR" sz="1100" dirty="0">
                <a:solidFill>
                  <a:srgbClr val="E2E8F0"/>
                </a:solidFill>
              </a:rPr>
              <a:t>MIR LAMP </a:t>
            </a:r>
            <a:r>
              <a:rPr lang="ko-KR" altLang="en-US" sz="1100" dirty="0">
                <a:solidFill>
                  <a:srgbClr val="E2E8F0"/>
                </a:solidFill>
              </a:rPr>
              <a:t>출력 결정</a:t>
            </a:r>
            <a:r>
              <a:rPr lang="en-US" altLang="ko-KR" sz="1100" dirty="0">
                <a:solidFill>
                  <a:srgbClr val="E2E8F0"/>
                </a:solidFill>
              </a:rPr>
              <a:t>(</a:t>
            </a:r>
            <a:r>
              <a:rPr lang="ko-KR" altLang="en-US" sz="1100" dirty="0">
                <a:solidFill>
                  <a:srgbClr val="E2E8F0"/>
                </a:solidFill>
              </a:rPr>
              <a:t>설비 제어</a:t>
            </a:r>
            <a:r>
              <a:rPr lang="en-US" altLang="ko-KR" sz="1100" dirty="0">
                <a:solidFill>
                  <a:srgbClr val="E2E8F0"/>
                </a:solidFill>
              </a:rPr>
              <a:t>)</a:t>
            </a:r>
            <a:endParaRPr lang="ko-KR" altLang="en-US" sz="1100" dirty="0">
              <a:solidFill>
                <a:srgbClr val="0000FF"/>
              </a:solidFill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DF500099-9DC6-49AA-8E51-97DB0568135F}"/>
              </a:ext>
            </a:extLst>
          </p:cNvPr>
          <p:cNvSpPr/>
          <p:nvPr/>
        </p:nvSpPr>
        <p:spPr>
          <a:xfrm>
            <a:off x="5320957" y="2787128"/>
            <a:ext cx="1074986" cy="25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</a:t>
            </a: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BEA09D22-4A4A-4EA5-9677-7AD0D68442EC}"/>
              </a:ext>
            </a:extLst>
          </p:cNvPr>
          <p:cNvSpPr/>
          <p:nvPr/>
        </p:nvSpPr>
        <p:spPr>
          <a:xfrm>
            <a:off x="7585217" y="2787128"/>
            <a:ext cx="1121944" cy="252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 C</a:t>
            </a:r>
            <a:endParaRPr lang="ko-KR" altLang="en-US" sz="12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6F7120F-BCF1-421D-B57F-5EA7B6F280BD}"/>
              </a:ext>
            </a:extLst>
          </p:cNvPr>
          <p:cNvSpPr txBox="1"/>
          <p:nvPr/>
        </p:nvSpPr>
        <p:spPr>
          <a:xfrm>
            <a:off x="452905" y="5999088"/>
            <a:ext cx="4665060" cy="223138"/>
          </a:xfrm>
          <a:prstGeom prst="rect">
            <a:avLst/>
          </a:prstGeom>
          <a:noFill/>
          <a:ln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buFont typeface="Arial" panose="020B0604020202020204" pitchFamily="34" charset="0"/>
              <a:buChar char="•"/>
              <a:defRPr sz="12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>
              <a:buNone/>
            </a:pPr>
            <a:r>
              <a:rPr kumimoji="1" lang="en-US" altLang="ko-KR" sz="850" dirty="0">
                <a:solidFill>
                  <a:srgbClr val="E2E8F0"/>
                </a:solidFill>
                <a:latin typeface="Arial Narrow" panose="020B0606020202030204" pitchFamily="34" charset="0"/>
              </a:rPr>
              <a:t>※ </a:t>
            </a:r>
            <a:r>
              <a:rPr kumimoji="1" lang="ko-KR" altLang="en-US" sz="850" dirty="0">
                <a:solidFill>
                  <a:srgbClr val="E2E8F0"/>
                </a:solidFill>
                <a:latin typeface="Arial Narrow" panose="020B0606020202030204" pitchFamily="34" charset="0"/>
              </a:rPr>
              <a:t>초기 온도 및 공정 속도에 따른 필요 출력을 엔지니어가 입력한 셋팅 값에서 자동으로 계산되어 출력</a:t>
            </a:r>
          </a:p>
        </p:txBody>
      </p:sp>
      <p:sp>
        <p:nvSpPr>
          <p:cNvPr id="114" name="실행 단추: 홈 8">
            <a:hlinkClick r:id="rId14" action="ppaction://hlinksldjump" highlightClick="1"/>
            <a:extLst>
              <a:ext uri="{FF2B5EF4-FFF2-40B4-BE49-F238E27FC236}">
                <a16:creationId xmlns:a16="http://schemas.microsoft.com/office/drawing/2014/main" id="{3424D263-3799-4203-AAE3-81BEEC417D3A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599A7B8-D8AE-4DD5-9CB4-C75F63FD3A98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현황 및 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Pain Point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27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AutoShape 12" descr="sdc_bar_plot.png (260×183)">
            <a:extLst>
              <a:ext uri="{FF2B5EF4-FFF2-40B4-BE49-F238E27FC236}">
                <a16:creationId xmlns:a16="http://schemas.microsoft.com/office/drawing/2014/main" id="{0053D8DA-8131-42A3-A337-5CC985AC9B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4285" y="271096"/>
            <a:ext cx="281354" cy="2813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ko-KR" altLang="en-US" sz="1662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AB30415-7A0F-4952-9E5F-FA6F823FF920}"/>
              </a:ext>
            </a:extLst>
          </p:cNvPr>
          <p:cNvSpPr txBox="1"/>
          <p:nvPr/>
        </p:nvSpPr>
        <p:spPr>
          <a:xfrm>
            <a:off x="144000" y="508888"/>
            <a:ext cx="9691425" cy="364715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전체 데이터 中 분석 가능한 대상 조건 수립 진행함</a:t>
            </a:r>
            <a:r>
              <a:rPr lang="en-US" altLang="ko-KR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ko-KR" altLang="en-US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Text Box 32">
            <a:extLst>
              <a:ext uri="{FF2B5EF4-FFF2-40B4-BE49-F238E27FC236}">
                <a16:creationId xmlns:a16="http://schemas.microsoft.com/office/drawing/2014/main" id="{A214BC6A-B474-42E1-8D64-8A6FFF140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26" y="1097471"/>
            <a:ext cx="3879193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422041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lang="ko-KR" altLang="en-US" sz="1400" b="1" dirty="0">
                <a:ln w="3175">
                  <a:noFill/>
                </a:ln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주요 변수 확인</a:t>
            </a:r>
            <a:endParaRPr lang="en-US" altLang="ko-KR" sz="1400" b="1" dirty="0">
              <a:ln w="3175">
                <a:noFill/>
              </a:ln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Text Box 32">
            <a:extLst>
              <a:ext uri="{FF2B5EF4-FFF2-40B4-BE49-F238E27FC236}">
                <a16:creationId xmlns:a16="http://schemas.microsoft.com/office/drawing/2014/main" id="{F45FCDAC-B6D0-44B6-83E4-65816DEC8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27" y="4069353"/>
            <a:ext cx="289195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422041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lang="en-US" altLang="ko-KR" sz="1400" b="1" dirty="0">
                <a:ln w="3175">
                  <a:noFill/>
                </a:ln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400" b="1" dirty="0">
                <a:ln w="3175">
                  <a:noFill/>
                </a:ln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분석 시 제외 </a:t>
            </a:r>
            <a:r>
              <a:rPr lang="en-US" altLang="ko-KR" sz="1400" b="1" dirty="0">
                <a:ln w="3175">
                  <a:noFill/>
                </a:ln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Case </a:t>
            </a:r>
            <a:r>
              <a:rPr lang="ko-KR" altLang="en-US" sz="1400" b="1" dirty="0">
                <a:ln w="3175">
                  <a:noFill/>
                </a:ln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검토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2A4B9CA-C0FA-41ED-A59B-929771FFECDC}"/>
              </a:ext>
            </a:extLst>
          </p:cNvPr>
          <p:cNvSpPr txBox="1"/>
          <p:nvPr/>
        </p:nvSpPr>
        <p:spPr>
          <a:xfrm>
            <a:off x="3329230" y="6015755"/>
            <a:ext cx="1191352" cy="245580"/>
          </a:xfrm>
          <a:prstGeom prst="rect">
            <a:avLst/>
          </a:prstGeom>
          <a:noFill/>
          <a:ln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&lt;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직전 부동 시간 없음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&gt;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65878DF-9801-4C33-9A5A-9565C091B3BD}"/>
              </a:ext>
            </a:extLst>
          </p:cNvPr>
          <p:cNvSpPr txBox="1"/>
          <p:nvPr/>
        </p:nvSpPr>
        <p:spPr>
          <a:xfrm>
            <a:off x="5754696" y="6015755"/>
            <a:ext cx="1165704" cy="245580"/>
          </a:xfrm>
          <a:prstGeom prst="rect">
            <a:avLst/>
          </a:prstGeom>
          <a:noFill/>
          <a:ln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&lt;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표면온도 변화 없음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&gt;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280ECF9-B8C2-4153-9E44-ED131DB7964B}"/>
              </a:ext>
            </a:extLst>
          </p:cNvPr>
          <p:cNvSpPr txBox="1"/>
          <p:nvPr/>
        </p:nvSpPr>
        <p:spPr>
          <a:xfrm>
            <a:off x="8077039" y="6015755"/>
            <a:ext cx="1132041" cy="245580"/>
          </a:xfrm>
          <a:prstGeom prst="rect">
            <a:avLst/>
          </a:prstGeom>
          <a:noFill/>
          <a:ln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&lt;Target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온도 비정상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&gt;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FE077B1-B131-4B03-9C45-3F64F3F52984}"/>
              </a:ext>
            </a:extLst>
          </p:cNvPr>
          <p:cNvGrpSpPr/>
          <p:nvPr/>
        </p:nvGrpSpPr>
        <p:grpSpPr>
          <a:xfrm>
            <a:off x="7482928" y="4647652"/>
            <a:ext cx="2238113" cy="1321362"/>
            <a:chOff x="7147328" y="4647666"/>
            <a:chExt cx="2238113" cy="1321362"/>
          </a:xfrm>
        </p:grpSpPr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A11B987C-2DBB-4A28-B6DE-A0F1D613C9C9}"/>
                </a:ext>
              </a:extLst>
            </p:cNvPr>
            <p:cNvGrpSpPr/>
            <p:nvPr/>
          </p:nvGrpSpPr>
          <p:grpSpPr>
            <a:xfrm>
              <a:off x="7175310" y="5488534"/>
              <a:ext cx="1976574" cy="480494"/>
              <a:chOff x="3104980" y="5903371"/>
              <a:chExt cx="1976574" cy="480494"/>
            </a:xfrm>
          </p:grpSpPr>
          <p:pic>
            <p:nvPicPr>
              <p:cNvPr id="72" name="그림 71">
                <a:extLst>
                  <a:ext uri="{FF2B5EF4-FFF2-40B4-BE49-F238E27FC236}">
                    <a16:creationId xmlns:a16="http://schemas.microsoft.com/office/drawing/2014/main" id="{0FE778A1-56BB-4866-93E9-8145029954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04980" y="5903371"/>
                <a:ext cx="1976574" cy="480493"/>
              </a:xfrm>
              <a:prstGeom prst="rect">
                <a:avLst/>
              </a:prstGeom>
            </p:spPr>
          </p:pic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9BC6E88C-5909-4BDF-B0E4-7969483C3152}"/>
                  </a:ext>
                </a:extLst>
              </p:cNvPr>
              <p:cNvSpPr/>
              <p:nvPr/>
            </p:nvSpPr>
            <p:spPr>
              <a:xfrm>
                <a:off x="4272578" y="6082277"/>
                <a:ext cx="808976" cy="301588"/>
              </a:xfrm>
              <a:prstGeom prst="rect">
                <a:avLst/>
              </a:prstGeom>
              <a:solidFill>
                <a:srgbClr val="AC0000">
                  <a:alpha val="10000"/>
                </a:srgbClr>
              </a:solidFill>
              <a:ln>
                <a:solidFill>
                  <a:srgbClr val="94A3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DA61FB79-435E-4F99-AC03-FF261B4930E1}"/>
                </a:ext>
              </a:extLst>
            </p:cNvPr>
            <p:cNvGrpSpPr/>
            <p:nvPr/>
          </p:nvGrpSpPr>
          <p:grpSpPr>
            <a:xfrm>
              <a:off x="7188962" y="4838509"/>
              <a:ext cx="1954329" cy="480493"/>
              <a:chOff x="521041" y="5690542"/>
              <a:chExt cx="1954329" cy="480493"/>
            </a:xfrm>
          </p:grpSpPr>
          <p:pic>
            <p:nvPicPr>
              <p:cNvPr id="77" name="그림 76">
                <a:extLst>
                  <a:ext uri="{FF2B5EF4-FFF2-40B4-BE49-F238E27FC236}">
                    <a16:creationId xmlns:a16="http://schemas.microsoft.com/office/drawing/2014/main" id="{9297372C-C9B0-4892-8349-565F658914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1041" y="5690542"/>
                <a:ext cx="1949271" cy="480493"/>
              </a:xfrm>
              <a:prstGeom prst="rect">
                <a:avLst/>
              </a:prstGeom>
            </p:spPr>
          </p:pic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3A00C66E-DB95-48C7-919B-CF87CD0A6911}"/>
                  </a:ext>
                </a:extLst>
              </p:cNvPr>
              <p:cNvSpPr/>
              <p:nvPr/>
            </p:nvSpPr>
            <p:spPr>
              <a:xfrm>
                <a:off x="1666394" y="5869447"/>
                <a:ext cx="808976" cy="301588"/>
              </a:xfrm>
              <a:prstGeom prst="rect">
                <a:avLst/>
              </a:prstGeom>
              <a:solidFill>
                <a:srgbClr val="AC0000">
                  <a:alpha val="10000"/>
                </a:srgbClr>
              </a:solidFill>
              <a:ln>
                <a:solidFill>
                  <a:srgbClr val="94A3B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E186041-0D08-4062-9DB0-6831DBCA0047}"/>
                </a:ext>
              </a:extLst>
            </p:cNvPr>
            <p:cNvSpPr txBox="1"/>
            <p:nvPr/>
          </p:nvSpPr>
          <p:spPr>
            <a:xfrm>
              <a:off x="7147328" y="4647666"/>
              <a:ext cx="2167581" cy="228460"/>
            </a:xfrm>
            <a:prstGeom prst="rect">
              <a:avLst/>
            </a:prstGeom>
            <a:noFill/>
            <a:ln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8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(Ex) E81A </a:t>
              </a:r>
              <a:r>
                <a:rPr lang="ko-KR" altLang="en-US" sz="8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음극 </a:t>
              </a:r>
              <a:r>
                <a:rPr lang="en-US" altLang="ko-KR" sz="8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Target IN/MID/OUT : 80, 110, 150</a:t>
              </a:r>
              <a:r>
                <a:rPr lang="ko-KR" altLang="en-US" sz="8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℃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D59E907-0356-48B7-A085-C8BFA264B82A}"/>
                </a:ext>
              </a:extLst>
            </p:cNvPr>
            <p:cNvSpPr txBox="1"/>
            <p:nvPr/>
          </p:nvSpPr>
          <p:spPr>
            <a:xfrm>
              <a:off x="7147328" y="5260521"/>
              <a:ext cx="2238113" cy="228460"/>
            </a:xfrm>
            <a:prstGeom prst="rect">
              <a:avLst/>
            </a:prstGeom>
            <a:noFill/>
            <a:ln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8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(Ex) E81A </a:t>
              </a:r>
              <a:r>
                <a:rPr lang="ko-KR" altLang="en-US" sz="8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음극 </a:t>
              </a:r>
              <a:r>
                <a:rPr lang="en-US" altLang="ko-KR" sz="8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Target IN/MID/OUT : 110, 130, 160</a:t>
              </a:r>
              <a:r>
                <a:rPr lang="ko-KR" altLang="en-US" sz="8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℃</a:t>
              </a:r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BDD28404-8BE0-4C63-80AA-FF295970BDF7}"/>
              </a:ext>
            </a:extLst>
          </p:cNvPr>
          <p:cNvSpPr txBox="1"/>
          <p:nvPr/>
        </p:nvSpPr>
        <p:spPr>
          <a:xfrm>
            <a:off x="686877" y="6015755"/>
            <a:ext cx="1774845" cy="245580"/>
          </a:xfrm>
          <a:prstGeom prst="rect">
            <a:avLst/>
          </a:prstGeom>
          <a:noFill/>
          <a:ln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&lt;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가속 후 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초 시점 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Line Speed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감소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&gt;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E905EE4C-7D90-45F3-B538-4E24AB7D2F4B}"/>
              </a:ext>
            </a:extLst>
          </p:cNvPr>
          <p:cNvSpPr/>
          <p:nvPr/>
        </p:nvSpPr>
        <p:spPr>
          <a:xfrm>
            <a:off x="3244350" y="6063248"/>
            <a:ext cx="149634" cy="151606"/>
          </a:xfrm>
          <a:prstGeom prst="ellipse">
            <a:avLst/>
          </a:prstGeom>
          <a:solidFill>
            <a:srgbClr val="009C3C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endParaRPr lang="ko-KR" alt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46A76B5C-6E36-446F-B681-FC30AB9CF165}"/>
              </a:ext>
            </a:extLst>
          </p:cNvPr>
          <p:cNvSpPr/>
          <p:nvPr/>
        </p:nvSpPr>
        <p:spPr>
          <a:xfrm>
            <a:off x="595282" y="6063248"/>
            <a:ext cx="149634" cy="151606"/>
          </a:xfrm>
          <a:prstGeom prst="ellipse">
            <a:avLst/>
          </a:prstGeom>
          <a:solidFill>
            <a:srgbClr val="009C3C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lang="ko-KR" alt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16CA00D9-94E6-4B20-B32C-036FE2A53592}"/>
              </a:ext>
            </a:extLst>
          </p:cNvPr>
          <p:cNvSpPr/>
          <p:nvPr/>
        </p:nvSpPr>
        <p:spPr>
          <a:xfrm>
            <a:off x="5667112" y="6064185"/>
            <a:ext cx="149634" cy="151606"/>
          </a:xfrm>
          <a:prstGeom prst="ellipse">
            <a:avLst/>
          </a:prstGeom>
          <a:solidFill>
            <a:srgbClr val="009C3C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endParaRPr lang="ko-KR" alt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D900443-2098-4CC1-B484-06EE2562D52A}"/>
              </a:ext>
            </a:extLst>
          </p:cNvPr>
          <p:cNvGrpSpPr/>
          <p:nvPr/>
        </p:nvGrpSpPr>
        <p:grpSpPr>
          <a:xfrm>
            <a:off x="2770608" y="4647652"/>
            <a:ext cx="2026353" cy="1415596"/>
            <a:chOff x="2589992" y="4662176"/>
            <a:chExt cx="2026353" cy="1232328"/>
          </a:xfrm>
        </p:grpSpPr>
        <p:pic>
          <p:nvPicPr>
            <p:cNvPr id="75" name="Picture 18">
              <a:extLst>
                <a:ext uri="{FF2B5EF4-FFF2-40B4-BE49-F238E27FC236}">
                  <a16:creationId xmlns:a16="http://schemas.microsoft.com/office/drawing/2014/main" id="{3261B98A-5998-4F29-8FBE-7A0B7303A9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9992" y="4662176"/>
              <a:ext cx="2026353" cy="12323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BE74E195-ABB5-4DAE-B557-213FF163E167}"/>
                </a:ext>
              </a:extLst>
            </p:cNvPr>
            <p:cNvSpPr/>
            <p:nvPr/>
          </p:nvSpPr>
          <p:spPr>
            <a:xfrm>
              <a:off x="3063686" y="5338825"/>
              <a:ext cx="383695" cy="485357"/>
            </a:xfrm>
            <a:prstGeom prst="ellipse">
              <a:avLst/>
            </a:prstGeom>
            <a:solidFill>
              <a:srgbClr val="EB0000">
                <a:alpha val="24000"/>
              </a:srgbClr>
            </a:solidFill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5E127E1-D0C4-4E27-A099-3C0546BDD590}"/>
              </a:ext>
            </a:extLst>
          </p:cNvPr>
          <p:cNvGrpSpPr/>
          <p:nvPr/>
        </p:nvGrpSpPr>
        <p:grpSpPr>
          <a:xfrm>
            <a:off x="442118" y="4647651"/>
            <a:ext cx="2019604" cy="1418153"/>
            <a:chOff x="501441" y="4647652"/>
            <a:chExt cx="2019604" cy="1234554"/>
          </a:xfrm>
        </p:grpSpPr>
        <p:pic>
          <p:nvPicPr>
            <p:cNvPr id="82" name="Picture 20">
              <a:extLst>
                <a:ext uri="{FF2B5EF4-FFF2-40B4-BE49-F238E27FC236}">
                  <a16:creationId xmlns:a16="http://schemas.microsoft.com/office/drawing/2014/main" id="{D657118A-EEEE-499C-AD56-C770AC4008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441" y="4647652"/>
              <a:ext cx="2019604" cy="1234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CB4C7886-1B86-4F76-A457-46580C7F7F09}"/>
                </a:ext>
              </a:extLst>
            </p:cNvPr>
            <p:cNvSpPr/>
            <p:nvPr/>
          </p:nvSpPr>
          <p:spPr>
            <a:xfrm>
              <a:off x="1369415" y="4814786"/>
              <a:ext cx="383695" cy="485357"/>
            </a:xfrm>
            <a:prstGeom prst="ellipse">
              <a:avLst/>
            </a:prstGeom>
            <a:solidFill>
              <a:srgbClr val="EB0000">
                <a:alpha val="24000"/>
              </a:srgbClr>
            </a:solidFill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632BE32-13B2-4D72-8630-0B859F867594}"/>
              </a:ext>
            </a:extLst>
          </p:cNvPr>
          <p:cNvGrpSpPr/>
          <p:nvPr/>
        </p:nvGrpSpPr>
        <p:grpSpPr>
          <a:xfrm>
            <a:off x="5105847" y="4647651"/>
            <a:ext cx="2068196" cy="1418153"/>
            <a:chOff x="4834564" y="4647652"/>
            <a:chExt cx="2068196" cy="1234554"/>
          </a:xfrm>
        </p:grpSpPr>
        <p:pic>
          <p:nvPicPr>
            <p:cNvPr id="74" name="Picture 16">
              <a:extLst>
                <a:ext uri="{FF2B5EF4-FFF2-40B4-BE49-F238E27FC236}">
                  <a16:creationId xmlns:a16="http://schemas.microsoft.com/office/drawing/2014/main" id="{E37CA3D8-4D41-4021-AE5D-92F9D110FC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34564" y="4647652"/>
              <a:ext cx="2068196" cy="1234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5551AA7E-D376-42CA-8AEB-F1325A3A9F9B}"/>
                </a:ext>
              </a:extLst>
            </p:cNvPr>
            <p:cNvSpPr/>
            <p:nvPr/>
          </p:nvSpPr>
          <p:spPr>
            <a:xfrm>
              <a:off x="5055029" y="5385874"/>
              <a:ext cx="1717085" cy="158954"/>
            </a:xfrm>
            <a:prstGeom prst="ellipse">
              <a:avLst/>
            </a:prstGeom>
            <a:solidFill>
              <a:srgbClr val="EB0000">
                <a:alpha val="24000"/>
              </a:srgbClr>
            </a:solidFill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91" name="타원 90">
            <a:extLst>
              <a:ext uri="{FF2B5EF4-FFF2-40B4-BE49-F238E27FC236}">
                <a16:creationId xmlns:a16="http://schemas.microsoft.com/office/drawing/2014/main" id="{409E6047-0AFC-41F4-BE1A-30E91895B833}"/>
              </a:ext>
            </a:extLst>
          </p:cNvPr>
          <p:cNvSpPr/>
          <p:nvPr/>
        </p:nvSpPr>
        <p:spPr>
          <a:xfrm>
            <a:off x="7986247" y="6064927"/>
            <a:ext cx="149634" cy="151606"/>
          </a:xfrm>
          <a:prstGeom prst="ellipse">
            <a:avLst/>
          </a:prstGeom>
          <a:solidFill>
            <a:srgbClr val="009C3C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endParaRPr lang="ko-KR" alt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A29ACA02-C0C4-447E-A712-D3C9A7A2D743}"/>
              </a:ext>
            </a:extLst>
          </p:cNvPr>
          <p:cNvSpPr/>
          <p:nvPr/>
        </p:nvSpPr>
        <p:spPr>
          <a:xfrm>
            <a:off x="7166084" y="1685964"/>
            <a:ext cx="2397980" cy="6572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800" dirty="0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BD537D4-EC32-48F1-A19B-E553D7F4484A}"/>
              </a:ext>
            </a:extLst>
          </p:cNvPr>
          <p:cNvSpPr/>
          <p:nvPr/>
        </p:nvSpPr>
        <p:spPr>
          <a:xfrm>
            <a:off x="4014443" y="1685964"/>
            <a:ext cx="2397980" cy="6572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800" dirty="0"/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07F8B641-5DB0-41F1-9177-3BF408B922AF}"/>
              </a:ext>
            </a:extLst>
          </p:cNvPr>
          <p:cNvSpPr/>
          <p:nvPr/>
        </p:nvSpPr>
        <p:spPr>
          <a:xfrm>
            <a:off x="7270203" y="1893073"/>
            <a:ext cx="467744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Init</a:t>
            </a:r>
            <a:b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5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5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가열판 이동</a:t>
            </a:r>
            <a:r>
              <a:rPr lang="en-US" altLang="ko-KR" sz="5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CA408BAD-C846-47CF-843D-DF368912671B}"/>
              </a:ext>
            </a:extLst>
          </p:cNvPr>
          <p:cNvSpPr/>
          <p:nvPr/>
        </p:nvSpPr>
        <p:spPr>
          <a:xfrm>
            <a:off x="9029340" y="1893073"/>
            <a:ext cx="412992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end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9DFABBE7-CBFF-4067-931C-B439E0B6DAA4}"/>
              </a:ext>
            </a:extLst>
          </p:cNvPr>
          <p:cNvCxnSpPr>
            <a:cxnSpLocks/>
            <a:stCxn id="94" idx="3"/>
            <a:endCxn id="95" idx="1"/>
          </p:cNvCxnSpPr>
          <p:nvPr/>
        </p:nvCxnSpPr>
        <p:spPr>
          <a:xfrm>
            <a:off x="7737947" y="2073073"/>
            <a:ext cx="1291393" cy="0"/>
          </a:xfrm>
          <a:prstGeom prst="straightConnector1">
            <a:avLst/>
          </a:prstGeom>
          <a:ln w="635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61F8F2F0-563A-4807-87D8-B59217F5B1E0}"/>
              </a:ext>
            </a:extLst>
          </p:cNvPr>
          <p:cNvSpPr/>
          <p:nvPr/>
        </p:nvSpPr>
        <p:spPr>
          <a:xfrm>
            <a:off x="7873220" y="1893073"/>
            <a:ext cx="585241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Start</a:t>
            </a:r>
            <a:b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6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(LineSpeed</a:t>
            </a:r>
          </a:p>
          <a:p>
            <a:pPr algn="ctr"/>
            <a:r>
              <a:rPr lang="en-US" altLang="ko-KR" sz="6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&gt;0)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96D4064-C789-4ABF-B1BE-72EEE62AB072}"/>
              </a:ext>
            </a:extLst>
          </p:cNvPr>
          <p:cNvSpPr/>
          <p:nvPr/>
        </p:nvSpPr>
        <p:spPr>
          <a:xfrm>
            <a:off x="7154254" y="2420494"/>
            <a:ext cx="648000" cy="258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Temp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E652CE79-AF50-4A96-9C63-78C995358516}"/>
              </a:ext>
            </a:extLst>
          </p:cNvPr>
          <p:cNvSpPr/>
          <p:nvPr/>
        </p:nvSpPr>
        <p:spPr>
          <a:xfrm>
            <a:off x="7154253" y="2770470"/>
            <a:ext cx="648000" cy="2563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Lamp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5320F72D-6C3F-492F-A82D-C340B8AD5285}"/>
              </a:ext>
            </a:extLst>
          </p:cNvPr>
          <p:cNvCxnSpPr>
            <a:cxnSpLocks/>
          </p:cNvCxnSpPr>
          <p:nvPr/>
        </p:nvCxnSpPr>
        <p:spPr>
          <a:xfrm>
            <a:off x="8794753" y="1934871"/>
            <a:ext cx="0" cy="35726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4E3D7C47-6BD5-4646-8627-9550F56DCD74}"/>
              </a:ext>
            </a:extLst>
          </p:cNvPr>
          <p:cNvSpPr/>
          <p:nvPr/>
        </p:nvSpPr>
        <p:spPr>
          <a:xfrm>
            <a:off x="8489167" y="2129412"/>
            <a:ext cx="567332" cy="22024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20</a:t>
            </a:r>
            <a:r>
              <a:rPr lang="ko-KR" altLang="en-US" sz="6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초 후 평가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074AEEE7-B889-4933-A198-526BF7E17EEC}"/>
              </a:ext>
            </a:extLst>
          </p:cNvPr>
          <p:cNvSpPr/>
          <p:nvPr/>
        </p:nvSpPr>
        <p:spPr>
          <a:xfrm>
            <a:off x="8579333" y="2767240"/>
            <a:ext cx="648000" cy="258084"/>
          </a:xfrm>
          <a:prstGeom prst="rect">
            <a:avLst/>
          </a:prstGeom>
          <a:solidFill>
            <a:schemeClr val="accent6"/>
          </a:solidFill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Temp</a:t>
            </a:r>
            <a:b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7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(Target)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43659E1A-8CDF-41BA-99CF-E415EC8070BF}"/>
              </a:ext>
            </a:extLst>
          </p:cNvPr>
          <p:cNvSpPr/>
          <p:nvPr/>
        </p:nvSpPr>
        <p:spPr>
          <a:xfrm>
            <a:off x="8595410" y="2420493"/>
            <a:ext cx="568621" cy="258084"/>
          </a:xfrm>
          <a:prstGeom prst="rect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Temp</a:t>
            </a:r>
            <a:b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7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(20</a:t>
            </a:r>
            <a:r>
              <a:rPr lang="ko-KR" altLang="en-US" sz="7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초 후</a:t>
            </a:r>
            <a:r>
              <a:rPr lang="en-US" altLang="ko-KR" sz="7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308BCBBE-8B70-4B60-962F-13217BC7FC71}"/>
              </a:ext>
            </a:extLst>
          </p:cNvPr>
          <p:cNvCxnSpPr>
            <a:cxnSpLocks/>
            <a:stCxn id="111" idx="3"/>
            <a:endCxn id="94" idx="1"/>
          </p:cNvCxnSpPr>
          <p:nvPr/>
        </p:nvCxnSpPr>
        <p:spPr>
          <a:xfrm>
            <a:off x="6286587" y="2073073"/>
            <a:ext cx="98361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6C41E8F-4F7E-4F42-BF19-F8658C579105}"/>
              </a:ext>
            </a:extLst>
          </p:cNvPr>
          <p:cNvCxnSpPr>
            <a:cxnSpLocks/>
          </p:cNvCxnSpPr>
          <p:nvPr/>
        </p:nvCxnSpPr>
        <p:spPr>
          <a:xfrm>
            <a:off x="4143100" y="1521258"/>
            <a:ext cx="211957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B79ECC9A-09A9-4DE0-AA26-BA2F79091742}"/>
              </a:ext>
            </a:extLst>
          </p:cNvPr>
          <p:cNvSpPr/>
          <p:nvPr/>
        </p:nvSpPr>
        <p:spPr>
          <a:xfrm>
            <a:off x="6504541" y="1753896"/>
            <a:ext cx="567332" cy="28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NonOp-</a:t>
            </a:r>
            <a:b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Time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911BDDB2-B795-46D4-A35F-BFA6C20DE934}"/>
              </a:ext>
            </a:extLst>
          </p:cNvPr>
          <p:cNvSpPr/>
          <p:nvPr/>
        </p:nvSpPr>
        <p:spPr>
          <a:xfrm>
            <a:off x="4913937" y="1346108"/>
            <a:ext cx="568621" cy="28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Op-Time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E33E0DFF-0181-4F67-87F1-4FEFE24B6672}"/>
              </a:ext>
            </a:extLst>
          </p:cNvPr>
          <p:cNvSpPr/>
          <p:nvPr/>
        </p:nvSpPr>
        <p:spPr>
          <a:xfrm>
            <a:off x="4085683" y="1893073"/>
            <a:ext cx="470409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Init</a:t>
            </a:r>
            <a:b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6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6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가열판 이동</a:t>
            </a:r>
            <a:r>
              <a:rPr lang="en-US" altLang="ko-KR" sz="6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1AAE6F36-F1A8-45D1-A857-7EB9E84D2DAB}"/>
              </a:ext>
            </a:extLst>
          </p:cNvPr>
          <p:cNvSpPr/>
          <p:nvPr/>
        </p:nvSpPr>
        <p:spPr>
          <a:xfrm>
            <a:off x="5667112" y="1893073"/>
            <a:ext cx="619475" cy="36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End</a:t>
            </a:r>
          </a:p>
          <a:p>
            <a:pPr algn="ctr"/>
            <a:r>
              <a:rPr lang="en-US" altLang="ko-KR" sz="6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(Line speed=0)</a:t>
            </a:r>
            <a:endParaRPr lang="ko-KR" altLang="en-US" sz="600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FCE5CA23-60FB-409E-92D5-3F4B21B9EC0A}"/>
              </a:ext>
            </a:extLst>
          </p:cNvPr>
          <p:cNvCxnSpPr>
            <a:cxnSpLocks/>
            <a:stCxn id="110" idx="3"/>
            <a:endCxn id="111" idx="1"/>
          </p:cNvCxnSpPr>
          <p:nvPr/>
        </p:nvCxnSpPr>
        <p:spPr>
          <a:xfrm>
            <a:off x="4556092" y="2073073"/>
            <a:ext cx="1111020" cy="0"/>
          </a:xfrm>
          <a:prstGeom prst="straightConnector1">
            <a:avLst/>
          </a:prstGeom>
          <a:ln w="635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066338DD-43B2-4B93-9348-4D67880E582A}"/>
              </a:ext>
            </a:extLst>
          </p:cNvPr>
          <p:cNvSpPr/>
          <p:nvPr/>
        </p:nvSpPr>
        <p:spPr>
          <a:xfrm>
            <a:off x="4717475" y="1893073"/>
            <a:ext cx="585241" cy="36030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Start</a:t>
            </a:r>
            <a:b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6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(LineSpeed</a:t>
            </a:r>
          </a:p>
          <a:p>
            <a:pPr algn="ctr"/>
            <a:r>
              <a:rPr lang="en-US" altLang="ko-KR" sz="6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&gt;0)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7440CC43-F902-40A2-A8F9-4BECCD955D32}"/>
              </a:ext>
            </a:extLst>
          </p:cNvPr>
          <p:cNvSpPr/>
          <p:nvPr/>
        </p:nvSpPr>
        <p:spPr>
          <a:xfrm>
            <a:off x="5774915" y="2419066"/>
            <a:ext cx="648000" cy="258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Temp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4068847F-BD19-4B88-908F-244792EFFB91}"/>
              </a:ext>
            </a:extLst>
          </p:cNvPr>
          <p:cNvSpPr/>
          <p:nvPr/>
        </p:nvSpPr>
        <p:spPr>
          <a:xfrm>
            <a:off x="5774914" y="2769042"/>
            <a:ext cx="648000" cy="2563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Lamp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6" name="왼쪽 대괄호 115">
            <a:extLst>
              <a:ext uri="{FF2B5EF4-FFF2-40B4-BE49-F238E27FC236}">
                <a16:creationId xmlns:a16="http://schemas.microsoft.com/office/drawing/2014/main" id="{ACCFD83D-8D69-4602-8C88-453F267CF35A}"/>
              </a:ext>
            </a:extLst>
          </p:cNvPr>
          <p:cNvSpPr/>
          <p:nvPr/>
        </p:nvSpPr>
        <p:spPr>
          <a:xfrm rot="16200000">
            <a:off x="5161008" y="2020398"/>
            <a:ext cx="131429" cy="2304000"/>
          </a:xfrm>
          <a:prstGeom prst="leftBracket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800" dirty="0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1BAE07B0-1B91-4AF8-B5C1-9602EA1DE631}"/>
              </a:ext>
            </a:extLst>
          </p:cNvPr>
          <p:cNvSpPr/>
          <p:nvPr/>
        </p:nvSpPr>
        <p:spPr>
          <a:xfrm>
            <a:off x="4477463" y="3245802"/>
            <a:ext cx="1545832" cy="2784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Prev </a:t>
            </a:r>
            <a:r>
              <a:rPr lang="en-US" altLang="ko-KR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직전 구간</a:t>
            </a:r>
            <a:r>
              <a:rPr lang="en-US" altLang="ko-KR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6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967A32F3-CE01-4183-B84E-7A36754BD6F0}"/>
              </a:ext>
            </a:extLst>
          </p:cNvPr>
          <p:cNvSpPr/>
          <p:nvPr/>
        </p:nvSpPr>
        <p:spPr>
          <a:xfrm>
            <a:off x="7872925" y="2767240"/>
            <a:ext cx="648000" cy="258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MIR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Lamp</a:t>
            </a:r>
            <a:b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4DA9245A-7975-4DB9-9CA0-7FE73DD13A75}"/>
              </a:ext>
            </a:extLst>
          </p:cNvPr>
          <p:cNvSpPr/>
          <p:nvPr/>
        </p:nvSpPr>
        <p:spPr>
          <a:xfrm>
            <a:off x="3938263" y="1142339"/>
            <a:ext cx="5710611" cy="2622608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800" dirty="0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1969D147-DB31-4C99-AA60-F71879C684BB}"/>
              </a:ext>
            </a:extLst>
          </p:cNvPr>
          <p:cNvSpPr/>
          <p:nvPr/>
        </p:nvSpPr>
        <p:spPr>
          <a:xfrm>
            <a:off x="4881624" y="1704716"/>
            <a:ext cx="720000" cy="1614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가동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93175487-57CD-4A53-BED1-CDD455C976D7}"/>
              </a:ext>
            </a:extLst>
          </p:cNvPr>
          <p:cNvSpPr/>
          <p:nvPr/>
        </p:nvSpPr>
        <p:spPr>
          <a:xfrm>
            <a:off x="8066574" y="1709498"/>
            <a:ext cx="720000" cy="1614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가동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EB3274D-2159-4D16-AA98-D54BA5492F47}"/>
              </a:ext>
            </a:extLst>
          </p:cNvPr>
          <p:cNvSpPr txBox="1"/>
          <p:nvPr/>
        </p:nvSpPr>
        <p:spPr>
          <a:xfrm>
            <a:off x="303322" y="3569943"/>
            <a:ext cx="3476772" cy="237694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IN/MID Lamp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온도가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없는 경우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미설치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), OUT Zone 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데이터만 사용하여 모델링</a:t>
            </a:r>
          </a:p>
        </p:txBody>
      </p:sp>
      <p:sp>
        <p:nvSpPr>
          <p:cNvPr id="126" name="이등변 삼각형 125">
            <a:extLst>
              <a:ext uri="{FF2B5EF4-FFF2-40B4-BE49-F238E27FC236}">
                <a16:creationId xmlns:a16="http://schemas.microsoft.com/office/drawing/2014/main" id="{3F4277F0-549D-48F5-8A79-338E35E2C799}"/>
              </a:ext>
            </a:extLst>
          </p:cNvPr>
          <p:cNvSpPr/>
          <p:nvPr/>
        </p:nvSpPr>
        <p:spPr>
          <a:xfrm rot="5400000">
            <a:off x="2662241" y="2270260"/>
            <a:ext cx="1885652" cy="431833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C85B843-EAC6-43B4-B298-7FD936739E27}"/>
              </a:ext>
            </a:extLst>
          </p:cNvPr>
          <p:cNvSpPr txBox="1"/>
          <p:nvPr/>
        </p:nvSpPr>
        <p:spPr>
          <a:xfrm>
            <a:off x="3149076" y="2302025"/>
            <a:ext cx="809963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Data</a:t>
            </a:r>
            <a:r>
              <a:rPr lang="ko-KR" altLang="en-US" sz="1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구조</a:t>
            </a:r>
            <a:endParaRPr lang="en-US" altLang="ko-KR" sz="10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시각화</a:t>
            </a:r>
          </a:p>
        </p:txBody>
      </p:sp>
      <p:sp>
        <p:nvSpPr>
          <p:cNvPr id="120" name="왼쪽 대괄호 119">
            <a:extLst>
              <a:ext uri="{FF2B5EF4-FFF2-40B4-BE49-F238E27FC236}">
                <a16:creationId xmlns:a16="http://schemas.microsoft.com/office/drawing/2014/main" id="{DE11DD1A-51D4-416D-9691-3C6265E30F30}"/>
              </a:ext>
            </a:extLst>
          </p:cNvPr>
          <p:cNvSpPr/>
          <p:nvPr/>
        </p:nvSpPr>
        <p:spPr>
          <a:xfrm rot="16200000">
            <a:off x="7756177" y="2535826"/>
            <a:ext cx="131430" cy="1273143"/>
          </a:xfrm>
          <a:prstGeom prst="leftBracket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800" dirty="0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94E3236D-27EB-4EAC-A663-DFB7023849D5}"/>
              </a:ext>
            </a:extLst>
          </p:cNvPr>
          <p:cNvSpPr/>
          <p:nvPr/>
        </p:nvSpPr>
        <p:spPr>
          <a:xfrm>
            <a:off x="7208108" y="3268156"/>
            <a:ext cx="1242071" cy="2784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Init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현재 가동 시점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6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32579B1F-4C2F-4199-9EF9-077F5B3A852D}"/>
              </a:ext>
            </a:extLst>
          </p:cNvPr>
          <p:cNvSpPr/>
          <p:nvPr/>
        </p:nvSpPr>
        <p:spPr>
          <a:xfrm>
            <a:off x="8553400" y="3268156"/>
            <a:ext cx="984731" cy="2784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9/14/20</a:t>
            </a:r>
            <a:r>
              <a:rPr lang="ko-KR" altLang="en-US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초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시점</a:t>
            </a:r>
            <a:endParaRPr lang="ko-KR" altLang="en-US" sz="14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3" name="왼쪽 대괄호 132">
            <a:extLst>
              <a:ext uri="{FF2B5EF4-FFF2-40B4-BE49-F238E27FC236}">
                <a16:creationId xmlns:a16="http://schemas.microsoft.com/office/drawing/2014/main" id="{08F07F47-BA70-49E5-B54A-205D704C30A1}"/>
              </a:ext>
            </a:extLst>
          </p:cNvPr>
          <p:cNvSpPr/>
          <p:nvPr/>
        </p:nvSpPr>
        <p:spPr>
          <a:xfrm rot="16200000">
            <a:off x="9005985" y="2680030"/>
            <a:ext cx="131429" cy="984731"/>
          </a:xfrm>
          <a:prstGeom prst="leftBracket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800" dirty="0"/>
          </a:p>
        </p:txBody>
      </p:sp>
      <p:graphicFrame>
        <p:nvGraphicFramePr>
          <p:cNvPr id="134" name="표 133">
            <a:extLst>
              <a:ext uri="{FF2B5EF4-FFF2-40B4-BE49-F238E27FC236}">
                <a16:creationId xmlns:a16="http://schemas.microsoft.com/office/drawing/2014/main" id="{F4F68B86-416F-4CF7-AC89-0DACCB988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835104"/>
              </p:ext>
            </p:extLst>
          </p:nvPr>
        </p:nvGraphicFramePr>
        <p:xfrm>
          <a:off x="399835" y="1460821"/>
          <a:ext cx="2783416" cy="173651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23196">
                  <a:extLst>
                    <a:ext uri="{9D8B030D-6E8A-4147-A177-3AD203B41FA5}">
                      <a16:colId xmlns:a16="http://schemas.microsoft.com/office/drawing/2014/main" val="106834827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7605084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557911901"/>
                    </a:ext>
                  </a:extLst>
                </a:gridCol>
              </a:tblGrid>
              <a:tr h="1736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활용 </a:t>
                      </a:r>
                      <a:r>
                        <a:rPr lang="en-US" altLang="ko-KR" sz="900" b="1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Data</a:t>
                      </a: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취득 구간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E2E8F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데이터 타입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150085"/>
                  </a:ext>
                </a:extLst>
              </a:tr>
              <a:tr h="1736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Timestamp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 구간</a:t>
                      </a: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Date or Character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347209"/>
                  </a:ext>
                </a:extLst>
              </a:tr>
              <a:tr h="1736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Line Speed</a:t>
                      </a: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 구간</a:t>
                      </a: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Float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820859"/>
                  </a:ext>
                </a:extLst>
              </a:tr>
              <a:tr h="17365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 표면온도</a:t>
                      </a: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 Zone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Float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653042"/>
                  </a:ext>
                </a:extLst>
              </a:tr>
              <a:tr h="17365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 Zone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Float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229789"/>
                  </a:ext>
                </a:extLst>
              </a:tr>
              <a:tr h="173651"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 Zone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Float</a:t>
                      </a: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076988"/>
                  </a:ext>
                </a:extLst>
              </a:tr>
              <a:tr h="17365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Lamp 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온도</a:t>
                      </a: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 Zone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Float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799150"/>
                  </a:ext>
                </a:extLst>
              </a:tr>
              <a:tr h="17365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 Zone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Float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061986"/>
                  </a:ext>
                </a:extLst>
              </a:tr>
              <a:tr h="17365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 Zone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Float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569145"/>
                  </a:ext>
                </a:extLst>
              </a:tr>
              <a:tr h="1736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Lamp</a:t>
                      </a:r>
                      <a:r>
                        <a:rPr lang="ko-KR" altLang="en-US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출력</a:t>
                      </a: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 Zone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Float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412" marR="5412" marT="541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783378"/>
                  </a:ext>
                </a:extLst>
              </a:tr>
            </a:tbl>
          </a:graphicData>
        </a:graphic>
      </p:graphicFrame>
      <p:sp>
        <p:nvSpPr>
          <p:cNvPr id="106" name="실행 단추: 홈 8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6BDC6327-0F4D-4221-9376-8F2349F1CAD7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DD5BD8F-3C2F-4AA1-8718-A2433EF4E0D7}"/>
              </a:ext>
            </a:extLst>
          </p:cNvPr>
          <p:cNvSpPr txBox="1"/>
          <p:nvPr/>
        </p:nvSpPr>
        <p:spPr>
          <a:xfrm>
            <a:off x="478722" y="4366533"/>
            <a:ext cx="2156596" cy="274178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가속 후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초 시점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Line Speed 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≤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990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053CAAC-2EDF-4E35-A6C0-87CEA96919EC}"/>
              </a:ext>
            </a:extLst>
          </p:cNvPr>
          <p:cNvSpPr txBox="1"/>
          <p:nvPr/>
        </p:nvSpPr>
        <p:spPr>
          <a:xfrm>
            <a:off x="2844029" y="4366533"/>
            <a:ext cx="1625045" cy="274178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 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직전 부동 시간 미존재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468E5A1-F1F2-4C53-888D-972F39C5B3A9}"/>
              </a:ext>
            </a:extLst>
          </p:cNvPr>
          <p:cNvSpPr txBox="1"/>
          <p:nvPr/>
        </p:nvSpPr>
        <p:spPr>
          <a:xfrm>
            <a:off x="4925103" y="4366533"/>
            <a:ext cx="2523774" cy="274178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 MIR Lamp 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출력에 따른 표면온도 정상 미변화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6F06A35-418A-4F5A-A8AA-69D9BA2E860C}"/>
              </a:ext>
            </a:extLst>
          </p:cNvPr>
          <p:cNvSpPr txBox="1"/>
          <p:nvPr/>
        </p:nvSpPr>
        <p:spPr>
          <a:xfrm>
            <a:off x="7502065" y="4366533"/>
            <a:ext cx="2238114" cy="274178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4. Target 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온도가 비정상적으로 설정됨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467134E-CEA2-4842-B438-4B0366FC1CEE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분석대상 정의</a:t>
            </a:r>
          </a:p>
        </p:txBody>
      </p:sp>
    </p:spTree>
    <p:extLst>
      <p:ext uri="{BB962C8B-B14F-4D97-AF65-F5344CB8AC3E}">
        <p14:creationId xmlns:p14="http://schemas.microsoft.com/office/powerpoint/2010/main" val="2986158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A00E1CD9-683F-42B1-A255-43151C9B43BE}"/>
              </a:ext>
            </a:extLst>
          </p:cNvPr>
          <p:cNvSpPr/>
          <p:nvPr/>
        </p:nvSpPr>
        <p:spPr>
          <a:xfrm>
            <a:off x="4299133" y="2554815"/>
            <a:ext cx="5457463" cy="3745318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ECB72811-ED03-42F5-B575-AFD04E10434D}"/>
              </a:ext>
            </a:extLst>
          </p:cNvPr>
          <p:cNvSpPr/>
          <p:nvPr/>
        </p:nvSpPr>
        <p:spPr>
          <a:xfrm>
            <a:off x="2435868" y="2923101"/>
            <a:ext cx="786375" cy="169878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BD3EEDC5-44D2-4C01-992A-B1F17ED8B086}"/>
              </a:ext>
            </a:extLst>
          </p:cNvPr>
          <p:cNvSpPr/>
          <p:nvPr/>
        </p:nvSpPr>
        <p:spPr>
          <a:xfrm>
            <a:off x="600322" y="2506528"/>
            <a:ext cx="2557579" cy="2726257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21" name="연결선: 꺾임 120">
            <a:extLst>
              <a:ext uri="{FF2B5EF4-FFF2-40B4-BE49-F238E27FC236}">
                <a16:creationId xmlns:a16="http://schemas.microsoft.com/office/drawing/2014/main" id="{599E799A-3035-44C9-A62B-67AA88E9C001}"/>
              </a:ext>
            </a:extLst>
          </p:cNvPr>
          <p:cNvCxnSpPr>
            <a:cxnSpLocks/>
            <a:stCxn id="5" idx="2"/>
            <a:endCxn id="94" idx="2"/>
          </p:cNvCxnSpPr>
          <p:nvPr/>
        </p:nvCxnSpPr>
        <p:spPr>
          <a:xfrm rot="16200000" flipH="1">
            <a:off x="5498152" y="1771562"/>
            <a:ext cx="1041568" cy="6651049"/>
          </a:xfrm>
          <a:prstGeom prst="bentConnector3">
            <a:avLst>
              <a:gd name="adj1" fmla="val 153785"/>
            </a:avLst>
          </a:prstGeom>
          <a:ln>
            <a:solidFill>
              <a:srgbClr val="94A3B8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56EE0522-DD45-4E4F-8346-EF513640CF8C}"/>
              </a:ext>
            </a:extLst>
          </p:cNvPr>
          <p:cNvSpPr/>
          <p:nvPr/>
        </p:nvSpPr>
        <p:spPr>
          <a:xfrm>
            <a:off x="7508929" y="4518450"/>
            <a:ext cx="620293" cy="1118471"/>
          </a:xfrm>
          <a:prstGeom prst="rect">
            <a:avLst/>
          </a:prstGeom>
          <a:solidFill>
            <a:schemeClr val="accent6">
              <a:lumMod val="20000"/>
              <a:lumOff val="80000"/>
              <a:alpha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8" name="AutoShape 12" descr="sdc_bar_plot.png (260×183)">
            <a:extLst>
              <a:ext uri="{FF2B5EF4-FFF2-40B4-BE49-F238E27FC236}">
                <a16:creationId xmlns:a16="http://schemas.microsoft.com/office/drawing/2014/main" id="{0053D8DA-8131-42A3-A337-5CC985AC9B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4285" y="271096"/>
            <a:ext cx="281354" cy="2813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ko-KR" altLang="en-US" sz="1662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AB30415-7A0F-4952-9E5F-FA6F823FF920}"/>
              </a:ext>
            </a:extLst>
          </p:cNvPr>
          <p:cNvSpPr txBox="1"/>
          <p:nvPr/>
        </p:nvSpPr>
        <p:spPr>
          <a:xfrm>
            <a:off x="144000" y="508888"/>
            <a:ext cx="9691425" cy="364715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평가지표가 가장 우수한 모형을 선정 후</a:t>
            </a:r>
            <a:r>
              <a:rPr lang="en-US" altLang="ko-KR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PLC-PC</a:t>
            </a:r>
            <a:r>
              <a:rPr lang="ko-KR" altLang="en-US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통신 환경 구축하여 개발 완료된 알고리즘 모형을 현장 적용함</a:t>
            </a:r>
            <a:r>
              <a:rPr lang="en-US" altLang="ko-KR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ko-KR" altLang="en-US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9" name="Text Box 32">
            <a:extLst>
              <a:ext uri="{FF2B5EF4-FFF2-40B4-BE49-F238E27FC236}">
                <a16:creationId xmlns:a16="http://schemas.microsoft.com/office/drawing/2014/main" id="{43B038B0-0A38-4C2D-B59B-31FB172E0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26" y="1097471"/>
            <a:ext cx="3879193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422041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lang="ko-KR" altLang="en-US" sz="1400" b="1" dirty="0">
                <a:ln w="3175">
                  <a:noFill/>
                </a:ln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최종</a:t>
            </a:r>
            <a:r>
              <a:rPr lang="en-US" altLang="ko-KR" sz="1400" b="1" dirty="0">
                <a:ln w="3175">
                  <a:noFill/>
                </a:ln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400" b="1" dirty="0">
                <a:ln w="3175">
                  <a:noFill/>
                </a:ln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모형 선정</a:t>
            </a:r>
            <a:endParaRPr lang="en-US" altLang="ko-KR" sz="1400" b="1" dirty="0">
              <a:ln w="3175">
                <a:noFill/>
              </a:ln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28" name="그래픽 27" descr="서버">
            <a:extLst>
              <a:ext uri="{FF2B5EF4-FFF2-40B4-BE49-F238E27FC236}">
                <a16:creationId xmlns:a16="http://schemas.microsoft.com/office/drawing/2014/main" id="{D09AAA1B-FCB9-488E-B8CF-24610669B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888" y="3011935"/>
            <a:ext cx="1141233" cy="221433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8ADE153-220D-432F-81C2-44D6E14127AA}"/>
              </a:ext>
            </a:extLst>
          </p:cNvPr>
          <p:cNvSpPr txBox="1"/>
          <p:nvPr/>
        </p:nvSpPr>
        <p:spPr>
          <a:xfrm>
            <a:off x="1013424" y="2953571"/>
            <a:ext cx="809963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 </a:t>
            </a:r>
            <a:r>
              <a:rPr lang="ko-KR" altLang="en-US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</a:t>
            </a:r>
            <a:r>
              <a:rPr lang="en-US" altLang="ko-KR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5" name="그래픽 4" descr="원격 제어">
            <a:extLst>
              <a:ext uri="{FF2B5EF4-FFF2-40B4-BE49-F238E27FC236}">
                <a16:creationId xmlns:a16="http://schemas.microsoft.com/office/drawing/2014/main" id="{1F7999A8-CCA5-4E80-BABD-A7F4A6CEB4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36212" y="3661903"/>
            <a:ext cx="914400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DB38A11-806B-4B65-816C-07108BCBA65F}"/>
              </a:ext>
            </a:extLst>
          </p:cNvPr>
          <p:cNvSpPr txBox="1"/>
          <p:nvPr/>
        </p:nvSpPr>
        <p:spPr>
          <a:xfrm>
            <a:off x="2426909" y="3438644"/>
            <a:ext cx="809963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 PLC ]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94C898D-C181-4840-8FC4-AEACFB6D7F00}"/>
              </a:ext>
            </a:extLst>
          </p:cNvPr>
          <p:cNvCxnSpPr>
            <a:cxnSpLocks/>
            <a:stCxn id="28" idx="3"/>
            <a:endCxn id="5" idx="1"/>
          </p:cNvCxnSpPr>
          <p:nvPr/>
        </p:nvCxnSpPr>
        <p:spPr>
          <a:xfrm flipV="1">
            <a:off x="1868121" y="4119103"/>
            <a:ext cx="368091" cy="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9AAA60C-C4E0-4015-8C00-EA832F6B2E58}"/>
              </a:ext>
            </a:extLst>
          </p:cNvPr>
          <p:cNvSpPr txBox="1"/>
          <p:nvPr/>
        </p:nvSpPr>
        <p:spPr>
          <a:xfrm>
            <a:off x="1868121" y="3828311"/>
            <a:ext cx="502986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16E4E25-C878-44D2-8407-65A7D4F30337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 flipV="1">
            <a:off x="3150612" y="3229171"/>
            <a:ext cx="1293190" cy="88993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96B4027-EBA1-449F-874A-EEE7D093846E}"/>
              </a:ext>
            </a:extLst>
          </p:cNvPr>
          <p:cNvSpPr txBox="1"/>
          <p:nvPr/>
        </p:nvSpPr>
        <p:spPr>
          <a:xfrm>
            <a:off x="3284102" y="3446794"/>
            <a:ext cx="981133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수집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CBD195-6D41-404A-8B1B-EC4261C858A7}"/>
              </a:ext>
            </a:extLst>
          </p:cNvPr>
          <p:cNvSpPr txBox="1"/>
          <p:nvPr/>
        </p:nvSpPr>
        <p:spPr>
          <a:xfrm>
            <a:off x="2340798" y="3112000"/>
            <a:ext cx="697627" cy="369332"/>
          </a:xfrm>
          <a:prstGeom prst="rect">
            <a:avLst/>
          </a:prstGeom>
          <a:noFill/>
          <a:ln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lang="en-US" altLang="ko-KR" dirty="0">
                <a:solidFill>
                  <a:srgbClr val="E2E8F0"/>
                </a:solidFill>
              </a:rPr>
              <a:t>Misubisi</a:t>
            </a:r>
          </a:p>
          <a:p>
            <a:pPr algn="ctr"/>
            <a:r>
              <a:rPr lang="ko-KR" altLang="en-US" dirty="0">
                <a:solidFill>
                  <a:srgbClr val="E2E8F0"/>
                </a:solidFill>
              </a:rPr>
              <a:t>이더넷통신</a:t>
            </a:r>
          </a:p>
        </p:txBody>
      </p:sp>
      <p:pic>
        <p:nvPicPr>
          <p:cNvPr id="14" name="그래픽 13" descr="은행 수표">
            <a:extLst>
              <a:ext uri="{FF2B5EF4-FFF2-40B4-BE49-F238E27FC236}">
                <a16:creationId xmlns:a16="http://schemas.microsoft.com/office/drawing/2014/main" id="{FBA7B4FB-13E5-4AB0-B0E2-55F515A9D5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3802" y="2771971"/>
            <a:ext cx="914400" cy="914400"/>
          </a:xfrm>
          <a:prstGeom prst="rect">
            <a:avLst/>
          </a:prstGeom>
        </p:spPr>
      </p:pic>
      <p:pic>
        <p:nvPicPr>
          <p:cNvPr id="52" name="그래픽 51" descr="은행 수표">
            <a:extLst>
              <a:ext uri="{FF2B5EF4-FFF2-40B4-BE49-F238E27FC236}">
                <a16:creationId xmlns:a16="http://schemas.microsoft.com/office/drawing/2014/main" id="{27B418F7-8544-42A0-A5F3-8F437DD72A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3802" y="4703471"/>
            <a:ext cx="914400" cy="914400"/>
          </a:xfrm>
          <a:prstGeom prst="rect">
            <a:avLst/>
          </a:prstGeom>
        </p:spPr>
      </p:pic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1F54B613-EFAD-4F39-9316-C352C13F7A95}"/>
              </a:ext>
            </a:extLst>
          </p:cNvPr>
          <p:cNvCxnSpPr>
            <a:cxnSpLocks/>
            <a:stCxn id="5" idx="3"/>
            <a:endCxn id="52" idx="1"/>
          </p:cNvCxnSpPr>
          <p:nvPr/>
        </p:nvCxnSpPr>
        <p:spPr>
          <a:xfrm>
            <a:off x="3150612" y="4119103"/>
            <a:ext cx="1293190" cy="1041568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3CE2236-66C5-4F83-AC59-C3BCAB3C056F}"/>
              </a:ext>
            </a:extLst>
          </p:cNvPr>
          <p:cNvSpPr txBox="1"/>
          <p:nvPr/>
        </p:nvSpPr>
        <p:spPr>
          <a:xfrm>
            <a:off x="3284102" y="4398997"/>
            <a:ext cx="981133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수집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B0A5D1E3-BA65-4C55-9906-13400FECFFCD}"/>
              </a:ext>
            </a:extLst>
          </p:cNvPr>
          <p:cNvCxnSpPr>
            <a:cxnSpLocks/>
            <a:stCxn id="14" idx="3"/>
            <a:endCxn id="49" idx="1"/>
          </p:cNvCxnSpPr>
          <p:nvPr/>
        </p:nvCxnSpPr>
        <p:spPr>
          <a:xfrm flipV="1">
            <a:off x="5358202" y="3220527"/>
            <a:ext cx="1204081" cy="864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그래픽 48" descr="목록 RTL">
            <a:extLst>
              <a:ext uri="{FF2B5EF4-FFF2-40B4-BE49-F238E27FC236}">
                <a16:creationId xmlns:a16="http://schemas.microsoft.com/office/drawing/2014/main" id="{F372A17B-FD39-4A13-8B5D-56A9A0C37F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62283" y="2991878"/>
            <a:ext cx="914400" cy="457297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C1AC61EE-2787-4898-ACA8-B33CC8A66EAD}"/>
              </a:ext>
            </a:extLst>
          </p:cNvPr>
          <p:cNvSpPr txBox="1"/>
          <p:nvPr/>
        </p:nvSpPr>
        <p:spPr>
          <a:xfrm>
            <a:off x="5455734" y="3244190"/>
            <a:ext cx="981133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Log</a:t>
            </a:r>
            <a:r>
              <a:rPr lang="ko-KR" altLang="en-US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파일 생성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E4FDCEB-D0EE-4A09-8E42-9039446D5BE0}"/>
              </a:ext>
            </a:extLst>
          </p:cNvPr>
          <p:cNvSpPr txBox="1"/>
          <p:nvPr/>
        </p:nvSpPr>
        <p:spPr>
          <a:xfrm>
            <a:off x="4376863" y="2771180"/>
            <a:ext cx="1410614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프로그램</a:t>
            </a:r>
            <a:r>
              <a:rPr lang="en-US" altLang="ko-KR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 </a:t>
            </a:r>
            <a:r>
              <a:rPr lang="en-US" altLang="ko-KR" sz="8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(Python)</a:t>
            </a:r>
            <a:endParaRPr lang="ko-KR" altLang="en-US" sz="10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27F4A74-EFFE-4B71-BD08-A94E2EDEE798}"/>
              </a:ext>
            </a:extLst>
          </p:cNvPr>
          <p:cNvSpPr txBox="1"/>
          <p:nvPr/>
        </p:nvSpPr>
        <p:spPr>
          <a:xfrm>
            <a:off x="4373140" y="4729784"/>
            <a:ext cx="1410614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프로그램</a:t>
            </a:r>
            <a:r>
              <a:rPr lang="en-US" altLang="ko-KR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 </a:t>
            </a:r>
            <a:r>
              <a:rPr lang="en-US" altLang="ko-KR" sz="8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(Python)</a:t>
            </a:r>
            <a:endParaRPr lang="ko-KR" altLang="en-US" sz="10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C31C3105-DFBB-40C3-AEE2-7F209D73A3D4}"/>
              </a:ext>
            </a:extLst>
          </p:cNvPr>
          <p:cNvGrpSpPr/>
          <p:nvPr/>
        </p:nvGrpSpPr>
        <p:grpSpPr>
          <a:xfrm>
            <a:off x="5726293" y="4946989"/>
            <a:ext cx="1248862" cy="426575"/>
            <a:chOff x="5726293" y="3429000"/>
            <a:chExt cx="1248862" cy="426575"/>
          </a:xfrm>
        </p:grpSpPr>
        <p:sp>
          <p:nvSpPr>
            <p:cNvPr id="72" name="순서도: 판단 71">
              <a:extLst>
                <a:ext uri="{FF2B5EF4-FFF2-40B4-BE49-F238E27FC236}">
                  <a16:creationId xmlns:a16="http://schemas.microsoft.com/office/drawing/2014/main" id="{B99818F2-687B-47FB-85A1-52039D5983FC}"/>
                </a:ext>
              </a:extLst>
            </p:cNvPr>
            <p:cNvSpPr/>
            <p:nvPr/>
          </p:nvSpPr>
          <p:spPr>
            <a:xfrm>
              <a:off x="5726293" y="3429000"/>
              <a:ext cx="1248862" cy="426575"/>
            </a:xfrm>
            <a:prstGeom prst="flowChartDecision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80FC499-C795-415C-9CFC-56661BE3F89E}"/>
                </a:ext>
              </a:extLst>
            </p:cNvPr>
            <p:cNvSpPr txBox="1"/>
            <p:nvPr/>
          </p:nvSpPr>
          <p:spPr>
            <a:xfrm>
              <a:off x="5967745" y="3576297"/>
              <a:ext cx="763029" cy="13849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제어</a:t>
              </a:r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Trigger </a:t>
              </a:r>
              <a:r>
                <a:rPr lang="ko-KR" altLang="en-US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검토</a:t>
              </a:r>
              <a:endPara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4E62E19A-31B6-4505-9A0B-03D3B5F20700}"/>
              </a:ext>
            </a:extLst>
          </p:cNvPr>
          <p:cNvCxnSpPr>
            <a:cxnSpLocks/>
            <a:stCxn id="52" idx="3"/>
            <a:endCxn id="72" idx="1"/>
          </p:cNvCxnSpPr>
          <p:nvPr/>
        </p:nvCxnSpPr>
        <p:spPr>
          <a:xfrm flipV="1">
            <a:off x="5358202" y="5160277"/>
            <a:ext cx="368091" cy="39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B686BD9-A3E4-4082-93AA-445966989E31}"/>
              </a:ext>
            </a:extLst>
          </p:cNvPr>
          <p:cNvSpPr txBox="1"/>
          <p:nvPr/>
        </p:nvSpPr>
        <p:spPr>
          <a:xfrm>
            <a:off x="4996043" y="5592704"/>
            <a:ext cx="1056700" cy="230832"/>
          </a:xfrm>
          <a:prstGeom prst="rect">
            <a:avLst/>
          </a:prstGeom>
          <a:noFill/>
          <a:ln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lang="en-US" altLang="ko-KR" dirty="0">
                <a:solidFill>
                  <a:srgbClr val="E2E8F0"/>
                </a:solidFill>
              </a:rPr>
              <a:t>0.2s </a:t>
            </a:r>
            <a:r>
              <a:rPr lang="ko-KR" altLang="en-US" dirty="0">
                <a:solidFill>
                  <a:srgbClr val="E2E8F0"/>
                </a:solidFill>
              </a:rPr>
              <a:t>마다 수집</a:t>
            </a:r>
            <a:r>
              <a:rPr lang="en-US" altLang="ko-KR" dirty="0">
                <a:solidFill>
                  <a:srgbClr val="E2E8F0"/>
                </a:solidFill>
              </a:rPr>
              <a:t>/</a:t>
            </a:r>
            <a:r>
              <a:rPr lang="ko-KR" altLang="en-US" dirty="0">
                <a:solidFill>
                  <a:srgbClr val="E2E8F0"/>
                </a:solidFill>
              </a:rPr>
              <a:t>검토</a:t>
            </a:r>
          </a:p>
        </p:txBody>
      </p: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47FD54CE-EE8F-44CB-BAD1-3ABCFE3927E3}"/>
              </a:ext>
            </a:extLst>
          </p:cNvPr>
          <p:cNvCxnSpPr>
            <a:cxnSpLocks/>
            <a:stCxn id="72" idx="2"/>
            <a:endCxn id="52" idx="2"/>
          </p:cNvCxnSpPr>
          <p:nvPr/>
        </p:nvCxnSpPr>
        <p:spPr>
          <a:xfrm rot="5400000">
            <a:off x="5503710" y="4770856"/>
            <a:ext cx="244307" cy="1449722"/>
          </a:xfrm>
          <a:prstGeom prst="bentConnector3">
            <a:avLst>
              <a:gd name="adj1" fmla="val 169535"/>
            </a:avLst>
          </a:prstGeom>
          <a:ln>
            <a:solidFill>
              <a:srgbClr val="94A3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069577CA-93F1-4F5B-8B11-82E03B6E6317}"/>
              </a:ext>
            </a:extLst>
          </p:cNvPr>
          <p:cNvSpPr txBox="1"/>
          <p:nvPr/>
        </p:nvSpPr>
        <p:spPr>
          <a:xfrm>
            <a:off x="6176448" y="5410123"/>
            <a:ext cx="121828" cy="138499"/>
          </a:xfrm>
          <a:prstGeom prst="rect">
            <a:avLst/>
          </a:prstGeom>
          <a:noFill/>
          <a:ln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lang="en-US" altLang="ko-KR" dirty="0">
                <a:solidFill>
                  <a:srgbClr val="E2E8F0"/>
                </a:solidFill>
              </a:rPr>
              <a:t>No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86" name="말풍선: 사각형 85">
            <a:extLst>
              <a:ext uri="{FF2B5EF4-FFF2-40B4-BE49-F238E27FC236}">
                <a16:creationId xmlns:a16="http://schemas.microsoft.com/office/drawing/2014/main" id="{C01782B3-4635-4900-B11B-005FCBAD33E7}"/>
              </a:ext>
            </a:extLst>
          </p:cNvPr>
          <p:cNvSpPr/>
          <p:nvPr/>
        </p:nvSpPr>
        <p:spPr>
          <a:xfrm>
            <a:off x="4556009" y="3765120"/>
            <a:ext cx="2823471" cy="853230"/>
          </a:xfrm>
          <a:prstGeom prst="wedgeRectCallout">
            <a:avLst>
              <a:gd name="adj1" fmla="val 13791"/>
              <a:gd name="adj2" fmla="val 78088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lvl="0"/>
            <a:r>
              <a:rPr lang="en-US" altLang="ko-KR" sz="9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9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조건</a:t>
            </a:r>
            <a:r>
              <a:rPr lang="en-US" altLang="ko-KR" sz="9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1]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재가동시점 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(OpState 0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 시점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 경우</a:t>
            </a:r>
            <a:endParaRPr lang="en-US" altLang="ko-KR" sz="9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/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ko-KR" altLang="en-US" sz="900" dirty="0" err="1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정속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(1,000mm/s)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운행 대상 확인 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(Line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Speed SV==1,000)</a:t>
            </a:r>
          </a:p>
          <a:p>
            <a:pPr lvl="0"/>
            <a:endParaRPr lang="en-US" altLang="ko-KR" sz="9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vl="0"/>
            <a:r>
              <a:rPr lang="en-US" altLang="ko-KR" sz="9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9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조건</a:t>
            </a:r>
            <a:r>
              <a:rPr lang="en-US" altLang="ko-KR" sz="9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2]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알고리즘 스위치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on (UseState == 1)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 경우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b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선택된 알고리즘에 해당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하는 알고리즘 운영</a:t>
            </a:r>
            <a:b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선택 알고리즘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: Algorithm==1(DNN) | Algorithm==2(2SLS) </a:t>
            </a:r>
            <a:endParaRPr lang="ko-KR" altLang="en-US" sz="600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DDD8D394-72D1-4D0C-9E27-945F78006B80}"/>
              </a:ext>
            </a:extLst>
          </p:cNvPr>
          <p:cNvCxnSpPr>
            <a:cxnSpLocks/>
            <a:stCxn id="72" idx="3"/>
            <a:endCxn id="87" idx="1"/>
          </p:cNvCxnSpPr>
          <p:nvPr/>
        </p:nvCxnSpPr>
        <p:spPr>
          <a:xfrm flipV="1">
            <a:off x="6975155" y="5160276"/>
            <a:ext cx="515230" cy="1"/>
          </a:xfrm>
          <a:prstGeom prst="straightConnector1">
            <a:avLst/>
          </a:prstGeom>
          <a:ln>
            <a:solidFill>
              <a:srgbClr val="94A3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6569EB95-3BC1-46AF-9D07-755933039270}"/>
              </a:ext>
            </a:extLst>
          </p:cNvPr>
          <p:cNvSpPr txBox="1"/>
          <p:nvPr/>
        </p:nvSpPr>
        <p:spPr>
          <a:xfrm>
            <a:off x="7156779" y="4998323"/>
            <a:ext cx="163506" cy="138499"/>
          </a:xfrm>
          <a:prstGeom prst="rect">
            <a:avLst/>
          </a:prstGeom>
          <a:noFill/>
          <a:ln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lang="en-US" altLang="ko-KR" dirty="0">
                <a:solidFill>
                  <a:srgbClr val="E2E8F0"/>
                </a:solidFill>
              </a:rPr>
              <a:t>Yes</a:t>
            </a:r>
            <a:endParaRPr lang="ko-KR" altLang="en-US" dirty="0">
              <a:solidFill>
                <a:srgbClr val="0000FF"/>
              </a:solidFill>
            </a:endParaRPr>
          </a:p>
        </p:txBody>
      </p:sp>
      <p:pic>
        <p:nvPicPr>
          <p:cNvPr id="87" name="그래픽 86" descr="프로세서">
            <a:extLst>
              <a:ext uri="{FF2B5EF4-FFF2-40B4-BE49-F238E27FC236}">
                <a16:creationId xmlns:a16="http://schemas.microsoft.com/office/drawing/2014/main" id="{E36260F4-4653-4769-B1A1-FF2E04916A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90385" y="4737654"/>
            <a:ext cx="620293" cy="845243"/>
          </a:xfrm>
          <a:prstGeom prst="rect">
            <a:avLst/>
          </a:prstGeom>
        </p:spPr>
      </p:pic>
      <p:pic>
        <p:nvPicPr>
          <p:cNvPr id="94" name="그래픽 93" descr="목록 RTL">
            <a:extLst>
              <a:ext uri="{FF2B5EF4-FFF2-40B4-BE49-F238E27FC236}">
                <a16:creationId xmlns:a16="http://schemas.microsoft.com/office/drawing/2014/main" id="{A3EE7FAD-3F41-4EB2-8E5B-83690513CA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87261" y="4703471"/>
            <a:ext cx="914400" cy="914400"/>
          </a:xfrm>
          <a:prstGeom prst="rect">
            <a:avLst/>
          </a:prstGeom>
        </p:spPr>
      </p:pic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0E694A5B-4794-4ACE-9C8C-7BA4C28148F6}"/>
              </a:ext>
            </a:extLst>
          </p:cNvPr>
          <p:cNvCxnSpPr>
            <a:cxnSpLocks/>
            <a:stCxn id="87" idx="2"/>
            <a:endCxn id="138" idx="2"/>
          </p:cNvCxnSpPr>
          <p:nvPr/>
        </p:nvCxnSpPr>
        <p:spPr>
          <a:xfrm rot="5400000" flipH="1">
            <a:off x="4834289" y="2616655"/>
            <a:ext cx="961009" cy="4971476"/>
          </a:xfrm>
          <a:prstGeom prst="bentConnector3">
            <a:avLst>
              <a:gd name="adj1" fmla="val -50764"/>
            </a:avLst>
          </a:prstGeom>
          <a:ln>
            <a:solidFill>
              <a:srgbClr val="94A3B8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B8F5DCDB-20F2-40B3-BDD7-6F56FBC9556C}"/>
              </a:ext>
            </a:extLst>
          </p:cNvPr>
          <p:cNvSpPr txBox="1"/>
          <p:nvPr/>
        </p:nvSpPr>
        <p:spPr>
          <a:xfrm>
            <a:off x="8337213" y="5740130"/>
            <a:ext cx="1454266" cy="41549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② 제어결과 저장 </a:t>
            </a:r>
            <a:br>
              <a:rPr lang="en-US" altLang="ko-KR" dirty="0">
                <a:solidFill>
                  <a:srgbClr val="E2E8F0"/>
                </a:solidFill>
              </a:rPr>
            </a:br>
            <a:r>
              <a:rPr lang="en-US" altLang="ko-KR" dirty="0">
                <a:solidFill>
                  <a:srgbClr val="E2E8F0"/>
                </a:solidFill>
              </a:rPr>
              <a:t>- MIR Lamp </a:t>
            </a:r>
            <a:r>
              <a:rPr lang="ko-KR" altLang="en-US" dirty="0">
                <a:solidFill>
                  <a:srgbClr val="E2E8F0"/>
                </a:solidFill>
              </a:rPr>
              <a:t>출력 </a:t>
            </a:r>
            <a:r>
              <a:rPr lang="en-US" altLang="ko-KR" dirty="0">
                <a:solidFill>
                  <a:srgbClr val="E2E8F0"/>
                </a:solidFill>
              </a:rPr>
              <a:t>(IN / MID / OUT) </a:t>
            </a:r>
          </a:p>
          <a:p>
            <a:r>
              <a:rPr lang="en-US" altLang="ko-KR" dirty="0">
                <a:solidFill>
                  <a:srgbClr val="E2E8F0"/>
                </a:solidFill>
              </a:rPr>
              <a:t>- </a:t>
            </a:r>
            <a:r>
              <a:rPr lang="ko-KR" altLang="en-US" dirty="0">
                <a:solidFill>
                  <a:srgbClr val="E2E8F0"/>
                </a:solidFill>
              </a:rPr>
              <a:t>제어 시점 </a:t>
            </a:r>
            <a:r>
              <a:rPr lang="en-US" altLang="ko-KR" dirty="0">
                <a:solidFill>
                  <a:srgbClr val="E2E8F0"/>
                </a:solidFill>
              </a:rPr>
              <a:t>(</a:t>
            </a:r>
            <a:r>
              <a:rPr lang="ko-KR" altLang="en-US" dirty="0">
                <a:solidFill>
                  <a:srgbClr val="E2E8F0"/>
                </a:solidFill>
              </a:rPr>
              <a:t>시간</a:t>
            </a:r>
            <a:r>
              <a:rPr lang="en-US" altLang="ko-KR" dirty="0">
                <a:solidFill>
                  <a:srgbClr val="E2E8F0"/>
                </a:solidFill>
              </a:rPr>
              <a:t>)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A1E8B25-33D7-4515-A265-3D5F7BC61901}"/>
              </a:ext>
            </a:extLst>
          </p:cNvPr>
          <p:cNvSpPr txBox="1"/>
          <p:nvPr/>
        </p:nvSpPr>
        <p:spPr>
          <a:xfrm>
            <a:off x="7468317" y="4556550"/>
            <a:ext cx="679923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알고리즘</a:t>
            </a:r>
            <a:endParaRPr lang="ko-KR" altLang="en-US" sz="10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7608C7B-ADA4-4ACE-A1DF-F6589B6E7A04}"/>
              </a:ext>
            </a:extLst>
          </p:cNvPr>
          <p:cNvSpPr txBox="1"/>
          <p:nvPr/>
        </p:nvSpPr>
        <p:spPr>
          <a:xfrm>
            <a:off x="6599261" y="2770571"/>
            <a:ext cx="1002838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데이터</a:t>
            </a:r>
            <a:endParaRPr lang="ko-KR" altLang="en-US" sz="10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B10326E-F8B7-49E0-B999-D839BD5BD763}"/>
              </a:ext>
            </a:extLst>
          </p:cNvPr>
          <p:cNvSpPr txBox="1"/>
          <p:nvPr/>
        </p:nvSpPr>
        <p:spPr>
          <a:xfrm>
            <a:off x="8981780" y="4529802"/>
            <a:ext cx="710525" cy="2616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 결과</a:t>
            </a:r>
            <a:endParaRPr lang="ko-KR" altLang="en-US" sz="10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16" name="연결선: 꺾임 115">
            <a:extLst>
              <a:ext uri="{FF2B5EF4-FFF2-40B4-BE49-F238E27FC236}">
                <a16:creationId xmlns:a16="http://schemas.microsoft.com/office/drawing/2014/main" id="{8EAEE37E-C375-40E7-B805-7C0F57E5E053}"/>
              </a:ext>
            </a:extLst>
          </p:cNvPr>
          <p:cNvCxnSpPr>
            <a:cxnSpLocks/>
            <a:stCxn id="107" idx="0"/>
            <a:endCxn id="49" idx="3"/>
          </p:cNvCxnSpPr>
          <p:nvPr/>
        </p:nvCxnSpPr>
        <p:spPr>
          <a:xfrm rot="16200000" flipV="1">
            <a:off x="6998919" y="3698292"/>
            <a:ext cx="1297923" cy="342393"/>
          </a:xfrm>
          <a:prstGeom prst="bentConnector2">
            <a:avLst/>
          </a:prstGeom>
          <a:ln>
            <a:solidFill>
              <a:srgbClr val="94A3B8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B1621D88-60BD-4664-82F4-AB505C07E16B}"/>
              </a:ext>
            </a:extLst>
          </p:cNvPr>
          <p:cNvSpPr txBox="1"/>
          <p:nvPr/>
        </p:nvSpPr>
        <p:spPr>
          <a:xfrm>
            <a:off x="7856711" y="3739953"/>
            <a:ext cx="545021" cy="138499"/>
          </a:xfrm>
          <a:prstGeom prst="rect">
            <a:avLst/>
          </a:prstGeom>
          <a:noFill/>
          <a:ln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lang="en-US" altLang="ko-KR" dirty="0">
                <a:solidFill>
                  <a:srgbClr val="E2E8F0"/>
                </a:solidFill>
              </a:rPr>
              <a:t>Daily </a:t>
            </a:r>
            <a:r>
              <a:rPr lang="ko-KR" altLang="en-US" dirty="0">
                <a:solidFill>
                  <a:srgbClr val="E2E8F0"/>
                </a:solidFill>
              </a:rPr>
              <a:t>재학습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54650E3-8863-4D33-9479-42AD40D04E9D}"/>
              </a:ext>
            </a:extLst>
          </p:cNvPr>
          <p:cNvSpPr txBox="1"/>
          <p:nvPr/>
        </p:nvSpPr>
        <p:spPr>
          <a:xfrm>
            <a:off x="2927527" y="5896609"/>
            <a:ext cx="3727686" cy="138499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① 알고리즘 출력값으로 설비 제어 </a:t>
            </a:r>
            <a:r>
              <a:rPr lang="en-US" altLang="ko-KR" dirty="0">
                <a:solidFill>
                  <a:srgbClr val="E2E8F0"/>
                </a:solidFill>
              </a:rPr>
              <a:t>: MIR Lamp </a:t>
            </a:r>
            <a:r>
              <a:rPr lang="ko-KR" altLang="en-US" dirty="0">
                <a:solidFill>
                  <a:srgbClr val="E2E8F0"/>
                </a:solidFill>
              </a:rPr>
              <a:t>출력 </a:t>
            </a:r>
            <a:r>
              <a:rPr lang="en-US" altLang="ko-KR" dirty="0">
                <a:solidFill>
                  <a:srgbClr val="E2E8F0"/>
                </a:solidFill>
              </a:rPr>
              <a:t>(IN / MID / OUT)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165" name="사각형: 둥근 모서리 164">
            <a:extLst>
              <a:ext uri="{FF2B5EF4-FFF2-40B4-BE49-F238E27FC236}">
                <a16:creationId xmlns:a16="http://schemas.microsoft.com/office/drawing/2014/main" id="{0AA9AEB3-14E7-4510-87FC-506C5A47F2C8}"/>
              </a:ext>
            </a:extLst>
          </p:cNvPr>
          <p:cNvSpPr/>
          <p:nvPr/>
        </p:nvSpPr>
        <p:spPr>
          <a:xfrm>
            <a:off x="1092550" y="2401817"/>
            <a:ext cx="1474481" cy="25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</a:t>
            </a:r>
          </a:p>
        </p:txBody>
      </p:sp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8948D526-F198-4826-9C93-A23A0D405501}"/>
              </a:ext>
            </a:extLst>
          </p:cNvPr>
          <p:cNvSpPr/>
          <p:nvPr/>
        </p:nvSpPr>
        <p:spPr>
          <a:xfrm>
            <a:off x="6066924" y="2404037"/>
            <a:ext cx="1661451" cy="3597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  P C</a:t>
            </a:r>
            <a:endParaRPr lang="ko-KR" altLang="en-US" sz="12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40" name="그래픽 39" descr="컴퓨터">
            <a:extLst>
              <a:ext uri="{FF2B5EF4-FFF2-40B4-BE49-F238E27FC236}">
                <a16:creationId xmlns:a16="http://schemas.microsoft.com/office/drawing/2014/main" id="{AB28DD2A-7EA5-493B-8BBA-8B8DD7CAB1B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85347" y="2366364"/>
            <a:ext cx="601449" cy="428243"/>
          </a:xfrm>
          <a:prstGeom prst="rect">
            <a:avLst/>
          </a:prstGeom>
        </p:spPr>
      </p:pic>
      <p:sp>
        <p:nvSpPr>
          <p:cNvPr id="173" name="Text Box 32">
            <a:extLst>
              <a:ext uri="{FF2B5EF4-FFF2-40B4-BE49-F238E27FC236}">
                <a16:creationId xmlns:a16="http://schemas.microsoft.com/office/drawing/2014/main" id="{2A3C54E4-95FC-49B2-A399-131992105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26" y="1813032"/>
            <a:ext cx="5469167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422041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lang="ko-KR" altLang="en-US" sz="1400" b="1" dirty="0">
                <a:ln w="3175">
                  <a:noFill/>
                </a:ln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현장 적용 </a:t>
            </a:r>
            <a:r>
              <a:rPr lang="en-US" altLang="ko-KR" sz="1100" b="1" dirty="0">
                <a:ln w="3175">
                  <a:noFill/>
                </a:ln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100" b="1" dirty="0">
                <a:ln w="3175">
                  <a:noFill/>
                </a:ln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모형 재학습 및 설비 제어</a:t>
            </a:r>
            <a:r>
              <a:rPr lang="en-US" altLang="ko-KR" sz="1100" b="1" dirty="0">
                <a:ln w="3175">
                  <a:noFill/>
                </a:ln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en-US" altLang="ko-KR" sz="1400" b="1" dirty="0">
              <a:ln w="3175">
                <a:noFill/>
              </a:ln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5748C6D5-02AA-468A-AFAE-12D6C58D2B57}"/>
              </a:ext>
            </a:extLst>
          </p:cNvPr>
          <p:cNvSpPr txBox="1"/>
          <p:nvPr/>
        </p:nvSpPr>
        <p:spPr>
          <a:xfrm>
            <a:off x="335970" y="1338050"/>
            <a:ext cx="4679227" cy="317779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평가 지표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(MAPE, Target-in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비율 등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 고려하여 현장 적용 모형을 선정함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6A4A569-8BC8-4C34-85AC-FD39D038A6E5}"/>
              </a:ext>
            </a:extLst>
          </p:cNvPr>
          <p:cNvSpPr txBox="1"/>
          <p:nvPr/>
        </p:nvSpPr>
        <p:spPr>
          <a:xfrm>
            <a:off x="335970" y="2025034"/>
            <a:ext cx="8969707" cy="317779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PLC – PC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간 실시간 통신 환경을 구축하여 설비를 제어하고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데이터 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 결과를 수집하여 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Daily </a:t>
            </a:r>
            <a:r>
              <a:rPr lang="ko-KR" altLang="en-US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재학습 가능한 모형을 현장 적용함</a:t>
            </a:r>
            <a:r>
              <a:rPr lang="en-US" altLang="ko-KR" sz="11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0" name="Rectangle 17">
            <a:extLst>
              <a:ext uri="{FF2B5EF4-FFF2-40B4-BE49-F238E27FC236}">
                <a16:creationId xmlns:a16="http://schemas.microsoft.com/office/drawing/2014/main" id="{DDDF9383-581A-4D9D-9992-3BB566590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923" y="802101"/>
            <a:ext cx="4928720" cy="4060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90000" tIns="63916" rIns="90000" bIns="63916">
            <a:spAutoFit/>
          </a:bodyPr>
          <a:lstStyle/>
          <a:p>
            <a:pPr defTabSz="998538">
              <a:spcBef>
                <a:spcPts val="600"/>
              </a:spcBef>
            </a:pP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└ 장비 생성 데이터를 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PLC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와 직접 통신하여 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PC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로 옮기고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수집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), </a:t>
            </a:r>
            <a:b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  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이를 검토하여  자체적으로 제어 시점을 판단하여 건조 출력 최적값을 도출 및 장비에 입력함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제어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84B6DF-3C18-485B-BC42-0D1FEDE6E3A6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현장 적용 </a:t>
            </a:r>
            <a:r>
              <a:rPr lang="en-US" altLang="ko-KR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최종 모형 선정 및 모형 현장 적용 </a:t>
            </a:r>
            <a:r>
              <a:rPr lang="en-US" altLang="ko-KR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</a:t>
            </a:r>
            <a:r>
              <a:rPr lang="ko-KR" altLang="en-US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운영 시나리오</a:t>
            </a:r>
            <a:r>
              <a:rPr lang="en-US" altLang="ko-KR" sz="16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0" name="실행 단추: 홈 8">
            <a:hlinkClick r:id="rId14" action="ppaction://hlinksldjump" highlightClick="1"/>
            <a:extLst>
              <a:ext uri="{FF2B5EF4-FFF2-40B4-BE49-F238E27FC236}">
                <a16:creationId xmlns:a16="http://schemas.microsoft.com/office/drawing/2014/main" id="{FED47786-2E9A-43DD-967B-D8272342F231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9841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05AC38B3-2E80-4393-89D0-EFAEBF5D26A8}"/>
              </a:ext>
            </a:extLst>
          </p:cNvPr>
          <p:cNvSpPr/>
          <p:nvPr/>
        </p:nvSpPr>
        <p:spPr>
          <a:xfrm>
            <a:off x="73820" y="466037"/>
            <a:ext cx="9682981" cy="380361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 구성</a:t>
            </a:r>
            <a:endParaRPr lang="en-US" altLang="ko-KR" sz="14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F39B5C1-036E-4330-A556-D2C5B12D2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1" y="3230150"/>
            <a:ext cx="9511677" cy="3178740"/>
          </a:xfrm>
          <a:prstGeom prst="rect">
            <a:avLst/>
          </a:prstGeom>
        </p:spPr>
      </p:pic>
      <p:sp>
        <p:nvSpPr>
          <p:cNvPr id="36" name="Text Box 514">
            <a:extLst>
              <a:ext uri="{FF2B5EF4-FFF2-40B4-BE49-F238E27FC236}">
                <a16:creationId xmlns:a16="http://schemas.microsoft.com/office/drawing/2014/main" id="{76D133D0-15FB-4B9B-9F8B-55A06D1E3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482" y="779140"/>
            <a:ext cx="915157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2.2.2 </a:t>
            </a:r>
            <a:r>
              <a:rPr lang="ko-KR" altLang="en-US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 기본 </a:t>
            </a:r>
            <a:r>
              <a:rPr lang="en-US" altLang="ko-KR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Logic _ </a:t>
            </a:r>
            <a:r>
              <a:rPr lang="ko-KR" altLang="en-US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 시퀀스 및 기능</a:t>
            </a:r>
            <a:endParaRPr lang="en-US" altLang="ko-KR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B825E40-C758-476A-87B0-EC9430C596CF}"/>
              </a:ext>
            </a:extLst>
          </p:cNvPr>
          <p:cNvGrpSpPr/>
          <p:nvPr/>
        </p:nvGrpSpPr>
        <p:grpSpPr>
          <a:xfrm>
            <a:off x="22277" y="1117415"/>
            <a:ext cx="9748114" cy="1661999"/>
            <a:chOff x="56456" y="1160116"/>
            <a:chExt cx="9748114" cy="2206669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38D4E2A3-9EEB-407A-AAA1-FF0661DDF633}"/>
                </a:ext>
              </a:extLst>
            </p:cNvPr>
            <p:cNvSpPr/>
            <p:nvPr/>
          </p:nvSpPr>
          <p:spPr>
            <a:xfrm>
              <a:off x="193682" y="1160116"/>
              <a:ext cx="9534650" cy="2183577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3B95867-693F-438C-8D86-5E5464F2B480}"/>
                </a:ext>
              </a:extLst>
            </p:cNvPr>
            <p:cNvSpPr txBox="1"/>
            <p:nvPr/>
          </p:nvSpPr>
          <p:spPr>
            <a:xfrm>
              <a:off x="5554985" y="2460693"/>
              <a:ext cx="355787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E2E8F0"/>
                  </a:solidFill>
                </a:rPr>
                <a:t>⑧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6A6DF4A-7607-485F-A51C-C206E01FC425}"/>
                </a:ext>
              </a:extLst>
            </p:cNvPr>
            <p:cNvSpPr txBox="1"/>
            <p:nvPr/>
          </p:nvSpPr>
          <p:spPr>
            <a:xfrm>
              <a:off x="5559670" y="2668612"/>
              <a:ext cx="355787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solidFill>
                    <a:schemeClr val="bg1">
                      <a:lumMod val="6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E2E8F0"/>
                  </a:solidFill>
                </a:rPr>
                <a:t>⑧</a:t>
              </a:r>
            </a:p>
          </p:txBody>
        </p: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FACF9776-9299-4C28-9401-7DFA28BBC4F9}"/>
                </a:ext>
              </a:extLst>
            </p:cNvPr>
            <p:cNvCxnSpPr/>
            <p:nvPr/>
          </p:nvCxnSpPr>
          <p:spPr>
            <a:xfrm>
              <a:off x="4667794" y="3132832"/>
              <a:ext cx="1000338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D571DF7-02BF-4D32-8A88-1F4D17458C9E}"/>
                </a:ext>
              </a:extLst>
            </p:cNvPr>
            <p:cNvSpPr txBox="1"/>
            <p:nvPr/>
          </p:nvSpPr>
          <p:spPr>
            <a:xfrm>
              <a:off x="5002148" y="3007521"/>
              <a:ext cx="355787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E2E8F0"/>
                  </a:solidFill>
                </a:rPr>
                <a:t>⑨</a:t>
              </a:r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9817E7FC-AB91-4D05-9B10-FD8A93B9963B}"/>
                </a:ext>
              </a:extLst>
            </p:cNvPr>
            <p:cNvCxnSpPr/>
            <p:nvPr/>
          </p:nvCxnSpPr>
          <p:spPr>
            <a:xfrm>
              <a:off x="6931591" y="3132832"/>
              <a:ext cx="441082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1FD3FE7D-29B1-41E7-8AB0-D80609CA4BD2}"/>
                </a:ext>
              </a:extLst>
            </p:cNvPr>
            <p:cNvCxnSpPr/>
            <p:nvPr/>
          </p:nvCxnSpPr>
          <p:spPr>
            <a:xfrm>
              <a:off x="8045577" y="3132832"/>
              <a:ext cx="414438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92A0EB3-860A-43B5-8C4F-6A103EACA9C3}"/>
                </a:ext>
              </a:extLst>
            </p:cNvPr>
            <p:cNvSpPr txBox="1"/>
            <p:nvPr/>
          </p:nvSpPr>
          <p:spPr>
            <a:xfrm>
              <a:off x="8081180" y="3007521"/>
              <a:ext cx="355787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E2E8F0"/>
                  </a:solidFill>
                </a:rPr>
                <a:t>⑨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721E9C-9A32-4D5B-BE81-DB93B50DC87E}"/>
                </a:ext>
              </a:extLst>
            </p:cNvPr>
            <p:cNvSpPr txBox="1"/>
            <p:nvPr/>
          </p:nvSpPr>
          <p:spPr>
            <a:xfrm>
              <a:off x="6975035" y="3007521"/>
              <a:ext cx="355787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E2E8F0"/>
                  </a:solidFill>
                </a:rPr>
                <a:t>⑨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023BB15-4AE7-4E43-823C-752C066D72C8}"/>
                </a:ext>
              </a:extLst>
            </p:cNvPr>
            <p:cNvSpPr txBox="1"/>
            <p:nvPr/>
          </p:nvSpPr>
          <p:spPr>
            <a:xfrm>
              <a:off x="8315668" y="2523257"/>
              <a:ext cx="355787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E2E8F0"/>
                  </a:solidFill>
                </a:rPr>
                <a:t>⑩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9F6B4BD-B735-421B-BFAC-9A58A58ADB0D}"/>
                </a:ext>
              </a:extLst>
            </p:cNvPr>
            <p:cNvSpPr txBox="1"/>
            <p:nvPr/>
          </p:nvSpPr>
          <p:spPr>
            <a:xfrm>
              <a:off x="8318545" y="2668612"/>
              <a:ext cx="355787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solidFill>
                    <a:schemeClr val="bg1">
                      <a:lumMod val="6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E2E8F0"/>
                  </a:solidFill>
                </a:rPr>
                <a:t>⑩</a:t>
              </a:r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7AD440F4-0AD2-4512-83C4-4D7CFDBA196A}"/>
                </a:ext>
              </a:extLst>
            </p:cNvPr>
            <p:cNvCxnSpPr/>
            <p:nvPr/>
          </p:nvCxnSpPr>
          <p:spPr>
            <a:xfrm>
              <a:off x="3072344" y="3132832"/>
              <a:ext cx="296197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7822387-B7C6-4372-AAD0-443D104A9F41}"/>
                </a:ext>
              </a:extLst>
            </p:cNvPr>
            <p:cNvSpPr txBox="1"/>
            <p:nvPr/>
          </p:nvSpPr>
          <p:spPr>
            <a:xfrm>
              <a:off x="3049073" y="3007521"/>
              <a:ext cx="355787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E2E8F0"/>
                  </a:solidFill>
                </a:rPr>
                <a:t>⑥</a:t>
              </a:r>
            </a:p>
          </p:txBody>
        </p:sp>
        <p:sp>
          <p:nvSpPr>
            <p:cNvPr id="50" name="Text Box 514">
              <a:extLst>
                <a:ext uri="{FF2B5EF4-FFF2-40B4-BE49-F238E27FC236}">
                  <a16:creationId xmlns:a16="http://schemas.microsoft.com/office/drawing/2014/main" id="{DCA1C38C-BC61-4DCD-BBB4-8F488D0840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56" y="1166090"/>
              <a:ext cx="1133281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spcBef>
                  <a:spcPts val="600"/>
                </a:spcBef>
                <a:defRPr sz="80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E2E8F0"/>
                  </a:solidFill>
                </a:rPr>
                <a:t>램프 출력</a:t>
              </a:r>
              <a:r>
                <a:rPr lang="en-US" altLang="ko-KR" dirty="0">
                  <a:solidFill>
                    <a:srgbClr val="E2E8F0"/>
                  </a:solidFill>
                </a:rPr>
                <a:t>(</a:t>
              </a:r>
              <a:r>
                <a:rPr lang="ko-KR" altLang="en-US" dirty="0">
                  <a:solidFill>
                    <a:srgbClr val="E2E8F0"/>
                  </a:solidFill>
                </a:rPr>
                <a:t>％</a:t>
              </a:r>
              <a:r>
                <a:rPr lang="en-US" altLang="ko-KR" dirty="0">
                  <a:solidFill>
                    <a:srgbClr val="E2E8F0"/>
                  </a:solidFill>
                </a:rPr>
                <a:t>)</a:t>
              </a:r>
            </a:p>
          </p:txBody>
        </p:sp>
        <p:sp>
          <p:nvSpPr>
            <p:cNvPr id="51" name="Text Box 514">
              <a:extLst>
                <a:ext uri="{FF2B5EF4-FFF2-40B4-BE49-F238E27FC236}">
                  <a16:creationId xmlns:a16="http://schemas.microsoft.com/office/drawing/2014/main" id="{A8935000-E649-4F7A-8A01-CE1FDA3D08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71289" y="1166090"/>
              <a:ext cx="1133281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spcBef>
                  <a:spcPts val="600"/>
                </a:spcBef>
                <a:defRPr sz="80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E2E8F0"/>
                  </a:solidFill>
                </a:rPr>
                <a:t>설비 속도</a:t>
              </a:r>
              <a:r>
                <a:rPr lang="en-US" altLang="ko-KR" dirty="0">
                  <a:solidFill>
                    <a:srgbClr val="E2E8F0"/>
                  </a:solidFill>
                </a:rPr>
                <a:t>(mm/s)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B0FA7994-A8BA-4DC3-BC72-876FA5A4896D}"/>
                </a:ext>
              </a:extLst>
            </p:cNvPr>
            <p:cNvSpPr/>
            <p:nvPr/>
          </p:nvSpPr>
          <p:spPr>
            <a:xfrm>
              <a:off x="193682" y="1160116"/>
              <a:ext cx="9534650" cy="2183577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12D4E99-7481-4343-B2D4-E1125870D328}"/>
                </a:ext>
              </a:extLst>
            </p:cNvPr>
            <p:cNvSpPr txBox="1"/>
            <p:nvPr/>
          </p:nvSpPr>
          <p:spPr>
            <a:xfrm>
              <a:off x="2631240" y="2841439"/>
              <a:ext cx="355787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③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AD8EDAA-19C8-44C5-AE35-688DBC38A7F4}"/>
                </a:ext>
              </a:extLst>
            </p:cNvPr>
            <p:cNvSpPr txBox="1"/>
            <p:nvPr/>
          </p:nvSpPr>
          <p:spPr>
            <a:xfrm>
              <a:off x="6092274" y="1658956"/>
              <a:ext cx="355787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E2E8F0"/>
                  </a:solidFill>
                </a:rPr>
                <a:t>⑦</a:t>
              </a:r>
            </a:p>
          </p:txBody>
        </p:sp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D9EB1CF8-7ED3-41FA-B06A-6E076B2C3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73168" y="1333142"/>
              <a:ext cx="6440928" cy="1860568"/>
            </a:xfrm>
            <a:prstGeom prst="rect">
              <a:avLst/>
            </a:prstGeom>
          </p:spPr>
        </p:pic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584AFB54-65BD-4D15-B918-41A23B74D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8215" y="1858635"/>
              <a:ext cx="1" cy="127656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300E38D-3EED-4FFD-8000-DF88C622A85A}"/>
                </a:ext>
              </a:extLst>
            </p:cNvPr>
            <p:cNvSpPr txBox="1"/>
            <p:nvPr/>
          </p:nvSpPr>
          <p:spPr>
            <a:xfrm>
              <a:off x="1146106" y="2788154"/>
              <a:ext cx="278139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①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483A9FA-9E32-4853-BE92-9EF9877E2166}"/>
                </a:ext>
              </a:extLst>
            </p:cNvPr>
            <p:cNvSpPr txBox="1"/>
            <p:nvPr/>
          </p:nvSpPr>
          <p:spPr>
            <a:xfrm>
              <a:off x="4180826" y="1503813"/>
              <a:ext cx="278138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④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A911070-60A0-4D2B-9ACC-CC3AB2B2EB5B}"/>
                </a:ext>
              </a:extLst>
            </p:cNvPr>
            <p:cNvSpPr txBox="1"/>
            <p:nvPr/>
          </p:nvSpPr>
          <p:spPr>
            <a:xfrm>
              <a:off x="6084098" y="1795452"/>
              <a:ext cx="278139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E2E8F0"/>
                  </a:solidFill>
                </a:rPr>
                <a:t>⑤</a:t>
              </a:r>
            </a:p>
          </p:txBody>
        </p: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2065A23E-7215-47A2-BA24-95806C857C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1551" y="1414751"/>
              <a:ext cx="0" cy="173281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78AFA4CB-F14C-4FC3-85DD-B27ED4D636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2174" y="1414751"/>
              <a:ext cx="0" cy="173281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555052DE-6A44-4A8B-BC64-D47BEF4DF5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12346" y="1414751"/>
              <a:ext cx="0" cy="173281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508810E-DD5C-49C4-9977-CCF6131B3913}"/>
                </a:ext>
              </a:extLst>
            </p:cNvPr>
            <p:cNvSpPr txBox="1"/>
            <p:nvPr/>
          </p:nvSpPr>
          <p:spPr>
            <a:xfrm>
              <a:off x="6472430" y="2925296"/>
              <a:ext cx="278139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E2E8F0"/>
                  </a:solidFill>
                </a:rPr>
                <a:t>⑥</a:t>
              </a:r>
            </a:p>
          </p:txBody>
        </p: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12F8763D-2326-4334-850C-BAE08ABF7794}"/>
                </a:ext>
              </a:extLst>
            </p:cNvPr>
            <p:cNvCxnSpPr>
              <a:cxnSpLocks/>
            </p:cNvCxnSpPr>
            <p:nvPr/>
          </p:nvCxnSpPr>
          <p:spPr>
            <a:xfrm>
              <a:off x="6309911" y="3135198"/>
              <a:ext cx="598304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D2FCAC9-FD54-4BD7-97DA-568A036CD191}"/>
                </a:ext>
              </a:extLst>
            </p:cNvPr>
            <p:cNvSpPr txBox="1"/>
            <p:nvPr/>
          </p:nvSpPr>
          <p:spPr>
            <a:xfrm>
              <a:off x="4625311" y="2153866"/>
              <a:ext cx="278139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solidFill>
                    <a:schemeClr val="bg1">
                      <a:lumMod val="6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E2E8F0"/>
                  </a:solidFill>
                </a:rPr>
                <a:t>⑤</a:t>
              </a: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FBF5D48A-C54B-4787-8F64-8028D52165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8761" y="2996754"/>
              <a:ext cx="1323976" cy="1"/>
            </a:xfrm>
            <a:prstGeom prst="line">
              <a:avLst/>
            </a:prstGeom>
            <a:ln w="38100"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36DF51D1-DC74-4ECF-B142-AAACE9F7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9258" y="2988390"/>
              <a:ext cx="1" cy="147536"/>
            </a:xfrm>
            <a:prstGeom prst="line">
              <a:avLst/>
            </a:prstGeom>
            <a:ln w="38100"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5D7D1CC8-F58A-4980-8991-5F3E0D1F6B28}"/>
                </a:ext>
              </a:extLst>
            </p:cNvPr>
            <p:cNvCxnSpPr>
              <a:cxnSpLocks/>
            </p:cNvCxnSpPr>
            <p:nvPr/>
          </p:nvCxnSpPr>
          <p:spPr>
            <a:xfrm>
              <a:off x="2512490" y="1417926"/>
              <a:ext cx="285529" cy="0"/>
            </a:xfrm>
            <a:prstGeom prst="line">
              <a:avLst/>
            </a:prstGeom>
            <a:ln>
              <a:solidFill>
                <a:srgbClr val="6474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7FD1D8B4-4900-4259-A02E-7BF09EB1BD2D}"/>
                </a:ext>
              </a:extLst>
            </p:cNvPr>
            <p:cNvCxnSpPr>
              <a:cxnSpLocks/>
            </p:cNvCxnSpPr>
            <p:nvPr/>
          </p:nvCxnSpPr>
          <p:spPr>
            <a:xfrm>
              <a:off x="2512490" y="1707760"/>
              <a:ext cx="285529" cy="0"/>
            </a:xfrm>
            <a:prstGeom prst="line">
              <a:avLst/>
            </a:prstGeom>
            <a:ln>
              <a:solidFill>
                <a:srgbClr val="6474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43064184-37E4-4E15-A751-39AC3C08B013}"/>
                </a:ext>
              </a:extLst>
            </p:cNvPr>
            <p:cNvCxnSpPr>
              <a:cxnSpLocks/>
            </p:cNvCxnSpPr>
            <p:nvPr/>
          </p:nvCxnSpPr>
          <p:spPr>
            <a:xfrm>
              <a:off x="2512490" y="1990127"/>
              <a:ext cx="285529" cy="0"/>
            </a:xfrm>
            <a:prstGeom prst="line">
              <a:avLst/>
            </a:prstGeom>
            <a:ln>
              <a:solidFill>
                <a:srgbClr val="6474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C307E1F2-4413-4042-BF43-2D26D7D3635E}"/>
                </a:ext>
              </a:extLst>
            </p:cNvPr>
            <p:cNvCxnSpPr>
              <a:cxnSpLocks/>
            </p:cNvCxnSpPr>
            <p:nvPr/>
          </p:nvCxnSpPr>
          <p:spPr>
            <a:xfrm>
              <a:off x="2512490" y="2276604"/>
              <a:ext cx="285529" cy="0"/>
            </a:xfrm>
            <a:prstGeom prst="line">
              <a:avLst/>
            </a:prstGeom>
            <a:ln>
              <a:solidFill>
                <a:srgbClr val="6474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B959811D-AB5B-4F2F-BEBD-B964111C2FDD}"/>
                </a:ext>
              </a:extLst>
            </p:cNvPr>
            <p:cNvCxnSpPr>
              <a:cxnSpLocks/>
            </p:cNvCxnSpPr>
            <p:nvPr/>
          </p:nvCxnSpPr>
          <p:spPr>
            <a:xfrm>
              <a:off x="2512490" y="2568544"/>
              <a:ext cx="285529" cy="0"/>
            </a:xfrm>
            <a:prstGeom prst="line">
              <a:avLst/>
            </a:prstGeom>
            <a:ln>
              <a:solidFill>
                <a:srgbClr val="6474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9C576220-DBE8-49FD-9DA1-D869E5E30F67}"/>
                </a:ext>
              </a:extLst>
            </p:cNvPr>
            <p:cNvCxnSpPr>
              <a:cxnSpLocks/>
            </p:cNvCxnSpPr>
            <p:nvPr/>
          </p:nvCxnSpPr>
          <p:spPr>
            <a:xfrm>
              <a:off x="2512490" y="2847888"/>
              <a:ext cx="285529" cy="0"/>
            </a:xfrm>
            <a:prstGeom prst="line">
              <a:avLst/>
            </a:prstGeom>
            <a:ln>
              <a:solidFill>
                <a:srgbClr val="6474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CF5E2C3B-7B5D-4BCA-B4D9-A783FE69D5D1}"/>
                </a:ext>
              </a:extLst>
            </p:cNvPr>
            <p:cNvCxnSpPr>
              <a:cxnSpLocks/>
            </p:cNvCxnSpPr>
            <p:nvPr/>
          </p:nvCxnSpPr>
          <p:spPr>
            <a:xfrm>
              <a:off x="771795" y="3140531"/>
              <a:ext cx="2654993" cy="0"/>
            </a:xfrm>
            <a:prstGeom prst="line">
              <a:avLst/>
            </a:prstGeom>
            <a:ln w="12700">
              <a:solidFill>
                <a:srgbClr val="94A3B8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A4CBBD94-F0DC-4FA5-975C-6A0438F39899}"/>
                </a:ext>
              </a:extLst>
            </p:cNvPr>
            <p:cNvSpPr/>
            <p:nvPr/>
          </p:nvSpPr>
          <p:spPr>
            <a:xfrm>
              <a:off x="1348593" y="1416830"/>
              <a:ext cx="2074745" cy="1727681"/>
            </a:xfrm>
            <a:prstGeom prst="rect">
              <a:avLst/>
            </a:prstGeom>
            <a:solidFill>
              <a:srgbClr val="1E293B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F26D162F-B63D-44A3-A215-63D07005BB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254" y="3140531"/>
              <a:ext cx="593013" cy="0"/>
            </a:xfrm>
            <a:prstGeom prst="line">
              <a:avLst/>
            </a:prstGeom>
            <a:ln w="38100"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057D50F-DD42-443A-B431-808130A471FE}"/>
                </a:ext>
              </a:extLst>
            </p:cNvPr>
            <p:cNvSpPr txBox="1"/>
            <p:nvPr/>
          </p:nvSpPr>
          <p:spPr>
            <a:xfrm>
              <a:off x="2782517" y="2417098"/>
              <a:ext cx="278139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E2E8F0"/>
                  </a:solidFill>
                </a:rPr>
                <a:t>②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5C88A3E-1372-4CF2-AB4B-25DD25BE6326}"/>
                </a:ext>
              </a:extLst>
            </p:cNvPr>
            <p:cNvSpPr txBox="1"/>
            <p:nvPr/>
          </p:nvSpPr>
          <p:spPr>
            <a:xfrm>
              <a:off x="2762381" y="2745723"/>
              <a:ext cx="278139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E2E8F0"/>
                  </a:solidFill>
                </a:rPr>
                <a:t>②</a:t>
              </a:r>
            </a:p>
          </p:txBody>
        </p: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38089488-7A98-4FBA-8221-F219EBD8D5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8593" y="1414751"/>
              <a:ext cx="0" cy="173281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29EFC18B-9065-4655-B6EC-2FA6A371FF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1787" y="1414751"/>
              <a:ext cx="0" cy="173281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 Box 514">
              <a:extLst>
                <a:ext uri="{FF2B5EF4-FFF2-40B4-BE49-F238E27FC236}">
                  <a16:creationId xmlns:a16="http://schemas.microsoft.com/office/drawing/2014/main" id="{A33433A6-30C0-4888-B940-050D202E65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8919" y="3151341"/>
              <a:ext cx="752323" cy="1958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spcBef>
                  <a:spcPts val="600"/>
                </a:spcBef>
                <a:defRPr sz="80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E2E8F0"/>
                  </a:solidFill>
                </a:rPr>
                <a:t>주행 시작 </a:t>
              </a:r>
              <a:r>
                <a:rPr lang="en-US" altLang="ko-KR" dirty="0">
                  <a:solidFill>
                    <a:srgbClr val="E2E8F0"/>
                  </a:solidFill>
                </a:rPr>
                <a:t>: 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C034862-AC64-4D6D-8BEF-04728EE6FC8F}"/>
                </a:ext>
              </a:extLst>
            </p:cNvPr>
            <p:cNvSpPr txBox="1"/>
            <p:nvPr/>
          </p:nvSpPr>
          <p:spPr>
            <a:xfrm>
              <a:off x="3923210" y="2832319"/>
              <a:ext cx="355787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③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996852B-E41C-468B-A71E-2B615B2040E9}"/>
                </a:ext>
              </a:extLst>
            </p:cNvPr>
            <p:cNvSpPr txBox="1"/>
            <p:nvPr/>
          </p:nvSpPr>
          <p:spPr>
            <a:xfrm>
              <a:off x="6675852" y="1649826"/>
              <a:ext cx="355787" cy="246221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1000" b="1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E2E8F0"/>
                  </a:solidFill>
                </a:rPr>
                <a:t>⑦</a:t>
              </a:r>
            </a:p>
          </p:txBody>
        </p:sp>
        <p:sp>
          <p:nvSpPr>
            <p:cNvPr id="84" name="Text Box 514">
              <a:extLst>
                <a:ext uri="{FF2B5EF4-FFF2-40B4-BE49-F238E27FC236}">
                  <a16:creationId xmlns:a16="http://schemas.microsoft.com/office/drawing/2014/main" id="{515F4C4B-ABF5-45E8-94E3-68C12A8FF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3002" y="1192476"/>
              <a:ext cx="2921100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spcBef>
                  <a:spcPts val="600"/>
                </a:spcBef>
                <a:defRPr sz="80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E2E8F0"/>
                  </a:solidFill>
                </a:rPr>
                <a:t>가열판 진입 시간 </a:t>
              </a:r>
              <a:r>
                <a:rPr lang="en-US" altLang="ko-KR" dirty="0">
                  <a:solidFill>
                    <a:srgbClr val="E2E8F0"/>
                  </a:solidFill>
                </a:rPr>
                <a:t>: </a:t>
              </a:r>
              <a:r>
                <a:rPr lang="ko-KR" altLang="en-US" dirty="0">
                  <a:solidFill>
                    <a:srgbClr val="E2E8F0"/>
                  </a:solidFill>
                </a:rPr>
                <a:t>설비 </a:t>
              </a:r>
              <a:r>
                <a:rPr lang="en-US" altLang="ko-KR" dirty="0">
                  <a:solidFill>
                    <a:srgbClr val="E2E8F0"/>
                  </a:solidFill>
                </a:rPr>
                <a:t>Start </a:t>
              </a:r>
              <a:r>
                <a:rPr lang="ko-KR" altLang="en-US" dirty="0">
                  <a:solidFill>
                    <a:srgbClr val="E2E8F0"/>
                  </a:solidFill>
                </a:rPr>
                <a:t>버튼 눌렀을 시 </a:t>
              </a:r>
              <a:r>
                <a:rPr lang="en-US" altLang="ko-KR" dirty="0">
                  <a:solidFill>
                    <a:srgbClr val="E2E8F0"/>
                  </a:solidFill>
                </a:rPr>
                <a:t>5</a:t>
              </a:r>
              <a:r>
                <a:rPr lang="ko-KR" altLang="en-US" dirty="0">
                  <a:solidFill>
                    <a:srgbClr val="E2E8F0"/>
                  </a:solidFill>
                </a:rPr>
                <a:t>초 간 진입</a:t>
              </a:r>
              <a:endParaRPr lang="en-US" altLang="ko-KR" dirty="0"/>
            </a:p>
          </p:txBody>
        </p:sp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F67C35BF-4530-4875-BC1E-E0DFBFA22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88475" y="2592932"/>
              <a:ext cx="712450" cy="512698"/>
            </a:xfrm>
            <a:prstGeom prst="rect">
              <a:avLst/>
            </a:prstGeom>
          </p:spPr>
        </p:pic>
        <p:cxnSp>
          <p:nvCxnSpPr>
            <p:cNvPr id="86" name="직선 화살표 연결선 85">
              <a:extLst>
                <a:ext uri="{FF2B5EF4-FFF2-40B4-BE49-F238E27FC236}">
                  <a16:creationId xmlns:a16="http://schemas.microsoft.com/office/drawing/2014/main" id="{135422B6-01DC-4E58-AC29-D2BAEEC7BBFC}"/>
                </a:ext>
              </a:extLst>
            </p:cNvPr>
            <p:cNvCxnSpPr>
              <a:cxnSpLocks/>
            </p:cNvCxnSpPr>
            <p:nvPr/>
          </p:nvCxnSpPr>
          <p:spPr>
            <a:xfrm>
              <a:off x="1348593" y="1416158"/>
              <a:ext cx="2074745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 Box 514">
              <a:extLst>
                <a:ext uri="{FF2B5EF4-FFF2-40B4-BE49-F238E27FC236}">
                  <a16:creationId xmlns:a16="http://schemas.microsoft.com/office/drawing/2014/main" id="{0A9036B9-1C63-4CB9-A456-12B10AEAAC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2594" y="3151341"/>
              <a:ext cx="752323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spcBef>
                  <a:spcPts val="600"/>
                </a:spcBef>
                <a:defRPr sz="80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E2E8F0"/>
                  </a:solidFill>
                </a:rPr>
                <a:t>가속 완료</a:t>
              </a:r>
              <a:endParaRPr lang="en-US" altLang="ko-KR" dirty="0"/>
            </a:p>
          </p:txBody>
        </p: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48E83520-BC0C-46CF-A6DE-25BE8D123E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8755" y="1414751"/>
              <a:ext cx="0" cy="173281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E52DE8B9-E36D-4B87-AE17-643B4F23190B}"/>
              </a:ext>
            </a:extLst>
          </p:cNvPr>
          <p:cNvSpPr/>
          <p:nvPr/>
        </p:nvSpPr>
        <p:spPr>
          <a:xfrm>
            <a:off x="4319540" y="2784213"/>
            <a:ext cx="543184" cy="423745"/>
          </a:xfrm>
          <a:prstGeom prst="down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ADF35CC-2A43-40A4-A4F5-8D900B577C28}"/>
              </a:ext>
            </a:extLst>
          </p:cNvPr>
          <p:cNvSpPr/>
          <p:nvPr/>
        </p:nvSpPr>
        <p:spPr>
          <a:xfrm>
            <a:off x="4909591" y="2802202"/>
            <a:ext cx="1391728" cy="369332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E2E8F0"/>
                </a:solidFill>
              </a:rPr>
              <a:t>수집 데이터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36FA163-2F48-4647-B518-D6CD6F4F4921}"/>
              </a:ext>
            </a:extLst>
          </p:cNvPr>
          <p:cNvCxnSpPr/>
          <p:nvPr/>
        </p:nvCxnSpPr>
        <p:spPr>
          <a:xfrm>
            <a:off x="977774" y="3567065"/>
            <a:ext cx="8716379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9FB359F-F5B0-4B85-AFF5-E85F1FCC1D1A}"/>
              </a:ext>
            </a:extLst>
          </p:cNvPr>
          <p:cNvCxnSpPr>
            <a:cxnSpLocks/>
          </p:cNvCxnSpPr>
          <p:nvPr/>
        </p:nvCxnSpPr>
        <p:spPr>
          <a:xfrm flipV="1">
            <a:off x="2799076" y="3083603"/>
            <a:ext cx="387187" cy="392253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EBF2CAD-6084-44B6-9F0D-A7FDC9942E5A}"/>
              </a:ext>
            </a:extLst>
          </p:cNvPr>
          <p:cNvSpPr/>
          <p:nvPr/>
        </p:nvSpPr>
        <p:spPr>
          <a:xfrm>
            <a:off x="2597061" y="3475856"/>
            <a:ext cx="272888" cy="163637"/>
          </a:xfrm>
          <a:prstGeom prst="rect">
            <a:avLst/>
          </a:prstGeom>
          <a:noFill/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8F910961-43DE-4645-A1CD-54C722A3E7CD}"/>
              </a:ext>
            </a:extLst>
          </p:cNvPr>
          <p:cNvSpPr/>
          <p:nvPr/>
        </p:nvSpPr>
        <p:spPr>
          <a:xfrm>
            <a:off x="2697804" y="2844445"/>
            <a:ext cx="1374094" cy="276999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케이스 시점</a:t>
            </a: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CD33C322-F145-403A-A1F4-FB6EC412A6BB}"/>
              </a:ext>
            </a:extLst>
          </p:cNvPr>
          <p:cNvCxnSpPr/>
          <p:nvPr/>
        </p:nvCxnSpPr>
        <p:spPr>
          <a:xfrm>
            <a:off x="977774" y="6011501"/>
            <a:ext cx="6572816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E1FC4855-4514-4974-A11B-4B81D6F59783}"/>
              </a:ext>
            </a:extLst>
          </p:cNvPr>
          <p:cNvCxnSpPr/>
          <p:nvPr/>
        </p:nvCxnSpPr>
        <p:spPr>
          <a:xfrm>
            <a:off x="999308" y="6218222"/>
            <a:ext cx="6572816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F5E66B41-5FA1-4C14-8ECC-A67F8DE9AC6C}"/>
              </a:ext>
            </a:extLst>
          </p:cNvPr>
          <p:cNvCxnSpPr/>
          <p:nvPr/>
        </p:nvCxnSpPr>
        <p:spPr>
          <a:xfrm>
            <a:off x="977774" y="6408890"/>
            <a:ext cx="6572816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E92927D1-05F6-4860-B7E9-1E062C801297}"/>
              </a:ext>
            </a:extLst>
          </p:cNvPr>
          <p:cNvSpPr/>
          <p:nvPr/>
        </p:nvSpPr>
        <p:spPr>
          <a:xfrm>
            <a:off x="7082791" y="5705194"/>
            <a:ext cx="2823209" cy="276999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가속 후 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 시점의 전극 표면온도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(IN)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추출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972D4478-CE35-4C47-8747-B961816C4541}"/>
              </a:ext>
            </a:extLst>
          </p:cNvPr>
          <p:cNvSpPr/>
          <p:nvPr/>
        </p:nvSpPr>
        <p:spPr>
          <a:xfrm>
            <a:off x="3703495" y="3576817"/>
            <a:ext cx="6110968" cy="461665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시점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장비 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ON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시점에 각 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Zone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전극 표면 온도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(IN/MID/OUT), MIR Lamp 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(OUT), </a:t>
            </a:r>
          </a:p>
          <a:p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직전 부동시간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직전 가동시간 추출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05E9B165-CCA9-4883-B436-CA185B6119FB}"/>
              </a:ext>
            </a:extLst>
          </p:cNvPr>
          <p:cNvSpPr/>
          <p:nvPr/>
        </p:nvSpPr>
        <p:spPr>
          <a:xfrm>
            <a:off x="7080995" y="5982193"/>
            <a:ext cx="2949846" cy="276999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가속 후 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 시점의 전극 표면온도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(MID)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추출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373ABA11-D8CC-46AE-9D7B-98E5C0526F60}"/>
              </a:ext>
            </a:extLst>
          </p:cNvPr>
          <p:cNvSpPr/>
          <p:nvPr/>
        </p:nvSpPr>
        <p:spPr>
          <a:xfrm>
            <a:off x="7080995" y="6365724"/>
            <a:ext cx="2969083" cy="276999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가속 후 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9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 시점의 전극 표면온도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(OUT)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추출</a:t>
            </a:r>
          </a:p>
        </p:txBody>
      </p:sp>
      <p:sp>
        <p:nvSpPr>
          <p:cNvPr id="116" name="실행 단추: 앞으로 또는 다음으로 이동 115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60C88D32-1AD0-4275-8E9B-6DBE622F009F}"/>
              </a:ext>
            </a:extLst>
          </p:cNvPr>
          <p:cNvSpPr/>
          <p:nvPr/>
        </p:nvSpPr>
        <p:spPr>
          <a:xfrm>
            <a:off x="8846223" y="2984458"/>
            <a:ext cx="280658" cy="177775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864A614A-1F7B-48B1-A037-62E7BB46F63D}"/>
              </a:ext>
            </a:extLst>
          </p:cNvPr>
          <p:cNvSpPr/>
          <p:nvPr/>
        </p:nvSpPr>
        <p:spPr>
          <a:xfrm>
            <a:off x="9081616" y="2952951"/>
            <a:ext cx="675185" cy="246221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컬럼 설명</a:t>
            </a:r>
          </a:p>
        </p:txBody>
      </p:sp>
      <p:sp>
        <p:nvSpPr>
          <p:cNvPr id="91" name="실행 단추: 홈으로 이동 90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7CD52790-9B90-4E74-A767-30BDAF7F5297}"/>
              </a:ext>
            </a:extLst>
          </p:cNvPr>
          <p:cNvSpPr/>
          <p:nvPr/>
        </p:nvSpPr>
        <p:spPr>
          <a:xfrm>
            <a:off x="9343176" y="610425"/>
            <a:ext cx="321546" cy="192527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5810F17-7795-400C-A92C-2F9F09A0135D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변수 전처리 방법 설명</a:t>
            </a:r>
          </a:p>
        </p:txBody>
      </p:sp>
    </p:spTree>
    <p:extLst>
      <p:ext uri="{BB962C8B-B14F-4D97-AF65-F5344CB8AC3E}">
        <p14:creationId xmlns:p14="http://schemas.microsoft.com/office/powerpoint/2010/main" val="12508207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FBFC0E9-A8AA-4A8A-8BB8-791DA2505FE6}"/>
              </a:ext>
            </a:extLst>
          </p:cNvPr>
          <p:cNvSpPr txBox="1"/>
          <p:nvPr/>
        </p:nvSpPr>
        <p:spPr>
          <a:xfrm>
            <a:off x="6431161" y="158260"/>
            <a:ext cx="3359819" cy="307777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EDA </a:t>
            </a:r>
            <a:r>
              <a:rPr lang="ko-KR" altLang="en-US" sz="14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결과서</a:t>
            </a:r>
          </a:p>
        </p:txBody>
      </p:sp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05AC38B3-2E80-4393-89D0-EFAEBF5D26A8}"/>
              </a:ext>
            </a:extLst>
          </p:cNvPr>
          <p:cNvSpPr/>
          <p:nvPr/>
        </p:nvSpPr>
        <p:spPr>
          <a:xfrm>
            <a:off x="73820" y="466037"/>
            <a:ext cx="9682981" cy="380361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 컬럼 설명</a:t>
            </a:r>
            <a:endParaRPr lang="en-US" altLang="ko-KR" sz="14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C8F7FBC-95F6-4F74-B31E-A091109D3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999022"/>
              </p:ext>
            </p:extLst>
          </p:nvPr>
        </p:nvGraphicFramePr>
        <p:xfrm>
          <a:off x="148180" y="820112"/>
          <a:ext cx="9684000" cy="5334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35396997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434715261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189165603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622415467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91277256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116980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컬럼명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설명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컬럼명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설명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컬럼명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141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Timestamp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Temp_MID1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 표면온도 상부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TARGET_TEMP_IN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타겟온도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827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plc_h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PLC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기준 시간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Temp_MID2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 표면온도 하부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TARGET_TEMP_MID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타겟온도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382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plc_m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PLC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기준 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Temp_MID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상하부 최댓값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TARGET_TEMP_OUT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타겟온도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686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plc_s 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PLC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기준 초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Temp_OUT1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 표면온도 상부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Out_Multiplier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보상출력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631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Mode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생산 모델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Temp_OUT2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 표면온도 하부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520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Product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생산 전극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음극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Temp_OUT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상하부 최댓값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278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OPState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가동상태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en-US" altLang="ko-KR" sz="1100" b="1" dirty="0" err="1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Lamp_Temp_IN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 ZONE MIR LAMP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459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UseState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DX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모드 사용 상태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en-US" altLang="ko-KR" sz="1100" b="1" dirty="0" err="1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Lamp_Temp_MID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 ZONE MIR LAMP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327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Algorithm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DX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알고리즘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en-US" altLang="ko-KR" sz="1100" b="1" dirty="0" err="1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Lamp_Temp_OUT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 ZONE MIR LAMP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38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Velocity_SV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세팅 속도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Prev_Temp_IN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이전 전극 표면온도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483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Velocity_PV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측정 속도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Prev_Temp_MID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이전 전극 표면온도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329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*SCR_IN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 ZONE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Prev_Temp_OUT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이전 전극 표면온도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63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*SCR_MID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 ZONE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Prev_Lamp_Temp_IN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이전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Lamp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온도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630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*SCR_OUT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출력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Prev_Lamp_Temp_MID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MID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이전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Lamp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온도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782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Temp_IN1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 표면온도 상부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Prev_Laemp_Temp_OUT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이전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MIR Lamp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온도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810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Temp_IN2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 표면온도 하부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NonOP_Time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이전 부동시간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82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Temp_IN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ZONE </a:t>
                      </a:r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상하부 최댓값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Prev_OP_Time</a:t>
                      </a:r>
                      <a:r>
                        <a:rPr lang="en-US" altLang="ko-KR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직전 가동시간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926887"/>
                  </a:ext>
                </a:extLst>
              </a:tr>
            </a:tbl>
          </a:graphicData>
        </a:graphic>
      </p:graphicFrame>
      <p:sp>
        <p:nvSpPr>
          <p:cNvPr id="11" name="실행 단추: 홈으로 이동 1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59886C6-E755-400D-ACAF-8BCC480A2CDC}"/>
              </a:ext>
            </a:extLst>
          </p:cNvPr>
          <p:cNvSpPr/>
          <p:nvPr/>
        </p:nvSpPr>
        <p:spPr>
          <a:xfrm>
            <a:off x="9343176" y="610425"/>
            <a:ext cx="321546" cy="192527"/>
          </a:xfrm>
          <a:prstGeom prst="actionButtonHome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1C057F-6B2E-465C-9903-2E752816C72A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데이터 컬럼 설명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8A6F77-1E24-4AC9-8D35-00DAA9F9FE29}"/>
              </a:ext>
            </a:extLst>
          </p:cNvPr>
          <p:cNvSpPr/>
          <p:nvPr/>
        </p:nvSpPr>
        <p:spPr>
          <a:xfrm>
            <a:off x="4919078" y="6171272"/>
            <a:ext cx="4986922" cy="21544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MIR(Mid-Infrared Radiation) Lamp 출력 : IR 건조(적외선 건조 시 복사열 전열을 이용한 건조법) 시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내부 </a:t>
            </a:r>
            <a:r>
              <a:rPr lang="ko-KR" altLang="en-US" sz="800" dirty="0" err="1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Lamp의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dirty="0" err="1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출력값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(%)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4347E8-7944-4A4E-AF5C-6F4AF16A716D}"/>
              </a:ext>
            </a:extLst>
          </p:cNvPr>
          <p:cNvSpPr/>
          <p:nvPr/>
        </p:nvSpPr>
        <p:spPr>
          <a:xfrm>
            <a:off x="4919078" y="6319945"/>
            <a:ext cx="2368961" cy="21544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 SCR : Silicon Controlled Rectifier</a:t>
            </a:r>
            <a:endParaRPr lang="ko-KR" alt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8739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79FB93A2-4067-4881-BD7A-4E698765B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214378"/>
            <a:ext cx="2447925" cy="2214622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450456B7-AC66-4E38-B685-5556A6DB8B91}"/>
              </a:ext>
            </a:extLst>
          </p:cNvPr>
          <p:cNvSpPr/>
          <p:nvPr/>
        </p:nvSpPr>
        <p:spPr>
          <a:xfrm>
            <a:off x="107999" y="673597"/>
            <a:ext cx="4305987" cy="369332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1) </a:t>
            </a:r>
            <a:r>
              <a:rPr lang="ko-KR" altLang="en-US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상관분석 후 상관계수 변수 다중공선성 확인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D9BB9C4-CD24-43F2-8E46-9AFB845426B5}"/>
              </a:ext>
            </a:extLst>
          </p:cNvPr>
          <p:cNvSpPr/>
          <p:nvPr/>
        </p:nvSpPr>
        <p:spPr>
          <a:xfrm>
            <a:off x="447674" y="1681104"/>
            <a:ext cx="2505075" cy="996500"/>
          </a:xfrm>
          <a:prstGeom prst="rect">
            <a:avLst/>
          </a:prstGeom>
          <a:noFill/>
          <a:ln>
            <a:solidFill>
              <a:srgbClr val="94A3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04E50E9-94C4-43DB-9DB7-247189B21D71}"/>
              </a:ext>
            </a:extLst>
          </p:cNvPr>
          <p:cNvSpPr/>
          <p:nvPr/>
        </p:nvSpPr>
        <p:spPr>
          <a:xfrm>
            <a:off x="2952749" y="1736914"/>
            <a:ext cx="2305948" cy="584775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VIF</a:t>
            </a:r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지수가 높지만 해당 과제는 모델링 해석이 중요한 과제가 아니고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도메인 지식적으로 필요하다 판단하여 해당 피쳐 사용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과적합이 우려되는 것은 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Drop OUT</a:t>
            </a:r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및 정규화 기법을 사용하여 개선</a:t>
            </a:r>
            <a:endParaRPr lang="ko-KR" altLang="en-US" sz="8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9" name="실행 단추: 홈으로 이동 2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A78A5E4-6CCF-4316-985E-23E349D9071B}"/>
              </a:ext>
            </a:extLst>
          </p:cNvPr>
          <p:cNvSpPr/>
          <p:nvPr/>
        </p:nvSpPr>
        <p:spPr>
          <a:xfrm>
            <a:off x="9333651" y="212174"/>
            <a:ext cx="321546" cy="192527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82728A-11BD-464E-9510-996B840DCA9D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Information Gain</a:t>
            </a:r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및 다중공선성 확인 결과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ABDC29-F21F-45D8-B71F-488F3E66B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99" y="4174271"/>
            <a:ext cx="1926094" cy="2005249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197AD6E-9DBE-4D1F-AB7E-DEDB7E014B7A}"/>
              </a:ext>
            </a:extLst>
          </p:cNvPr>
          <p:cNvSpPr/>
          <p:nvPr/>
        </p:nvSpPr>
        <p:spPr>
          <a:xfrm>
            <a:off x="441466" y="3429000"/>
            <a:ext cx="2156360" cy="369332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Information Gain </a:t>
            </a:r>
            <a:r>
              <a:rPr lang="ko-KR" altLang="en-US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결과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3E101BB-EED1-4426-A2FD-8EF224D2B71D}"/>
              </a:ext>
            </a:extLst>
          </p:cNvPr>
          <p:cNvSpPr/>
          <p:nvPr/>
        </p:nvSpPr>
        <p:spPr>
          <a:xfrm>
            <a:off x="984169" y="3832723"/>
            <a:ext cx="878767" cy="369332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SCR_IN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BE6873-4A25-4374-8546-044E7A8A1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2678" y="4174271"/>
            <a:ext cx="1997892" cy="2005249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9934618-8D69-4C30-9234-AD95319CCF24}"/>
              </a:ext>
            </a:extLst>
          </p:cNvPr>
          <p:cNvSpPr/>
          <p:nvPr/>
        </p:nvSpPr>
        <p:spPr>
          <a:xfrm>
            <a:off x="3561343" y="3832723"/>
            <a:ext cx="1088760" cy="369332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SCR_OUT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60557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Box 514"/>
          <p:cNvSpPr txBox="1">
            <a:spLocks noChangeArrowheads="1"/>
          </p:cNvSpPr>
          <p:nvPr/>
        </p:nvSpPr>
        <p:spPr bwMode="auto">
          <a:xfrm>
            <a:off x="416496" y="823408"/>
            <a:ext cx="915157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2.2.2 </a:t>
            </a:r>
            <a:r>
              <a:rPr lang="ko-KR" altLang="en-US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 기본 </a:t>
            </a:r>
            <a:r>
              <a:rPr lang="en-US" altLang="ko-KR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Logic _ </a:t>
            </a:r>
            <a:r>
              <a:rPr lang="ko-KR" altLang="en-US" sz="12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 시퀀스 및 기능</a:t>
            </a:r>
            <a:endParaRPr lang="en-US" altLang="ko-KR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56" name="그룹 155"/>
          <p:cNvGrpSpPr/>
          <p:nvPr/>
        </p:nvGrpSpPr>
        <p:grpSpPr>
          <a:xfrm>
            <a:off x="488504" y="1217124"/>
            <a:ext cx="9093480" cy="2440850"/>
            <a:chOff x="180000" y="1182907"/>
            <a:chExt cx="9093480" cy="2440850"/>
          </a:xfrm>
        </p:grpSpPr>
        <p:grpSp>
          <p:nvGrpSpPr>
            <p:cNvPr id="38" name="그룹 37"/>
            <p:cNvGrpSpPr/>
            <p:nvPr/>
          </p:nvGrpSpPr>
          <p:grpSpPr>
            <a:xfrm>
              <a:off x="180000" y="1291736"/>
              <a:ext cx="8339381" cy="2130187"/>
              <a:chOff x="128464" y="980728"/>
              <a:chExt cx="10132697" cy="2554873"/>
            </a:xfrm>
          </p:grpSpPr>
          <p:grpSp>
            <p:nvGrpSpPr>
              <p:cNvPr id="39" name="그룹 38"/>
              <p:cNvGrpSpPr/>
              <p:nvPr/>
            </p:nvGrpSpPr>
            <p:grpSpPr>
              <a:xfrm>
                <a:off x="128464" y="980728"/>
                <a:ext cx="10132697" cy="2554873"/>
                <a:chOff x="128464" y="980728"/>
                <a:chExt cx="10132697" cy="3096344"/>
              </a:xfrm>
            </p:grpSpPr>
            <p:graphicFrame>
              <p:nvGraphicFramePr>
                <p:cNvPr id="57" name="차트 56"/>
                <p:cNvGraphicFramePr>
                  <a:graphicFrameLocks/>
                </p:cNvGraphicFramePr>
                <p:nvPr/>
              </p:nvGraphicFramePr>
              <p:xfrm>
                <a:off x="128464" y="980728"/>
                <a:ext cx="9649072" cy="3096344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2"/>
                </a:graphicData>
              </a:graphic>
            </p:graphicFrame>
            <p:cxnSp>
              <p:nvCxnSpPr>
                <p:cNvPr id="62" name="직선 연결선 61"/>
                <p:cNvCxnSpPr/>
                <p:nvPr/>
              </p:nvCxnSpPr>
              <p:spPr>
                <a:xfrm flipH="1" flipV="1">
                  <a:off x="3267938" y="1102154"/>
                  <a:ext cx="0" cy="259200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직선 연결선 62"/>
                <p:cNvCxnSpPr/>
                <p:nvPr/>
              </p:nvCxnSpPr>
              <p:spPr>
                <a:xfrm flipH="1" flipV="1">
                  <a:off x="5194902" y="1102154"/>
                  <a:ext cx="0" cy="259200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직선 연결선 63"/>
                <p:cNvCxnSpPr/>
                <p:nvPr/>
              </p:nvCxnSpPr>
              <p:spPr>
                <a:xfrm flipH="1" flipV="1">
                  <a:off x="6439290" y="1102154"/>
                  <a:ext cx="0" cy="259200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/>
                <p:cNvCxnSpPr/>
                <p:nvPr/>
              </p:nvCxnSpPr>
              <p:spPr>
                <a:xfrm flipH="1" flipV="1">
                  <a:off x="7957084" y="1102154"/>
                  <a:ext cx="0" cy="259200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직선 연결선 65"/>
                <p:cNvCxnSpPr/>
                <p:nvPr/>
              </p:nvCxnSpPr>
              <p:spPr>
                <a:xfrm flipH="1" flipV="1">
                  <a:off x="8493018" y="1102154"/>
                  <a:ext cx="0" cy="259200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직선 연결선 161"/>
                <p:cNvCxnSpPr/>
                <p:nvPr/>
              </p:nvCxnSpPr>
              <p:spPr>
                <a:xfrm flipH="1" flipV="1">
                  <a:off x="9304556" y="1102154"/>
                  <a:ext cx="0" cy="259200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직선 연결선 162"/>
                <p:cNvCxnSpPr/>
                <p:nvPr/>
              </p:nvCxnSpPr>
              <p:spPr>
                <a:xfrm flipH="1" flipV="1">
                  <a:off x="9824228" y="1102154"/>
                  <a:ext cx="0" cy="259200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직선 연결선 163"/>
                <p:cNvCxnSpPr/>
                <p:nvPr/>
              </p:nvCxnSpPr>
              <p:spPr>
                <a:xfrm flipH="1" flipV="1">
                  <a:off x="10086564" y="1102154"/>
                  <a:ext cx="0" cy="259200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직선 연결선 164"/>
                <p:cNvCxnSpPr/>
                <p:nvPr/>
              </p:nvCxnSpPr>
              <p:spPr>
                <a:xfrm flipH="1" flipV="1">
                  <a:off x="10261161" y="1102154"/>
                  <a:ext cx="0" cy="259200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직선 연결선 185"/>
                <p:cNvCxnSpPr>
                  <a:cxnSpLocks/>
                  <a:endCxn id="159" idx="2"/>
                </p:cNvCxnSpPr>
                <p:nvPr/>
              </p:nvCxnSpPr>
              <p:spPr>
                <a:xfrm flipH="1" flipV="1">
                  <a:off x="3627830" y="1773025"/>
                  <a:ext cx="344" cy="1921129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4" name="TextBox 53"/>
              <p:cNvSpPr txBox="1"/>
              <p:nvPr/>
            </p:nvSpPr>
            <p:spPr>
              <a:xfrm>
                <a:off x="3053735" y="1569442"/>
                <a:ext cx="432296" cy="295309"/>
              </a:xfrm>
              <a:prstGeom prst="rect">
                <a:avLst/>
              </a:prstGeom>
              <a:noFill/>
              <a:ln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algn="ctr">
                  <a:defRPr sz="1000" b="1">
                    <a:latin typeface="LG스마트체 Regular" panose="020B0600000101010101" pitchFamily="50" charset="-127"/>
                    <a:ea typeface="LG스마트체 Regular" panose="020B0600000101010101" pitchFamily="50" charset="-127"/>
                  </a:defRPr>
                </a:lvl1pPr>
              </a:lstStyle>
              <a:p>
                <a:r>
                  <a:rPr lang="ko-KR" altLang="en-US" dirty="0">
                    <a:solidFill>
                      <a:srgbClr val="E2E8F0"/>
                    </a:solidFill>
                  </a:rPr>
                  <a:t>⑤</a:t>
                </a:r>
              </a:p>
            </p:txBody>
          </p:sp>
          <p:sp>
            <p:nvSpPr>
              <p:cNvPr id="159" name="TextBox 158"/>
              <p:cNvSpPr txBox="1"/>
              <p:nvPr/>
            </p:nvSpPr>
            <p:spPr>
              <a:xfrm>
                <a:off x="3411681" y="1339163"/>
                <a:ext cx="432296" cy="295309"/>
              </a:xfrm>
              <a:prstGeom prst="rect">
                <a:avLst/>
              </a:prstGeom>
              <a:noFill/>
              <a:ln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algn="ctr">
                  <a:defRPr sz="1000" b="1">
                    <a:latin typeface="LG스마트체 Regular" panose="020B0600000101010101" pitchFamily="50" charset="-127"/>
                    <a:ea typeface="LG스마트체 Regular" panose="020B0600000101010101" pitchFamily="50" charset="-127"/>
                  </a:defRPr>
                </a:lvl1pPr>
              </a:lstStyle>
              <a:p>
                <a:r>
                  <a:rPr lang="ko-KR" altLang="en-US" dirty="0">
                    <a:solidFill>
                      <a:srgbClr val="E2E8F0"/>
                    </a:solidFill>
                  </a:rPr>
                  <a:t>⑦</a:t>
                </a:r>
              </a:p>
            </p:txBody>
          </p:sp>
        </p:grpSp>
        <p:sp>
          <p:nvSpPr>
            <p:cNvPr id="5" name="직사각형 4"/>
            <p:cNvSpPr/>
            <p:nvPr/>
          </p:nvSpPr>
          <p:spPr>
            <a:xfrm>
              <a:off x="468054" y="3119701"/>
              <a:ext cx="8229362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55" name="직사각형 154"/>
            <p:cNvSpPr/>
            <p:nvPr/>
          </p:nvSpPr>
          <p:spPr>
            <a:xfrm>
              <a:off x="7750984" y="1182907"/>
              <a:ext cx="387277" cy="1975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70" name="그룹 69"/>
            <p:cNvGrpSpPr/>
            <p:nvPr/>
          </p:nvGrpSpPr>
          <p:grpSpPr>
            <a:xfrm>
              <a:off x="7584565" y="1386884"/>
              <a:ext cx="1112851" cy="1711112"/>
              <a:chOff x="7617296" y="1386884"/>
              <a:chExt cx="1224136" cy="1711112"/>
            </a:xfrm>
          </p:grpSpPr>
          <p:cxnSp>
            <p:nvCxnSpPr>
              <p:cNvPr id="67" name="직선 연결선 66"/>
              <p:cNvCxnSpPr/>
              <p:nvPr/>
            </p:nvCxnSpPr>
            <p:spPr>
              <a:xfrm>
                <a:off x="7617296" y="1386884"/>
                <a:ext cx="1224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>
                <a:off x="7617296" y="1668492"/>
                <a:ext cx="1224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>
                <a:off x="7617296" y="1954229"/>
                <a:ext cx="1224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>
                <a:off x="7617296" y="2242968"/>
                <a:ext cx="1224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>
                <a:off x="7617296" y="2528549"/>
                <a:ext cx="1224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>
              <a:xfrm>
                <a:off x="7617296" y="2813671"/>
                <a:ext cx="1224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>
              <a:xfrm>
                <a:off x="7617296" y="3097996"/>
                <a:ext cx="1224136" cy="0"/>
              </a:xfrm>
              <a:prstGeom prst="line">
                <a:avLst/>
              </a:prstGeom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0" name="직선 연결선 119"/>
            <p:cNvCxnSpPr/>
            <p:nvPr/>
          </p:nvCxnSpPr>
          <p:spPr>
            <a:xfrm>
              <a:off x="7732081" y="2382881"/>
              <a:ext cx="441900" cy="572112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연결선 124"/>
            <p:cNvCxnSpPr/>
            <p:nvPr/>
          </p:nvCxnSpPr>
          <p:spPr>
            <a:xfrm flipV="1">
              <a:off x="8160953" y="2949969"/>
              <a:ext cx="256595" cy="7758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연결선 127"/>
            <p:cNvCxnSpPr/>
            <p:nvPr/>
          </p:nvCxnSpPr>
          <p:spPr>
            <a:xfrm>
              <a:off x="8409737" y="2950961"/>
              <a:ext cx="109644" cy="141952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연결선 129"/>
            <p:cNvCxnSpPr/>
            <p:nvPr/>
          </p:nvCxnSpPr>
          <p:spPr>
            <a:xfrm>
              <a:off x="7717871" y="2479481"/>
              <a:ext cx="434024" cy="226445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>
              <a:off x="8145743" y="2704083"/>
              <a:ext cx="267992" cy="2797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직선 연결선 133"/>
            <p:cNvCxnSpPr/>
            <p:nvPr/>
          </p:nvCxnSpPr>
          <p:spPr>
            <a:xfrm>
              <a:off x="8386763" y="2699262"/>
              <a:ext cx="138708" cy="393530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직선 연결선 135"/>
            <p:cNvCxnSpPr/>
            <p:nvPr/>
          </p:nvCxnSpPr>
          <p:spPr>
            <a:xfrm>
              <a:off x="7718605" y="2639883"/>
              <a:ext cx="438951" cy="166641"/>
            </a:xfrm>
            <a:prstGeom prst="line">
              <a:avLst/>
            </a:prstGeom>
            <a:ln w="25400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직선 연결선 137"/>
            <p:cNvCxnSpPr/>
            <p:nvPr/>
          </p:nvCxnSpPr>
          <p:spPr>
            <a:xfrm flipV="1">
              <a:off x="8154686" y="2799995"/>
              <a:ext cx="249021" cy="747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직선 연결선 139"/>
            <p:cNvCxnSpPr/>
            <p:nvPr/>
          </p:nvCxnSpPr>
          <p:spPr>
            <a:xfrm>
              <a:off x="8398686" y="2804005"/>
              <a:ext cx="120695" cy="288020"/>
            </a:xfrm>
            <a:prstGeom prst="line">
              <a:avLst/>
            </a:prstGeom>
            <a:ln w="25400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연결선 141"/>
            <p:cNvCxnSpPr/>
            <p:nvPr/>
          </p:nvCxnSpPr>
          <p:spPr>
            <a:xfrm>
              <a:off x="7723290" y="2695751"/>
              <a:ext cx="437663" cy="102351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직선 연결선 143"/>
            <p:cNvCxnSpPr/>
            <p:nvPr/>
          </p:nvCxnSpPr>
          <p:spPr>
            <a:xfrm>
              <a:off x="8378303" y="2806134"/>
              <a:ext cx="141078" cy="301864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4" name="그룹 153"/>
            <p:cNvGrpSpPr/>
            <p:nvPr/>
          </p:nvGrpSpPr>
          <p:grpSpPr>
            <a:xfrm>
              <a:off x="8697416" y="1268760"/>
              <a:ext cx="576064" cy="1941968"/>
              <a:chOff x="7758137" y="1268760"/>
              <a:chExt cx="576064" cy="1941968"/>
            </a:xfrm>
          </p:grpSpPr>
          <p:sp>
            <p:nvSpPr>
              <p:cNvPr id="147" name="TextBox 146"/>
              <p:cNvSpPr txBox="1"/>
              <p:nvPr/>
            </p:nvSpPr>
            <p:spPr>
              <a:xfrm>
                <a:off x="7758137" y="1268760"/>
                <a:ext cx="576064" cy="230832"/>
              </a:xfrm>
              <a:prstGeom prst="rect">
                <a:avLst/>
              </a:prstGeom>
              <a:noFill/>
              <a:ln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algn="ctr">
                  <a:defRPr sz="900">
                    <a:solidFill>
                      <a:schemeClr val="tx1">
                        <a:lumMod val="50000"/>
                        <a:lumOff val="50000"/>
                      </a:schemeClr>
                    </a:solidFill>
                  </a:defRPr>
                </a:lvl1pPr>
              </a:lstStyle>
              <a:p>
                <a:pPr algn="l"/>
                <a:r>
                  <a:rPr lang="en-US" altLang="ko-KR" dirty="0">
                    <a:solidFill>
                      <a:srgbClr val="E2E8F0"/>
                    </a:solidFill>
                  </a:rPr>
                  <a:t>1200</a:t>
                </a:r>
                <a:endParaRPr lang="ko-KR" altLang="en-US" dirty="0"/>
              </a:p>
            </p:txBody>
          </p:sp>
          <p:sp>
            <p:nvSpPr>
              <p:cNvPr id="148" name="TextBox 147"/>
              <p:cNvSpPr txBox="1"/>
              <p:nvPr/>
            </p:nvSpPr>
            <p:spPr>
              <a:xfrm>
                <a:off x="7758137" y="1553558"/>
                <a:ext cx="576064" cy="230832"/>
              </a:xfrm>
              <a:prstGeom prst="rect">
                <a:avLst/>
              </a:prstGeom>
              <a:noFill/>
              <a:ln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algn="ctr">
                  <a:defRPr sz="900">
                    <a:solidFill>
                      <a:schemeClr val="tx1">
                        <a:lumMod val="50000"/>
                        <a:lumOff val="50000"/>
                      </a:schemeClr>
                    </a:solidFill>
                  </a:defRPr>
                </a:lvl1pPr>
              </a:lstStyle>
              <a:p>
                <a:pPr algn="l"/>
                <a:r>
                  <a:rPr lang="en-US" altLang="ko-KR" dirty="0">
                    <a:solidFill>
                      <a:srgbClr val="E2E8F0"/>
                    </a:solidFill>
                  </a:rPr>
                  <a:t>1,000</a:t>
                </a:r>
                <a:endParaRPr lang="ko-KR" altLang="en-US" dirty="0"/>
              </a:p>
            </p:txBody>
          </p:sp>
          <p:sp>
            <p:nvSpPr>
              <p:cNvPr id="149" name="TextBox 148"/>
              <p:cNvSpPr txBox="1"/>
              <p:nvPr/>
            </p:nvSpPr>
            <p:spPr>
              <a:xfrm>
                <a:off x="7758137" y="1841531"/>
                <a:ext cx="576064" cy="230832"/>
              </a:xfrm>
              <a:prstGeom prst="rect">
                <a:avLst/>
              </a:prstGeom>
              <a:noFill/>
              <a:ln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>
                  <a:defRPr sz="900">
                    <a:solidFill>
                      <a:schemeClr val="tx1">
                        <a:lumMod val="50000"/>
                        <a:lumOff val="50000"/>
                      </a:schemeClr>
                    </a:solidFill>
                  </a:defRPr>
                </a:lvl1pPr>
              </a:lstStyle>
              <a:p>
                <a:r>
                  <a:rPr lang="en-US" altLang="ko-KR" dirty="0">
                    <a:solidFill>
                      <a:srgbClr val="E2E8F0"/>
                    </a:solidFill>
                  </a:rPr>
                  <a:t>800</a:t>
                </a:r>
                <a:endParaRPr lang="ko-KR" altLang="en-US" dirty="0"/>
              </a:p>
            </p:txBody>
          </p:sp>
          <p:sp>
            <p:nvSpPr>
              <p:cNvPr id="150" name="TextBox 149"/>
              <p:cNvSpPr txBox="1"/>
              <p:nvPr/>
            </p:nvSpPr>
            <p:spPr>
              <a:xfrm>
                <a:off x="7758137" y="2126971"/>
                <a:ext cx="576064" cy="230832"/>
              </a:xfrm>
              <a:prstGeom prst="rect">
                <a:avLst/>
              </a:prstGeom>
              <a:noFill/>
              <a:ln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>
                  <a:defRPr sz="900">
                    <a:solidFill>
                      <a:schemeClr val="tx1">
                        <a:lumMod val="50000"/>
                        <a:lumOff val="50000"/>
                      </a:schemeClr>
                    </a:solidFill>
                  </a:defRPr>
                </a:lvl1pPr>
              </a:lstStyle>
              <a:p>
                <a:r>
                  <a:rPr lang="en-US" altLang="ko-KR" dirty="0">
                    <a:solidFill>
                      <a:srgbClr val="E2E8F0"/>
                    </a:solidFill>
                  </a:rPr>
                  <a:t>600</a:t>
                </a:r>
                <a:endParaRPr lang="ko-KR" altLang="en-US" dirty="0"/>
              </a:p>
            </p:txBody>
          </p:sp>
          <p:sp>
            <p:nvSpPr>
              <p:cNvPr id="151" name="TextBox 150"/>
              <p:cNvSpPr txBox="1"/>
              <p:nvPr/>
            </p:nvSpPr>
            <p:spPr>
              <a:xfrm>
                <a:off x="7758137" y="2412561"/>
                <a:ext cx="576064" cy="230832"/>
              </a:xfrm>
              <a:prstGeom prst="rect">
                <a:avLst/>
              </a:prstGeom>
              <a:noFill/>
              <a:ln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>
                  <a:defRPr sz="900">
                    <a:solidFill>
                      <a:schemeClr val="tx1">
                        <a:lumMod val="50000"/>
                        <a:lumOff val="50000"/>
                      </a:schemeClr>
                    </a:solidFill>
                  </a:defRPr>
                </a:lvl1pPr>
              </a:lstStyle>
              <a:p>
                <a:r>
                  <a:rPr lang="en-US" altLang="ko-KR" dirty="0">
                    <a:solidFill>
                      <a:srgbClr val="E2E8F0"/>
                    </a:solidFill>
                  </a:rPr>
                  <a:t>400</a:t>
                </a:r>
                <a:endParaRPr lang="ko-KR" altLang="en-US" dirty="0"/>
              </a:p>
            </p:txBody>
          </p:sp>
          <p:sp>
            <p:nvSpPr>
              <p:cNvPr id="152" name="TextBox 151"/>
              <p:cNvSpPr txBox="1"/>
              <p:nvPr/>
            </p:nvSpPr>
            <p:spPr>
              <a:xfrm>
                <a:off x="7758137" y="2694283"/>
                <a:ext cx="576064" cy="230832"/>
              </a:xfrm>
              <a:prstGeom prst="rect">
                <a:avLst/>
              </a:prstGeom>
              <a:noFill/>
              <a:ln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>
                  <a:defRPr sz="900">
                    <a:solidFill>
                      <a:schemeClr val="tx1">
                        <a:lumMod val="50000"/>
                        <a:lumOff val="50000"/>
                      </a:schemeClr>
                    </a:solidFill>
                  </a:defRPr>
                </a:lvl1pPr>
              </a:lstStyle>
              <a:p>
                <a:r>
                  <a:rPr lang="en-US" altLang="ko-KR" dirty="0">
                    <a:solidFill>
                      <a:srgbClr val="E2E8F0"/>
                    </a:solidFill>
                  </a:rPr>
                  <a:t>200</a:t>
                </a:r>
                <a:endParaRPr lang="ko-KR" altLang="en-US" dirty="0"/>
              </a:p>
            </p:txBody>
          </p:sp>
          <p:sp>
            <p:nvSpPr>
              <p:cNvPr id="153" name="TextBox 152"/>
              <p:cNvSpPr txBox="1"/>
              <p:nvPr/>
            </p:nvSpPr>
            <p:spPr>
              <a:xfrm>
                <a:off x="7758137" y="2979896"/>
                <a:ext cx="576064" cy="230832"/>
              </a:xfrm>
              <a:prstGeom prst="rect">
                <a:avLst/>
              </a:prstGeom>
              <a:noFill/>
              <a:ln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>
                  <a:defRPr sz="900">
                    <a:solidFill>
                      <a:schemeClr val="tx1">
                        <a:lumMod val="50000"/>
                        <a:lumOff val="50000"/>
                      </a:schemeClr>
                    </a:solidFill>
                  </a:defRPr>
                </a:lvl1pPr>
              </a:lstStyle>
              <a:p>
                <a:r>
                  <a:rPr lang="en-US" altLang="ko-KR" dirty="0">
                    <a:solidFill>
                      <a:srgbClr val="E2E8F0"/>
                    </a:solidFill>
                  </a:rPr>
                  <a:t>0</a:t>
                </a:r>
                <a:endParaRPr lang="ko-KR" altLang="en-US" dirty="0"/>
              </a:p>
            </p:txBody>
          </p:sp>
        </p:grpSp>
      </p:grp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92308" y="3393434"/>
          <a:ext cx="9536023" cy="31751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2251">
                  <a:extLst>
                    <a:ext uri="{9D8B030D-6E8A-4147-A177-3AD203B41FA5}">
                      <a16:colId xmlns:a16="http://schemas.microsoft.com/office/drawing/2014/main" val="3075250691"/>
                    </a:ext>
                  </a:extLst>
                </a:gridCol>
                <a:gridCol w="378041">
                  <a:extLst>
                    <a:ext uri="{9D8B030D-6E8A-4147-A177-3AD203B41FA5}">
                      <a16:colId xmlns:a16="http://schemas.microsoft.com/office/drawing/2014/main" val="131718930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786754859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3051472375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3380766478"/>
                    </a:ext>
                  </a:extLst>
                </a:gridCol>
                <a:gridCol w="1750995">
                  <a:extLst>
                    <a:ext uri="{9D8B030D-6E8A-4147-A177-3AD203B41FA5}">
                      <a16:colId xmlns:a16="http://schemas.microsoft.com/office/drawing/2014/main" val="2301038306"/>
                    </a:ext>
                  </a:extLst>
                </a:gridCol>
              </a:tblGrid>
              <a:tr h="17958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설비 시퀀스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No.</a:t>
                      </a:r>
                      <a:endParaRPr lang="ko-KR" altLang="en-US" sz="1000" b="1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명칭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641430"/>
                  </a:ext>
                </a:extLst>
              </a:tr>
              <a:tr h="30863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설비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준비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예열 출력</a:t>
                      </a:r>
                      <a:endParaRPr lang="en-US" altLang="ko-KR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SCR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과전류 알람 방지를 위한 출력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설비 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Start </a:t>
                      </a: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눌렀을 시 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 ~15% </a:t>
                      </a: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정도의 출력 고정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가열판 진입 시점과 동일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524609"/>
                  </a:ext>
                </a:extLst>
              </a:tr>
              <a:tr h="542593">
                <a:tc rowSpan="3"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가속 구간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초기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 가열 초기에 적용되는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주행 시작 전 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-5 ~ 0</a:t>
                      </a: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 사이에 인가되는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설정 값에 따라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초기 출력 인가</a:t>
                      </a:r>
                      <a:endParaRPr lang="en-US" altLang="ko-KR" sz="900" b="0" i="0" u="none" strike="noStrike" kern="1200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baseline="0" dirty="0">
                          <a:solidFill>
                            <a:srgbClr val="E2E8F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시간 딜레이 적용됨</a:t>
                      </a:r>
                      <a:endParaRPr lang="en-US" altLang="ko-KR" sz="900" b="0" i="0" u="none" strike="noStrike" kern="1200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0524"/>
                  </a:ext>
                </a:extLst>
              </a:tr>
              <a:tr h="308639">
                <a:tc vMerge="1">
                  <a:txBody>
                    <a:bodyPr/>
                    <a:lstStyle/>
                    <a:p>
                      <a:pPr algn="ctr"/>
                      <a:endParaRPr lang="ko-KR" alt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Peak 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가속 구간 내 온도 헌팅 방지를 위한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 </a:t>
                      </a: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구간에만 있으며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2</a:t>
                      </a: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~ 3</a:t>
                      </a: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 시점에 인가되는 출력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가열구간 길이에 따라 시점 상이함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53228"/>
                  </a:ext>
                </a:extLst>
              </a:tr>
              <a:tr h="49382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보상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가속 구간 내 온도 하강 방지를 위한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 </a:t>
                      </a: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구간에만 있으며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등속 출력의 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% </a:t>
                      </a: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단위로 적용되며</a:t>
                      </a:r>
                      <a:endParaRPr lang="en-US" altLang="ko-KR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 ~ 5</a:t>
                      </a: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 시점에 인가되는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가열구간 길이에 따라 시점 상이함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346166"/>
                  </a:ext>
                </a:extLst>
              </a:tr>
              <a:tr h="49382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등속 구간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등속 출력</a:t>
                      </a:r>
                      <a:endParaRPr lang="en-US" altLang="ko-KR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가속 이후 온도 안정화를 파악하는 기준이 되는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각 가열 구간에 진입하는 전극의 온도가 안정화 되었을 때</a:t>
                      </a:r>
                      <a:endParaRPr lang="en-US" altLang="ko-KR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등속 시작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en-US" altLang="ko-KR" sz="900" baseline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aseline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인가되는 출력</a:t>
                      </a:r>
                      <a:endParaRPr lang="ko-KR" altLang="en-US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가열구간 길이에 따라 시점 상이함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758987"/>
                  </a:ext>
                </a:extLst>
              </a:tr>
              <a:tr h="39187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보정 주기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등속 구간 내 출력 자동 보정을 위한 보정 주기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일정 시간 마다 온도를 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Feed back </a:t>
                      </a: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하여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등속 구간 시작 시 일정 주기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539096"/>
                  </a:ext>
                </a:extLst>
              </a:tr>
              <a:tr h="39187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보정량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등속 구간 내 출력 자동 보정 시 보정되는 출력량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 온도 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±3</a:t>
                      </a: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℃ 범위내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±% </a:t>
                      </a: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 보정 적용됨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상승 보정량과 하강 보정량</a:t>
                      </a:r>
                      <a:endParaRPr lang="en-US" altLang="ko-KR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각각 설정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11064"/>
                  </a:ext>
                </a:extLst>
              </a:tr>
            </a:tbl>
          </a:graphicData>
        </a:graphic>
      </p:graphicFrame>
      <p:sp>
        <p:nvSpPr>
          <p:cNvPr id="160" name="TextBox 159"/>
          <p:cNvSpPr txBox="1"/>
          <p:nvPr/>
        </p:nvSpPr>
        <p:spPr>
          <a:xfrm>
            <a:off x="5554985" y="2460693"/>
            <a:ext cx="355787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⑧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559670" y="2668612"/>
            <a:ext cx="355787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⑧</a:t>
            </a:r>
          </a:p>
        </p:txBody>
      </p:sp>
      <p:cxnSp>
        <p:nvCxnSpPr>
          <p:cNvPr id="174" name="직선 화살표 연결선 173"/>
          <p:cNvCxnSpPr/>
          <p:nvPr/>
        </p:nvCxnSpPr>
        <p:spPr>
          <a:xfrm>
            <a:off x="4667794" y="3132832"/>
            <a:ext cx="100033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5002148" y="3007521"/>
            <a:ext cx="355787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⑨</a:t>
            </a:r>
          </a:p>
        </p:txBody>
      </p:sp>
      <p:cxnSp>
        <p:nvCxnSpPr>
          <p:cNvPr id="177" name="직선 화살표 연결선 176"/>
          <p:cNvCxnSpPr/>
          <p:nvPr/>
        </p:nvCxnSpPr>
        <p:spPr>
          <a:xfrm>
            <a:off x="6931591" y="3132832"/>
            <a:ext cx="44108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화살표 연결선 178"/>
          <p:cNvCxnSpPr/>
          <p:nvPr/>
        </p:nvCxnSpPr>
        <p:spPr>
          <a:xfrm>
            <a:off x="8045577" y="3132832"/>
            <a:ext cx="41443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8081180" y="3007521"/>
            <a:ext cx="355787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⑨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975035" y="3007521"/>
            <a:ext cx="355787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⑨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315668" y="2523257"/>
            <a:ext cx="355787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⑩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318545" y="2668612"/>
            <a:ext cx="355787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⑩</a:t>
            </a:r>
          </a:p>
        </p:txBody>
      </p:sp>
      <p:cxnSp>
        <p:nvCxnSpPr>
          <p:cNvPr id="184" name="직선 화살표 연결선 183"/>
          <p:cNvCxnSpPr/>
          <p:nvPr/>
        </p:nvCxnSpPr>
        <p:spPr>
          <a:xfrm>
            <a:off x="3072344" y="3132832"/>
            <a:ext cx="29619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3049073" y="3007521"/>
            <a:ext cx="355787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⑥</a:t>
            </a:r>
          </a:p>
        </p:txBody>
      </p:sp>
      <p:sp>
        <p:nvSpPr>
          <p:cNvPr id="190" name="Text Box 514"/>
          <p:cNvSpPr txBox="1">
            <a:spLocks noChangeArrowheads="1"/>
          </p:cNvSpPr>
          <p:nvPr/>
        </p:nvSpPr>
        <p:spPr bwMode="auto">
          <a:xfrm>
            <a:off x="56456" y="1166090"/>
            <a:ext cx="113328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spcBef>
                <a:spcPts val="600"/>
              </a:spcBef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램프 출력</a:t>
            </a:r>
            <a:r>
              <a:rPr lang="en-US" altLang="ko-KR" dirty="0">
                <a:solidFill>
                  <a:srgbClr val="E2E8F0"/>
                </a:solidFill>
              </a:rPr>
              <a:t>(</a:t>
            </a:r>
            <a:r>
              <a:rPr lang="ko-KR" altLang="en-US" dirty="0">
                <a:solidFill>
                  <a:srgbClr val="E2E8F0"/>
                </a:solidFill>
              </a:rPr>
              <a:t>％</a:t>
            </a:r>
            <a:r>
              <a:rPr lang="en-US" altLang="ko-KR" dirty="0">
                <a:solidFill>
                  <a:srgbClr val="E2E8F0"/>
                </a:solidFill>
              </a:rPr>
              <a:t>)</a:t>
            </a:r>
          </a:p>
        </p:txBody>
      </p:sp>
      <p:sp>
        <p:nvSpPr>
          <p:cNvPr id="192" name="Text Box 514"/>
          <p:cNvSpPr txBox="1">
            <a:spLocks noChangeArrowheads="1"/>
          </p:cNvSpPr>
          <p:nvPr/>
        </p:nvSpPr>
        <p:spPr bwMode="auto">
          <a:xfrm>
            <a:off x="8671289" y="1166090"/>
            <a:ext cx="113328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spcBef>
                <a:spcPts val="600"/>
              </a:spcBef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설비 속도</a:t>
            </a:r>
            <a:r>
              <a:rPr lang="en-US" altLang="ko-KR" dirty="0">
                <a:solidFill>
                  <a:srgbClr val="E2E8F0"/>
                </a:solidFill>
              </a:rPr>
              <a:t>(mm/s)</a:t>
            </a:r>
          </a:p>
        </p:txBody>
      </p:sp>
      <p:sp>
        <p:nvSpPr>
          <p:cNvPr id="193" name="직사각형 192"/>
          <p:cNvSpPr/>
          <p:nvPr/>
        </p:nvSpPr>
        <p:spPr>
          <a:xfrm>
            <a:off x="193682" y="1160116"/>
            <a:ext cx="9534650" cy="218357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0" name="Text Box 24"/>
          <p:cNvSpPr txBox="1">
            <a:spLocks noChangeArrowheads="1"/>
          </p:cNvSpPr>
          <p:nvPr/>
        </p:nvSpPr>
        <p:spPr bwMode="auto">
          <a:xfrm>
            <a:off x="180000" y="548680"/>
            <a:ext cx="950595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2.2 </a:t>
            </a:r>
            <a:r>
              <a:rPr kumimoji="1" lang="ko-KR" altLang="en-US" sz="12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 주행건조 설비 제어부</a:t>
            </a:r>
            <a:endParaRPr kumimoji="1" lang="en-US" altLang="ko-KR" sz="12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187CA6AA-FB92-417C-97B8-B4992397B091}"/>
              </a:ext>
            </a:extLst>
          </p:cNvPr>
          <p:cNvSpPr txBox="1"/>
          <p:nvPr/>
        </p:nvSpPr>
        <p:spPr>
          <a:xfrm>
            <a:off x="2631240" y="2841439"/>
            <a:ext cx="355787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8F6EF7C4-C66C-48D9-8418-36F8D5F1CB76}"/>
              </a:ext>
            </a:extLst>
          </p:cNvPr>
          <p:cNvSpPr txBox="1"/>
          <p:nvPr/>
        </p:nvSpPr>
        <p:spPr>
          <a:xfrm>
            <a:off x="6092274" y="1658956"/>
            <a:ext cx="355787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⑦</a:t>
            </a:r>
          </a:p>
        </p:txBody>
      </p:sp>
      <p:pic>
        <p:nvPicPr>
          <p:cNvPr id="261" name="그림 260">
            <a:extLst>
              <a:ext uri="{FF2B5EF4-FFF2-40B4-BE49-F238E27FC236}">
                <a16:creationId xmlns:a16="http://schemas.microsoft.com/office/drawing/2014/main" id="{A893A3B4-6B66-49EC-9E1A-9C101E641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168" y="1333142"/>
            <a:ext cx="6440928" cy="1860568"/>
          </a:xfrm>
          <a:prstGeom prst="rect">
            <a:avLst/>
          </a:prstGeom>
        </p:spPr>
      </p:pic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1B8F4298-F5D5-4FD4-A63B-3689BA46CC0C}"/>
              </a:ext>
            </a:extLst>
          </p:cNvPr>
          <p:cNvCxnSpPr>
            <a:cxnSpLocks/>
          </p:cNvCxnSpPr>
          <p:nvPr/>
        </p:nvCxnSpPr>
        <p:spPr>
          <a:xfrm flipV="1">
            <a:off x="6908215" y="1858635"/>
            <a:ext cx="1" cy="12765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D9EB6B56-39BC-4B08-A536-B4BB5BE7121D}"/>
              </a:ext>
            </a:extLst>
          </p:cNvPr>
          <p:cNvSpPr txBox="1"/>
          <p:nvPr/>
        </p:nvSpPr>
        <p:spPr>
          <a:xfrm>
            <a:off x="1146106" y="2788154"/>
            <a:ext cx="278139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79AAAB96-39A9-4AAD-92A9-FE1878C44D84}"/>
              </a:ext>
            </a:extLst>
          </p:cNvPr>
          <p:cNvSpPr txBox="1"/>
          <p:nvPr/>
        </p:nvSpPr>
        <p:spPr>
          <a:xfrm>
            <a:off x="4180826" y="1503813"/>
            <a:ext cx="278138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④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8D181502-0B7D-45F1-8544-83C36EF78561}"/>
              </a:ext>
            </a:extLst>
          </p:cNvPr>
          <p:cNvSpPr txBox="1"/>
          <p:nvPr/>
        </p:nvSpPr>
        <p:spPr>
          <a:xfrm>
            <a:off x="6084098" y="1795452"/>
            <a:ext cx="278139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⑤</a:t>
            </a:r>
          </a:p>
        </p:txBody>
      </p: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A19458B5-DFE4-485D-B719-BD1F4C4F73DB}"/>
              </a:ext>
            </a:extLst>
          </p:cNvPr>
          <p:cNvCxnSpPr>
            <a:cxnSpLocks/>
          </p:cNvCxnSpPr>
          <p:nvPr/>
        </p:nvCxnSpPr>
        <p:spPr>
          <a:xfrm flipV="1">
            <a:off x="3431551" y="1414751"/>
            <a:ext cx="0" cy="17328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4974A885-5CD9-443B-8BF8-3DDE973D0F50}"/>
              </a:ext>
            </a:extLst>
          </p:cNvPr>
          <p:cNvCxnSpPr>
            <a:cxnSpLocks/>
          </p:cNvCxnSpPr>
          <p:nvPr/>
        </p:nvCxnSpPr>
        <p:spPr>
          <a:xfrm flipV="1">
            <a:off x="4172174" y="1414751"/>
            <a:ext cx="0" cy="17328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4903DFA9-EED3-4A61-98FE-1490DB8509FD}"/>
              </a:ext>
            </a:extLst>
          </p:cNvPr>
          <p:cNvCxnSpPr>
            <a:cxnSpLocks/>
          </p:cNvCxnSpPr>
          <p:nvPr/>
        </p:nvCxnSpPr>
        <p:spPr>
          <a:xfrm flipV="1">
            <a:off x="6312346" y="1414751"/>
            <a:ext cx="0" cy="17328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TextBox 276">
            <a:extLst>
              <a:ext uri="{FF2B5EF4-FFF2-40B4-BE49-F238E27FC236}">
                <a16:creationId xmlns:a16="http://schemas.microsoft.com/office/drawing/2014/main" id="{1A1E1914-955C-4E89-87D5-782B2BFB4FCD}"/>
              </a:ext>
            </a:extLst>
          </p:cNvPr>
          <p:cNvSpPr txBox="1"/>
          <p:nvPr/>
        </p:nvSpPr>
        <p:spPr>
          <a:xfrm>
            <a:off x="6472430" y="2925296"/>
            <a:ext cx="278139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⑥</a:t>
            </a:r>
          </a:p>
        </p:txBody>
      </p:sp>
      <p:cxnSp>
        <p:nvCxnSpPr>
          <p:cNvPr id="278" name="직선 화살표 연결선 277">
            <a:extLst>
              <a:ext uri="{FF2B5EF4-FFF2-40B4-BE49-F238E27FC236}">
                <a16:creationId xmlns:a16="http://schemas.microsoft.com/office/drawing/2014/main" id="{0D0371B0-B43D-424F-8A8A-BABEC4665288}"/>
              </a:ext>
            </a:extLst>
          </p:cNvPr>
          <p:cNvCxnSpPr>
            <a:cxnSpLocks/>
          </p:cNvCxnSpPr>
          <p:nvPr/>
        </p:nvCxnSpPr>
        <p:spPr>
          <a:xfrm>
            <a:off x="6309911" y="3135198"/>
            <a:ext cx="59830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TextBox 279">
            <a:extLst>
              <a:ext uri="{FF2B5EF4-FFF2-40B4-BE49-F238E27FC236}">
                <a16:creationId xmlns:a16="http://schemas.microsoft.com/office/drawing/2014/main" id="{84832593-C42E-471C-970B-E2038D842F8A}"/>
              </a:ext>
            </a:extLst>
          </p:cNvPr>
          <p:cNvSpPr txBox="1"/>
          <p:nvPr/>
        </p:nvSpPr>
        <p:spPr>
          <a:xfrm>
            <a:off x="4625311" y="2153866"/>
            <a:ext cx="278139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⑤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47A72B2-C63B-472A-9DB7-48C1E4B98786}"/>
              </a:ext>
            </a:extLst>
          </p:cNvPr>
          <p:cNvCxnSpPr>
            <a:cxnSpLocks/>
          </p:cNvCxnSpPr>
          <p:nvPr/>
        </p:nvCxnSpPr>
        <p:spPr>
          <a:xfrm flipH="1" flipV="1">
            <a:off x="1328761" y="2996754"/>
            <a:ext cx="1323976" cy="1"/>
          </a:xfrm>
          <a:prstGeom prst="line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id="{84D6CBE9-0FB0-4C4F-B5AB-030DEA82D45A}"/>
              </a:ext>
            </a:extLst>
          </p:cNvPr>
          <p:cNvCxnSpPr>
            <a:cxnSpLocks/>
          </p:cNvCxnSpPr>
          <p:nvPr/>
        </p:nvCxnSpPr>
        <p:spPr>
          <a:xfrm flipV="1">
            <a:off x="1349258" y="2988390"/>
            <a:ext cx="1" cy="147536"/>
          </a:xfrm>
          <a:prstGeom prst="line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CE7F5E0-BF9B-4157-91CF-6FC8E61652DD}"/>
              </a:ext>
            </a:extLst>
          </p:cNvPr>
          <p:cNvCxnSpPr>
            <a:cxnSpLocks/>
          </p:cNvCxnSpPr>
          <p:nvPr/>
        </p:nvCxnSpPr>
        <p:spPr>
          <a:xfrm>
            <a:off x="2512490" y="1417926"/>
            <a:ext cx="285529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>
            <a:extLst>
              <a:ext uri="{FF2B5EF4-FFF2-40B4-BE49-F238E27FC236}">
                <a16:creationId xmlns:a16="http://schemas.microsoft.com/office/drawing/2014/main" id="{5B0D3CE1-F984-4682-B4AC-94634EE5E1AF}"/>
              </a:ext>
            </a:extLst>
          </p:cNvPr>
          <p:cNvCxnSpPr>
            <a:cxnSpLocks/>
          </p:cNvCxnSpPr>
          <p:nvPr/>
        </p:nvCxnSpPr>
        <p:spPr>
          <a:xfrm>
            <a:off x="2512490" y="1707760"/>
            <a:ext cx="285529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>
            <a:extLst>
              <a:ext uri="{FF2B5EF4-FFF2-40B4-BE49-F238E27FC236}">
                <a16:creationId xmlns:a16="http://schemas.microsoft.com/office/drawing/2014/main" id="{33A315A5-C81E-4582-AEEC-35DC39F5A4E2}"/>
              </a:ext>
            </a:extLst>
          </p:cNvPr>
          <p:cNvCxnSpPr>
            <a:cxnSpLocks/>
          </p:cNvCxnSpPr>
          <p:nvPr/>
        </p:nvCxnSpPr>
        <p:spPr>
          <a:xfrm>
            <a:off x="2512490" y="1990127"/>
            <a:ext cx="285529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>
            <a:extLst>
              <a:ext uri="{FF2B5EF4-FFF2-40B4-BE49-F238E27FC236}">
                <a16:creationId xmlns:a16="http://schemas.microsoft.com/office/drawing/2014/main" id="{2DE6EDB9-DE65-4D7B-80EC-61BB4833B01B}"/>
              </a:ext>
            </a:extLst>
          </p:cNvPr>
          <p:cNvCxnSpPr>
            <a:cxnSpLocks/>
          </p:cNvCxnSpPr>
          <p:nvPr/>
        </p:nvCxnSpPr>
        <p:spPr>
          <a:xfrm>
            <a:off x="2512490" y="2276604"/>
            <a:ext cx="285529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>
            <a:extLst>
              <a:ext uri="{FF2B5EF4-FFF2-40B4-BE49-F238E27FC236}">
                <a16:creationId xmlns:a16="http://schemas.microsoft.com/office/drawing/2014/main" id="{386656E8-7ECF-416A-946C-048F4FD491EB}"/>
              </a:ext>
            </a:extLst>
          </p:cNvPr>
          <p:cNvCxnSpPr>
            <a:cxnSpLocks/>
          </p:cNvCxnSpPr>
          <p:nvPr/>
        </p:nvCxnSpPr>
        <p:spPr>
          <a:xfrm>
            <a:off x="2512490" y="2568544"/>
            <a:ext cx="285529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>
            <a:extLst>
              <a:ext uri="{FF2B5EF4-FFF2-40B4-BE49-F238E27FC236}">
                <a16:creationId xmlns:a16="http://schemas.microsoft.com/office/drawing/2014/main" id="{507D81AD-7DCA-4767-AFAA-B785745B1BC3}"/>
              </a:ext>
            </a:extLst>
          </p:cNvPr>
          <p:cNvCxnSpPr>
            <a:cxnSpLocks/>
          </p:cNvCxnSpPr>
          <p:nvPr/>
        </p:nvCxnSpPr>
        <p:spPr>
          <a:xfrm>
            <a:off x="2512490" y="2847888"/>
            <a:ext cx="285529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직선 연결선 304">
            <a:extLst>
              <a:ext uri="{FF2B5EF4-FFF2-40B4-BE49-F238E27FC236}">
                <a16:creationId xmlns:a16="http://schemas.microsoft.com/office/drawing/2014/main" id="{3D6E043E-A8AE-4A02-B57D-C0C5037462D9}"/>
              </a:ext>
            </a:extLst>
          </p:cNvPr>
          <p:cNvCxnSpPr>
            <a:cxnSpLocks/>
          </p:cNvCxnSpPr>
          <p:nvPr/>
        </p:nvCxnSpPr>
        <p:spPr>
          <a:xfrm>
            <a:off x="771795" y="3140531"/>
            <a:ext cx="2654993" cy="0"/>
          </a:xfrm>
          <a:prstGeom prst="line">
            <a:avLst/>
          </a:prstGeom>
          <a:ln w="12700">
            <a:solidFill>
              <a:srgbClr val="94A3B8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DB1255-266B-4C85-BB2A-B555BD4BF59F}"/>
              </a:ext>
            </a:extLst>
          </p:cNvPr>
          <p:cNvSpPr/>
          <p:nvPr/>
        </p:nvSpPr>
        <p:spPr>
          <a:xfrm>
            <a:off x="1348593" y="1416830"/>
            <a:ext cx="2074745" cy="1727681"/>
          </a:xfrm>
          <a:prstGeom prst="rect">
            <a:avLst/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A35467D3-9C75-40C2-ADD5-83E2823D5FB5}"/>
              </a:ext>
            </a:extLst>
          </p:cNvPr>
          <p:cNvCxnSpPr>
            <a:cxnSpLocks/>
          </p:cNvCxnSpPr>
          <p:nvPr/>
        </p:nvCxnSpPr>
        <p:spPr>
          <a:xfrm flipH="1">
            <a:off x="776254" y="3140531"/>
            <a:ext cx="593013" cy="0"/>
          </a:xfrm>
          <a:prstGeom prst="line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12266A2E-82A9-4E3B-9B5B-225AFE8C4802}"/>
              </a:ext>
            </a:extLst>
          </p:cNvPr>
          <p:cNvSpPr txBox="1"/>
          <p:nvPr/>
        </p:nvSpPr>
        <p:spPr>
          <a:xfrm>
            <a:off x="2782517" y="2417098"/>
            <a:ext cx="278139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②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672A85CB-B60F-4392-BAC9-F9B567862976}"/>
              </a:ext>
            </a:extLst>
          </p:cNvPr>
          <p:cNvSpPr txBox="1"/>
          <p:nvPr/>
        </p:nvSpPr>
        <p:spPr>
          <a:xfrm>
            <a:off x="2762381" y="2745723"/>
            <a:ext cx="278139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②</a:t>
            </a:r>
          </a:p>
        </p:txBody>
      </p:sp>
      <p:cxnSp>
        <p:nvCxnSpPr>
          <p:cNvPr id="306" name="직선 연결선 305">
            <a:extLst>
              <a:ext uri="{FF2B5EF4-FFF2-40B4-BE49-F238E27FC236}">
                <a16:creationId xmlns:a16="http://schemas.microsoft.com/office/drawing/2014/main" id="{A668032A-91A2-4F22-890B-0D3196807CC2}"/>
              </a:ext>
            </a:extLst>
          </p:cNvPr>
          <p:cNvCxnSpPr>
            <a:cxnSpLocks/>
          </p:cNvCxnSpPr>
          <p:nvPr/>
        </p:nvCxnSpPr>
        <p:spPr>
          <a:xfrm flipV="1">
            <a:off x="1348593" y="1414751"/>
            <a:ext cx="0" cy="17328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E9169E3E-EA26-4020-B9FC-671770140FED}"/>
              </a:ext>
            </a:extLst>
          </p:cNvPr>
          <p:cNvCxnSpPr>
            <a:cxnSpLocks/>
          </p:cNvCxnSpPr>
          <p:nvPr/>
        </p:nvCxnSpPr>
        <p:spPr>
          <a:xfrm flipV="1">
            <a:off x="3011787" y="1414751"/>
            <a:ext cx="0" cy="17328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Text Box 514">
            <a:extLst>
              <a:ext uri="{FF2B5EF4-FFF2-40B4-BE49-F238E27FC236}">
                <a16:creationId xmlns:a16="http://schemas.microsoft.com/office/drawing/2014/main" id="{292B33FD-0C8A-4613-B4E2-463F66F3D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8919" y="3151341"/>
            <a:ext cx="752323" cy="195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spcBef>
                <a:spcPts val="600"/>
              </a:spcBef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주행 시작 </a:t>
            </a:r>
            <a:r>
              <a:rPr lang="en-US" altLang="ko-KR" dirty="0">
                <a:solidFill>
                  <a:srgbClr val="E2E8F0"/>
                </a:solidFill>
              </a:rPr>
              <a:t>: 0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6C8D8D73-7AA1-4A77-8FC7-AAE03BE857F3}"/>
              </a:ext>
            </a:extLst>
          </p:cNvPr>
          <p:cNvSpPr txBox="1"/>
          <p:nvPr/>
        </p:nvSpPr>
        <p:spPr>
          <a:xfrm>
            <a:off x="3923210" y="2832319"/>
            <a:ext cx="355787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A1D36AC5-4F16-416C-B306-C2C134D40092}"/>
              </a:ext>
            </a:extLst>
          </p:cNvPr>
          <p:cNvSpPr txBox="1"/>
          <p:nvPr/>
        </p:nvSpPr>
        <p:spPr>
          <a:xfrm>
            <a:off x="6675852" y="1649826"/>
            <a:ext cx="355787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0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⑦</a:t>
            </a:r>
          </a:p>
        </p:txBody>
      </p:sp>
      <p:sp>
        <p:nvSpPr>
          <p:cNvPr id="195" name="Text Box 514"/>
          <p:cNvSpPr txBox="1">
            <a:spLocks noChangeArrowheads="1"/>
          </p:cNvSpPr>
          <p:nvPr/>
        </p:nvSpPr>
        <p:spPr bwMode="auto">
          <a:xfrm>
            <a:off x="933002" y="1192476"/>
            <a:ext cx="292110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spcBef>
                <a:spcPts val="600"/>
              </a:spcBef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가열판 진입 시간 </a:t>
            </a:r>
            <a:r>
              <a:rPr lang="en-US" altLang="ko-KR" dirty="0">
                <a:solidFill>
                  <a:srgbClr val="E2E8F0"/>
                </a:solidFill>
              </a:rPr>
              <a:t>: </a:t>
            </a:r>
            <a:r>
              <a:rPr lang="ko-KR" altLang="en-US" dirty="0">
                <a:solidFill>
                  <a:srgbClr val="E2E8F0"/>
                </a:solidFill>
              </a:rPr>
              <a:t>설비 </a:t>
            </a:r>
            <a:r>
              <a:rPr lang="en-US" altLang="ko-KR" dirty="0">
                <a:solidFill>
                  <a:srgbClr val="E2E8F0"/>
                </a:solidFill>
              </a:rPr>
              <a:t>Start </a:t>
            </a:r>
            <a:r>
              <a:rPr lang="ko-KR" altLang="en-US" dirty="0">
                <a:solidFill>
                  <a:srgbClr val="E2E8F0"/>
                </a:solidFill>
              </a:rPr>
              <a:t>버튼 눌렀을 시 </a:t>
            </a:r>
            <a:r>
              <a:rPr lang="en-US" altLang="ko-KR" dirty="0">
                <a:solidFill>
                  <a:srgbClr val="E2E8F0"/>
                </a:solidFill>
              </a:rPr>
              <a:t>5</a:t>
            </a:r>
            <a:r>
              <a:rPr lang="ko-KR" altLang="en-US" dirty="0">
                <a:solidFill>
                  <a:srgbClr val="E2E8F0"/>
                </a:solidFill>
              </a:rPr>
              <a:t>초 간 진입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0D3CF64-06E6-4942-9D20-808BCBF9B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8475" y="2592932"/>
            <a:ext cx="712450" cy="512698"/>
          </a:xfrm>
          <a:prstGeom prst="rect">
            <a:avLst/>
          </a:prstGeom>
        </p:spPr>
      </p:pic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74C802C4-5578-4E98-9101-4AF699653B10}"/>
              </a:ext>
            </a:extLst>
          </p:cNvPr>
          <p:cNvCxnSpPr>
            <a:cxnSpLocks/>
          </p:cNvCxnSpPr>
          <p:nvPr/>
        </p:nvCxnSpPr>
        <p:spPr>
          <a:xfrm>
            <a:off x="1348593" y="1416158"/>
            <a:ext cx="207474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 Box 514">
            <a:extLst>
              <a:ext uri="{FF2B5EF4-FFF2-40B4-BE49-F238E27FC236}">
                <a16:creationId xmlns:a16="http://schemas.microsoft.com/office/drawing/2014/main" id="{79F80C5D-8DC5-48B4-AC8B-DB7108119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594" y="3151341"/>
            <a:ext cx="752323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spcBef>
                <a:spcPts val="600"/>
              </a:spcBef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E2E8F0"/>
                </a:solidFill>
              </a:rPr>
              <a:t>가속 완료</a:t>
            </a:r>
            <a:endParaRPr lang="en-US" altLang="ko-KR" dirty="0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BEC9246B-1DA4-4561-8CC1-A438C6267C1F}"/>
              </a:ext>
            </a:extLst>
          </p:cNvPr>
          <p:cNvCxnSpPr>
            <a:cxnSpLocks/>
          </p:cNvCxnSpPr>
          <p:nvPr/>
        </p:nvCxnSpPr>
        <p:spPr>
          <a:xfrm flipV="1">
            <a:off x="5308755" y="1414751"/>
            <a:ext cx="0" cy="17328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1A0D3C41-5E36-43F7-ACCF-50FAECF0C5A7}"/>
              </a:ext>
            </a:extLst>
          </p:cNvPr>
          <p:cNvCxnSpPr/>
          <p:nvPr/>
        </p:nvCxnSpPr>
        <p:spPr>
          <a:xfrm>
            <a:off x="73229" y="471260"/>
            <a:ext cx="98137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71704216-9B10-4764-A106-5925C2DC855E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전극 주행 제어 로직 관련 설명</a:t>
            </a:r>
          </a:p>
        </p:txBody>
      </p:sp>
    </p:spTree>
    <p:extLst>
      <p:ext uri="{BB962C8B-B14F-4D97-AF65-F5344CB8AC3E}">
        <p14:creationId xmlns:p14="http://schemas.microsoft.com/office/powerpoint/2010/main" val="11043267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B27F8377-486D-496E-9350-E166B54176B8}"/>
              </a:ext>
            </a:extLst>
          </p:cNvPr>
          <p:cNvSpPr/>
          <p:nvPr/>
        </p:nvSpPr>
        <p:spPr>
          <a:xfrm>
            <a:off x="135411" y="524986"/>
            <a:ext cx="9727455" cy="89325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marL="85725" indent="-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시뮬레이션 예시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331DF6-498D-400F-A761-B6CFE65A1F80}"/>
                  </a:ext>
                </a:extLst>
              </p:cNvPr>
              <p:cNvSpPr txBox="1"/>
              <p:nvPr/>
            </p:nvSpPr>
            <p:spPr>
              <a:xfrm>
                <a:off x="2158946" y="2260059"/>
                <a:ext cx="1697448" cy="3053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400" b="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20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5.5</m:t>
                        </m:r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ko-KR" altLang="en-US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331DF6-498D-400F-A761-B6CFE65A1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946" y="2260059"/>
                <a:ext cx="1697448" cy="305340"/>
              </a:xfrm>
              <a:prstGeom prst="rect">
                <a:avLst/>
              </a:prstGeom>
              <a:blipFill>
                <a:blip r:embed="rId2"/>
                <a:stretch>
                  <a:fillRect l="-6452" t="-4000" b="-2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73E4E5BC-2836-4F6C-B0E9-55CF04B2F8D6}"/>
              </a:ext>
            </a:extLst>
          </p:cNvPr>
          <p:cNvSpPr/>
          <p:nvPr/>
        </p:nvSpPr>
        <p:spPr>
          <a:xfrm>
            <a:off x="3830729" y="1516447"/>
            <a:ext cx="487510" cy="30146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00206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01FD130-F77D-4443-858D-784E31388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905105"/>
              </p:ext>
            </p:extLst>
          </p:nvPr>
        </p:nvGraphicFramePr>
        <p:xfrm>
          <a:off x="383158" y="1255698"/>
          <a:ext cx="31387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240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1046240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1046240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165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초기온도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측정온도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EF025E5C-F3A8-4805-BFBF-E035ABF21797}"/>
              </a:ext>
            </a:extLst>
          </p:cNvPr>
          <p:cNvSpPr/>
          <p:nvPr/>
        </p:nvSpPr>
        <p:spPr>
          <a:xfrm>
            <a:off x="319636" y="916182"/>
            <a:ext cx="2427268" cy="276999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라인 수집된 데이터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비례제어 로직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9579B321-D291-439A-A900-4FF414CCC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07550"/>
              </p:ext>
            </p:extLst>
          </p:nvPr>
        </p:nvGraphicFramePr>
        <p:xfrm>
          <a:off x="4627090" y="1255698"/>
          <a:ext cx="31387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240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1046240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1046240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165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초기온도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타겟온도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150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29.1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150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?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8E8E79A6-840E-4176-A09E-4CC2BCD3E5B2}"/>
              </a:ext>
            </a:extLst>
          </p:cNvPr>
          <p:cNvSpPr/>
          <p:nvPr/>
        </p:nvSpPr>
        <p:spPr>
          <a:xfrm>
            <a:off x="4500572" y="893216"/>
            <a:ext cx="4876656" cy="276999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라인 수집된 데이터에서 타겟온도를 기대 온도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(ex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타겟온도 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150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변경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DEF23A-1843-499B-BB79-0A10D279A961}"/>
              </a:ext>
            </a:extLst>
          </p:cNvPr>
          <p:cNvSpPr txBox="1"/>
          <p:nvPr/>
        </p:nvSpPr>
        <p:spPr>
          <a:xfrm>
            <a:off x="1224377" y="3141660"/>
            <a:ext cx="1325460" cy="307777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DNN</a:t>
            </a:r>
            <a:endParaRPr lang="ko-KR" altLang="en-US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4E62AD4-CC1D-461E-B535-16CD398D4CED}"/>
              </a:ext>
            </a:extLst>
          </p:cNvPr>
          <p:cNvSpPr/>
          <p:nvPr/>
        </p:nvSpPr>
        <p:spPr>
          <a:xfrm>
            <a:off x="92279" y="3167828"/>
            <a:ext cx="9813721" cy="2171434"/>
          </a:xfrm>
          <a:prstGeom prst="rect">
            <a:avLst/>
          </a:prstGeom>
          <a:noFill/>
          <a:ln>
            <a:solidFill>
              <a:srgbClr val="94A3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962FA2F-6EF9-45BF-AB53-2A94C45E5287}"/>
              </a:ext>
            </a:extLst>
          </p:cNvPr>
          <p:cNvSpPr/>
          <p:nvPr/>
        </p:nvSpPr>
        <p:spPr>
          <a:xfrm>
            <a:off x="73229" y="2914076"/>
            <a:ext cx="1967205" cy="276999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 시뮬레이션 결과 및 설명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BD60667-E430-4A58-9AF8-71F1A5B2EA30}"/>
                  </a:ext>
                </a:extLst>
              </p:cNvPr>
              <p:cNvSpPr txBox="1"/>
              <p:nvPr/>
            </p:nvSpPr>
            <p:spPr>
              <a:xfrm>
                <a:off x="383158" y="2223873"/>
                <a:ext cx="1697448" cy="3967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𝑇𝑒𝑚𝑝</m:t>
                              </m:r>
                            </m:sub>
                          </m:s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▶</m:t>
                      </m:r>
                    </m:oMath>
                  </m:oMathPara>
                </a14:m>
                <a:endParaRPr lang="ko-KR" altLang="en-US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BD60667-E430-4A58-9AF8-71F1A5B2E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58" y="2223873"/>
                <a:ext cx="1697448" cy="396775"/>
              </a:xfrm>
              <a:prstGeom prst="rect">
                <a:avLst/>
              </a:prstGeom>
              <a:blipFill>
                <a:blip r:embed="rId3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CDED1D0-4E6D-4081-BDE1-D36CFC6594C4}"/>
                  </a:ext>
                </a:extLst>
              </p:cNvPr>
              <p:cNvSpPr txBox="1"/>
              <p:nvPr/>
            </p:nvSpPr>
            <p:spPr>
              <a:xfrm>
                <a:off x="5130720" y="2217091"/>
                <a:ext cx="2981247" cy="3090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400" b="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20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5.5</m:t>
                        </m:r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▶</a:t>
                </a:r>
                <a:r>
                  <a:rPr lang="en-US" altLang="ko-KR" sz="14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29.1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+10</m:t>
                        </m:r>
                      </m:num>
                      <m:den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5.5</m:t>
                        </m:r>
                      </m:den>
                    </m:f>
                    <m:r>
                      <a:rPr lang="en-US" altLang="ko-K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ko-KR" altLang="en-US" sz="14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CDED1D0-4E6D-4081-BDE1-D36CFC659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720" y="2217091"/>
                <a:ext cx="2981247" cy="309059"/>
              </a:xfrm>
              <a:prstGeom prst="rect">
                <a:avLst/>
              </a:prstGeom>
              <a:blipFill>
                <a:blip r:embed="rId4"/>
                <a:stretch>
                  <a:fillRect l="-3681" t="-26000" b="-36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직사각형 4">
            <a:extLst>
              <a:ext uri="{FF2B5EF4-FFF2-40B4-BE49-F238E27FC236}">
                <a16:creationId xmlns:a16="http://schemas.microsoft.com/office/drawing/2014/main" id="{0180EBCB-B1B9-46E5-9DE8-DB1CEEBF6190}"/>
              </a:ext>
            </a:extLst>
          </p:cNvPr>
          <p:cNvSpPr/>
          <p:nvPr/>
        </p:nvSpPr>
        <p:spPr>
          <a:xfrm>
            <a:off x="364484" y="1550568"/>
            <a:ext cx="3138720" cy="240923"/>
          </a:xfrm>
          <a:prstGeom prst="rect">
            <a:avLst/>
          </a:prstGeom>
          <a:solidFill>
            <a:schemeClr val="accent2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3CF6DB1-C229-40DE-B04E-19B6A8D34651}"/>
              </a:ext>
            </a:extLst>
          </p:cNvPr>
          <p:cNvSpPr/>
          <p:nvPr/>
        </p:nvSpPr>
        <p:spPr>
          <a:xfrm>
            <a:off x="4627090" y="1527321"/>
            <a:ext cx="3138720" cy="240923"/>
          </a:xfrm>
          <a:prstGeom prst="rect">
            <a:avLst/>
          </a:prstGeom>
          <a:solidFill>
            <a:schemeClr val="accent2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BCA0547-6668-4137-B561-9CB454C84A05}"/>
              </a:ext>
            </a:extLst>
          </p:cNvPr>
          <p:cNvSpPr/>
          <p:nvPr/>
        </p:nvSpPr>
        <p:spPr>
          <a:xfrm>
            <a:off x="3297516" y="3558325"/>
            <a:ext cx="6566939" cy="112338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Temp Diff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는 실제 측정된 온도와 기대온도의 차이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Ex) 150-100 =50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SCR_Diff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는 실제 출력값과 기대온도를 맞추기 위해 모형에서 추론한 출력값과의 차이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Ex) 29.1-20 = 9.1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즉 제어방향성은 측정된 온도보다 기대온도가 높다면 양의 상관관계가 나와야 함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또한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그래프 기울기도 적절해야 함</a:t>
            </a:r>
            <a:endParaRPr lang="en-US" altLang="ko-KR" sz="1050" b="1" dirty="0">
              <a:solidFill>
                <a:srgbClr val="00206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보다 복잡한 모형이 잘되는 경향을 보이긴 하지만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시 동일한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MAPE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더라도 하이퍼 파라미터에 따라 시뮬레이션 결과가 달라짐</a:t>
            </a:r>
            <a:endParaRPr lang="en-US" altLang="ko-KR" sz="1050" b="1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매번 시뮬레이션결과를 보고 튜닝하여야 함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7BEBE2E-82C4-4226-B9B0-41DCCBDD5C69}"/>
              </a:ext>
            </a:extLst>
          </p:cNvPr>
          <p:cNvCxnSpPr/>
          <p:nvPr/>
        </p:nvCxnSpPr>
        <p:spPr>
          <a:xfrm>
            <a:off x="73229" y="471260"/>
            <a:ext cx="98137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그림 34">
            <a:extLst>
              <a:ext uri="{FF2B5EF4-FFF2-40B4-BE49-F238E27FC236}">
                <a16:creationId xmlns:a16="http://schemas.microsoft.com/office/drawing/2014/main" id="{67723774-0B3A-46F7-B720-852FDB4AF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482" y="3389352"/>
            <a:ext cx="2693490" cy="189482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CB3232D-07FA-4C64-AED2-14943261685D}"/>
              </a:ext>
            </a:extLst>
          </p:cNvPr>
          <p:cNvSpPr/>
          <p:nvPr/>
        </p:nvSpPr>
        <p:spPr>
          <a:xfrm>
            <a:off x="1335301" y="2547079"/>
            <a:ext cx="779381" cy="276999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예시 로직</a:t>
            </a:r>
          </a:p>
        </p:txBody>
      </p:sp>
      <p:sp>
        <p:nvSpPr>
          <p:cNvPr id="38" name="실행 단추: 홈 8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3ED82CCF-9313-4119-95DC-C034D520BF17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27D370-D265-4B60-928A-816FA5A75700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제어 시뮬레이션</a:t>
            </a:r>
          </a:p>
        </p:txBody>
      </p:sp>
    </p:spTree>
    <p:extLst>
      <p:ext uri="{BB962C8B-B14F-4D97-AF65-F5344CB8AC3E}">
        <p14:creationId xmlns:p14="http://schemas.microsoft.com/office/powerpoint/2010/main" val="8245257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7BEBE2E-82C4-4226-B9B0-41DCCBDD5C69}"/>
              </a:ext>
            </a:extLst>
          </p:cNvPr>
          <p:cNvCxnSpPr/>
          <p:nvPr/>
        </p:nvCxnSpPr>
        <p:spPr>
          <a:xfrm>
            <a:off x="73229" y="471260"/>
            <a:ext cx="98137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D30E4729-C23D-43DE-BEC1-EB3F09B7B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9" y="526150"/>
            <a:ext cx="9691687" cy="273140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8186960-BD31-41AE-84A9-04FD8D370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79" y="3257556"/>
            <a:ext cx="4639026" cy="307429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5531D63-D30A-49ED-941E-A000F2530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651" y="3257555"/>
            <a:ext cx="4639026" cy="3074294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CA260DE5-02B4-4FA4-B643-7877055BA6BF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모형 구조</a:t>
            </a:r>
          </a:p>
        </p:txBody>
      </p:sp>
    </p:spTree>
    <p:extLst>
      <p:ext uri="{BB962C8B-B14F-4D97-AF65-F5344CB8AC3E}">
        <p14:creationId xmlns:p14="http://schemas.microsoft.com/office/powerpoint/2010/main" val="3401767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01301F9-61AC-47C9-92FF-0FA00A7FCCCF}"/>
              </a:ext>
            </a:extLst>
          </p:cNvPr>
          <p:cNvSpPr/>
          <p:nvPr/>
        </p:nvSpPr>
        <p:spPr>
          <a:xfrm>
            <a:off x="92279" y="464719"/>
            <a:ext cx="10514640" cy="1347100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GCLN (Generate Cowork Learning Network)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 배경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1) NND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개발 컨셉 설명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-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초기 온도가 주어질 때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특정 출력값으로 인해 타겟시점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(9s)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온도가 정해짐 이는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열 복사와 열 대류로 인한 결과임 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모형과 현장 데이터를 이용하여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초기 온도가 주어질 때 특정 </a:t>
            </a:r>
            <a:r>
              <a:rPr lang="en-US" altLang="ko-KR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MIR Lamp</a:t>
            </a:r>
            <a:r>
              <a:rPr lang="ko-KR" altLang="en-US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출력이 인가되면 타겟 시점에는 특정 온도에 도달한다는 물리 법칙을 학습을 목표로 함</a:t>
            </a:r>
            <a:endParaRPr lang="en-US" altLang="ko-KR" sz="105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-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기본 관계는 수식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 같지만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궁극적으로 궁금한 값은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값이기 때문에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식은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라는 가정하에 모형의 출력부분을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 즉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MIR Lamp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부분으로 구성함</a:t>
            </a:r>
            <a:endParaRPr lang="en-US" altLang="ko-KR" sz="1050" b="1" dirty="0">
              <a:solidFill>
                <a:srgbClr val="00206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775D381-CFF0-4042-A4BE-0BB10D899259}"/>
                  </a:ext>
                </a:extLst>
              </p:cNvPr>
              <p:cNvSpPr txBox="1"/>
              <p:nvPr/>
            </p:nvSpPr>
            <p:spPr>
              <a:xfrm>
                <a:off x="727085" y="2121551"/>
                <a:ext cx="1632882" cy="2320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𝑇𝑒𝑚𝑝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775D381-CFF0-4042-A4BE-0BB10D899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85" y="2121551"/>
                <a:ext cx="1632882" cy="232051"/>
              </a:xfrm>
              <a:prstGeom prst="rect">
                <a:avLst/>
              </a:prstGeom>
              <a:blipFill>
                <a:blip r:embed="rId2"/>
                <a:stretch>
                  <a:fillRect b="-236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BAFFD0D-3B4B-4C05-8AA5-4FA08DE09CAD}"/>
              </a:ext>
            </a:extLst>
          </p:cNvPr>
          <p:cNvCxnSpPr>
            <a:cxnSpLocks/>
          </p:cNvCxnSpPr>
          <p:nvPr/>
        </p:nvCxnSpPr>
        <p:spPr>
          <a:xfrm>
            <a:off x="1674541" y="2353064"/>
            <a:ext cx="174387" cy="5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1C68795-2E5C-4669-A3F2-F00BD4B817DA}"/>
              </a:ext>
            </a:extLst>
          </p:cNvPr>
          <p:cNvSpPr txBox="1"/>
          <p:nvPr/>
        </p:nvSpPr>
        <p:spPr>
          <a:xfrm>
            <a:off x="1509692" y="2353062"/>
            <a:ext cx="948905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E2E8F0"/>
                </a:solidFill>
              </a:rPr>
              <a:t>출력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DB4105CB-F997-4CF2-876F-954E8A663461}"/>
              </a:ext>
            </a:extLst>
          </p:cNvPr>
          <p:cNvSpPr/>
          <p:nvPr/>
        </p:nvSpPr>
        <p:spPr>
          <a:xfrm>
            <a:off x="2583858" y="2096977"/>
            <a:ext cx="487510" cy="30146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385EE40-1BCF-4E2B-AC59-9B878EC22650}"/>
                  </a:ext>
                </a:extLst>
              </p:cNvPr>
              <p:cNvSpPr txBox="1"/>
              <p:nvPr/>
            </p:nvSpPr>
            <p:spPr>
              <a:xfrm>
                <a:off x="3320118" y="2155381"/>
                <a:ext cx="1632882" cy="39536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𝑇𝑒𝑚𝑝</m:t>
                              </m:r>
                            </m:sub>
                          </m:s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385EE40-1BCF-4E2B-AC59-9B878EC22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118" y="2155381"/>
                <a:ext cx="1632882" cy="395365"/>
              </a:xfrm>
              <a:prstGeom prst="rect">
                <a:avLst/>
              </a:prstGeom>
              <a:blipFill>
                <a:blip r:embed="rId3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128251AA-F600-4F2C-8619-9B304BF4A606}"/>
              </a:ext>
            </a:extLst>
          </p:cNvPr>
          <p:cNvSpPr txBox="1"/>
          <p:nvPr/>
        </p:nvSpPr>
        <p:spPr>
          <a:xfrm>
            <a:off x="1805941" y="2366113"/>
            <a:ext cx="948905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E2E8F0"/>
                </a:solidFill>
              </a:rPr>
              <a:t>초기온도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509AEFC9-E966-4D9A-A34A-804DF27B6054}"/>
              </a:ext>
            </a:extLst>
          </p:cNvPr>
          <p:cNvCxnSpPr>
            <a:cxnSpLocks/>
          </p:cNvCxnSpPr>
          <p:nvPr/>
        </p:nvCxnSpPr>
        <p:spPr>
          <a:xfrm>
            <a:off x="1938109" y="2353064"/>
            <a:ext cx="2763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AB066C98-DFA8-439D-A5C0-C636975AAE19}"/>
              </a:ext>
            </a:extLst>
          </p:cNvPr>
          <p:cNvSpPr txBox="1"/>
          <p:nvPr/>
        </p:nvSpPr>
        <p:spPr>
          <a:xfrm>
            <a:off x="613915" y="2353063"/>
            <a:ext cx="1068319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E2E8F0"/>
                </a:solidFill>
              </a:rPr>
              <a:t>타겟시점 온도</a:t>
            </a: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DA2AB3EB-693A-436D-A886-B930013AB322}"/>
              </a:ext>
            </a:extLst>
          </p:cNvPr>
          <p:cNvCxnSpPr>
            <a:cxnSpLocks/>
          </p:cNvCxnSpPr>
          <p:nvPr/>
        </p:nvCxnSpPr>
        <p:spPr>
          <a:xfrm>
            <a:off x="940205" y="2379914"/>
            <a:ext cx="4102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19AAE5-15D9-4419-87F0-282A0108DCF8}"/>
              </a:ext>
            </a:extLst>
          </p:cNvPr>
          <p:cNvSpPr/>
          <p:nvPr/>
        </p:nvSpPr>
        <p:spPr>
          <a:xfrm>
            <a:off x="465227" y="1819978"/>
            <a:ext cx="652743" cy="276999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수식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</a:t>
            </a:r>
            <a:endParaRPr lang="ko-KR" altLang="en-US" sz="1200" b="1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A96D9F0-D29E-4B7B-A1C8-ED29F304A0CB}"/>
              </a:ext>
            </a:extLst>
          </p:cNvPr>
          <p:cNvSpPr/>
          <p:nvPr/>
        </p:nvSpPr>
        <p:spPr>
          <a:xfrm>
            <a:off x="3257292" y="1843145"/>
            <a:ext cx="652743" cy="276999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수식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</a:t>
            </a:r>
            <a:endParaRPr lang="ko-KR" altLang="en-US" sz="1200" b="1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2B76CA38-AC76-433C-9752-1FCFEA3497FD}"/>
              </a:ext>
            </a:extLst>
          </p:cNvPr>
          <p:cNvSpPr/>
          <p:nvPr/>
        </p:nvSpPr>
        <p:spPr>
          <a:xfrm>
            <a:off x="178545" y="3045864"/>
            <a:ext cx="9727455" cy="2351221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NND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과제의 어려움 및 기존 상용 모형의 한계점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2-1) NND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과제의 어려움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- DX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적용전에는 타겟온도 범위내에 도달하는 비율이 낮음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1,000mm/s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양극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0.4%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음극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31%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수준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300mm/s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양극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0%,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3.78%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수준</a:t>
            </a:r>
            <a:endParaRPr lang="en-US" altLang="ko-KR" sz="1050" b="1" dirty="0">
              <a:solidFill>
                <a:srgbClr val="00206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-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이에 따라서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양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모두 타겟온도에 도달하기 위한 출력값 예측은 외삽 및 내삽에서도 희소 온도 구간임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즉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목표온도 </a:t>
            </a:r>
            <a:r>
              <a:rPr lang="ko-KR" altLang="en-US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타겟 </a:t>
            </a:r>
            <a:r>
              <a:rPr lang="en-US" altLang="ko-KR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</a:t>
            </a:r>
            <a:r>
              <a:rPr lang="ko-KR" altLang="en-US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비율이 잘 되기 위해선 외삽 및 내삽의 희소 온도 구간에서 모형의 예측이 잘 되어야함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모형의 강건성 중요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2-2)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상용 모형의 한계점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-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모형의 강건 하려면 온도분포가 학습외 데이터인 외삽에서도 잘 작동이 되어야 함 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- </a:t>
            </a:r>
            <a:r>
              <a:rPr lang="ko-KR" altLang="en-US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실상은 강건하지 못 함</a:t>
            </a:r>
            <a:r>
              <a:rPr lang="en-US" altLang="ko-KR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모형에 대한 제어 시뮬레이션을 해보면 제어 방향성이 나오지 않음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기대 목표온도가 높아지면 출력 값도 올라가야 함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→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즉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Loss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함수에 문제가 있음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시 외삽에 대한 고려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제어방향성 등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없이 현재가지고 있는 데이터를 잘 맞추는 방향으로만 학습을 명령하게 되어있음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(RMSE, MAE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CDBCD25-815E-417D-84EF-3D4955A7AE7F}"/>
              </a:ext>
            </a:extLst>
          </p:cNvPr>
          <p:cNvCxnSpPr/>
          <p:nvPr/>
        </p:nvCxnSpPr>
        <p:spPr>
          <a:xfrm>
            <a:off x="73229" y="471260"/>
            <a:ext cx="98137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9ADA618-FDED-438C-A65B-92F30F016C17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GCLN</a:t>
            </a:r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개발 배경 및 설명 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1/6 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" name="실행 단추: 홈 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A1826841-EA20-4349-8906-1984111BCC93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33109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B27F8377-486D-496E-9350-E166B54176B8}"/>
              </a:ext>
            </a:extLst>
          </p:cNvPr>
          <p:cNvSpPr/>
          <p:nvPr/>
        </p:nvSpPr>
        <p:spPr>
          <a:xfrm>
            <a:off x="135411" y="524986"/>
            <a:ext cx="9727455" cy="1170257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NND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과제의 어려움 및 기존 상용 모형의 한계점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시뮬레이션 예시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331DF6-498D-400F-A761-B6CFE65A1F80}"/>
                  </a:ext>
                </a:extLst>
              </p:cNvPr>
              <p:cNvSpPr txBox="1"/>
              <p:nvPr/>
            </p:nvSpPr>
            <p:spPr>
              <a:xfrm>
                <a:off x="2095424" y="2404171"/>
                <a:ext cx="1697448" cy="3053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400" b="0" dirty="0">
                    <a:solidFill>
                      <a:srgbClr val="E2E8F0"/>
                    </a:solidFill>
                  </a:rPr>
                  <a:t>20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5.5</m:t>
                        </m:r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331DF6-498D-400F-A761-B6CFE65A1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424" y="2404171"/>
                <a:ext cx="1697448" cy="305340"/>
              </a:xfrm>
              <a:prstGeom prst="rect">
                <a:avLst/>
              </a:prstGeom>
              <a:blipFill>
                <a:blip r:embed="rId2"/>
                <a:stretch>
                  <a:fillRect l="-6475" t="-2000" b="-2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73E4E5BC-2836-4F6C-B0E9-55CF04B2F8D6}"/>
              </a:ext>
            </a:extLst>
          </p:cNvPr>
          <p:cNvSpPr/>
          <p:nvPr/>
        </p:nvSpPr>
        <p:spPr>
          <a:xfrm>
            <a:off x="4021346" y="1733345"/>
            <a:ext cx="487510" cy="30146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002060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01FD130-F77D-4443-858D-784E31388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155963"/>
              </p:ext>
            </p:extLst>
          </p:nvPr>
        </p:nvGraphicFramePr>
        <p:xfrm>
          <a:off x="573775" y="1472596"/>
          <a:ext cx="31387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240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1046240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1046240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165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초기온도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측정온도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EF025E5C-F3A8-4805-BFBF-E035ABF21797}"/>
              </a:ext>
            </a:extLst>
          </p:cNvPr>
          <p:cNvSpPr/>
          <p:nvPr/>
        </p:nvSpPr>
        <p:spPr>
          <a:xfrm>
            <a:off x="510253" y="1133080"/>
            <a:ext cx="2427268" cy="276999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라인 수집된 데이터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비례제어 로직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9579B321-D291-439A-A900-4FF414CCC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961836"/>
              </p:ext>
            </p:extLst>
          </p:nvPr>
        </p:nvGraphicFramePr>
        <p:xfrm>
          <a:off x="4817707" y="1472596"/>
          <a:ext cx="31387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240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1046240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1046240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165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초기온도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타겟온도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150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29.1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150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?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8E8E79A6-840E-4176-A09E-4CC2BCD3E5B2}"/>
              </a:ext>
            </a:extLst>
          </p:cNvPr>
          <p:cNvSpPr/>
          <p:nvPr/>
        </p:nvSpPr>
        <p:spPr>
          <a:xfrm>
            <a:off x="4691189" y="1110114"/>
            <a:ext cx="4876656" cy="276999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라인 수집된 데이터에서 타겟온도를 기대 온도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(ex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타겟온도 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150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</a:t>
            </a:r>
            <a:r>
              <a:rPr lang="en-US" altLang="ko-KR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변경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B8DD02E-1241-4BFB-9D57-4C61EA9F7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41" y="3368290"/>
            <a:ext cx="2947852" cy="194059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31246E4-985E-42CF-BD30-4D84299B6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324" y="3368290"/>
            <a:ext cx="3206796" cy="1940598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901B975-B449-47BE-87F1-37EDCAAADC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0891" y="3368290"/>
            <a:ext cx="3031484" cy="194059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9DEF23A-1843-499B-BB79-0A10D279A961}"/>
              </a:ext>
            </a:extLst>
          </p:cNvPr>
          <p:cNvSpPr txBox="1"/>
          <p:nvPr/>
        </p:nvSpPr>
        <p:spPr>
          <a:xfrm>
            <a:off x="1224377" y="3141660"/>
            <a:ext cx="1325460" cy="307777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DNN</a:t>
            </a:r>
            <a:endParaRPr lang="ko-KR" altLang="en-US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B3AA28-0197-4ABC-A9AD-5DE40344960A}"/>
              </a:ext>
            </a:extLst>
          </p:cNvPr>
          <p:cNvSpPr txBox="1"/>
          <p:nvPr/>
        </p:nvSpPr>
        <p:spPr>
          <a:xfrm>
            <a:off x="4172229" y="3124882"/>
            <a:ext cx="1847717" cy="307777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LSTM with Attention</a:t>
            </a:r>
            <a:endParaRPr lang="ko-KR" altLang="en-US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7C6897-A790-4CE0-A6A1-8CDDF2C970ED}"/>
              </a:ext>
            </a:extLst>
          </p:cNvPr>
          <p:cNvSpPr txBox="1"/>
          <p:nvPr/>
        </p:nvSpPr>
        <p:spPr>
          <a:xfrm>
            <a:off x="7002377" y="3119398"/>
            <a:ext cx="2341141" cy="307777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Lstm with Transformer</a:t>
            </a:r>
            <a:endParaRPr lang="ko-KR" altLang="en-US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4E62AD4-CC1D-461E-B535-16CD398D4CED}"/>
              </a:ext>
            </a:extLst>
          </p:cNvPr>
          <p:cNvSpPr/>
          <p:nvPr/>
        </p:nvSpPr>
        <p:spPr>
          <a:xfrm>
            <a:off x="92279" y="3167828"/>
            <a:ext cx="9813721" cy="2171434"/>
          </a:xfrm>
          <a:prstGeom prst="rect">
            <a:avLst/>
          </a:prstGeom>
          <a:noFill/>
          <a:ln>
            <a:solidFill>
              <a:srgbClr val="94A3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962FA2F-6EF9-45BF-AB53-2A94C45E5287}"/>
              </a:ext>
            </a:extLst>
          </p:cNvPr>
          <p:cNvSpPr/>
          <p:nvPr/>
        </p:nvSpPr>
        <p:spPr>
          <a:xfrm>
            <a:off x="92279" y="2877505"/>
            <a:ext cx="2055371" cy="276999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상용 모형 제어 결과 좋지 않음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586D4B5-2702-4AC4-9F58-8000D6B40832}"/>
              </a:ext>
            </a:extLst>
          </p:cNvPr>
          <p:cNvCxnSpPr>
            <a:cxnSpLocks/>
          </p:cNvCxnSpPr>
          <p:nvPr/>
        </p:nvCxnSpPr>
        <p:spPr>
          <a:xfrm>
            <a:off x="555101" y="4021656"/>
            <a:ext cx="2665562" cy="0"/>
          </a:xfrm>
          <a:prstGeom prst="line">
            <a:avLst/>
          </a:prstGeom>
          <a:ln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BD60667-E430-4A58-9AF8-71F1A5B2EA30}"/>
                  </a:ext>
                </a:extLst>
              </p:cNvPr>
              <p:cNvSpPr txBox="1"/>
              <p:nvPr/>
            </p:nvSpPr>
            <p:spPr>
              <a:xfrm>
                <a:off x="319636" y="2367985"/>
                <a:ext cx="1697448" cy="3967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𝑇𝑒𝑚𝑝</m:t>
                              </m:r>
                            </m:sub>
                          </m:s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▶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BD60667-E430-4A58-9AF8-71F1A5B2E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36" y="2367985"/>
                <a:ext cx="1697448" cy="396775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CDED1D0-4E6D-4081-BDE1-D36CFC6594C4}"/>
                  </a:ext>
                </a:extLst>
              </p:cNvPr>
              <p:cNvSpPr txBox="1"/>
              <p:nvPr/>
            </p:nvSpPr>
            <p:spPr>
              <a:xfrm>
                <a:off x="5067198" y="2361203"/>
                <a:ext cx="2981247" cy="30905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400" b="0" dirty="0">
                    <a:solidFill>
                      <a:srgbClr val="E2E8F0"/>
                    </a:solidFill>
                  </a:rPr>
                  <a:t>20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5.5</m:t>
                        </m:r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solidFill>
                      <a:srgbClr val="E2E8F0"/>
                    </a:solidFill>
                  </a:rPr>
                  <a:t>▶</a:t>
                </a:r>
                <a:r>
                  <a:rPr lang="en-US" altLang="ko-KR" sz="1400" dirty="0">
                    <a:solidFill>
                      <a:srgbClr val="E2E8F0"/>
                    </a:solidFill>
                  </a:rPr>
                  <a:t> 29.1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+10</m:t>
                        </m:r>
                      </m:num>
                      <m:den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5.5</m:t>
                        </m:r>
                      </m:den>
                    </m:f>
                    <m:r>
                      <a:rPr lang="en-US" altLang="ko-K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CDED1D0-4E6D-4081-BDE1-D36CFC659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198" y="2361203"/>
                <a:ext cx="2981247" cy="309059"/>
              </a:xfrm>
              <a:prstGeom prst="rect">
                <a:avLst/>
              </a:prstGeom>
              <a:blipFill>
                <a:blip r:embed="rId7"/>
                <a:stretch>
                  <a:fillRect l="-3681" t="-27451" b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직사각형 4">
            <a:extLst>
              <a:ext uri="{FF2B5EF4-FFF2-40B4-BE49-F238E27FC236}">
                <a16:creationId xmlns:a16="http://schemas.microsoft.com/office/drawing/2014/main" id="{0180EBCB-B1B9-46E5-9DE8-DB1CEEBF6190}"/>
              </a:ext>
            </a:extLst>
          </p:cNvPr>
          <p:cNvSpPr/>
          <p:nvPr/>
        </p:nvSpPr>
        <p:spPr>
          <a:xfrm>
            <a:off x="555101" y="1767466"/>
            <a:ext cx="3138720" cy="240923"/>
          </a:xfrm>
          <a:prstGeom prst="rect">
            <a:avLst/>
          </a:prstGeom>
          <a:solidFill>
            <a:schemeClr val="accent2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3CF6DB1-C229-40DE-B04E-19B6A8D34651}"/>
              </a:ext>
            </a:extLst>
          </p:cNvPr>
          <p:cNvSpPr/>
          <p:nvPr/>
        </p:nvSpPr>
        <p:spPr>
          <a:xfrm>
            <a:off x="4817707" y="1744219"/>
            <a:ext cx="3138720" cy="240923"/>
          </a:xfrm>
          <a:prstGeom prst="rect">
            <a:avLst/>
          </a:prstGeom>
          <a:solidFill>
            <a:schemeClr val="accent2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BCA0547-6668-4137-B561-9CB454C84A05}"/>
              </a:ext>
            </a:extLst>
          </p:cNvPr>
          <p:cNvSpPr/>
          <p:nvPr/>
        </p:nvSpPr>
        <p:spPr>
          <a:xfrm>
            <a:off x="319636" y="5395861"/>
            <a:ext cx="7382149" cy="961802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Temp Diff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는 실제 측정된 온도와 기대온도의 차이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Ex) 150-100 =50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SCR_Diff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는 실제 출력값과 기대온도를 맞추기 위해 모형에서 추론한 출력값과의 차이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Ex) 29.1-20 = 9.1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즉 제어방향성은 측정된 온도보다 기대온도가 높다면 양의 상관관계가 나와야 함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또한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그래프 기울기도 적절해야 함</a:t>
            </a:r>
            <a:endParaRPr lang="en-US" altLang="ko-KR" sz="1050" b="1" dirty="0">
              <a:solidFill>
                <a:srgbClr val="00206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보다 복잡한 모형이 잘되는 경향을 보이긴 하지만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시 동일한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MAPE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더라도 하이퍼 파라미터에 따라 시뮬레이션 결과가 달라짐</a:t>
            </a:r>
            <a:endParaRPr lang="en-US" altLang="ko-KR" sz="1050" b="1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매번 시뮬레이션결과를 보고 튜닝하여야 함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ED3C338-7940-44C8-BD50-13FBABE32AAC}"/>
              </a:ext>
            </a:extLst>
          </p:cNvPr>
          <p:cNvCxnSpPr/>
          <p:nvPr/>
        </p:nvCxnSpPr>
        <p:spPr>
          <a:xfrm>
            <a:off x="73229" y="471260"/>
            <a:ext cx="98137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616ED06-9D03-438A-9B38-759E8EF9EED4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GCLN</a:t>
            </a:r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개발 배경 및 설명 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2/6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8" name="실행 단추: 홈 8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6B19B80D-84D2-4A8D-BD76-306FE6DC5E1A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74382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3E39B04-4206-4CC1-940A-089272480ED1}"/>
              </a:ext>
            </a:extLst>
          </p:cNvPr>
          <p:cNvSpPr/>
          <p:nvPr/>
        </p:nvSpPr>
        <p:spPr>
          <a:xfrm>
            <a:off x="135411" y="524986"/>
            <a:ext cx="9727455" cy="3305457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3) GCLN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 아이디어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매번 제어시뮬레이션을 하면서 하이퍼 파라미터를 튜닝하기 귀찮음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또한 제어방향성이 나와도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현장적용 하기 전까지 기울기가 어느정도 되어야하는지 알 수 없음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아이디어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예측 모형을 통해서 사전 검증을 해볼 순 없을까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?,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출력예측 모형에 기대온도를 넣어서 얻은 출력값을 온도 예측 모형에 넣었을때 목표온도 수준이 나오면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OK</a:t>
            </a: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 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이를 통해서 현장에 적용하지 않아도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사전에 확인을 해볼 수 있음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실제 테스트 결과 온도 예측모형도 외삽 및 희귀데이터에 취약함</a:t>
            </a:r>
            <a:endParaRPr lang="en-US" altLang="ko-KR" sz="1050" b="1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아이디어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: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외삽이 안되는거면 외삽이 잘 되도록 우리가 외삽에 대해 잘 맞출 수 있는 정보를 주면 될 것 같음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 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외삽에 대한 제어방향성을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학습할 수있는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값을 만들어 학습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-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아이디어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 :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제어방향성 까지는 학습 시켰는데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기울기는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어느정도 줘야되는지 정보는 어떻게 줄 수 있을까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예측모형의 도움을 받으면 될 것 같음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	         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출력 예측모형에서 추론한 출력 값을 온도 예측 모형에 넣어서 예측되는 온도와 기대온도의 차이의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값을 이용하여 학습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▶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아이디어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1,2,3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결합하여 위의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여러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감소되어 학습한 모형은 외삽 및 희소데이터에 대해 강건할 확률이 높을 것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으로 판단하여 모형개발 진행 함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19109BA-E744-47EA-870A-E2D06C19CC9D}"/>
              </a:ext>
            </a:extLst>
          </p:cNvPr>
          <p:cNvCxnSpPr/>
          <p:nvPr/>
        </p:nvCxnSpPr>
        <p:spPr>
          <a:xfrm>
            <a:off x="73229" y="471260"/>
            <a:ext cx="98137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E56E586-23B1-4B89-924A-919C694884A1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GCLN</a:t>
            </a:r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개발 배경 및 설명 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3/6 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" name="실행 단추: 홈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FB925AE-8B64-4FFA-9E3D-627C2405A824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53661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3E39B04-4206-4CC1-940A-089272480ED1}"/>
              </a:ext>
            </a:extLst>
          </p:cNvPr>
          <p:cNvSpPr/>
          <p:nvPr/>
        </p:nvSpPr>
        <p:spPr>
          <a:xfrm>
            <a:off x="135411" y="524986"/>
            <a:ext cx="9727455" cy="616259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4) GCLN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방법 설명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94E0000-4F37-40E7-9469-71A83C1DA502}"/>
              </a:ext>
            </a:extLst>
          </p:cNvPr>
          <p:cNvCxnSpPr>
            <a:cxnSpLocks/>
          </p:cNvCxnSpPr>
          <p:nvPr/>
        </p:nvCxnSpPr>
        <p:spPr>
          <a:xfrm>
            <a:off x="2336250" y="4005500"/>
            <a:ext cx="0" cy="23821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2A60E2D-3150-4EF0-99B6-58A6786249B6}"/>
              </a:ext>
            </a:extLst>
          </p:cNvPr>
          <p:cNvCxnSpPr>
            <a:cxnSpLocks/>
          </p:cNvCxnSpPr>
          <p:nvPr/>
        </p:nvCxnSpPr>
        <p:spPr>
          <a:xfrm flipH="1">
            <a:off x="348046" y="5177612"/>
            <a:ext cx="91382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4DDDE5F-A844-4324-A51F-1E98C3E9E47D}"/>
              </a:ext>
            </a:extLst>
          </p:cNvPr>
          <p:cNvCxnSpPr>
            <a:cxnSpLocks/>
          </p:cNvCxnSpPr>
          <p:nvPr/>
        </p:nvCxnSpPr>
        <p:spPr>
          <a:xfrm flipH="1">
            <a:off x="269421" y="6387649"/>
            <a:ext cx="91382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A5B5606-9C21-4F6C-B72A-AAA5B8DA05BD}"/>
              </a:ext>
            </a:extLst>
          </p:cNvPr>
          <p:cNvSpPr/>
          <p:nvPr/>
        </p:nvSpPr>
        <p:spPr>
          <a:xfrm>
            <a:off x="492424" y="860743"/>
            <a:ext cx="9370441" cy="2732095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방법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출력예측모형화 온도예측모형을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교차로 학습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수집된 데이터 학습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Loss,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 방향성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Loss,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시뮬레이션 결과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등을 각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Step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따라 반영하여 모든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수렴하도록 학습을 유도 함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총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단계로 학습이 진행되며 매 단계마다 학습진행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그레디언트 수정 진행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단계마다 학습을 진행하는 이유는 미세 튜닝의 장점을   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가지기 위함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예측 모형 과 온도 예측모형이 학습이 완료 되면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최적 제어값을 추론할 때는 출력 예측모형만을 사용해서 추론 진행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네트워크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예측모형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출력예측모형 모두 </a:t>
            </a:r>
            <a:r>
              <a:rPr lang="en-US" altLang="ko-KR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DNN </a:t>
            </a:r>
            <a:r>
              <a:rPr lang="ko-KR" altLang="en-US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구조의 </a:t>
            </a:r>
            <a:r>
              <a:rPr lang="en-US" altLang="ko-KR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Neural Network </a:t>
            </a:r>
            <a:r>
              <a:rPr lang="ko-KR" altLang="en-US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</a:t>
            </a:r>
            <a:endParaRPr lang="en-US" altLang="ko-KR" sz="105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B2E93A0-7515-455B-B274-546C374EADD6}"/>
              </a:ext>
            </a:extLst>
          </p:cNvPr>
          <p:cNvCxnSpPr>
            <a:cxnSpLocks/>
          </p:cNvCxnSpPr>
          <p:nvPr/>
        </p:nvCxnSpPr>
        <p:spPr>
          <a:xfrm>
            <a:off x="1187569" y="4005500"/>
            <a:ext cx="0" cy="23821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7D3D67-B0DA-4CC8-A418-14C80233E483}"/>
              </a:ext>
            </a:extLst>
          </p:cNvPr>
          <p:cNvSpPr/>
          <p:nvPr/>
        </p:nvSpPr>
        <p:spPr>
          <a:xfrm>
            <a:off x="424047" y="4440908"/>
            <a:ext cx="615087" cy="30835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Step1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9CD3D7-2DE6-4587-9D76-4DEF3FE689F5}"/>
              </a:ext>
            </a:extLst>
          </p:cNvPr>
          <p:cNvSpPr/>
          <p:nvPr/>
        </p:nvSpPr>
        <p:spPr>
          <a:xfrm>
            <a:off x="1121343" y="4404846"/>
            <a:ext cx="1266157" cy="55072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예측모형 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값 학습</a:t>
            </a: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92B1FE9-B910-4F65-86A1-472DC1915BDC}"/>
              </a:ext>
            </a:extLst>
          </p:cNvPr>
          <p:cNvGraphicFramePr>
            <a:graphicFrameLocks noGrp="1"/>
          </p:cNvGraphicFramePr>
          <p:nvPr/>
        </p:nvGraphicFramePr>
        <p:xfrm>
          <a:off x="2387500" y="4428217"/>
          <a:ext cx="2518044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9348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839348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839348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초기온도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측정온도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(T1)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출력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(Y1)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100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90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3129ED35-5506-4F01-8B7C-30BEEE2FC935}"/>
              </a:ext>
            </a:extLst>
          </p:cNvPr>
          <p:cNvSpPr/>
          <p:nvPr/>
        </p:nvSpPr>
        <p:spPr>
          <a:xfrm rot="5400000">
            <a:off x="3108938" y="4042925"/>
            <a:ext cx="45719" cy="70626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75ECC3-B35C-4345-80D2-A50AD3EB1417}"/>
              </a:ext>
            </a:extLst>
          </p:cNvPr>
          <p:cNvSpPr/>
          <p:nvPr/>
        </p:nvSpPr>
        <p:spPr>
          <a:xfrm>
            <a:off x="2687303" y="4145118"/>
            <a:ext cx="918841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050" dirty="0">
                <a:solidFill>
                  <a:srgbClr val="E2E8F0"/>
                </a:solidFill>
              </a:rPr>
              <a:t>모형 입력 값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166B321-DC2D-43CE-86C3-F8E1B9E31B4C}"/>
              </a:ext>
            </a:extLst>
          </p:cNvPr>
          <p:cNvSpPr/>
          <p:nvPr/>
        </p:nvSpPr>
        <p:spPr>
          <a:xfrm>
            <a:off x="3726027" y="4119283"/>
            <a:ext cx="918841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050" dirty="0">
                <a:solidFill>
                  <a:srgbClr val="E2E8F0"/>
                </a:solidFill>
              </a:rPr>
              <a:t>모형 출력 값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D370655-C054-454B-9896-37919262896C}"/>
              </a:ext>
            </a:extLst>
          </p:cNvPr>
          <p:cNvCxnSpPr/>
          <p:nvPr/>
        </p:nvCxnSpPr>
        <p:spPr>
          <a:xfrm flipV="1">
            <a:off x="4185448" y="4366905"/>
            <a:ext cx="0" cy="652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A3711EC-BA93-4623-B46E-9A094CEBF7D5}"/>
              </a:ext>
            </a:extLst>
          </p:cNvPr>
          <p:cNvSpPr/>
          <p:nvPr/>
        </p:nvSpPr>
        <p:spPr>
          <a:xfrm>
            <a:off x="4712306" y="4193044"/>
            <a:ext cx="1266157" cy="30835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*Loss 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함수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E08D5B-53CB-45A6-9A27-6DE4D763E620}"/>
              </a:ext>
            </a:extLst>
          </p:cNvPr>
          <p:cNvSpPr/>
          <p:nvPr/>
        </p:nvSpPr>
        <p:spPr>
          <a:xfrm>
            <a:off x="2967260" y="3928054"/>
            <a:ext cx="1266157" cy="30835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데이터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305CA54-FFCB-483D-849A-16196216F3F3}"/>
              </a:ext>
            </a:extLst>
          </p:cNvPr>
          <p:cNvSpPr/>
          <p:nvPr/>
        </p:nvSpPr>
        <p:spPr>
          <a:xfrm>
            <a:off x="395277" y="5569240"/>
            <a:ext cx="615087" cy="30835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Step2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2964904-D0D0-43FD-A886-A9E6B0A5DB54}"/>
              </a:ext>
            </a:extLst>
          </p:cNvPr>
          <p:cNvSpPr/>
          <p:nvPr/>
        </p:nvSpPr>
        <p:spPr>
          <a:xfrm>
            <a:off x="1131015" y="5530674"/>
            <a:ext cx="1266157" cy="55072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예측모형 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값 학습</a:t>
            </a: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CB2BDC33-858E-4BFE-B0DE-75BA60CE1C22}"/>
              </a:ext>
            </a:extLst>
          </p:cNvPr>
          <p:cNvGraphicFramePr>
            <a:graphicFrameLocks noGrp="1"/>
          </p:cNvGraphicFramePr>
          <p:nvPr/>
        </p:nvGraphicFramePr>
        <p:xfrm>
          <a:off x="2397581" y="5647214"/>
          <a:ext cx="2528253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751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842751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842751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초기온도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출력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(Y1)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측정온도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(T1)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100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90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629E1B2-1EBD-44CF-8980-75CE8BDA6D96}"/>
              </a:ext>
            </a:extLst>
          </p:cNvPr>
          <p:cNvSpPr/>
          <p:nvPr/>
        </p:nvSpPr>
        <p:spPr>
          <a:xfrm>
            <a:off x="2736560" y="5355229"/>
            <a:ext cx="918841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050" dirty="0">
                <a:solidFill>
                  <a:srgbClr val="E2E8F0"/>
                </a:solidFill>
              </a:rPr>
              <a:t>모형 입력 값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BA8C06A-7BA2-41F1-A57C-B2A31645A494}"/>
              </a:ext>
            </a:extLst>
          </p:cNvPr>
          <p:cNvSpPr/>
          <p:nvPr/>
        </p:nvSpPr>
        <p:spPr>
          <a:xfrm>
            <a:off x="3775284" y="5356873"/>
            <a:ext cx="918841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050" dirty="0">
                <a:solidFill>
                  <a:srgbClr val="E2E8F0"/>
                </a:solidFill>
              </a:rPr>
              <a:t>모형 출력 값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6BB8DF7-DDE3-4B4B-A320-700C208CACAD}"/>
              </a:ext>
            </a:extLst>
          </p:cNvPr>
          <p:cNvSpPr/>
          <p:nvPr/>
        </p:nvSpPr>
        <p:spPr>
          <a:xfrm>
            <a:off x="2967260" y="5113938"/>
            <a:ext cx="1266157" cy="30835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데이터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3" name="왼쪽 중괄호 32">
            <a:extLst>
              <a:ext uri="{FF2B5EF4-FFF2-40B4-BE49-F238E27FC236}">
                <a16:creationId xmlns:a16="http://schemas.microsoft.com/office/drawing/2014/main" id="{242B3946-7D93-42D5-BBC4-34B33B4A42BB}"/>
              </a:ext>
            </a:extLst>
          </p:cNvPr>
          <p:cNvSpPr/>
          <p:nvPr/>
        </p:nvSpPr>
        <p:spPr>
          <a:xfrm rot="5400000">
            <a:off x="3124365" y="5259524"/>
            <a:ext cx="45719" cy="70626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BE5AE8C-A4BC-4F3F-AFF5-84E328C82C50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4233417" y="5610789"/>
            <a:ext cx="1288" cy="522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630DDCF-25C8-4C17-BD02-381EC7D76EA7}"/>
              </a:ext>
            </a:extLst>
          </p:cNvPr>
          <p:cNvSpPr/>
          <p:nvPr/>
        </p:nvSpPr>
        <p:spPr>
          <a:xfrm>
            <a:off x="4692838" y="5463452"/>
            <a:ext cx="1266157" cy="30835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*Loss 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함수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6C00617D-3F8A-46D6-BF66-29C770F18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793" y="4490490"/>
            <a:ext cx="2048643" cy="592029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9AB5A659-342E-4F5B-93A9-03E042AF7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793" y="5736663"/>
            <a:ext cx="1984652" cy="591815"/>
          </a:xfrm>
          <a:prstGeom prst="rect">
            <a:avLst/>
          </a:prstGeom>
        </p:spPr>
      </p:pic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3CC6DD1C-C48A-4D19-A686-F8E2BE896F5A}"/>
              </a:ext>
            </a:extLst>
          </p:cNvPr>
          <p:cNvGraphicFramePr>
            <a:graphicFrameLocks noGrp="1"/>
          </p:cNvGraphicFramePr>
          <p:nvPr/>
        </p:nvGraphicFramePr>
        <p:xfrm>
          <a:off x="273725" y="3720173"/>
          <a:ext cx="9212569" cy="2590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25347">
                  <a:extLst>
                    <a:ext uri="{9D8B030D-6E8A-4147-A177-3AD203B41FA5}">
                      <a16:colId xmlns:a16="http://schemas.microsoft.com/office/drawing/2014/main" val="3650016307"/>
                    </a:ext>
                  </a:extLst>
                </a:gridCol>
                <a:gridCol w="1147313">
                  <a:extLst>
                    <a:ext uri="{9D8B030D-6E8A-4147-A177-3AD203B41FA5}">
                      <a16:colId xmlns:a16="http://schemas.microsoft.com/office/drawing/2014/main" val="1968143854"/>
                    </a:ext>
                  </a:extLst>
                </a:gridCol>
                <a:gridCol w="7139909">
                  <a:extLst>
                    <a:ext uri="{9D8B030D-6E8A-4147-A177-3AD203B41FA5}">
                      <a16:colId xmlns:a16="http://schemas.microsoft.com/office/drawing/2014/main" val="896390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+mn-ea"/>
                          <a:ea typeface="+mn-ea"/>
                        </a:rPr>
                        <a:t>순서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+mn-ea"/>
                          <a:ea typeface="+mn-ea"/>
                        </a:rPr>
                        <a:t>학습내용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+mn-ea"/>
                          <a:ea typeface="+mn-ea"/>
                        </a:rPr>
                        <a:t>상세 내용 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483205"/>
                  </a:ext>
                </a:extLst>
              </a:tr>
            </a:tbl>
          </a:graphicData>
        </a:graphic>
      </p:graphicFrame>
      <p:sp>
        <p:nvSpPr>
          <p:cNvPr id="67" name="직사각형 66">
            <a:extLst>
              <a:ext uri="{FF2B5EF4-FFF2-40B4-BE49-F238E27FC236}">
                <a16:creationId xmlns:a16="http://schemas.microsoft.com/office/drawing/2014/main" id="{54FECDF2-7501-46B9-AE5F-3B6B75AFE393}"/>
              </a:ext>
            </a:extLst>
          </p:cNvPr>
          <p:cNvSpPr/>
          <p:nvPr/>
        </p:nvSpPr>
        <p:spPr>
          <a:xfrm>
            <a:off x="1579385" y="2570712"/>
            <a:ext cx="827015" cy="298823"/>
          </a:xfrm>
          <a:prstGeom prst="rect">
            <a:avLst/>
          </a:prstGeom>
          <a:solidFill>
            <a:srgbClr val="009C3C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E2E8F0"/>
                </a:solidFill>
              </a:rPr>
              <a:t>출력 예측모형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9A20CB7-CAE4-4763-90AA-341D8D61805B}"/>
              </a:ext>
            </a:extLst>
          </p:cNvPr>
          <p:cNvSpPr/>
          <p:nvPr/>
        </p:nvSpPr>
        <p:spPr>
          <a:xfrm>
            <a:off x="3028233" y="2562738"/>
            <a:ext cx="827015" cy="298823"/>
          </a:xfrm>
          <a:prstGeom prst="rect">
            <a:avLst/>
          </a:prstGeom>
          <a:solidFill>
            <a:srgbClr val="009C3C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E2E8F0"/>
                </a:solidFill>
              </a:rPr>
              <a:t>학습 예측모형</a:t>
            </a:r>
          </a:p>
        </p:txBody>
      </p: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91B0D0D1-A9B2-4D7E-A3F1-D5F68FDB93F4}"/>
              </a:ext>
            </a:extLst>
          </p:cNvPr>
          <p:cNvCxnSpPr>
            <a:cxnSpLocks/>
            <a:stCxn id="68" idx="0"/>
            <a:endCxn id="67" idx="0"/>
          </p:cNvCxnSpPr>
          <p:nvPr/>
        </p:nvCxnSpPr>
        <p:spPr>
          <a:xfrm rot="16200000" flipH="1" flipV="1">
            <a:off x="2713330" y="1842301"/>
            <a:ext cx="7974" cy="1448848"/>
          </a:xfrm>
          <a:prstGeom prst="bentConnector3">
            <a:avLst>
              <a:gd name="adj1" fmla="val -2866817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0C19CD4E-766E-42E0-A657-1D727CDC800C}"/>
              </a:ext>
            </a:extLst>
          </p:cNvPr>
          <p:cNvCxnSpPr>
            <a:cxnSpLocks/>
            <a:stCxn id="67" idx="2"/>
            <a:endCxn id="68" idx="2"/>
          </p:cNvCxnSpPr>
          <p:nvPr/>
        </p:nvCxnSpPr>
        <p:spPr>
          <a:xfrm rot="5400000" flipH="1" flipV="1">
            <a:off x="2713330" y="2141124"/>
            <a:ext cx="7974" cy="1448848"/>
          </a:xfrm>
          <a:prstGeom prst="bentConnector3">
            <a:avLst>
              <a:gd name="adj1" fmla="val -2866817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2079F01-7969-461B-BEE3-AEBEBD1788B9}"/>
              </a:ext>
            </a:extLst>
          </p:cNvPr>
          <p:cNvSpPr/>
          <p:nvPr/>
        </p:nvSpPr>
        <p:spPr>
          <a:xfrm>
            <a:off x="1378620" y="2212498"/>
            <a:ext cx="2617366" cy="981512"/>
          </a:xfrm>
          <a:prstGeom prst="rect">
            <a:avLst/>
          </a:prstGeom>
          <a:noFill/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08D76F7-A5E9-466C-B240-CD03A73EDC77}"/>
              </a:ext>
            </a:extLst>
          </p:cNvPr>
          <p:cNvSpPr txBox="1"/>
          <p:nvPr/>
        </p:nvSpPr>
        <p:spPr>
          <a:xfrm>
            <a:off x="2477293" y="2029185"/>
            <a:ext cx="798829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E2E8F0"/>
                </a:solidFill>
              </a:rPr>
              <a:t>학습 시 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059D3BC-A729-4037-B5CC-E6D0D8049E5E}"/>
              </a:ext>
            </a:extLst>
          </p:cNvPr>
          <p:cNvSpPr/>
          <p:nvPr/>
        </p:nvSpPr>
        <p:spPr>
          <a:xfrm>
            <a:off x="5108180" y="2534552"/>
            <a:ext cx="827015" cy="298823"/>
          </a:xfrm>
          <a:prstGeom prst="rect">
            <a:avLst/>
          </a:prstGeom>
          <a:solidFill>
            <a:srgbClr val="009C3C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E2E8F0"/>
                </a:solidFill>
              </a:rPr>
              <a:t>출력 예측모형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A399505A-C348-47E0-8EAF-660BE2B1734B}"/>
              </a:ext>
            </a:extLst>
          </p:cNvPr>
          <p:cNvSpPr/>
          <p:nvPr/>
        </p:nvSpPr>
        <p:spPr>
          <a:xfrm>
            <a:off x="4278240" y="2212498"/>
            <a:ext cx="2617366" cy="981512"/>
          </a:xfrm>
          <a:prstGeom prst="rect">
            <a:avLst/>
          </a:prstGeom>
          <a:noFill/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1402ADA-AD4B-4A9B-B506-40C82B20D5CB}"/>
              </a:ext>
            </a:extLst>
          </p:cNvPr>
          <p:cNvSpPr txBox="1"/>
          <p:nvPr/>
        </p:nvSpPr>
        <p:spPr>
          <a:xfrm>
            <a:off x="5094659" y="2040851"/>
            <a:ext cx="1511922" cy="246221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E2E8F0"/>
                </a:solidFill>
              </a:rPr>
              <a:t>출력 추론 시 </a:t>
            </a: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8B7366F4-91A4-4387-A444-DC9E2C67CC18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4890588" y="2683964"/>
            <a:ext cx="217592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B06EB4C-729A-4B16-8EC0-E5F4C7B2E190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5935195" y="2683963"/>
            <a:ext cx="217592" cy="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45B7385F-1319-4CFD-93C9-E0BC0A54541D}"/>
              </a:ext>
            </a:extLst>
          </p:cNvPr>
          <p:cNvSpPr/>
          <p:nvPr/>
        </p:nvSpPr>
        <p:spPr>
          <a:xfrm>
            <a:off x="4342283" y="2615286"/>
            <a:ext cx="569977" cy="13735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E2E8F0"/>
                </a:solidFill>
              </a:rPr>
              <a:t>입력값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F0C904F5-9866-423D-B1FB-79016E5ED3CE}"/>
              </a:ext>
            </a:extLst>
          </p:cNvPr>
          <p:cNvSpPr/>
          <p:nvPr/>
        </p:nvSpPr>
        <p:spPr>
          <a:xfrm>
            <a:off x="6149437" y="2616942"/>
            <a:ext cx="569977" cy="13735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E2E8F0"/>
                </a:solidFill>
              </a:rPr>
              <a:t>출력 값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80447B02-38E5-43F0-BA29-5D6B4E875E6E}"/>
              </a:ext>
            </a:extLst>
          </p:cNvPr>
          <p:cNvSpPr/>
          <p:nvPr/>
        </p:nvSpPr>
        <p:spPr>
          <a:xfrm>
            <a:off x="6941445" y="4235776"/>
            <a:ext cx="2625568" cy="55072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설명 </a:t>
            </a: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현장에서 수집 된 데이터를 통해서 출력 예측모형 학습 진행 </a:t>
            </a: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9B93B93-4311-4A0E-8F0F-4D5A39465FF8}"/>
              </a:ext>
            </a:extLst>
          </p:cNvPr>
          <p:cNvSpPr/>
          <p:nvPr/>
        </p:nvSpPr>
        <p:spPr>
          <a:xfrm>
            <a:off x="6941445" y="5488037"/>
            <a:ext cx="2625568" cy="55072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설명 </a:t>
            </a: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현장에서 수집 된 데이터를 통해서 온도 예측모형 학습 진행 </a:t>
            </a: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293D3A2-8F52-4508-B8FF-C1C152360933}"/>
              </a:ext>
            </a:extLst>
          </p:cNvPr>
          <p:cNvCxnSpPr/>
          <p:nvPr/>
        </p:nvCxnSpPr>
        <p:spPr>
          <a:xfrm>
            <a:off x="73229" y="471260"/>
            <a:ext cx="98137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6F985E9-97AC-471D-BE3B-4242C5A22D09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GCLN</a:t>
            </a:r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개발 배경 및 설명 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4/6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" name="실행 단추: 홈 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A069619A-0DC9-4E34-B9D4-0DFB460B0D2B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53382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그림 66">
            <a:extLst>
              <a:ext uri="{FF2B5EF4-FFF2-40B4-BE49-F238E27FC236}">
                <a16:creationId xmlns:a16="http://schemas.microsoft.com/office/drawing/2014/main" id="{E90542D5-793C-4AA8-B47D-C590A70EA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083" y="1783123"/>
            <a:ext cx="6038850" cy="431974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135A89F-7F27-425E-95F6-05D7EBFDAD05}"/>
              </a:ext>
            </a:extLst>
          </p:cNvPr>
          <p:cNvCxnSpPr>
            <a:cxnSpLocks/>
          </p:cNvCxnSpPr>
          <p:nvPr/>
        </p:nvCxnSpPr>
        <p:spPr>
          <a:xfrm>
            <a:off x="2279096" y="741522"/>
            <a:ext cx="3555" cy="56991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CCE3E90-AFC9-4125-B1B2-ED83B122E90D}"/>
              </a:ext>
            </a:extLst>
          </p:cNvPr>
          <p:cNvCxnSpPr>
            <a:cxnSpLocks/>
          </p:cNvCxnSpPr>
          <p:nvPr/>
        </p:nvCxnSpPr>
        <p:spPr>
          <a:xfrm flipH="1">
            <a:off x="345229" y="4278037"/>
            <a:ext cx="91382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5D5F6E0-E36B-4A73-9C56-796159F5991B}"/>
              </a:ext>
            </a:extLst>
          </p:cNvPr>
          <p:cNvCxnSpPr>
            <a:cxnSpLocks/>
          </p:cNvCxnSpPr>
          <p:nvPr/>
        </p:nvCxnSpPr>
        <p:spPr>
          <a:xfrm>
            <a:off x="1133970" y="741522"/>
            <a:ext cx="0" cy="56991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25DCB78-8296-4DB5-9F99-B4C27056E5EE}"/>
              </a:ext>
            </a:extLst>
          </p:cNvPr>
          <p:cNvSpPr/>
          <p:nvPr/>
        </p:nvSpPr>
        <p:spPr>
          <a:xfrm>
            <a:off x="392300" y="2963561"/>
            <a:ext cx="615087" cy="30835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Step4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42E1DA-9ABC-4A23-BF4D-BB8F967FBF87}"/>
              </a:ext>
            </a:extLst>
          </p:cNvPr>
          <p:cNvSpPr/>
          <p:nvPr/>
        </p:nvSpPr>
        <p:spPr>
          <a:xfrm>
            <a:off x="367238" y="5241105"/>
            <a:ext cx="615087" cy="30835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Step5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49A924C-EFA5-4A33-A38E-824EB2981317}"/>
              </a:ext>
            </a:extLst>
          </p:cNvPr>
          <p:cNvSpPr/>
          <p:nvPr/>
        </p:nvSpPr>
        <p:spPr>
          <a:xfrm>
            <a:off x="1067743" y="4783032"/>
            <a:ext cx="1266157" cy="1035476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및 온도 예측모형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시뮬레이션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오차 학습</a:t>
            </a: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36E4E377-B14B-49F9-BFDF-CD59B50F9E7E}"/>
              </a:ext>
            </a:extLst>
          </p:cNvPr>
          <p:cNvGraphicFramePr>
            <a:graphicFrameLocks noGrp="1"/>
          </p:cNvGraphicFramePr>
          <p:nvPr/>
        </p:nvGraphicFramePr>
        <p:xfrm>
          <a:off x="201437" y="482442"/>
          <a:ext cx="9212569" cy="2590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25347">
                  <a:extLst>
                    <a:ext uri="{9D8B030D-6E8A-4147-A177-3AD203B41FA5}">
                      <a16:colId xmlns:a16="http://schemas.microsoft.com/office/drawing/2014/main" val="3650016307"/>
                    </a:ext>
                  </a:extLst>
                </a:gridCol>
                <a:gridCol w="1147313">
                  <a:extLst>
                    <a:ext uri="{9D8B030D-6E8A-4147-A177-3AD203B41FA5}">
                      <a16:colId xmlns:a16="http://schemas.microsoft.com/office/drawing/2014/main" val="1968143854"/>
                    </a:ext>
                  </a:extLst>
                </a:gridCol>
                <a:gridCol w="7139909">
                  <a:extLst>
                    <a:ext uri="{9D8B030D-6E8A-4147-A177-3AD203B41FA5}">
                      <a16:colId xmlns:a16="http://schemas.microsoft.com/office/drawing/2014/main" val="896390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+mn-ea"/>
                          <a:ea typeface="+mn-ea"/>
                        </a:rPr>
                        <a:t>순서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+mn-ea"/>
                          <a:ea typeface="+mn-ea"/>
                        </a:rPr>
                        <a:t>학습내용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E2E8F0"/>
                          </a:solidFill>
                          <a:latin typeface="+mn-ea"/>
                          <a:ea typeface="+mn-ea"/>
                        </a:rPr>
                        <a:t>상세 내용 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483205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2464B0CC-5BD3-4824-9C44-9F0C9A1B471F}"/>
              </a:ext>
            </a:extLst>
          </p:cNvPr>
          <p:cNvSpPr/>
          <p:nvPr/>
        </p:nvSpPr>
        <p:spPr>
          <a:xfrm>
            <a:off x="1067743" y="2831995"/>
            <a:ext cx="1266157" cy="55072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 예측모형 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방향성 학습</a:t>
            </a: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A104F1C2-5D53-41EC-86FD-8C78A02B1849}"/>
              </a:ext>
            </a:extLst>
          </p:cNvPr>
          <p:cNvGraphicFramePr>
            <a:graphicFrameLocks noGrp="1"/>
          </p:cNvGraphicFramePr>
          <p:nvPr/>
        </p:nvGraphicFramePr>
        <p:xfrm>
          <a:off x="2367729" y="2588334"/>
          <a:ext cx="2484216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072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828072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828072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초기온도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출력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(Y1)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측정온도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(T1)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100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90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AC4EE8DD-57DB-4C7E-A2CB-1D3BB245C7DC}"/>
              </a:ext>
            </a:extLst>
          </p:cNvPr>
          <p:cNvSpPr/>
          <p:nvPr/>
        </p:nvSpPr>
        <p:spPr>
          <a:xfrm>
            <a:off x="2783362" y="2306473"/>
            <a:ext cx="1754763" cy="30835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데이터</a:t>
            </a: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(Line 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수집</a:t>
            </a: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422CCF9-8C20-4BAE-8246-574C34897F5B}"/>
              </a:ext>
            </a:extLst>
          </p:cNvPr>
          <p:cNvSpPr/>
          <p:nvPr/>
        </p:nvSpPr>
        <p:spPr>
          <a:xfrm>
            <a:off x="6062848" y="2306473"/>
            <a:ext cx="2077026" cy="30835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시뮬레이션으로 생성된  데이터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9FAC98A0-C224-4F9B-92FB-E434EFE1A996}"/>
              </a:ext>
            </a:extLst>
          </p:cNvPr>
          <p:cNvSpPr/>
          <p:nvPr/>
        </p:nvSpPr>
        <p:spPr>
          <a:xfrm>
            <a:off x="5027806" y="2756356"/>
            <a:ext cx="411120" cy="30286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002060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2339DF3-B5EC-41F0-977D-7CB4257D1B3A}"/>
              </a:ext>
            </a:extLst>
          </p:cNvPr>
          <p:cNvSpPr/>
          <p:nvPr/>
        </p:nvSpPr>
        <p:spPr>
          <a:xfrm>
            <a:off x="2367729" y="3887157"/>
            <a:ext cx="7259099" cy="41549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설명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실제 출력 값 출력 예측 모형이 추론한 출력 값이 높다면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온도보다 예측 된 온도가 높아져야 하는데 거꾸로 낮아진 출력   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값이 올라가야 하는데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거꾸로 낮아진 온도 값을 다 더해서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값을 계산하고 학습 진행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그래디언트 수정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050" dirty="0"/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260781C8-576B-4043-8131-53D7932FDCCA}"/>
              </a:ext>
            </a:extLst>
          </p:cNvPr>
          <p:cNvGraphicFramePr>
            <a:graphicFrameLocks noGrp="1"/>
          </p:cNvGraphicFramePr>
          <p:nvPr/>
        </p:nvGraphicFramePr>
        <p:xfrm>
          <a:off x="5690794" y="2562957"/>
          <a:ext cx="244908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360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816360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816360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1680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초기온도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예상 출력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(Y2)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기대온도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(T2)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168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15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150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168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9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150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CB08C5E9-03CA-4526-BD13-CD84BECE6153}"/>
              </a:ext>
            </a:extLst>
          </p:cNvPr>
          <p:cNvSpPr txBox="1"/>
          <p:nvPr/>
        </p:nvSpPr>
        <p:spPr>
          <a:xfrm>
            <a:off x="5538982" y="3271471"/>
            <a:ext cx="4351203" cy="253916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solidFill>
                  <a:srgbClr val="E2E8F0"/>
                </a:solidFill>
              </a:rPr>
              <a:t>*Step3</a:t>
            </a:r>
            <a:r>
              <a:rPr lang="ko-KR" altLang="en-US" sz="1050" b="1" dirty="0">
                <a:solidFill>
                  <a:srgbClr val="E2E8F0"/>
                </a:solidFill>
              </a:rPr>
              <a:t>에서 출력 예측 모형을 통해 생성된 시물레이션 결과 데이터 사용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FEE7FF35-7877-4117-86AA-E27733186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557" y="3476219"/>
            <a:ext cx="6038850" cy="473886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D6E00E6B-CBDC-4116-950B-79C2AEFAA7DE}"/>
              </a:ext>
            </a:extLst>
          </p:cNvPr>
          <p:cNvSpPr/>
          <p:nvPr/>
        </p:nvSpPr>
        <p:spPr>
          <a:xfrm>
            <a:off x="2235032" y="3188966"/>
            <a:ext cx="1266157" cy="30835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*Loss 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함수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7E6CE847-A35B-4111-84BE-7C9D781B5150}"/>
              </a:ext>
            </a:extLst>
          </p:cNvPr>
          <p:cNvGraphicFramePr>
            <a:graphicFrameLocks noGrp="1"/>
          </p:cNvGraphicFramePr>
          <p:nvPr/>
        </p:nvGraphicFramePr>
        <p:xfrm>
          <a:off x="2424442" y="4586588"/>
          <a:ext cx="244908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360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816360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816360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1680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초기온도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예상 출력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(Y2)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기대온도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(T2)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168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15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150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1680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9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150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sp>
        <p:nvSpPr>
          <p:cNvPr id="39" name="직사각형 38">
            <a:extLst>
              <a:ext uri="{FF2B5EF4-FFF2-40B4-BE49-F238E27FC236}">
                <a16:creationId xmlns:a16="http://schemas.microsoft.com/office/drawing/2014/main" id="{15CF790C-ABB8-4D57-B96C-FE2998882D3D}"/>
              </a:ext>
            </a:extLst>
          </p:cNvPr>
          <p:cNvSpPr/>
          <p:nvPr/>
        </p:nvSpPr>
        <p:spPr>
          <a:xfrm>
            <a:off x="2657675" y="4267671"/>
            <a:ext cx="2077026" cy="30835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시뮬레이션으로 생성된  데이터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F4B9A8F-1182-4CDB-B1E1-0A1C4F0F7BE2}"/>
              </a:ext>
            </a:extLst>
          </p:cNvPr>
          <p:cNvSpPr/>
          <p:nvPr/>
        </p:nvSpPr>
        <p:spPr>
          <a:xfrm>
            <a:off x="5127862" y="4405718"/>
            <a:ext cx="1266157" cy="30835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*Loss 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함수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91043F9B-1011-4135-950C-ACCEBCB38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633" y="4709482"/>
            <a:ext cx="2266950" cy="6858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432D767C-23F4-435E-A674-7D9C0FC70BAD}"/>
              </a:ext>
            </a:extLst>
          </p:cNvPr>
          <p:cNvSpPr txBox="1"/>
          <p:nvPr/>
        </p:nvSpPr>
        <p:spPr>
          <a:xfrm>
            <a:off x="8244116" y="2435272"/>
            <a:ext cx="1582406" cy="369332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600" b="1" dirty="0">
                <a:solidFill>
                  <a:srgbClr val="E2E8F0"/>
                </a:solidFill>
              </a:rPr>
              <a:t>※ </a:t>
            </a:r>
            <a:r>
              <a:rPr lang="ko-KR" altLang="en-US" sz="600" b="1" dirty="0">
                <a:solidFill>
                  <a:srgbClr val="E2E8F0"/>
                </a:solidFill>
              </a:rPr>
              <a:t>예상 출력 </a:t>
            </a:r>
            <a:r>
              <a:rPr lang="en-US" altLang="ko-KR" sz="600" b="1" dirty="0">
                <a:solidFill>
                  <a:srgbClr val="E2E8F0"/>
                </a:solidFill>
              </a:rPr>
              <a:t>: </a:t>
            </a:r>
            <a:r>
              <a:rPr lang="ko-KR" altLang="en-US" sz="600" b="1" dirty="0">
                <a:solidFill>
                  <a:srgbClr val="E2E8F0"/>
                </a:solidFill>
              </a:rPr>
              <a:t>기대온도에 도달 할 수 있도록 하기위해 출력예측 모형에서 추론된 출력값을 예상 출력이라 고 명명</a:t>
            </a:r>
            <a:endParaRPr lang="en-US" altLang="ko-KR" sz="600" b="1" dirty="0">
              <a:solidFill>
                <a:srgbClr val="C00000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6F7254B-1CE0-43BB-80FC-0F10A2B8F42F}"/>
              </a:ext>
            </a:extLst>
          </p:cNvPr>
          <p:cNvSpPr/>
          <p:nvPr/>
        </p:nvSpPr>
        <p:spPr>
          <a:xfrm>
            <a:off x="2322483" y="5421957"/>
            <a:ext cx="7685850" cy="1061829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설명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1~4 Step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거치며 학습된 온도예측 모형에 예상출력을 입력 값으로 하여 온도를 예측했을 시 기대하던 온도가 나오는지   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Loss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값을 계산하여 오차만큼 온도 예측 모형 뿐 아니라 출력 예측 모형에 반환하여 학습 진행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그래디언트를 수정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</a:t>
            </a:r>
          </a:p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이때 계산된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값은 온도 예측 모형 뿐 아니라 출력예측모형에게도 전달하는 이유는 온도 예측 모형이 예상출력을         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바탕으로 기대 온도를 잘 못 맞추는 원인은 온도 예측 모형이 예상출력을 잘못 추론했을 수도 있고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온도예측 모형이 잘못 학습되었을 가능성도 있기 때문에 두 가지 상황을 고려하여 온도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출력예측 모형 둘다에게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값을 전달하여 학습 진행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그래디언트 수정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86780DD9-AB55-42D6-AF84-C929F688AB99}"/>
              </a:ext>
            </a:extLst>
          </p:cNvPr>
          <p:cNvCxnSpPr/>
          <p:nvPr/>
        </p:nvCxnSpPr>
        <p:spPr>
          <a:xfrm>
            <a:off x="528729" y="6440653"/>
            <a:ext cx="93614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DF864420-9BAE-465C-B528-0E2CC182A67C}"/>
              </a:ext>
            </a:extLst>
          </p:cNvPr>
          <p:cNvCxnSpPr>
            <a:cxnSpLocks/>
          </p:cNvCxnSpPr>
          <p:nvPr/>
        </p:nvCxnSpPr>
        <p:spPr>
          <a:xfrm flipH="1">
            <a:off x="376078" y="2385289"/>
            <a:ext cx="91382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E950FEC-D7E4-4E9D-AE43-62DF95F8992D}"/>
              </a:ext>
            </a:extLst>
          </p:cNvPr>
          <p:cNvSpPr/>
          <p:nvPr/>
        </p:nvSpPr>
        <p:spPr>
          <a:xfrm>
            <a:off x="376078" y="1240218"/>
            <a:ext cx="615087" cy="30835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Step3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43D1476-728E-4BD0-B97D-2B9D789FAD24}"/>
              </a:ext>
            </a:extLst>
          </p:cNvPr>
          <p:cNvSpPr/>
          <p:nvPr/>
        </p:nvSpPr>
        <p:spPr>
          <a:xfrm>
            <a:off x="1067743" y="1079510"/>
            <a:ext cx="1266157" cy="55072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예측모형 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방향성 학습</a:t>
            </a: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3979808A-74AE-42A7-9E95-7A678C96F994}"/>
              </a:ext>
            </a:extLst>
          </p:cNvPr>
          <p:cNvGraphicFramePr>
            <a:graphicFrameLocks noGrp="1"/>
          </p:cNvGraphicFramePr>
          <p:nvPr/>
        </p:nvGraphicFramePr>
        <p:xfrm>
          <a:off x="2510440" y="931686"/>
          <a:ext cx="2484216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072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828072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828072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초기온도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측정온도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(T1)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출력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(Y1)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100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2012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90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DEC0B64B-F631-4ADB-8509-FDC3F380D573}"/>
              </a:ext>
            </a:extLst>
          </p:cNvPr>
          <p:cNvGraphicFramePr>
            <a:graphicFrameLocks noGrp="1"/>
          </p:cNvGraphicFramePr>
          <p:nvPr/>
        </p:nvGraphicFramePr>
        <p:xfrm>
          <a:off x="5638002" y="902763"/>
          <a:ext cx="2484216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072">
                  <a:extLst>
                    <a:ext uri="{9D8B030D-6E8A-4147-A177-3AD203B41FA5}">
                      <a16:colId xmlns:a16="http://schemas.microsoft.com/office/drawing/2014/main" val="2683466012"/>
                    </a:ext>
                  </a:extLst>
                </a:gridCol>
                <a:gridCol w="828072">
                  <a:extLst>
                    <a:ext uri="{9D8B030D-6E8A-4147-A177-3AD203B41FA5}">
                      <a16:colId xmlns:a16="http://schemas.microsoft.com/office/drawing/2014/main" val="157893922"/>
                    </a:ext>
                  </a:extLst>
                </a:gridCol>
                <a:gridCol w="828072">
                  <a:extLst>
                    <a:ext uri="{9D8B030D-6E8A-4147-A177-3AD203B41FA5}">
                      <a16:colId xmlns:a16="http://schemas.microsoft.com/office/drawing/2014/main" val="2501678592"/>
                    </a:ext>
                  </a:extLst>
                </a:gridCol>
              </a:tblGrid>
              <a:tr h="1720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초기온도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기대온도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(T2)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E2E8F0"/>
                          </a:solidFill>
                        </a:rPr>
                        <a:t>예상 출력</a:t>
                      </a:r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(Y2)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93806"/>
                  </a:ext>
                </a:extLst>
              </a:tr>
              <a:tr h="1720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150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15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17630"/>
                  </a:ext>
                </a:extLst>
              </a:tr>
              <a:tr h="1720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20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150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E2E8F0"/>
                          </a:solidFill>
                        </a:rPr>
                        <a:t>9</a:t>
                      </a:r>
                      <a:endParaRPr lang="ko-KR" altLang="en-US" sz="900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0591"/>
                  </a:ext>
                </a:extLst>
              </a:tr>
            </a:tbl>
          </a:graphicData>
        </a:graphic>
      </p:graphicFrame>
      <p:sp>
        <p:nvSpPr>
          <p:cNvPr id="58" name="직사각형 57">
            <a:extLst>
              <a:ext uri="{FF2B5EF4-FFF2-40B4-BE49-F238E27FC236}">
                <a16:creationId xmlns:a16="http://schemas.microsoft.com/office/drawing/2014/main" id="{9400C53A-6308-402C-8A55-D96D0D4023EA}"/>
              </a:ext>
            </a:extLst>
          </p:cNvPr>
          <p:cNvSpPr/>
          <p:nvPr/>
        </p:nvSpPr>
        <p:spPr>
          <a:xfrm>
            <a:off x="2862840" y="656655"/>
            <a:ext cx="1754763" cy="30835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데이터</a:t>
            </a: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(Line 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수집</a:t>
            </a: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C2BE072-7632-4AF6-BBED-C3470C0ACFE6}"/>
              </a:ext>
            </a:extLst>
          </p:cNvPr>
          <p:cNvSpPr/>
          <p:nvPr/>
        </p:nvSpPr>
        <p:spPr>
          <a:xfrm>
            <a:off x="6038222" y="648476"/>
            <a:ext cx="2077026" cy="30835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시뮬레이션으로 생성된  데이터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0" name="화살표: 오른쪽 59">
            <a:extLst>
              <a:ext uri="{FF2B5EF4-FFF2-40B4-BE49-F238E27FC236}">
                <a16:creationId xmlns:a16="http://schemas.microsoft.com/office/drawing/2014/main" id="{462DE0A9-A571-4161-A0AA-FA1C5C4DF397}"/>
              </a:ext>
            </a:extLst>
          </p:cNvPr>
          <p:cNvSpPr/>
          <p:nvPr/>
        </p:nvSpPr>
        <p:spPr>
          <a:xfrm>
            <a:off x="5107284" y="1123790"/>
            <a:ext cx="411120" cy="30286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002060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F55A036-28F2-4FDA-B86F-80E10AE63C0B}"/>
              </a:ext>
            </a:extLst>
          </p:cNvPr>
          <p:cNvSpPr/>
          <p:nvPr/>
        </p:nvSpPr>
        <p:spPr>
          <a:xfrm>
            <a:off x="2150283" y="1555838"/>
            <a:ext cx="1266157" cy="308354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*Loss </a:t>
            </a:r>
            <a:r>
              <a:rPr kumimoji="1"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함수</a:t>
            </a:r>
            <a:endParaRPr kumimoji="1" lang="en-US" altLang="ko-KR" sz="105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92878481-1FC8-44EB-80ED-356C57F6D0FF}"/>
              </a:ext>
            </a:extLst>
          </p:cNvPr>
          <p:cNvSpPr/>
          <p:nvPr/>
        </p:nvSpPr>
        <p:spPr>
          <a:xfrm>
            <a:off x="2322282" y="2134340"/>
            <a:ext cx="7583718" cy="253916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설명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측정온도 보다 기대온도가 높으면 출력 값이 올라야 함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기대와 달리 내려간 값을 더해서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전달 후 학습진행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그레디언트 수정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05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2059333-CE07-4AEC-960E-4109BDAC1DD4}"/>
              </a:ext>
            </a:extLst>
          </p:cNvPr>
          <p:cNvSpPr txBox="1"/>
          <p:nvPr/>
        </p:nvSpPr>
        <p:spPr>
          <a:xfrm>
            <a:off x="5631032" y="1630238"/>
            <a:ext cx="3452583" cy="253916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solidFill>
                  <a:srgbClr val="E2E8F0"/>
                </a:solidFill>
              </a:rPr>
              <a:t>*</a:t>
            </a:r>
            <a:r>
              <a:rPr lang="ko-KR" altLang="en-US" sz="1050" b="1" dirty="0">
                <a:solidFill>
                  <a:srgbClr val="E2E8F0"/>
                </a:solidFill>
              </a:rPr>
              <a:t>제어 시뮬레이션을 통해 시물레이션 결과 데이터 생성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6A4BF1C-A8C3-4337-82E7-2C1DF320B53C}"/>
              </a:ext>
            </a:extLst>
          </p:cNvPr>
          <p:cNvSpPr txBox="1"/>
          <p:nvPr/>
        </p:nvSpPr>
        <p:spPr>
          <a:xfrm>
            <a:off x="8115248" y="807606"/>
            <a:ext cx="1582406" cy="52322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solidFill>
                  <a:srgbClr val="E2E8F0"/>
                </a:solidFill>
              </a:rPr>
              <a:t>※ </a:t>
            </a:r>
            <a:r>
              <a:rPr lang="ko-KR" altLang="en-US" sz="700" b="1" dirty="0">
                <a:solidFill>
                  <a:srgbClr val="E2E8F0"/>
                </a:solidFill>
              </a:rPr>
              <a:t>예상 출력 </a:t>
            </a:r>
            <a:r>
              <a:rPr lang="en-US" altLang="ko-KR" sz="700" b="1" dirty="0">
                <a:solidFill>
                  <a:srgbClr val="E2E8F0"/>
                </a:solidFill>
              </a:rPr>
              <a:t>: </a:t>
            </a:r>
            <a:r>
              <a:rPr lang="ko-KR" altLang="en-US" sz="700" b="1" dirty="0">
                <a:solidFill>
                  <a:srgbClr val="E2E8F0"/>
                </a:solidFill>
              </a:rPr>
              <a:t>기대온도에 도달 할 수 있도록 하기위해 출력예측 모형에서 추론된 출력값을 예상 출력이라 고 명명</a:t>
            </a:r>
            <a:endParaRPr lang="en-US" altLang="ko-KR" sz="700" b="1" dirty="0">
              <a:solidFill>
                <a:srgbClr val="C00000"/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1FB8AA8C-B058-4045-8760-A934BD4D0F54}"/>
              </a:ext>
            </a:extLst>
          </p:cNvPr>
          <p:cNvCxnSpPr/>
          <p:nvPr/>
        </p:nvCxnSpPr>
        <p:spPr>
          <a:xfrm>
            <a:off x="73229" y="442685"/>
            <a:ext cx="98137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02AF3F5-815C-4D09-A3B5-EC4834A251CC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GCLN</a:t>
            </a:r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개발 배경 및 설명 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5/6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2" name="실행 단추: 홈 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FABE709-7743-489D-92E1-5BCA44358AEA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32481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>
            <a:extLst>
              <a:ext uri="{FF2B5EF4-FFF2-40B4-BE49-F238E27FC236}">
                <a16:creationId xmlns:a16="http://schemas.microsoft.com/office/drawing/2014/main" id="{5FBB75B3-52B2-4ADD-BB73-C43A8F021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87" y="2591895"/>
            <a:ext cx="4791123" cy="3746186"/>
          </a:xfrm>
          <a:prstGeom prst="rect">
            <a:avLst/>
          </a:prstGeom>
          <a:noFill/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F0CBBD1B-F853-4B57-B180-F56858CD3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58" y="2435394"/>
            <a:ext cx="3259473" cy="229233"/>
          </a:xfrm>
          <a:prstGeom prst="rect">
            <a:avLst/>
          </a:prstGeom>
          <a:solidFill>
            <a:srgbClr val="1E293B">
              <a:lumMod val="85000"/>
            </a:srgb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lIns="36000" tIns="36000" rIns="36000" bIns="3600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GCLN – </a:t>
            </a: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출력 예측</a:t>
            </a:r>
          </a:p>
        </p:txBody>
      </p:sp>
      <p:sp>
        <p:nvSpPr>
          <p:cNvPr id="11" name="Text Box 32">
            <a:extLst>
              <a:ext uri="{FF2B5EF4-FFF2-40B4-BE49-F238E27FC236}">
                <a16:creationId xmlns:a16="http://schemas.microsoft.com/office/drawing/2014/main" id="{8655123E-ED09-41F3-A723-55A964B9A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573" y="2645255"/>
            <a:ext cx="4373500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 w="3175"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ln w="3175">
                  <a:noFill/>
                </a:ln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출력 예측 </a:t>
            </a:r>
            <a:r>
              <a:rPr kumimoji="0" lang="ko-KR" altLang="en-US" sz="1200" b="1" i="0" u="none" strike="noStrike" kern="1200" cap="none" spc="0" normalizeH="0" baseline="0" noProof="0" dirty="0">
                <a:ln w="3175"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모형</a:t>
            </a:r>
            <a:r>
              <a:rPr kumimoji="0" lang="en-US" altLang="ko-KR" sz="1200" b="1" i="0" u="none" strike="noStrike" kern="1200" cap="none" spc="0" normalizeH="0" baseline="0" noProof="0" dirty="0">
                <a:ln w="3175"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 w="3175"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구조</a:t>
            </a:r>
            <a:endParaRPr kumimoji="0" lang="en-US" altLang="ko-KR" sz="1200" b="1" i="0" u="none" strike="noStrike" kern="1200" cap="none" spc="0" normalizeH="0" baseline="0" noProof="0" dirty="0">
              <a:ln w="3175"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D9CB48A-225A-4528-80D5-DE8BCEEE3534}"/>
              </a:ext>
            </a:extLst>
          </p:cNvPr>
          <p:cNvSpPr/>
          <p:nvPr/>
        </p:nvSpPr>
        <p:spPr>
          <a:xfrm>
            <a:off x="678623" y="3839770"/>
            <a:ext cx="2235704" cy="707886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Fully-Connected Network</a:t>
            </a:r>
          </a:p>
          <a:p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 Layer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수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5(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레이어 별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BatchNomalize)</a:t>
            </a:r>
          </a:p>
          <a:p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 Node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수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100,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100,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100,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100, 100</a:t>
            </a:r>
          </a:p>
          <a:p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Activation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ReLu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E219A78-0ED3-40BE-8B79-300C15C7DDAB}"/>
              </a:ext>
            </a:extLst>
          </p:cNvPr>
          <p:cNvSpPr/>
          <p:nvPr/>
        </p:nvSpPr>
        <p:spPr>
          <a:xfrm>
            <a:off x="809403" y="4730198"/>
            <a:ext cx="262256" cy="134249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594BCDE-C4DC-4EAF-B00F-B2C2198F43D0}"/>
              </a:ext>
            </a:extLst>
          </p:cNvPr>
          <p:cNvSpPr/>
          <p:nvPr/>
        </p:nvSpPr>
        <p:spPr>
          <a:xfrm>
            <a:off x="845403" y="4842038"/>
            <a:ext cx="187326" cy="161433"/>
          </a:xfrm>
          <a:prstGeom prst="ellipse">
            <a:avLst/>
          </a:prstGeom>
          <a:solidFill>
            <a:srgbClr val="009C3C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312BC47-1896-441F-AE67-B2AFF38F5BFC}"/>
              </a:ext>
            </a:extLst>
          </p:cNvPr>
          <p:cNvSpPr/>
          <p:nvPr/>
        </p:nvSpPr>
        <p:spPr>
          <a:xfrm>
            <a:off x="845403" y="5749529"/>
            <a:ext cx="187326" cy="161433"/>
          </a:xfrm>
          <a:prstGeom prst="ellipse">
            <a:avLst/>
          </a:prstGeom>
          <a:solidFill>
            <a:srgbClr val="009C3C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F01E472-63F9-4824-A3FA-A50DFB54CC9F}"/>
              </a:ext>
            </a:extLst>
          </p:cNvPr>
          <p:cNvSpPr/>
          <p:nvPr/>
        </p:nvSpPr>
        <p:spPr>
          <a:xfrm>
            <a:off x="845403" y="5114968"/>
            <a:ext cx="187326" cy="161433"/>
          </a:xfrm>
          <a:prstGeom prst="ellipse">
            <a:avLst/>
          </a:prstGeom>
          <a:solidFill>
            <a:srgbClr val="009C3C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DF7FF55-61FE-4C14-96C9-007C1219E0E3}"/>
              </a:ext>
            </a:extLst>
          </p:cNvPr>
          <p:cNvSpPr/>
          <p:nvPr/>
        </p:nvSpPr>
        <p:spPr>
          <a:xfrm>
            <a:off x="917402" y="5374799"/>
            <a:ext cx="45719" cy="322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31A0CF31-20B9-4BA0-88E6-DD05CA009AA2}"/>
              </a:ext>
            </a:extLst>
          </p:cNvPr>
          <p:cNvSpPr/>
          <p:nvPr/>
        </p:nvSpPr>
        <p:spPr>
          <a:xfrm>
            <a:off x="917402" y="5494068"/>
            <a:ext cx="45719" cy="322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2A48D7C-25DC-4414-8031-91FF789556F8}"/>
              </a:ext>
            </a:extLst>
          </p:cNvPr>
          <p:cNvSpPr/>
          <p:nvPr/>
        </p:nvSpPr>
        <p:spPr>
          <a:xfrm>
            <a:off x="917402" y="5613336"/>
            <a:ext cx="45719" cy="322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왼쪽 중괄호 20">
            <a:extLst>
              <a:ext uri="{FF2B5EF4-FFF2-40B4-BE49-F238E27FC236}">
                <a16:creationId xmlns:a16="http://schemas.microsoft.com/office/drawing/2014/main" id="{A0BE88DC-E0CD-454A-9164-805A9E6B29DD}"/>
              </a:ext>
            </a:extLst>
          </p:cNvPr>
          <p:cNvSpPr/>
          <p:nvPr/>
        </p:nvSpPr>
        <p:spPr>
          <a:xfrm rot="5400000">
            <a:off x="1071062" y="4317739"/>
            <a:ext cx="194916" cy="718242"/>
          </a:xfrm>
          <a:prstGeom prst="leftBrace">
            <a:avLst>
              <a:gd name="adj1" fmla="val 88613"/>
              <a:gd name="adj2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858CA5A8-F6FE-4563-AD53-3CE94A712B34}"/>
              </a:ext>
            </a:extLst>
          </p:cNvPr>
          <p:cNvCxnSpPr>
            <a:cxnSpLocks/>
            <a:stCxn id="94" idx="3"/>
            <a:endCxn id="13" idx="1"/>
          </p:cNvCxnSpPr>
          <p:nvPr/>
        </p:nvCxnSpPr>
        <p:spPr>
          <a:xfrm flipV="1">
            <a:off x="553560" y="5401445"/>
            <a:ext cx="255843" cy="23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타원 59">
            <a:extLst>
              <a:ext uri="{FF2B5EF4-FFF2-40B4-BE49-F238E27FC236}">
                <a16:creationId xmlns:a16="http://schemas.microsoft.com/office/drawing/2014/main" id="{5BB1A122-EC94-4744-8534-C53C9B1747E4}"/>
              </a:ext>
            </a:extLst>
          </p:cNvPr>
          <p:cNvSpPr/>
          <p:nvPr/>
        </p:nvSpPr>
        <p:spPr>
          <a:xfrm>
            <a:off x="2259414" y="4553170"/>
            <a:ext cx="187326" cy="16143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193F2390-D9EA-48CF-8819-DA23C326C0C7}"/>
              </a:ext>
            </a:extLst>
          </p:cNvPr>
          <p:cNvSpPr/>
          <p:nvPr/>
        </p:nvSpPr>
        <p:spPr>
          <a:xfrm>
            <a:off x="2259414" y="6050136"/>
            <a:ext cx="187326" cy="16143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298070C6-92EC-4261-85D0-0C89036D06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632987" y="4755696"/>
            <a:ext cx="758979" cy="532518"/>
          </a:xfrm>
          <a:prstGeom prst="bentConnector3">
            <a:avLst>
              <a:gd name="adj1" fmla="val 98944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798FB7CA-845E-4A29-BD52-110F9E369F19}"/>
              </a:ext>
            </a:extLst>
          </p:cNvPr>
          <p:cNvCxnSpPr>
            <a:cxnSpLocks/>
            <a:endCxn id="62" idx="2"/>
          </p:cNvCxnSpPr>
          <p:nvPr/>
        </p:nvCxnSpPr>
        <p:spPr>
          <a:xfrm rot="16200000" flipH="1">
            <a:off x="1615817" y="5487256"/>
            <a:ext cx="768494" cy="51870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582FC8BC-BB8A-4E63-BECB-3A6D40091A4D}"/>
              </a:ext>
            </a:extLst>
          </p:cNvPr>
          <p:cNvCxnSpPr>
            <a:cxnSpLocks/>
          </p:cNvCxnSpPr>
          <p:nvPr/>
        </p:nvCxnSpPr>
        <p:spPr>
          <a:xfrm>
            <a:off x="2422162" y="6130852"/>
            <a:ext cx="224791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152BFDA9-F4B8-4950-8DA8-DA2C3A34E391}"/>
              </a:ext>
            </a:extLst>
          </p:cNvPr>
          <p:cNvCxnSpPr>
            <a:cxnSpLocks/>
            <a:stCxn id="60" idx="6"/>
          </p:cNvCxnSpPr>
          <p:nvPr/>
        </p:nvCxnSpPr>
        <p:spPr>
          <a:xfrm>
            <a:off x="2446740" y="4633886"/>
            <a:ext cx="208674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25324EE-431A-414C-B7CC-7DF1C7CC4383}"/>
                  </a:ext>
                </a:extLst>
              </p:cNvPr>
              <p:cNvSpPr txBox="1"/>
              <p:nvPr/>
            </p:nvSpPr>
            <p:spPr>
              <a:xfrm>
                <a:off x="2595464" y="4538954"/>
                <a:ext cx="474582" cy="2070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  <a:ea typeface="LG스마트체 Regular" panose="020B0600000101010101" pitchFamily="50" charset="-127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  <a:ea typeface="LG스마트체 Regular" panose="020B0600000101010101" pitchFamily="50" charset="-127"/>
                                </a:rPr>
                              </m:ctrlPr>
                            </m:acc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  <a:ea typeface="LG스마트체 Regular" panose="020B0600000101010101" pitchFamily="50" charset="-127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  <a:ea typeface="LG스마트체 Regular" panose="020B0600000101010101" pitchFamily="50" charset="-127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ko-KR" sz="900" i="1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25324EE-431A-414C-B7CC-7DF1C7CC4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464" y="4538954"/>
                <a:ext cx="474582" cy="207022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5834B3B-DADE-4A6A-A677-BFCCEB556D0F}"/>
                  </a:ext>
                </a:extLst>
              </p:cNvPr>
              <p:cNvSpPr txBox="1"/>
              <p:nvPr/>
            </p:nvSpPr>
            <p:spPr>
              <a:xfrm>
                <a:off x="2591236" y="6037582"/>
                <a:ext cx="478982" cy="2070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  <a:ea typeface="LG스마트체 Regular" panose="020B0600000101010101" pitchFamily="50" charset="-127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  <a:ea typeface="LG스마트체 Regular" panose="020B0600000101010101" pitchFamily="50" charset="-127"/>
                                </a:rPr>
                              </m:ctrlPr>
                            </m:acc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  <a:ea typeface="LG스마트체 Regular" panose="020B0600000101010101" pitchFamily="50" charset="-127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  <a:ea typeface="LG스마트체 Regular" panose="020B0600000101010101" pitchFamily="50" charset="-127"/>
                            </a:rPr>
                            <m:t>𝑜𝑢𝑡</m:t>
                          </m:r>
                        </m:sub>
                      </m:sSub>
                      <m:r>
                        <a:rPr lang="en-US" altLang="ko-KR" sz="900" i="1">
                          <a:latin typeface="Cambria Math" panose="02040503050406030204" pitchFamily="18" charset="0"/>
                          <a:ea typeface="LG스마트체 Regular" panose="020B0600000101010101" pitchFamily="50" charset="-127"/>
                        </a:rPr>
                        <m:t> </m:t>
                      </m:r>
                    </m:oMath>
                  </m:oMathPara>
                </a14:m>
                <a:endParaRPr lang="en-US" altLang="ko-KR" sz="900" i="1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5834B3B-DADE-4A6A-A677-BFCCEB556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236" y="6037582"/>
                <a:ext cx="478982" cy="207022"/>
              </a:xfrm>
              <a:prstGeom prst="rect">
                <a:avLst/>
              </a:prstGeom>
              <a:blipFill>
                <a:blip r:embed="rId4"/>
                <a:stretch>
                  <a:fillRect b="-88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039E9AE7-AB61-4DA6-80FA-D4AFD3280B7A}"/>
              </a:ext>
            </a:extLst>
          </p:cNvPr>
          <p:cNvSpPr txBox="1"/>
          <p:nvPr/>
        </p:nvSpPr>
        <p:spPr>
          <a:xfrm>
            <a:off x="2865486" y="5748014"/>
            <a:ext cx="1114722" cy="369332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MIR Lamp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OUT</a:t>
            </a:r>
          </a:p>
          <a:p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Activation :Linear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234DCCE-0999-4629-A390-9379F660BF19}"/>
              </a:ext>
            </a:extLst>
          </p:cNvPr>
          <p:cNvSpPr txBox="1"/>
          <p:nvPr/>
        </p:nvSpPr>
        <p:spPr>
          <a:xfrm>
            <a:off x="2874118" y="4507818"/>
            <a:ext cx="1114722" cy="369332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MIR Lamp</a:t>
            </a:r>
            <a:r>
              <a:rPr lang="ko-KR" altLang="en-US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IN</a:t>
            </a:r>
            <a:b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Activation : Linear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624647F-4199-46A9-AEF2-80BA2259E4F1}"/>
              </a:ext>
            </a:extLst>
          </p:cNvPr>
          <p:cNvSpPr/>
          <p:nvPr/>
        </p:nvSpPr>
        <p:spPr>
          <a:xfrm>
            <a:off x="3114010" y="3989004"/>
            <a:ext cx="112396" cy="968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4BB81A0-445D-4BC1-8031-3A8B30CF1322}"/>
              </a:ext>
            </a:extLst>
          </p:cNvPr>
          <p:cNvSpPr/>
          <p:nvPr/>
        </p:nvSpPr>
        <p:spPr>
          <a:xfrm>
            <a:off x="3273711" y="3982228"/>
            <a:ext cx="428739" cy="110412"/>
          </a:xfrm>
          <a:prstGeom prst="rect">
            <a:avLst/>
          </a:prstGeom>
          <a:ln/>
        </p:spPr>
        <p:txBody>
          <a:bodyPr wrap="square" lIns="0" tIns="0" rIns="0" bIns="0">
            <a:spAutoFit/>
          </a:bodyPr>
          <a:lstStyle/>
          <a:p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Input Node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AC5A4D8F-E45B-4B0C-9BD8-2E0806DA6B4F}"/>
              </a:ext>
            </a:extLst>
          </p:cNvPr>
          <p:cNvSpPr/>
          <p:nvPr/>
        </p:nvSpPr>
        <p:spPr>
          <a:xfrm>
            <a:off x="3114010" y="4144064"/>
            <a:ext cx="112396" cy="96860"/>
          </a:xfrm>
          <a:prstGeom prst="ellipse">
            <a:avLst/>
          </a:prstGeom>
          <a:solidFill>
            <a:srgbClr val="009C3C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1016B00-7289-4041-8AB3-288BB7B926D6}"/>
              </a:ext>
            </a:extLst>
          </p:cNvPr>
          <p:cNvSpPr/>
          <p:nvPr/>
        </p:nvSpPr>
        <p:spPr>
          <a:xfrm>
            <a:off x="3273711" y="4137288"/>
            <a:ext cx="1231165" cy="110412"/>
          </a:xfrm>
          <a:prstGeom prst="rect">
            <a:avLst/>
          </a:prstGeom>
          <a:ln/>
        </p:spPr>
        <p:txBody>
          <a:bodyPr wrap="square" lIns="0" tIns="0" rIns="0" bIns="0">
            <a:spAutoFit/>
          </a:bodyPr>
          <a:lstStyle/>
          <a:p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Hidden Node(Activation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ReLu)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6C2DB1C6-2E2A-44CA-B5ED-EB0D9B5FFC52}"/>
              </a:ext>
            </a:extLst>
          </p:cNvPr>
          <p:cNvSpPr/>
          <p:nvPr/>
        </p:nvSpPr>
        <p:spPr>
          <a:xfrm>
            <a:off x="3273712" y="4273599"/>
            <a:ext cx="1326256" cy="110412"/>
          </a:xfrm>
          <a:prstGeom prst="rect">
            <a:avLst/>
          </a:prstGeom>
          <a:ln/>
        </p:spPr>
        <p:txBody>
          <a:bodyPr wrap="square" lIns="0" tIns="0" rIns="0" bIns="0">
            <a:spAutoFit/>
          </a:bodyPr>
          <a:lstStyle/>
          <a:p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Output Node(Activation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Sigmoid)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61CE8FF-A31F-4045-B17F-39F625A96626}"/>
              </a:ext>
            </a:extLst>
          </p:cNvPr>
          <p:cNvSpPr/>
          <p:nvPr/>
        </p:nvSpPr>
        <p:spPr>
          <a:xfrm>
            <a:off x="3114010" y="4280375"/>
            <a:ext cx="112396" cy="968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C6E304F-049A-4121-98EC-3CAAD2C3005C}"/>
              </a:ext>
            </a:extLst>
          </p:cNvPr>
          <p:cNvSpPr txBox="1"/>
          <p:nvPr/>
        </p:nvSpPr>
        <p:spPr>
          <a:xfrm>
            <a:off x="311331" y="5298164"/>
            <a:ext cx="242229" cy="2070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i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x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74869A41-6D68-4B6E-858E-EDAE88E0D943}"/>
              </a:ext>
            </a:extLst>
          </p:cNvPr>
          <p:cNvSpPr/>
          <p:nvPr/>
        </p:nvSpPr>
        <p:spPr>
          <a:xfrm>
            <a:off x="802257" y="1483599"/>
            <a:ext cx="6633713" cy="536819"/>
          </a:xfrm>
          <a:prstGeom prst="rect">
            <a:avLst/>
          </a:prstGeom>
          <a:noFill/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D201FF2-0D40-43BD-88FC-F05E113D5B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924" y="1578546"/>
            <a:ext cx="6430432" cy="415306"/>
          </a:xfrm>
          <a:prstGeom prst="rect">
            <a:avLst/>
          </a:prstGeom>
        </p:spPr>
      </p:pic>
      <p:sp>
        <p:nvSpPr>
          <p:cNvPr id="86" name="직사각형 85">
            <a:extLst>
              <a:ext uri="{FF2B5EF4-FFF2-40B4-BE49-F238E27FC236}">
                <a16:creationId xmlns:a16="http://schemas.microsoft.com/office/drawing/2014/main" id="{350E125B-F52C-40F5-AF4B-70106AE4B68B}"/>
              </a:ext>
            </a:extLst>
          </p:cNvPr>
          <p:cNvSpPr/>
          <p:nvPr/>
        </p:nvSpPr>
        <p:spPr>
          <a:xfrm>
            <a:off x="270920" y="834362"/>
            <a:ext cx="8917947" cy="41549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 </a:t>
            </a:r>
            <a:r>
              <a:rPr lang="ko-KR" altLang="en-US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총 </a:t>
            </a:r>
            <a:r>
              <a:rPr lang="en-US" altLang="ko-KR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 Step</a:t>
            </a:r>
            <a:r>
              <a:rPr lang="ko-KR" altLang="en-US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계산된 </a:t>
            </a:r>
            <a:r>
              <a:rPr lang="en-US" altLang="ko-KR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들이 골고루 낮아져야 학습이 잘 되었다고 판단함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학습을 잘 시키기 위한 방법으로 초기에는 베이스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Learning Rate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크게 조종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예시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0.001)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하다가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어느정도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값이 줄어들면 베이스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Learning Rate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낮게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예시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0.0001)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수정하여 </a:t>
            </a: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Global Minimum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으로 가도록 유도하여 학습을 진행함 </a:t>
            </a:r>
            <a:endParaRPr lang="en-US" altLang="ko-KR" sz="105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EC86701F-D637-4411-A976-90B39B44FCE3}"/>
              </a:ext>
            </a:extLst>
          </p:cNvPr>
          <p:cNvSpPr/>
          <p:nvPr/>
        </p:nvSpPr>
        <p:spPr>
          <a:xfrm>
            <a:off x="802257" y="1289193"/>
            <a:ext cx="1035861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lang="ko-KR" altLang="en-US" sz="10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실제 학습 결과 </a:t>
            </a:r>
            <a:endParaRPr lang="ko-KR" altLang="en-US" sz="10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6E57805-4F44-4C49-B7A8-68BF2FCC9000}"/>
              </a:ext>
            </a:extLst>
          </p:cNvPr>
          <p:cNvSpPr/>
          <p:nvPr/>
        </p:nvSpPr>
        <p:spPr>
          <a:xfrm>
            <a:off x="135411" y="524986"/>
            <a:ext cx="9727455" cy="616259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5) GCLN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학습완료 판단 기준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</a:p>
        </p:txBody>
      </p: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E3A0B7F4-471B-40CE-BB80-6ABC5FEC1CD8}"/>
              </a:ext>
            </a:extLst>
          </p:cNvPr>
          <p:cNvSpPr/>
          <p:nvPr/>
        </p:nvSpPr>
        <p:spPr>
          <a:xfrm>
            <a:off x="1265385" y="4730198"/>
            <a:ext cx="262256" cy="134249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eaVert" rtlCol="0" anchor="ctr"/>
          <a:lstStyle/>
          <a:p>
            <a:pPr algn="ctr"/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BatchNorm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7D5E1D6D-B6EC-4005-948F-DA1BE9BB1C49}"/>
              </a:ext>
            </a:extLst>
          </p:cNvPr>
          <p:cNvCxnSpPr>
            <a:cxnSpLocks/>
            <a:endCxn id="117" idx="1"/>
          </p:cNvCxnSpPr>
          <p:nvPr/>
        </p:nvCxnSpPr>
        <p:spPr>
          <a:xfrm flipV="1">
            <a:off x="1077833" y="5401444"/>
            <a:ext cx="187552" cy="1233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5">
            <a:extLst>
              <a:ext uri="{FF2B5EF4-FFF2-40B4-BE49-F238E27FC236}">
                <a16:creationId xmlns:a16="http://schemas.microsoft.com/office/drawing/2014/main" id="{2EC4212D-C53F-47A6-87F0-338779B89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397" y="2592841"/>
            <a:ext cx="4791123" cy="3746186"/>
          </a:xfrm>
          <a:prstGeom prst="rect">
            <a:avLst/>
          </a:prstGeom>
          <a:noFill/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25" name="Rectangle 11">
            <a:extLst>
              <a:ext uri="{FF2B5EF4-FFF2-40B4-BE49-F238E27FC236}">
                <a16:creationId xmlns:a16="http://schemas.microsoft.com/office/drawing/2014/main" id="{5BD6E171-F4FF-4F35-9A08-FB741F5D5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2272" y="2418093"/>
            <a:ext cx="3259473" cy="229233"/>
          </a:xfrm>
          <a:prstGeom prst="rect">
            <a:avLst/>
          </a:prstGeom>
          <a:solidFill>
            <a:srgbClr val="1E293B">
              <a:lumMod val="85000"/>
            </a:srgb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lIns="36000" tIns="36000" rIns="36000" bIns="3600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GCLN – </a:t>
            </a: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온도 예측</a:t>
            </a:r>
          </a:p>
        </p:txBody>
      </p:sp>
      <p:sp>
        <p:nvSpPr>
          <p:cNvPr id="126" name="Text Box 32">
            <a:extLst>
              <a:ext uri="{FF2B5EF4-FFF2-40B4-BE49-F238E27FC236}">
                <a16:creationId xmlns:a16="http://schemas.microsoft.com/office/drawing/2014/main" id="{67A80D9D-88D9-4811-8D5E-B0F30BAEE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1487" y="2627954"/>
            <a:ext cx="4373500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 w="3175"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온도</a:t>
            </a:r>
            <a:r>
              <a:rPr lang="ko-KR" altLang="en-US" sz="1200" b="1" dirty="0">
                <a:ln w="3175">
                  <a:noFill/>
                </a:ln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예측 </a:t>
            </a:r>
            <a:r>
              <a:rPr kumimoji="0" lang="ko-KR" altLang="en-US" sz="1200" b="1" i="0" u="none" strike="noStrike" kern="1200" cap="none" spc="0" normalizeH="0" baseline="0" noProof="0" dirty="0">
                <a:ln w="3175"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모형</a:t>
            </a:r>
            <a:r>
              <a:rPr kumimoji="0" lang="en-US" altLang="ko-KR" sz="1200" b="1" i="0" u="none" strike="noStrike" kern="1200" cap="none" spc="0" normalizeH="0" baseline="0" noProof="0" dirty="0">
                <a:ln w="3175"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 w="3175"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구조</a:t>
            </a:r>
            <a:endParaRPr kumimoji="0" lang="en-US" altLang="ko-KR" sz="1200" b="1" i="0" u="none" strike="noStrike" kern="1200" cap="none" spc="0" normalizeH="0" baseline="0" noProof="0" dirty="0">
              <a:ln w="3175"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F0BFE219-2710-4C25-A750-E76D5606E48A}"/>
              </a:ext>
            </a:extLst>
          </p:cNvPr>
          <p:cNvSpPr/>
          <p:nvPr/>
        </p:nvSpPr>
        <p:spPr>
          <a:xfrm>
            <a:off x="5429537" y="3822469"/>
            <a:ext cx="2235704" cy="707886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Fully-Connected Network</a:t>
            </a:r>
          </a:p>
          <a:p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 Layer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수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5(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레이어 별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BatchNomalize)</a:t>
            </a:r>
          </a:p>
          <a:p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 Node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수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100,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100,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100,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100, 100</a:t>
            </a:r>
          </a:p>
          <a:p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Activation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  <a:r>
              <a:rPr lang="ko-KR" altLang="en-US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ReLu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15C06098-273F-4D10-99D1-4B73EAE87FB6}"/>
              </a:ext>
            </a:extLst>
          </p:cNvPr>
          <p:cNvSpPr/>
          <p:nvPr/>
        </p:nvSpPr>
        <p:spPr>
          <a:xfrm>
            <a:off x="5560317" y="4712897"/>
            <a:ext cx="262256" cy="134249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BE2BD7C9-C6C9-4715-A3F1-9E36106F4575}"/>
              </a:ext>
            </a:extLst>
          </p:cNvPr>
          <p:cNvSpPr/>
          <p:nvPr/>
        </p:nvSpPr>
        <p:spPr>
          <a:xfrm>
            <a:off x="5596317" y="4824737"/>
            <a:ext cx="187326" cy="161433"/>
          </a:xfrm>
          <a:prstGeom prst="ellipse">
            <a:avLst/>
          </a:prstGeom>
          <a:solidFill>
            <a:srgbClr val="009C3C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CE17711C-5132-4307-A9A1-6E8994113DE1}"/>
              </a:ext>
            </a:extLst>
          </p:cNvPr>
          <p:cNvSpPr/>
          <p:nvPr/>
        </p:nvSpPr>
        <p:spPr>
          <a:xfrm>
            <a:off x="5596317" y="5732228"/>
            <a:ext cx="187326" cy="161433"/>
          </a:xfrm>
          <a:prstGeom prst="ellipse">
            <a:avLst/>
          </a:prstGeom>
          <a:solidFill>
            <a:srgbClr val="009C3C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84EE132B-8463-45F1-A2F7-AB2F7CACFEFC}"/>
              </a:ext>
            </a:extLst>
          </p:cNvPr>
          <p:cNvSpPr/>
          <p:nvPr/>
        </p:nvSpPr>
        <p:spPr>
          <a:xfrm>
            <a:off x="5596317" y="5097667"/>
            <a:ext cx="187326" cy="161433"/>
          </a:xfrm>
          <a:prstGeom prst="ellipse">
            <a:avLst/>
          </a:prstGeom>
          <a:solidFill>
            <a:srgbClr val="009C3C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30F5AB8E-9F3F-447E-BD72-B51C8C068FF2}"/>
              </a:ext>
            </a:extLst>
          </p:cNvPr>
          <p:cNvSpPr/>
          <p:nvPr/>
        </p:nvSpPr>
        <p:spPr>
          <a:xfrm>
            <a:off x="5668316" y="5357498"/>
            <a:ext cx="45719" cy="322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FBDEE000-4912-43E0-818D-DA75D6B6DF19}"/>
              </a:ext>
            </a:extLst>
          </p:cNvPr>
          <p:cNvSpPr/>
          <p:nvPr/>
        </p:nvSpPr>
        <p:spPr>
          <a:xfrm>
            <a:off x="5668316" y="5476767"/>
            <a:ext cx="45719" cy="322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0ECB0F65-ECB7-40FF-8F56-864EDBC15300}"/>
              </a:ext>
            </a:extLst>
          </p:cNvPr>
          <p:cNvSpPr/>
          <p:nvPr/>
        </p:nvSpPr>
        <p:spPr>
          <a:xfrm>
            <a:off x="5668316" y="5596035"/>
            <a:ext cx="45719" cy="322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5" name="왼쪽 중괄호 134">
            <a:extLst>
              <a:ext uri="{FF2B5EF4-FFF2-40B4-BE49-F238E27FC236}">
                <a16:creationId xmlns:a16="http://schemas.microsoft.com/office/drawing/2014/main" id="{68DDBB7A-BB34-4F68-9507-A29C9F7916BA}"/>
              </a:ext>
            </a:extLst>
          </p:cNvPr>
          <p:cNvSpPr/>
          <p:nvPr/>
        </p:nvSpPr>
        <p:spPr>
          <a:xfrm rot="5400000">
            <a:off x="5821976" y="4300438"/>
            <a:ext cx="194916" cy="718242"/>
          </a:xfrm>
          <a:prstGeom prst="leftBrace">
            <a:avLst>
              <a:gd name="adj1" fmla="val 88613"/>
              <a:gd name="adj2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6B4DB049-269F-46BD-A25B-E95A83B83891}"/>
              </a:ext>
            </a:extLst>
          </p:cNvPr>
          <p:cNvCxnSpPr>
            <a:cxnSpLocks/>
            <a:stCxn id="159" idx="3"/>
            <a:endCxn id="128" idx="1"/>
          </p:cNvCxnSpPr>
          <p:nvPr/>
        </p:nvCxnSpPr>
        <p:spPr>
          <a:xfrm flipV="1">
            <a:off x="5304474" y="5384144"/>
            <a:ext cx="255843" cy="23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타원 136">
            <a:extLst>
              <a:ext uri="{FF2B5EF4-FFF2-40B4-BE49-F238E27FC236}">
                <a16:creationId xmlns:a16="http://schemas.microsoft.com/office/drawing/2014/main" id="{56FD5B0D-E127-41F4-8DA1-C2E22C23292E}"/>
              </a:ext>
            </a:extLst>
          </p:cNvPr>
          <p:cNvSpPr/>
          <p:nvPr/>
        </p:nvSpPr>
        <p:spPr>
          <a:xfrm>
            <a:off x="6461735" y="5310226"/>
            <a:ext cx="187326" cy="16143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2647A462-80A9-42E0-B182-8DBFFA9C0412}"/>
              </a:ext>
            </a:extLst>
          </p:cNvPr>
          <p:cNvCxnSpPr>
            <a:cxnSpLocks/>
            <a:stCxn id="137" idx="6"/>
          </p:cNvCxnSpPr>
          <p:nvPr/>
        </p:nvCxnSpPr>
        <p:spPr>
          <a:xfrm>
            <a:off x="6649061" y="5390942"/>
            <a:ext cx="208674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B3B20B9D-65DA-46EE-B99D-F2EB043644EA}"/>
                  </a:ext>
                </a:extLst>
              </p:cNvPr>
              <p:cNvSpPr txBox="1"/>
              <p:nvPr/>
            </p:nvSpPr>
            <p:spPr>
              <a:xfrm>
                <a:off x="6768152" y="5107435"/>
                <a:ext cx="47458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900" b="0" i="1" smtClean="0">
                              <a:latin typeface="Cambria Math" panose="02040503050406030204" pitchFamily="18" charset="0"/>
                              <a:ea typeface="LG스마트체 Regular" panose="020B0600000101010101" pitchFamily="50" charset="-127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900" b="0" i="1" smtClean="0">
                                  <a:latin typeface="Cambria Math" panose="02040503050406030204" pitchFamily="18" charset="0"/>
                                  <a:ea typeface="LG스마트체 Regular" panose="020B0600000101010101" pitchFamily="50" charset="-127"/>
                                </a:rPr>
                              </m:ctrlPr>
                            </m:acc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  <a:ea typeface="LG스마트체 Regular" panose="020B0600000101010101" pitchFamily="50" charset="-127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  <a:ea typeface="LG스마트체 Regular" panose="020B0600000101010101" pitchFamily="50" charset="-127"/>
                            </a:rPr>
                            <m:t>29</m:t>
                          </m:r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  <a:ea typeface="LG스마트체 Regular" panose="020B0600000101010101" pitchFamily="50" charset="-127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altLang="ko-KR" sz="900" i="1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B3B20B9D-65DA-46EE-B99D-F2EB04364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8152" y="5107435"/>
                <a:ext cx="474582" cy="2308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TextBox 149">
            <a:extLst>
              <a:ext uri="{FF2B5EF4-FFF2-40B4-BE49-F238E27FC236}">
                <a16:creationId xmlns:a16="http://schemas.microsoft.com/office/drawing/2014/main" id="{EA1EC760-E809-4159-A1E5-A51CED178636}"/>
              </a:ext>
            </a:extLst>
          </p:cNvPr>
          <p:cNvSpPr txBox="1"/>
          <p:nvPr/>
        </p:nvSpPr>
        <p:spPr>
          <a:xfrm>
            <a:off x="7045061" y="5233364"/>
            <a:ext cx="1114722" cy="369332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Temp_OUT 20s</a:t>
            </a:r>
          </a:p>
          <a:p>
            <a:pPr algn="l"/>
            <a:r>
              <a:rPr lang="en-US" altLang="ko-KR" sz="9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Activation : Linear</a:t>
            </a: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DAAE30E2-9848-4E76-8490-0F9B7D004878}"/>
              </a:ext>
            </a:extLst>
          </p:cNvPr>
          <p:cNvSpPr/>
          <p:nvPr/>
        </p:nvSpPr>
        <p:spPr>
          <a:xfrm>
            <a:off x="7864924" y="3971703"/>
            <a:ext cx="112396" cy="968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83601B17-72A3-406D-AAD3-B61F1D92E05B}"/>
              </a:ext>
            </a:extLst>
          </p:cNvPr>
          <p:cNvSpPr/>
          <p:nvPr/>
        </p:nvSpPr>
        <p:spPr>
          <a:xfrm>
            <a:off x="8024625" y="3964927"/>
            <a:ext cx="428739" cy="110412"/>
          </a:xfrm>
          <a:prstGeom prst="rect">
            <a:avLst/>
          </a:prstGeom>
          <a:ln/>
        </p:spPr>
        <p:txBody>
          <a:bodyPr wrap="square" lIns="0" tIns="0" rIns="0" bIns="0">
            <a:spAutoFit/>
          </a:bodyPr>
          <a:lstStyle/>
          <a:p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Input Node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85FA0BC6-99FB-48FC-82B9-28EED02BA093}"/>
              </a:ext>
            </a:extLst>
          </p:cNvPr>
          <p:cNvSpPr/>
          <p:nvPr/>
        </p:nvSpPr>
        <p:spPr>
          <a:xfrm>
            <a:off x="7864924" y="4126763"/>
            <a:ext cx="112396" cy="96860"/>
          </a:xfrm>
          <a:prstGeom prst="ellipse">
            <a:avLst/>
          </a:prstGeom>
          <a:solidFill>
            <a:srgbClr val="009C3C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2509D448-ABCD-45BF-A9DD-1568693860F1}"/>
              </a:ext>
            </a:extLst>
          </p:cNvPr>
          <p:cNvSpPr/>
          <p:nvPr/>
        </p:nvSpPr>
        <p:spPr>
          <a:xfrm>
            <a:off x="8024625" y="4119987"/>
            <a:ext cx="1231165" cy="110412"/>
          </a:xfrm>
          <a:prstGeom prst="rect">
            <a:avLst/>
          </a:prstGeom>
          <a:ln/>
        </p:spPr>
        <p:txBody>
          <a:bodyPr wrap="square" lIns="0" tIns="0" rIns="0" bIns="0">
            <a:spAutoFit/>
          </a:bodyPr>
          <a:lstStyle/>
          <a:p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Hidden Node(Activation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ReLu)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73C65614-B64F-47F6-8215-44B9766CD266}"/>
              </a:ext>
            </a:extLst>
          </p:cNvPr>
          <p:cNvSpPr/>
          <p:nvPr/>
        </p:nvSpPr>
        <p:spPr>
          <a:xfrm>
            <a:off x="8024626" y="4256298"/>
            <a:ext cx="1326256" cy="110412"/>
          </a:xfrm>
          <a:prstGeom prst="rect">
            <a:avLst/>
          </a:prstGeom>
          <a:ln/>
        </p:spPr>
        <p:txBody>
          <a:bodyPr wrap="square" lIns="0" tIns="0" rIns="0" bIns="0">
            <a:spAutoFit/>
          </a:bodyPr>
          <a:lstStyle/>
          <a:p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Output Node(Activation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</a:t>
            </a:r>
            <a:r>
              <a:rPr lang="ko-KR" altLang="en-US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Sigmoid)</a:t>
            </a:r>
            <a:endParaRPr lang="ko-KR" altLang="en-US" sz="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871E1498-55B3-4AD5-9AB2-CAA41FCD73AA}"/>
              </a:ext>
            </a:extLst>
          </p:cNvPr>
          <p:cNvSpPr/>
          <p:nvPr/>
        </p:nvSpPr>
        <p:spPr>
          <a:xfrm>
            <a:off x="7864924" y="4263074"/>
            <a:ext cx="112396" cy="968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DF1A779-DB14-47A0-A8E2-87827080F331}"/>
              </a:ext>
            </a:extLst>
          </p:cNvPr>
          <p:cNvSpPr txBox="1"/>
          <p:nvPr/>
        </p:nvSpPr>
        <p:spPr>
          <a:xfrm>
            <a:off x="5062245" y="5280863"/>
            <a:ext cx="242229" cy="2070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i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x</a:t>
            </a:r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09EDA26B-1037-4F4E-9673-8F1C2E03A408}"/>
              </a:ext>
            </a:extLst>
          </p:cNvPr>
          <p:cNvSpPr/>
          <p:nvPr/>
        </p:nvSpPr>
        <p:spPr>
          <a:xfrm>
            <a:off x="6016299" y="4712897"/>
            <a:ext cx="262256" cy="134249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eaVert" rtlCol="0" anchor="ctr"/>
          <a:lstStyle/>
          <a:p>
            <a:pPr algn="ctr"/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BatchNorm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61" name="직선 화살표 연결선 160">
            <a:extLst>
              <a:ext uri="{FF2B5EF4-FFF2-40B4-BE49-F238E27FC236}">
                <a16:creationId xmlns:a16="http://schemas.microsoft.com/office/drawing/2014/main" id="{2748FB17-EF19-4F03-A1FE-F51FC054F8C1}"/>
              </a:ext>
            </a:extLst>
          </p:cNvPr>
          <p:cNvCxnSpPr>
            <a:cxnSpLocks/>
            <a:endCxn id="160" idx="1"/>
          </p:cNvCxnSpPr>
          <p:nvPr/>
        </p:nvCxnSpPr>
        <p:spPr>
          <a:xfrm flipV="1">
            <a:off x="5828747" y="5384143"/>
            <a:ext cx="187552" cy="1233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2CFADFE4-FD53-4288-9522-127E7612D6C7}"/>
              </a:ext>
            </a:extLst>
          </p:cNvPr>
          <p:cNvCxnSpPr>
            <a:endCxn id="160" idx="3"/>
          </p:cNvCxnSpPr>
          <p:nvPr/>
        </p:nvCxnSpPr>
        <p:spPr>
          <a:xfrm flipH="1">
            <a:off x="6278555" y="5384143"/>
            <a:ext cx="19356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6CFA6803-F8FD-49A5-B309-BCF2C891042B}"/>
              </a:ext>
            </a:extLst>
          </p:cNvPr>
          <p:cNvCxnSpPr/>
          <p:nvPr/>
        </p:nvCxnSpPr>
        <p:spPr>
          <a:xfrm>
            <a:off x="73229" y="471260"/>
            <a:ext cx="98137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6D2C8646-0BC5-42EB-9241-171A9A178556}"/>
                  </a:ext>
                </a:extLst>
              </p:cNvPr>
              <p:cNvSpPr/>
              <p:nvPr/>
            </p:nvSpPr>
            <p:spPr>
              <a:xfrm>
                <a:off x="535506" y="2975191"/>
                <a:ext cx="4414098" cy="920958"/>
              </a:xfrm>
              <a:prstGeom prst="rect">
                <a:avLst/>
              </a:prstGeom>
              <a:ln/>
            </p:spPr>
            <p:txBody>
              <a:bodyPr wrap="square">
                <a:spAutoFit/>
              </a:bodyPr>
              <a:lstStyle/>
              <a:p>
                <a:pPr marL="86400" indent="-86400">
                  <a:spcBef>
                    <a:spcPts val="30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모형 입력 </a:t>
                </a:r>
                <a: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/ </a:t>
                </a:r>
                <a:r>
                  <a:rPr lang="ko-KR" altLang="en-US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출력 정의</a:t>
                </a:r>
                <a:b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</a:br>
                <a: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- </a:t>
                </a:r>
                <a14:m>
                  <m:oMath xmlns:m="http://schemas.openxmlformats.org/officeDocument/2006/math">
                    <m:r>
                      <a:rPr lang="en-US" altLang="ko-KR" sz="800" i="1" dirty="0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𝑋</m:t>
                    </m:r>
                  </m:oMath>
                </a14:m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=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800" i="1" dirty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𝑀𝐼𝐷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𝑜𝑢𝑡</m:t>
                            </m:r>
                          </m:sub>
                        </m:s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  </m:t>
                            </m:r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𝐿𝑎𝑚𝑝</m:t>
                            </m:r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_</m:t>
                            </m:r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𝑜𝑢𝑡</m:t>
                            </m:r>
                          </m:sub>
                        </m:s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  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𝑜𝑢𝑡</m:t>
                            </m:r>
                          </m:sub>
                        </m:s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𝑁𝑜𝑛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_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𝑜𝑝</m:t>
                            </m:r>
                          </m:sub>
                        </m:s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 </m:t>
                            </m:r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𝑃𝑟𝑒𝑣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_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𝑜𝑝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</a:br>
                <a: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𝑖𝑛</m:t>
                        </m:r>
                      </m:sub>
                    </m:sSub>
                    <m:r>
                      <a:rPr lang="en-US" altLang="ko-KR" sz="800" i="1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,  </m:t>
                    </m:r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𝑜𝑢𝑡</m:t>
                        </m:r>
                      </m:sub>
                    </m:sSub>
                    <m:r>
                      <a:rPr lang="en-US" altLang="ko-KR" sz="800" i="1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,</m:t>
                    </m:r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 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𝐿𝑎𝑚𝑝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_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: </a:t>
                </a:r>
                <a:r>
                  <a:rPr lang="ko-KR" altLang="en-US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가동 시작시점 온도 </a:t>
                </a:r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(IN  / MID/ OUT / Lamp_OUT)</a:t>
                </a:r>
                <a: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</a:t>
                </a:r>
                <a:b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</a:br>
                <a: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: </a:t>
                </a:r>
                <a:r>
                  <a:rPr lang="ko-KR" altLang="en-US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가동 이후 관리시점에서의 온도 </a:t>
                </a:r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(20s)</a:t>
                </a:r>
                <a:endParaRPr lang="en-US" altLang="ko-KR" sz="800" dirty="0">
                  <a:ln w="3175">
                    <a:noFill/>
                  </a:ln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  <a:p>
                <a:pPr>
                  <a:spcBef>
                    <a:spcPts val="300"/>
                  </a:spcBef>
                </a:pPr>
                <a: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  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𝑁𝑜𝑛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_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𝑂𝑃</m:t>
                        </m:r>
                      </m:sub>
                    </m:sSub>
                    <m:r>
                      <a:rPr lang="en-US" altLang="ko-KR" sz="800" i="1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, </m:t>
                    </m:r>
                    <m:r>
                      <a:rPr lang="en-US" altLang="ko-KR" sz="800" i="1" smtClean="0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 </m:t>
                    </m:r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𝑃𝑟𝑒𝑣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_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𝑜𝑝</m:t>
                        </m:r>
                      </m:sub>
                    </m:sSub>
                  </m:oMath>
                </a14:m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: </a:t>
                </a:r>
                <a:r>
                  <a:rPr lang="ko-KR" altLang="en-US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이전 장비 상태 시간</a:t>
                </a:r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(Non_OP / Prev_OP)</a:t>
                </a:r>
                <a: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 *OP : Operating</a:t>
                </a:r>
                <a:b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</a:br>
                <a: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  - </a:t>
                </a:r>
                <a14:m>
                  <m:oMath xmlns:m="http://schemas.openxmlformats.org/officeDocument/2006/math">
                    <m:r>
                      <a:rPr lang="en-US" altLang="ko-KR" sz="800" i="1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𝑌</m:t>
                    </m:r>
                  </m:oMath>
                </a14:m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𝑜𝑢𝑡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MIR Lamp </a:t>
                </a:r>
                <a:r>
                  <a:rPr lang="ko-KR" altLang="en-US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출력 </a:t>
                </a:r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(IN / OUT)</a:t>
                </a:r>
                <a:endParaRPr lang="ko-KR" altLang="en-US" sz="8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6D2C8646-0BC5-42EB-9241-171A9A1785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506" y="2975191"/>
                <a:ext cx="4414098" cy="92095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직사각형 173">
                <a:extLst>
                  <a:ext uri="{FF2B5EF4-FFF2-40B4-BE49-F238E27FC236}">
                    <a16:creationId xmlns:a16="http://schemas.microsoft.com/office/drawing/2014/main" id="{411E0B81-D46C-4415-85F4-B88C006B86D1}"/>
                  </a:ext>
                </a:extLst>
              </p:cNvPr>
              <p:cNvSpPr/>
              <p:nvPr/>
            </p:nvSpPr>
            <p:spPr>
              <a:xfrm>
                <a:off x="5230535" y="2918333"/>
                <a:ext cx="4414098" cy="920958"/>
              </a:xfrm>
              <a:prstGeom prst="rect">
                <a:avLst/>
              </a:prstGeom>
              <a:ln/>
            </p:spPr>
            <p:txBody>
              <a:bodyPr wrap="square">
                <a:spAutoFit/>
              </a:bodyPr>
              <a:lstStyle/>
              <a:p>
                <a:pPr marL="86400" indent="-86400">
                  <a:spcBef>
                    <a:spcPts val="30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모형 입력 </a:t>
                </a:r>
                <a: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/ </a:t>
                </a:r>
                <a:r>
                  <a:rPr lang="ko-KR" altLang="en-US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출력 정의</a:t>
                </a:r>
                <a:b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</a:br>
                <a: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- </a:t>
                </a:r>
                <a14:m>
                  <m:oMath xmlns:m="http://schemas.openxmlformats.org/officeDocument/2006/math">
                    <m:r>
                      <a:rPr lang="en-US" altLang="ko-KR" sz="800" i="1" dirty="0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𝑋</m:t>
                    </m:r>
                  </m:oMath>
                </a14:m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=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800" i="1" dirty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𝑀𝐼𝐷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𝑜𝑢𝑡</m:t>
                            </m:r>
                          </m:sub>
                        </m:s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  </m:t>
                            </m:r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𝐿𝑎𝑚𝑝</m:t>
                            </m:r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_</m:t>
                            </m:r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𝑜𝑢𝑡</m:t>
                            </m:r>
                          </m:sub>
                        </m:s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  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𝑠𝑐𝑟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_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 </m:t>
                            </m:r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𝑠𝑐𝑟</m:t>
                            </m:r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_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𝑜𝑢𝑡</m:t>
                            </m:r>
                          </m:sub>
                        </m:s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𝑁𝑜𝑛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_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𝑜𝑝</m:t>
                            </m:r>
                          </m:sub>
                        </m:s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 </m:t>
                            </m:r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𝑃𝑟𝑒𝑣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_</m:t>
                            </m:r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𝑜𝑝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</a:br>
                <a: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𝑖𝑛</m:t>
                        </m:r>
                      </m:sub>
                    </m:sSub>
                    <m:r>
                      <a:rPr lang="en-US" altLang="ko-KR" sz="800" i="1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,  </m:t>
                    </m:r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𝑜𝑢𝑡</m:t>
                        </m:r>
                      </m:sub>
                    </m:sSub>
                    <m:r>
                      <a:rPr lang="en-US" altLang="ko-KR" sz="800" i="1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,</m:t>
                    </m:r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 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𝐿𝑎𝑚𝑝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_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: </a:t>
                </a:r>
                <a:r>
                  <a:rPr lang="ko-KR" altLang="en-US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가동 시작시점 온도 </a:t>
                </a:r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(IN  / MID/ OUT / Lamp_OUT)</a:t>
                </a:r>
                <a: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</a:t>
                </a:r>
                <a:b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</a:br>
                <a: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𝑠𝑐𝑟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_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𝑖𝑛</m:t>
                        </m:r>
                      </m:sub>
                    </m:sSub>
                    <m:r>
                      <a:rPr lang="en-US" altLang="ko-KR" sz="800" b="0" i="1" smtClean="0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,</m:t>
                    </m:r>
                    <m:sSub>
                      <m:sSubPr>
                        <m:ctrlPr>
                          <a:rPr lang="en-US" altLang="ko-KR" sz="8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𝑠𝑐𝑟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_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: MIR Lamp </a:t>
                </a:r>
                <a:r>
                  <a:rPr lang="ko-KR" altLang="en-US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출력</a:t>
                </a:r>
                <a:endParaRPr lang="en-US" altLang="ko-KR" sz="800" dirty="0">
                  <a:ln w="3175">
                    <a:noFill/>
                  </a:ln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  <a:p>
                <a:pPr>
                  <a:spcBef>
                    <a:spcPts val="300"/>
                  </a:spcBef>
                </a:pPr>
                <a: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  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𝑁𝑜𝑛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_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𝑂𝑃</m:t>
                        </m:r>
                      </m:sub>
                    </m:sSub>
                    <m:r>
                      <a:rPr lang="en-US" altLang="ko-KR" sz="800" i="1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, </m:t>
                    </m:r>
                    <m:r>
                      <a:rPr lang="en-US" altLang="ko-KR" sz="800" i="1" smtClean="0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 </m:t>
                    </m:r>
                    <m:sSub>
                      <m:sSubPr>
                        <m:ctrlP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800" i="1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𝑃𝑟𝑒𝑣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_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𝑜𝑝</m:t>
                        </m:r>
                      </m:sub>
                    </m:sSub>
                  </m:oMath>
                </a14:m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: </a:t>
                </a:r>
                <a:r>
                  <a:rPr lang="ko-KR" altLang="en-US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이전 장비 상태 시간</a:t>
                </a:r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(Non_OP / Prev_OP)</a:t>
                </a:r>
                <a: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 *OP : Operating</a:t>
                </a:r>
                <a:b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</a:br>
                <a:r>
                  <a:rPr lang="en-US" altLang="ko-KR" sz="800" dirty="0">
                    <a:ln w="3175">
                      <a:noFill/>
                    </a:ln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  - </a:t>
                </a:r>
                <a14:m>
                  <m:oMath xmlns:m="http://schemas.openxmlformats.org/officeDocument/2006/math">
                    <m:r>
                      <a:rPr lang="en-US" altLang="ko-KR" sz="800" i="1">
                        <a:latin typeface="Cambria Math" panose="02040503050406030204" pitchFamily="18" charset="0"/>
                        <a:ea typeface="LG스마트체 Regular" panose="020B0600000101010101" pitchFamily="50" charset="-127"/>
                      </a:rPr>
                      <m:t>𝑌</m:t>
                    </m:r>
                  </m:oMath>
                </a14:m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800" i="1" smtClean="0"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800" i="1">
                                <a:latin typeface="Cambria Math" panose="02040503050406030204" pitchFamily="18" charset="0"/>
                                <a:ea typeface="LG스마트체 Regular" panose="020B0600000101010101" pitchFamily="50" charset="-127"/>
                              </a:rPr>
                              <m:t>𝑜𝑢𝑡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 OUT</a:t>
                </a:r>
                <a:r>
                  <a:rPr lang="ko-KR" altLang="en-US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</a:t>
                </a:r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Zone </a:t>
                </a:r>
                <a:r>
                  <a:rPr lang="ko-KR" altLang="en-US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타겟시점</a:t>
                </a:r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</a:t>
                </a:r>
                <a:r>
                  <a:rPr lang="ko-KR" altLang="en-US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온도 </a:t>
                </a:r>
                <a:r>
                  <a:rPr lang="en-US" altLang="ko-KR" sz="8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(20s)</a:t>
                </a:r>
                <a:endParaRPr lang="ko-KR" altLang="en-US" sz="8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74" name="직사각형 173">
                <a:extLst>
                  <a:ext uri="{FF2B5EF4-FFF2-40B4-BE49-F238E27FC236}">
                    <a16:creationId xmlns:a16="http://schemas.microsoft.com/office/drawing/2014/main" id="{411E0B81-D46C-4415-85F4-B88C006B8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535" y="2918333"/>
                <a:ext cx="4414098" cy="92095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372B2AFB-E0DC-42C8-889C-04B86214F07A}"/>
              </a:ext>
            </a:extLst>
          </p:cNvPr>
          <p:cNvCxnSpPr>
            <a:cxnSpLocks/>
          </p:cNvCxnSpPr>
          <p:nvPr/>
        </p:nvCxnSpPr>
        <p:spPr>
          <a:xfrm flipH="1">
            <a:off x="1527641" y="5373641"/>
            <a:ext cx="21307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E84658CB-14BA-47D8-94A3-F9F8A9F935B4}"/>
              </a:ext>
            </a:extLst>
          </p:cNvPr>
          <p:cNvSpPr txBox="1"/>
          <p:nvPr/>
        </p:nvSpPr>
        <p:spPr>
          <a:xfrm>
            <a:off x="54262" y="108383"/>
            <a:ext cx="8280126" cy="40011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GCLN</a:t>
            </a:r>
            <a:r>
              <a:rPr lang="ko-KR" altLang="en-US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개발 배경 및 설명 </a:t>
            </a:r>
            <a:r>
              <a:rPr lang="en-US" altLang="ko-KR" sz="2000" b="1" dirty="0">
                <a:solidFill>
                  <a:srgbClr val="E2E8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– 6/6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4" name="실행 단추: 홈 8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A558C018-908E-4FD6-B3D8-A4B51FA26DFB}"/>
              </a:ext>
            </a:extLst>
          </p:cNvPr>
          <p:cNvSpPr/>
          <p:nvPr/>
        </p:nvSpPr>
        <p:spPr>
          <a:xfrm>
            <a:off x="9565954" y="160603"/>
            <a:ext cx="216000" cy="216000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"/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1503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38722</TotalTime>
  <Words>9118</Words>
  <Application>Microsoft Office PowerPoint</Application>
  <PresentationFormat>A4 용지(210x297mm)</PresentationFormat>
  <Paragraphs>1435</Paragraphs>
  <Slides>35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5" baseType="lpstr">
      <vt:lpstr>LG</vt:lpstr>
      <vt:lpstr>LG스마트체 Regular</vt:lpstr>
      <vt:lpstr>LG스마트체 SemiBold</vt:lpstr>
      <vt:lpstr>LG스마트체2.0 Regular</vt:lpstr>
      <vt:lpstr>맑은 고딕</vt:lpstr>
      <vt:lpstr>Arial</vt:lpstr>
      <vt:lpstr>Arial Narrow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윤동희(YOON CAROLINE)[caroline]/책임/브랜드팀</dc:creator>
  <cp:lastModifiedBy>박진서(JINSEO PARK)[pjs1207]/선임/AI/빅데이터2.Multimodal AI팀</cp:lastModifiedBy>
  <cp:revision>555</cp:revision>
  <dcterms:created xsi:type="dcterms:W3CDTF">2022-07-11T00:07:02Z</dcterms:created>
  <dcterms:modified xsi:type="dcterms:W3CDTF">2026-07-30T05:42:37Z</dcterms:modified>
</cp:coreProperties>
</file>