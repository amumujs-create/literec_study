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사례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시험(외삽) 구간에서 터보팬 수명을 맞추는 문제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CA-CSS v4 Case Appendix  ·  Kookmin Univ. IE Lab  ·  2026  ·  N-CMAPSS · 처음 보는 엔진 + 고부하(TRA&gt;q90)만 평가.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1 /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024128"/>
            <a:ext cx="4114800" cy="2103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1024128"/>
            <a:ext cx="54864" cy="210312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152144"/>
            <a:ext cx="3767328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다루는 문제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항공 터보팬 남은 수명(RUL) 예측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N-CMAPSS — 엔진 9대, 센서 시계열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부하·스로틀(TRA)이 바뀌면 분포도 같이 바뀜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라벨은 ‘몇 cycle 남았나’만 — 순간 부하와는 무관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3246120"/>
            <a:ext cx="4114800" cy="2286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3246120"/>
            <a:ext cx="54864" cy="22860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374136"/>
            <a:ext cx="3767328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평가 구간 (시험·외삽)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엔진 11·14·15 — 훈련에 없던 3대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TRA &gt; q90 — 본편 hard와 같은 고부하 밴드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새 엔진과 새 부하가 동시에 옴 (n≈159)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여기서 TabPFN 4.8, LSTM 15 epoch는 16 전후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005840"/>
            <a:ext cx="7287768" cy="351095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g_tra_hard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1060704"/>
            <a:ext cx="7178040" cy="34012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17720" y="4535078"/>
            <a:ext cx="7287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시험(외삽)만 — 엔진 11·14·15 · TRA &gt; q90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그림·수치는 훈련·검증이 아니라, 시험(외삽) 구간만을 말한다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사례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CA-CSS v4 구조와 구성요소별 설계 의도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CA-CSS v4 Case Appendix  ·  Kookmin Univ. IE Lab  ·  2026  ·  위: 블록 다이어그램 · 아래: 가정 → 설계 매핑.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2 /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914400"/>
            <a:ext cx="8388945" cy="2441448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v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969264"/>
            <a:ext cx="8279217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3374136"/>
            <a:ext cx="838894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health ∥ damage → RUL=H−D · mono∥MLP · isotonic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456432"/>
          <a:ext cx="56235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691640"/>
                <a:gridCol w="2697480"/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구성요소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가정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설계 의도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Inputs X_seq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엔진·운용→센서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window 시계열 입력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OC norm ·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스케일 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정규화·학습 안정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TRA 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H ⊥ 부하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TRA→0 지름길 차단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Linear 33→64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d_model 투영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Transformer×2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열화 시간 누적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MHA 시계열 의존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Health Head →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H &gt;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softplus 잠재 건강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3456432"/>
          <a:ext cx="56235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691640"/>
                <a:gridCol w="2697480"/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구성요소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가정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설계 의도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Load Extract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손상=운용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TRA,φ,T30,cycle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mono ∥ 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TRA↑→손상↑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단조 hard + MLP 보정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D = mono+other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누적 손상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병렬 합산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RUL = H−D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수명=건강−손상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분해 가정 고정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Isotonic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cycle↑→RUL↓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엔진별 시간 단조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L_RUL fit · 방향=구조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가정을 블록 형태로 compile — fit은 L_RUL, 방향은 mask·head·iso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B8C4D0"/>
                </a:solidFill>
                <a:latin typeface="Apple SD Gothic Neo"/>
                <a:ea typeface="Apple SD Gothic Neo"/>
              </a:rPr>
              <a:t>λ_tra=0에서도 방향 유지 (loss보다 구조가 prior)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사례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hard 구간에서 다른 모델과 비교하면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CA-CSS v4 Case Appendix  ·  Kookmin Univ. IE Lab  ·  2026  ·  모델마다 학습 epoch 맞춘 공정 비교.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3 /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914400"/>
            <a:ext cx="7699248" cy="3823748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baseline_fair_h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969264"/>
            <a:ext cx="7589520" cy="37140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4048" y="4756436"/>
            <a:ext cx="7699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4D0"/>
                </a:solidFill>
                <a:latin typeface="Apple SD Gothic Neo"/>
                <a:ea typeface="Apple SD Gothic Neo"/>
              </a:rPr>
              <a:t>각 모델에 맞게 epoch 조정 후 hard 구간 RMSE·R²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92440" y="987552"/>
          <a:ext cx="27889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960120"/>
                <a:gridCol w="77724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오차(RMSE)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DD6C6"/>
                          </a:solidFill>
                          <a:latin typeface="Apple SD Gothic Neo"/>
                          <a:ea typeface="Apple SD Gothic Neo"/>
                        </a:rPr>
                        <a:t>R²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v4+iso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3.43±0.73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0.966±0.013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4.99±0.46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0.931±0.011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TabPFN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4.79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0.937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GBM+iso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5.74±0.46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0.908±0.015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LSTM+iso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4.79±0.55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0.936±0.013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CF1F7"/>
                          </a:solidFill>
                          <a:latin typeface="Apple SD Gothic Neo"/>
                          <a:ea typeface="Apple SD Gothic Neo"/>
                        </a:rPr>
                        <a:t>GRU+iso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4.98±0.65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ADBC"/>
                          </a:solidFill>
                          <a:latin typeface="Apple SD Gothic Neo"/>
                          <a:ea typeface="Apple SD Gothic Neo"/>
                        </a:rPr>
                        <a:t>0.931±0.016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92440" y="3246120"/>
            <a:ext cx="3703320" cy="2286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3246120"/>
            <a:ext cx="54864" cy="228600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3374136"/>
            <a:ext cx="3355848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읽는 포인트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LSTM도 epoch 늘리면 4.8까지 올라옴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그래도 v4가 3.4대 · 설명력 R² 0.97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10번 반복 실험에서 TabPFN보다 유의하게 좋음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외삽 구간에서 ‘부하 올리면 수명↓’ 100% 유지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공정하게 맞춰도 v4만 TabPFN·Transformer·LSTM을 한꺼번에 이긴다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23774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사례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754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CF1F7"/>
                </a:solidFill>
                <a:latin typeface="Apple SD Gothic Neo"/>
                <a:ea typeface="Apple SD Gothic Neo"/>
              </a:rPr>
              <a:t>무엇까지 말할 수 있고, 한 줄로 정리하면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987552"/>
            <a:ext cx="11430000" cy="12700"/>
          </a:xfrm>
          <a:prstGeom prst="rect">
            <a:avLst/>
          </a:prstGeom>
          <a:solidFill>
            <a:srgbClr val="2C3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CA-CSS v4 Case Appendix  ·  Kookmin Univ. IE Lab  ·  2026  ·  주장 범위를 좁히고, 본편 메시지로 회수.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73952"/>
            <a:ext cx="12801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E7C8C"/>
                </a:solidFill>
                <a:latin typeface="Apple SD Gothic Neo"/>
                <a:ea typeface="Apple SD Gothic Neo"/>
              </a:rPr>
              <a:t>4 /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005840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1005840"/>
            <a:ext cx="54864" cy="292608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133856"/>
            <a:ext cx="5047488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D6C6"/>
                </a:solidFill>
                <a:latin typeface="Apple SD Gothic Neo"/>
                <a:ea typeface="Apple SD Gothic Neo"/>
              </a:rPr>
              <a:t>말해도 되는 것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hard 구간 오차·R²가 baseline보다 낫다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설계한 부하 방향성이 외삽에서도 유지된다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모델마다 epoch 맞춘 비교 · 같은 후처리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본편 외삽 체크리스트 4항 충족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005840"/>
            <a:ext cx="5852160" cy="2926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005840"/>
            <a:ext cx="54864" cy="2926080"/>
          </a:xfrm>
          <a:prstGeom prst="rect">
            <a:avLst/>
          </a:prstGeom>
          <a:solidFill>
            <a:srgbClr val="E89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33856"/>
            <a:ext cx="5504688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A5C"/>
                </a:solidFill>
                <a:latin typeface="Apple SD Gothic Neo"/>
                <a:ea typeface="Apple SD Gothic Neo"/>
              </a:rPr>
              <a:t>말하지 않는 것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‘데이터가 부하↑수명↓을 증명했다’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‘특정 loss 덕분에 방향이 생겼다’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A0ADBC"/>
                </a:solidFill>
                <a:latin typeface="Apple SD Gothic Neo"/>
                <a:ea typeface="Apple SD Gothic Neo"/>
              </a:rPr>
              <a:t>•  ‘라벨만 보면 물리 법칙이 입증됐다’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069080"/>
            <a:ext cx="11430000" cy="384048"/>
          </a:xfrm>
          <a:prstGeom prst="roundRect">
            <a:avLst>
              <a:gd name="adj" fmla="val 3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2394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문제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123944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4D0"/>
                </a:solidFill>
                <a:latin typeface="Apple SD Gothic Neo"/>
                <a:ea typeface="Apple SD Gothic Neo"/>
              </a:rPr>
              <a:t>N-CMAPSS · 처음 보는 엔진 + 높은 부하에서 수명 예측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4507992"/>
            <a:ext cx="11430000" cy="384048"/>
          </a:xfrm>
          <a:prstGeom prst="roundRect">
            <a:avLst>
              <a:gd name="adj" fmla="val 3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56285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56285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4D0"/>
                </a:solidFill>
                <a:latin typeface="Apple SD Gothic Neo"/>
                <a:ea typeface="Apple SD Gothic Neo"/>
              </a:rPr>
              <a:t>시간 단조 · 고부하 열화 · 건강−손상 분리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4946904"/>
            <a:ext cx="11430000" cy="384048"/>
          </a:xfrm>
          <a:prstGeom prst="roundRect">
            <a:avLst>
              <a:gd name="adj" fmla="val 3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50017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방법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001768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4D0"/>
                </a:solidFill>
                <a:latin typeface="Apple SD Gothic Neo"/>
                <a:ea typeface="Apple SD Gothic Neo"/>
              </a:rPr>
              <a:t>부하 단조 head · 건강 경로에서 부하 제거 · 단조 보정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" y="5385816"/>
            <a:ext cx="11430000" cy="384048"/>
          </a:xfrm>
          <a:prstGeom prst="roundRect">
            <a:avLst>
              <a:gd name="adj" fmla="val 3000"/>
            </a:avLst>
          </a:prstGeom>
          <a:solidFill>
            <a:srgbClr val="18212C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54406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ple SD Gothic Neo"/>
                <a:ea typeface="Apple SD Gothic Neo"/>
              </a:rPr>
              <a:t>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440680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4D0"/>
                </a:solidFill>
                <a:latin typeface="Apple SD Gothic Neo"/>
                <a:ea typeface="Apple SD Gothic Neo"/>
              </a:rPr>
              <a:t>RMSE 3.4 · R² 0.97 — TabPFN 4.8보다 낮음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5833872"/>
            <a:ext cx="11430000" cy="512064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 w="9525">
            <a:solidFill>
              <a:srgbClr val="2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833872"/>
            <a:ext cx="64008" cy="512064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8795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CF1F7"/>
                </a:solidFill>
                <a:latin typeface="Apple SD Gothic Neo"/>
                <a:ea typeface="Apple SD Gothic Neo"/>
              </a:rPr>
              <a:t>밖을 버티는 건 데이터가 아니라 가정 — 그 가정을 구조에 넣고, hard에서 숫자로 확인했다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