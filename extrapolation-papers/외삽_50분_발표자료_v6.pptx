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</a:t>
            </a:r>
          </a:p>
          <a:p>
            <a:r>
              <a:t>대본: 오늘은 **회귀 외삽** — 연속값 y, 센서→품질 같은 tabular·시계열. 분류·domain generalization(OOD)은 범위 밖. 네 파트: 정의, 실패 원인, 대응법, 성능 검증. 결론 미리 — 밖을 지탱하는 건 데이터가 아니라 **가정**.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위 세 상자가 목차입니다. 1부 — **외삽 정의**(보간 vs 외삽, 훈련 범위). 2부 — **외삽 실패 원인** 네 가지(데이터·차원·불확실성·ReLU). 3부 — **외삽 대응법**(가정 넣기)과 **외삽 성능 검증**(주장이 맞는지 확인). 다음 장에서 핵심 용어 '가정'을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용어 장 — 반드시 천천히.</a:t>
            </a:r>
          </a:p>
          <a:p>
            <a:r>
              <a:t>대본: '가정'이 오늘 키워드입니다. 왼쪽 그림 — 훈련점(●)은 같습니다. 훈련 범위 안에서는 **하나의 적합**처럼 보이고, 데이터만으로는 선형·지수·비선형 중 어느 가정이 맞는지 고를 수 없습니다. x=2 밖으로 **가정(prior)을 연장**하는 순간 A·B·C 예측이 완전히 갈립니다. 세 모델을 동시에 학습한 그림이 **아닙니다**. 오른쪽 ① 정의, ② 왜 필요(Pfister), ③ 주입 위치. 아래 ④ 그림 해석. 이후 '가정을 넣는다'는 이 뜻으로만 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1부입니다. 먼저 OOD와 외삽 — 헷갈리기 쉬운 두 단어. 이 발표는 **외삽** 좌표계에 집중합니다. 그다음 보간/외삽, hull, 사례. 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1부 시작 — OOD와 외삽부터. **왼쪽 그림 (a)** — OOD. train과 test **분포**가 다릅니다. 오른쪽 꼬리 query는 train이 본 적 없는 영역 — OOD. **오른쪽 그림 (b)** — 외삽. 훈련 점들의 convex hull 안/밖으로 판별. ★ 표시는 hull **밖** extrap — 오늘의 좌표. 보라 ■는 hull **안**인데 concept shift — OOD지만 extrap 판별은 안 됩니다. extrap은 종종 OOD 안쪽이지만, OOD 전체가 extrap은 아닙니다. 오늘 50분은 **회귀 외삽** — hull·연속 y·가정. IRM·DomainBed는 **분류 DG** 쪽 — 오늘 범위 밖. 다음 장 보간/외삽.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정의부터. 외삽은 '훈련 범위 밖에서의 예측'입니다. 왼쪽 그림 — 같은 모델인데 **예측할 입력**이 훈련 범위 안이면 보간, 밖이면 외삽입니다. 그래서 '모델이 외삽되나?'가 아니라 '**지금 넣는 입력이 범위 밖인가?**'가 먼저입니다. 적용 예 — 키 160~180으로 학습한 몸무게 모델에 175를 물으면 보간, 195를 물으면 외삽입니다. 여름 데이터로 겨울 수요를 예측하는 것도 외삽입니다 — 시간축도 똑같습니다. 약속 하나: 오늘 모든 그림에서 음영이 훈련 범위, 그 밖이 외삽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오른쪽 네 단계입니다. ① 개념 — 훈련 row(●)들을 고무줄로 감싼 영역, 외곽+안. ② 수식 — Conv(X_train) = Σ α_i x_i, α_i ≥ 0, Σ α_i = 1. ③ 의미 — hull 안=보간, 밖=외삽. Σ=1은 섞기 100%라 고무줄 안만. ④ 왜 정의? — '범위 밖'을 느낌이 아니라 수학으로 판정해야 3부 검증이 됩니다. min/max나 '비슷해 보여'로는 부족합니다. 왼쪽 함정 — 변수별로는 범위 안인데 조합은 hull 밖일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무슨 일이 생기는지 대표 사례입니다. 4차 다항식이 훈련 구간 안에서는 사실상 완벽합니다 — 오차가 0에 가깝습니다. 그런데 경계를 넘는 순간 폭발합니다. 차수를 높이면 안은 더 잘 맞는데 밖은 더 크게 터집니다. 여기서 교훈 하나만 새기고 2부로 갑니다: '안에서 잘 맞는다'와 '밖에서 맞는다'는 서로 다른 질문이다. 왜 다른 질문일 수밖에 없는지 — 그게 2부입니다.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2부, **외삽 실패 원인**입니다. '한계'가 아니라 — 밖에서 왜 틀리는지 네 가지. 식별 불가(데이터만으론 못 고름), 고차원에서 범위 밖, 밖에서 불확실성 폭발, ReLU 직선.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발표 전체에서 가장 중요한 장.</a:t>
            </a:r>
          </a:p>
          <a:p>
            <a:r>
              <a:t>대본: 첫 번째 이유이자 오늘의 심장입니다. 그림 — 직선 가설과 지수 가설, 훈련 구간(OBSERVED) 안에서는 둘 다 ●를 통과합니다. 구분이 안 됩니다. 밖(UNIDENTIFIED)으로 나가는 순간 전부 다른 답을 냅니다. 아무 함수나 맞는 게 아니라, 훈련점을 지나는 가설이 (원칙적으로) 무한히 많다는 뜻입니다. 그럼 데이터를 더 모으면 되지 않나? — 훈련 범위 안에서만 늘어나면 소용없습니다. Pfister 2024: 범위 밖 추론은 추가 가정 없이는 원리적으로 불가능. 배터리 예 — 100사이클까지 선형·지수 열화 둘 다 완벽 적합, 500사이클 수명은 2배 차이. 데이터는 어느 쪽인지 말해주지 않습니다. 밖을 지탱하는 것은 데이터가 아니라 가정입니다.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두 번째 이유 — 규모의 문제입니다. '데이터가 충분히 많으니 테스트는 범위 안이겠지'라고 생각하기 쉽습니다. 2차원에서는 맞는 직관입니다, 왼쪽 그림처럼 훈련 범위가 꽤 넓거든요. 그런데 오른쪽 곡선 — 차원이 올라가면 **새 입력**이 훈련 범위 안일 확률이 지수적으로 0에 수렴합니다. 100차원이면 사실상 0입니다. 체감 예시 — 센서 20채널에서 채널별로 95% 확률로 범위 안이라 해도, 20개 조합이 전부 안일 확률은 0.95의 20제곱, 36%입니다. 실제 훈련 범위는 그보다 훨씬 좁으니 대부분이 이미 밖입니다. 이미지, 다채널 센서 시계열 — 전부 고차원입니다. 결론: 외삽은 예외 상황이 아니라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왜 불확실해지는지 — 오차를 세 덩어리로 쪼개 봅니다. 왜 쪼개나? 원인마다 대처가 다르기 때문입니다. 잡음 — 측정·센서·환경, 본질적 랜덤, 과녁 비유로 손 떨림, 줄일 수 없습니다. 편향 — 모델 가정·구조가 틀린 체계적 오차, 조준 틀림, 가정을 고치면 줄입니다. 모름 — 데이터가 없어서 예측이 흔들리는 것, 과녁 위치를 모르는 것, 그 구간에 데이터를 모으면 줄일 수 있습니다. 그림 — 음영 안에서는 total error가 작고, 밖으로 가면 주황 '모름'이 폭발합니다. 훈련 범위 밖은 정의상 데이터가 없으니 '모름'만 구조적으로 못 줄입니다. 분해 목적 — 어디서 왜 틀리는지 진단하는 것, 3부 UQ에서 이 신호를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[2.5분] ★ 2부 클라이맥스.</a:t>
            </a:r>
          </a:p>
          <a:p>
            <a:r>
              <a:t>대본: 위 Fig.1부터 — φ는 활성화 함수(activation)입니다. 파란 부분이 훈련 구간, 안에서는 복잡한 타깃을 ReLU MLP가 잘 맞춥니다. 바깥 회색 격자면을 보세요 — 3D 세 장 모두 밖으로 나가면 평평한 plane으로 이어집니다. 타깃 함수만 다르고 밖 거동은 같습니다. 맨 오른쪽 2D는 단면 — sin을 배워도 밖은 직선. 아래 큰 그림도 같은 메시지. Xu 정리 1: ReLU MLP는 멀어지면 방향마다 직선. 외삽 불능이 아니라 '밖은 직선' 가정. Q ReLU만? tanh는 포화, sin/cos는 주기, φ=밖 모양 선언. φ 맞춰도 S09 한계·검증 필요 — S16. 가정을 어차피 하고 있다면, 내가 아는 것으로 골라 넣자.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왜 직선이 되는지 3단으로. 첫째 — 입력이 커지면 각 ReLU 뉴런의 켜짐/꺼짐이 고정됩니다. 둘째 — 켜짐이 고정된 네트워크는 그냥 행렬 곱셈입니다. 셋째 — 행렬 곱을 아무리 쌓아도 직선 하나입니다. 직관적으로: 네트워크의 비선형성은 훈련 범위 근처에만 살고, 멀리서 보면 전부 평평합니다. 2부 정리하겠습니다. 데이터는 함수를 못 정하고, 고차원 테스트는 어차피 대부분 밖이고, 밖에서는 '모름'(불확실성)이 커지고, 신경망조차 밖에서는 직선입니다. 그러니 질문을 바꿔야 합니다 — '외삽이 되나?'가 아니라 '내 모델이 하고 있는 가정이 내 문제와 맞나?'. 가정을 직접 골라서 넣는 방법들, 3부입니다.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3부 전반 — **대응법**입니다. 방법 지도 → 입구(활성화) → EQL·NALU → CMNN → Physics-ML → UQ·기권 → 종합. 검증은 방법을 다 본 뒤 **별도 구간**에서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3부 지도입니다. 가로축 = **내가 아는 사전 지식의 강도**입니다. 왼쪽 끝 — 타깃 함수의 형태를 안다: EQL과 NALU. 올바르면 전 영역에서 유효하고, 가정이 틀리면 전역 실패입니다. 두 번째 — 방향성만 안다: 단조 신경망. 실무에서 가장 흔한 지식 수준입니다. 세 번째 — **물리 지식**: 회귀면 **Physics-ML** (Aykol·Li — feature / physics loss). **PDE+장** u(x,t)만 Raissi **PDE-ML** (부록). 센서→품질 = physics **feature·soft loss** 또는 CMNN·UQ. 오른쪽 끝 — 사전 지식이 없다: 이때는 불확실성(UQ)과 기권(예측 안 함)으로 유보합니다. 순서가 중요합니다. 방법을 먼저 고르는 것이 아니라, 가용 지식이 먼저이고 방법이 뒤따릅니다.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본격적인 방법 전에, 가장 단순한 가정 주입부터 봅니다 — 활성화 함수 교체입니다. Xu의 Fig.5: 타깃이 주기함수일 때 활성화를 cos으로 바꾸면 외삽이 됩니다. tanh 타깃엔 tanh가 됩니다. 반대로 짝이 틀리면 오차가 백 배, 천 배로 뜁니다. 즉 활성화 선택이 곧 '밖은 이런 모양일 것'이라는 선언입니다. 가정에는 대가가 있다 — 이 원리를 들고 방법 1로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1 — 타깃이 '닫힌 수식'이라는 확신이 있는 경우입니다. EQL은 sin, cos, 곱셈 같은 수식 유닛을 뉴런 자리에 심습니다. 학습이 끝나면 네트워크 자체가 하나의 식이 됩니다. 배운 식이 참 식과 같은 족이면, 훈련 구간이 아니라 정의역 '전체'에서 유효합니다 — 아까 MLP가 직선이 되던 것과 정반대입니다. 대가: 유닛 목록에 없는 함수는 아예 표현 못 하고, 희소화 조절이 까다롭고, 고차원·잡음에 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Fig.2 두 장입니다. (a) NAC — +/− 부품. 아래 W 공장에서 W = tanh(Ŵ)⊙σ(M̂)로 w를 ±1,0에 가깝게 만들고, 위에서 y = W·x로 덧셈·뺄셈만 합니다. ×는 선형합으로 불가합니다. (b) NALU — NAC에 log-exp 곱셈 경로(보라)와 게이트 g(빨강)를 더한 완성입니다. y = g·(덧셈)+(1−g)·(곱셈). a+b만이면 (a)로 충분, a×b면 (b)가 필요합니다. 0~10으로 a+b 학습 후 10,000까지 테스트하면 MLP는 오차가 폭발하고 NALU는 평탄합니다. 단, ±1·0 수렴은 목표이지 보장은 아니고, 게이트 불안정·비산술 타깃이면 MLP로 붕괴합니다. 식 전체를 알면 NALU 없이 코드 한 줄이 낫습니다. 방법 1 요약: 함수 모양 가정은 수익도 최대, 리스크도 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2 — 현실적으로 가장 중요한 방법입니다. 수식까진 몰라도 '가격이 오르면 수요는 준다', '충전량이 늘면 전압은 오른다' 같은 방향은 아는 경우가 대부분이죠. 그런데 방향을 강제하는 순진한 방법 — 가중치를 전부 양수로 자르는 것 — 은 그림 (b)처럼 표현력을 죽입니다. 단조는 얻었는데 사실상 직선이 돼서 x³조차 못 맞춥니다. 단조성과 표현력이 상충하는 것처럼 보입니다. 이걸 푸는 게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구조 내장 단조.</a:t>
            </a:r>
          </a:p>
          <a:p>
            <a:r>
              <a:t>대본: Fig.3 한 층. t는 입력 feature마다 +1, −1, 0 중 하나입니다. +1이면 그 입력이 올라갈 때 출력도 올라가야 하고, −1이면 반대, 0이면 그 feature는 단조 제약 없습니다. 배터리 예는 SOC에 +1 — 충전량 올라가면 전압도 올라가야 합니다. |W|_t는 t=±1일 때 가중치 부호만 고정하는 것이지, 가중치 전체 절댓값이 아닙니다. s는 hidden m개를 볼록 ρ̊, 오목 ρ̂, 포화 ρ̃에 나누는 인원표입니다. 예 (4,4,0)이면 볼록 4개, 오목 4개 — x³나 OCV 곡선처럼 양쪽으로 휘는 단조 함수에 씁니다. ReLU만 쓰면 clip+ReLU와 같아서 x³ 왼쪽이 깨집니다. 몇 번째 뉴런이냐로 φ가 정해지지, x 부호로 바뀌지 않습니다. 앞 장 Fig.1 (c)가 이 구조의 결과입니다 — (b) clip+ReLU는 x³ 실패, CMNN은 t+s로 둘 다 잡습니다. 외삽 보장은 t 쪽 **방향**뿐 — 값·곡선은 틀릴 수 있습니다. 다음 장 ③ — CMNN보다 physics **한 단계 더**: dQ/dV feature, thermo/단조 **loss**. 같은 ‘밖에서 이상한 예측’ 문제지만 **넣는 지식·방식**이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Q: 방향만 알면 CMNN 아닌가? — 맞다. ②가 그 경우.</a:t>
            </a:r>
          </a:p>
          <a:p>
            <a:r>
              <a:t>③ Physics-ML은 방향보다 더 안다 — 열화 peak(Li) 또는 법칙 형태(Aykol).</a:t>
            </a:r>
          </a:p>
          <a:p>
            <a:r>
              <a:t>Li: 고 DoD 학습 → 저 DoD 시험. ML 외삽 실패 → dQ/dV peak를 입력에.</a:t>
            </a:r>
          </a:p>
          <a:p>
            <a:r>
              <a:t>Aykol loss: 단조는 CMNN이 더 적합. Arrhenius·열역학 등 형태를 알 때 loss.</a:t>
            </a:r>
          </a:p>
          <a:p>
            <a:r>
              <a:t>Fesser: soft constraint — OOD 밖 구간에서 재검증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</a:t>
            </a:r>
          </a:p>
          <a:p>
            <a:r>
              <a:t>대본: S22 물리 모를 때 — UQ는 경보(숫자+띠), 기권은 차단(예측 없음). 센서 0~10 학습·20 입력 → UQ '5.2 불확실' vs 기권 '예측 안 함'. 고위험: 틀린 숫자 &gt; 기권. Zhu·DeepONet=부록. 다음 — 종합.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핵심 절차 4단계:</a:t>
            </a:r>
          </a:p>
          <a:p>
            <a:r>
              <a:t>① hull 밖 시험 actual 학습 전 분리 (Bartley).</a:t>
            </a:r>
          </a:p>
          <a:p>
            <a:r>
              <a:t>② 지식으로 가정 후보 → 각각 같은 train으로 학습.</a:t>
            </a:r>
          </a:p>
          <a:p>
            <a:r>
              <a:t>③ 같은 밖 시험에 MAPE — train만으론 구분 불가.</a:t>
            </a:r>
          </a:p>
          <a:p>
            <a:r>
              <a:t>④ 제일 잘 맞는 가정·방법 채택 (성능 포함).</a:t>
            </a:r>
          </a:p>
          <a:p>
            <a:r>
              <a:t>주의: 지식 먼저 · 시험 범위 한정 · 시험 없으면 UQ+기권.</a:t>
            </a:r>
          </a:p>
          <a:p>
            <a:r>
              <a:t>위 그림=진단(같은 train·다른 밖). 다음 S25=실무 4단계.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S24 절차를 현장 언어로.</a:t>
            </a:r>
          </a:p>
          <a:p>
            <a:r>
              <a:t>① 범위 ② 가정·방법 ③ 밖 시험 MAPE+UQ ④ 배포/기권.</a:t>
            </a:r>
          </a:p>
          <a:p>
            <a:r>
              <a:t>시험 데이터 없으면 숫자 판단 불가 → UQ+기권.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관통 문장(hero) → 2×2 스토리(①~④) → 필독 3편.</a:t>
            </a:r>
          </a:p>
          <a:p>
            <a:r>
              <a:t>더 읽기: Pfister·Fesser·Zhu·Li. Q&amp;A로.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paper_pdfs/Liu2023_OOD_Generalization_Survey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paper_pdfs/Xu2021_How_Neural_Networks_Extrapolate.pdf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hyperlink" Target="paper_pdfs/Xu2021_How_Neural_Networks_Extrapolate.pdf" TargetMode="Externa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hyperlink" Target="paper_pdfs/Martius2016_Extrapolation_Learning_Equations_EQL.pdf" TargetMode="Externa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hyperlink" Target="paper_pdfs/Trask2018_Neural_Arithmetic_Logic_Units_NALU.pdf" TargetMode="Externa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paper_pdfs/Li2023_Predicting_Battery_Lifetime_Varying_Conditions.pdf" TargetMode="External"/><Relationship Id="rId4" Type="http://schemas.openxmlformats.org/officeDocument/2006/relationships/hyperlink" Target="paper_pdfs/Aykol2021_Physics_ML_Battery_Lifetime.pdf" TargetMode="Externa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paper_pdfs/Ghahramani2013_Bayesian_Nonparametrics.pdf" TargetMode="External"/><Relationship Id="rId4" Type="http://schemas.openxmlformats.org/officeDocument/2006/relationships/hyperlink" Target="paper_pdfs/Zhu2022_Reliable_Extrapolation_DeepONet.pdf" TargetMode="Externa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hyperlink" Target="paper_pdfs/Martius2016_Extrapolation_Learning_Equations_EQL.pdf" TargetMode="External"/><Relationship Id="rId6" Type="http://schemas.openxmlformats.org/officeDocument/2006/relationships/hyperlink" Target="paper_pdfs/Trask2018_Neural_Arithmetic_Logic_Units_NALU.pdf" TargetMode="External"/><Relationship Id="rId7" Type="http://schemas.openxmlformats.org/officeDocument/2006/relationships/hyperlink" Target="paper_pdfs/Runje2023_Constrained_Monotonic_NN.pdf" TargetMode="External"/><Relationship Id="rId8" Type="http://schemas.openxmlformats.org/officeDocument/2006/relationships/hyperlink" Target="paper_pdfs/Aykol2021_Physics_ML_Battery_Lifetime.pdf" TargetMode="External"/><Relationship Id="rId9" Type="http://schemas.openxmlformats.org/officeDocument/2006/relationships/hyperlink" Target="paper_pdfs/Li2023_Predicting_Battery_Lifetime_Varying_Conditions.pdf" TargetMode="External"/><Relationship Id="rId10" Type="http://schemas.openxmlformats.org/officeDocument/2006/relationships/hyperlink" Target="paper_pdfs/Raissi2019_Physics_Informed_Neural_Networks.pdf" TargetMode="External"/><Relationship Id="rId11" Type="http://schemas.openxmlformats.org/officeDocument/2006/relationships/hyperlink" Target="paper_pdfs/Fesser2023_Extrapolation_Failures_PINNs.pdf" TargetMode="External"/><Relationship Id="rId12" Type="http://schemas.openxmlformats.org/officeDocument/2006/relationships/hyperlink" Target="paper_pdfs/Ghahramani2013_Bayesian_Nonparametrics.pdf" TargetMode="External"/><Relationship Id="rId13" Type="http://schemas.openxmlformats.org/officeDocument/2006/relationships/hyperlink" Target="paper_pdfs/Zhu2022_Reliable_Extrapolation_DeepONet.pdf" TargetMode="External"/><Relationship Id="rId14" Type="http://schemas.openxmlformats.org/officeDocument/2006/relationships/hyperlink" Target="paper_pdfs/&#50808;&#49341;_&#50756;&#51204;&#51221;&#48373;_&#54617;&#49845;&#45432;&#53944;.pdf" TargetMode="External"/><Relationship Id="rId1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연속값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정의  ·  2부 실패  ·  3부 대응 → 종합 → 검증 → </a:t>
            </a:r>
            <a:r>
              <a:rPr sz="1500" b="1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ree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 · 검증 · 실무 (25분)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대응법 — 지식별 가정 4종 (EQL·CMNN·Physics-ML·UQ)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종합·검증 — 밖 시험 · MAPE · baseline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4단계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정의 · 실패 · 대응 · 검증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실무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ssumption_d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24128"/>
            <a:ext cx="6726115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하나로 보임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(어떤 가정인지 데이터만으론 불명)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x&gt;2 밖 — 가정 A·B·C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마다 예측 전부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≠ 세 모델을 동시에 fit · = 같은 데이터·다른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대표 사례: 내부 적합과 외부 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ood_vs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train과 test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⊂ OOD인 경우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동일 개념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— '분포가 다른가?'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—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훈련 범위 밖인가?'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· 밖 —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22452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넘으면 급격히 벗어남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오차가 더 커진다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ull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기본 상황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152144"/>
            <a:ext cx="385876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측정 한계 — 어디서나 비슷 · 줄이기 어려움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모델·가정 문제 — 구조를 바꾸면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 부족 — 해당 구간 데이터를 모으면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3831336"/>
            <a:ext cx="385876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범위 밖에서는 '모름'(epistemic)만 구조적으로 커짐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fig_xu_sin_tan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798064"/>
            <a:ext cx="6373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3447288"/>
            <a:ext cx="422452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NN이 외삽을 '못' 하는 것이 아니라 밖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이미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활성화마다 밖 가정이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051560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14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'외삽 되나?' 대신 '모델 가정이 문제에 맞는가?'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18분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우선, 방법 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① 함수(EQL·NALU)  ② 방향(CMNN)  ③ 물리  ④ UQ·기권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데이터, 다른 가정 · 선택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ssumpt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(PDE-ML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— ①~④ 방법 · 종합 · (이후)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fig_activation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fig_eql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922776"/>
            <a:ext cx="4681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fig_nalu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4105655"/>
            <a:ext cx="468172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 수준으로 퇴화 · y=a+b 알면 코드가 나음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단순 강제는 표현력을 희생한다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73030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648456"/>
            <a:ext cx="63733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직선에 가까워짐 — x³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표현력이 저하됨 —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 실패 — 표현력 저하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방향을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구조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 · Physics loss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· Physics-ML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방향(② CMNN)보다 더 아는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hysics_los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uq_aleatoric_epist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'품질 5.2 (불확실↑)' · 기권: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재측정'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 영역: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숫자 1번 &gt; 기권 1번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분리 → 가정 후보 →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MAPE로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2402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metho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48872" cy="22535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hull 밖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Conv(X_train)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시험 actual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·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min–max로는 부족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 후보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모름→UQ · 후보마다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train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밖 시험 MAPE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actual에 MAPE/RMSE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동일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튜닝·데이터 동일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채택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가정·방법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Li: EQL vs MLP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시험 없음 → UQ+기권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654296"/>
            <a:ext cx="11548872" cy="47548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745736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· 밖 시험은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 · 더 먼 밖→UQ/기권  ③ 시험 없으면 MAPE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84648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84648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→ 후보별 MAPE →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최적 가정 선택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· 시험 없음 →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UQ/기권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네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3317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closing_pr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48872" cy="24244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범위와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현장(운영)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범위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가정·방법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 · 모름→UQ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성능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동일 조건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오차·불확실성 OK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해당 구간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45736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45736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79145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검증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→ 배포 또는 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— 오늘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65992" cy="749808"/>
          </a:xfrm>
          <a:prstGeom prst="roundRect">
            <a:avLst>
              <a:gd name="adj" fmla="val 5000"/>
            </a:avLst>
          </a:prstGeom>
          <a:solidFill>
            <a:srgbClr val="0C121A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train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밖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은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데이터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가 아니라 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가정</a:t>
            </a: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</a:rPr>
              <a:t>이 지탱한다</a:t>
            </a:r>
          </a:p>
          <a:p>
            <a:pPr algn="ctr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“외삽 되나?” → </a:t>
            </a:r>
            <a:r>
              <a:rPr sz="1300" b="1">
                <a:solidFill>
                  <a:srgbClr val="B8C4D0"/>
                </a:solidFill>
                <a:latin typeface="Apple SD Gothic Neo"/>
                <a:ea typeface="Apple SD Gothic Neo"/>
              </a:rPr>
              <a:t>가정</a:t>
            </a: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이 맞고 · </a:t>
            </a:r>
            <a:r>
              <a:rPr sz="1300" b="1">
                <a:solidFill>
                  <a:srgbClr val="B8C4D0"/>
                </a:solidFill>
                <a:latin typeface="Apple SD Gothic Neo"/>
                <a:ea typeface="Apple SD Gothic Neo"/>
              </a:rPr>
              <a:t>밖에서 시험</a:t>
            </a: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3852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38528"/>
            <a:ext cx="54864" cy="10789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6654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1부 ·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 회귀 · 분류 DG와 다름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0712590680" y="193852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0712590680" y="1938528"/>
            <a:ext cx="54864" cy="107899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0712791848" y="206654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2부 ·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데이터만으론 밖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모양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못 정함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NN도 밖에선 직선 · 불확실성↑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2724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127248"/>
            <a:ext cx="54864" cy="10789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25526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3부 ·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아는 만큼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넣는다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식 · 방향 · 물리 · 모르면 UQ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0712590680" y="3127248"/>
            <a:ext cx="5559552" cy="10789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00712590680" y="3127248"/>
            <a:ext cx="54864" cy="107899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712791848" y="3255264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실무 ·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holdout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확인 후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못 믿으면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필독 3편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90288"/>
            <a:ext cx="54864" cy="98755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진단 · Xu 2021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ReLU·직선화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밖에서 깨지나</a:t>
            </a:r>
          </a:p>
        </p:txBody>
      </p:sp>
      <p:sp>
        <p:nvSpPr>
          <p:cNvPr id="25" name="Rounded Rectangle 24">
            <a:hlinkClick r:id="rId2"/>
          </p:cNvPr>
          <p:cNvSpPr/>
          <p:nvPr/>
        </p:nvSpPr>
        <p:spPr>
          <a:xfrm>
            <a:off x="30632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48451346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4845134680" y="4590288"/>
            <a:ext cx="54864" cy="9875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48453358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처방 · Runje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가정을 구조에</a:t>
            </a:r>
          </a:p>
        </p:txBody>
      </p:sp>
      <p:sp>
        <p:nvSpPr>
          <p:cNvPr id="29" name="Rounded Rectangle 28">
            <a:hlinkClick r:id="rId3"/>
          </p:cNvPr>
          <p:cNvSpPr/>
          <p:nvPr/>
        </p:nvSpPr>
        <p:spPr>
          <a:xfrm>
            <a:off x="34448477864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9689857880" y="4590288"/>
            <a:ext cx="3639312" cy="9875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89689857880" y="4590288"/>
            <a:ext cx="54864" cy="9875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9690059048" y="4718304"/>
            <a:ext cx="3291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검증 ·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hull·고차원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인지 판정</a:t>
            </a:r>
          </a:p>
        </p:txBody>
      </p:sp>
      <p:sp>
        <p:nvSpPr>
          <p:cNvPr id="33" name="Rounded Rectangle 32">
            <a:hlinkClick r:id="rId4"/>
          </p:cNvPr>
          <p:cNvSpPr/>
          <p:nvPr/>
        </p:nvSpPr>
        <p:spPr>
          <a:xfrm>
            <a:off x="6889692509640" y="5248656"/>
            <a:ext cx="841248" cy="27432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74243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74243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78815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맞추기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시험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· UQ/기권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