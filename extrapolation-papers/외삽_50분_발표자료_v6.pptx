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[30초]</a:t>
            </a:r>
          </a:p>
          <a:p>
            <a:r>
              <a:t>대본: 오늘은 **회귀 외삽** — 연속값 y, 센서→품질 같은 tabular·시계열. 분류·domain generalization(OOD)은 범위 밖. 네 파트: 정의, 실패 원인, 대응법, 성능 검증. 결론 미리 — 밖을 지탱하는 건 데이터가 아니라 **가정**.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대본: 위 세 상자가 목차입니다. 1부 — **외삽 정의**(보간 vs 외삽, 훈련 범위). 2부 — **외삽 실패 원인** 네 가지(데이터·차원·불확실성·ReLU). 3부 — **외삽 대응법**(가정 넣기)과 **외삽 성능 검증**(주장이 맞는지 확인). 다음 장에서 핵심 용어 '가정'을 정의합니다.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★ 용어 장 — 반드시 천천히.</a:t>
            </a:r>
          </a:p>
          <a:p>
            <a:r>
              <a:t>대본: '가정'이 오늘 키워드입니다. 왼쪽 그림 — 훈련점(●)은 전부 같습니다. 가정 A(선형)·B(지수)·C(비선형)만 바꾸면 x&gt;2 밖에서 곡선이 완전히 달라집니다. 오른쪽 ① 정의, ② 왜 필요(Pfister), ③ 주입 위치. 아래 ④ 그림 해석. 이후 '가정을 넣는다'는 이 뜻으로만 쓰겠습니다.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[20초]</a:t>
            </a:r>
          </a:p>
          <a:p>
            <a:r>
              <a:t>대본: 1부입니다. 먼저 OOD와 외삽 — 헷갈리기 쉬운 두 단어. 이 발표는 **외삽** 좌표계에 집중합니다. 그다음 보간/외삽, hull, 사례. 5분입니다.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대본: 1부 시작 — OOD와 외삽부터. **왼쪽 그림 (a)** — OOD. train과 test **분포**가 다릅니다. 오른쪽 꼬리 query는 train이 본 적 없는 영역 — OOD. **오른쪽 그림 (b)** — 외삽. 훈련 점들의 convex hull 안/밖으로 판별. ★ 표시는 hull **밖** extrap — 오늘의 좌표. 보라 ■는 hull **안**인데 concept shift — OOD지만 extrap 판별은 안 됩니다. extrap은 종종 OOD 안쪽이지만, OOD 전체가 extrap은 아닙니다. 오늘 50분은 **회귀 외삽** — hull·연속 y·가정. IRM·DomainBed는 **분류 DG** 쪽 — 오늘 범위 밖. 다음 장 보간/외삽.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대본: 정의부터. 외삽은 '훈련 범위 밖에서의 예측'입니다. 왼쪽 그림 — 같은 모델인데 **예측할 입력**이 훈련 범위 안이면 보간, 밖이면 외삽입니다. 그래서 '모델이 외삽되나?'가 아니라 '**지금 넣는 입력이 범위 밖인가?**'가 먼저입니다. 적용 예 — 키 160~180으로 학습한 몸무게 모델에 175를 물으면 보간, 195를 물으면 외삽입니다. 여름 데이터로 겨울 수요를 예측하는 것도 외삽입니다 — 시간축도 똑같습니다. 약속 하나: 오늘 모든 그림에서 음영이 훈련 범위, 그 밖이 외삽 영역입니다.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대본: 오른쪽 네 단계입니다. ① 개념 — 훈련 row(●)들을 고무줄로 감싼 영역, 외곽+안. ② 수식 — Conv(X_train) = Σ α_i x_i, α_i ≥ 0, Σ α_i = 1. ③ 의미 — hull 안=보간, 밖=외삽. Σ=1은 섞기 100%라 고무줄 안만. ④ 왜 정의? — '범위 밖'을 느낌이 아니라 수학으로 판정해야 3부 검증이 됩니다. min/max나 '비슷해 보여'로는 부족합니다. 왼쪽 함정 — 변수별로는 범위 안인데 조합은 hull 밖일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대본: 밖에서 무슨 일이 생기는지 대표 사례입니다. 4차 다항식이 훈련 구간 안에서는 사실상 완벽합니다 — 오차가 0에 가깝습니다. 그런데 경계를 넘는 순간 폭발합니다. 차수를 높이면 안은 더 잘 맞는데 밖은 더 크게 터집니다. 여기서 교훈 하나만 새기고 2부로 갑니다: '안에서 잘 맞는다'와 '밖에서 맞는다'는 서로 다른 질문이다. 왜 다른 질문일 수밖에 없는지 — 그게 2부입니다.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[20초]</a:t>
            </a:r>
          </a:p>
          <a:p>
            <a:r>
              <a:t>대본: 2부, **외삽 실패 원인**입니다. '한계'가 아니라 — 밖에서 왜 틀리는지 네 가지. 식별 불가(데이터만으론 못 고름), 고차원에서 범위 밖, 밖에서 불확실성 폭발, ReLU 직선. 하나씩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★ 발표 전체에서 가장 중요한 장.</a:t>
            </a:r>
          </a:p>
          <a:p>
            <a:r>
              <a:t>대본: 첫 번째 이유이자 오늘의 심장입니다. 그림 — 직선 가설과 지수 가설, 훈련 구간(OBSERVED) 안에서는 둘 다 ●를 통과합니다. 구분이 안 됩니다. 밖(UNIDENTIFIED)으로 나가는 순간 전부 다른 답을 냅니다. 아무 함수나 맞는 게 아니라, 훈련점을 지나는 가설이 (원칙적으로) 무한히 많다는 뜻입니다. 그럼 데이터를 더 모으면 되지 않나? — 훈련 범위 안에서만 늘어나면 소용없습니다. Pfister 2024: 범위 밖 추론은 추가 가정 없이는 원리적으로 불가능. 배터리 예 — 100사이클까지 선형·지수 열화 둘 다 완벽 적합, 500사이클 수명은 2배 차이. 데이터는 어느 쪽인지 말해주지 않습니다. 밖을 지탱하는 것은 데이터가 아니라 가정입니다.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대본: 두 번째 이유 — 규모의 문제입니다. '데이터가 충분히 많으니 테스트는 범위 안이겠지'라고 생각하기 쉽습니다. 2차원에서는 맞는 직관입니다, 왼쪽 그림처럼 훈련 범위가 꽤 넓거든요. 그런데 오른쪽 곡선 — 차원이 올라가면 **새 입력**이 훈련 범위 안일 확률이 지수적으로 0에 수렴합니다. 100차원이면 사실상 0입니다. 체감 예시 — 센서 20채널에서 채널별로 95% 확률로 범위 안이라 해도, 20개 조합이 전부 안일 확률은 0.95의 20제곱, 36%입니다. 실제 훈련 범위는 그보다 훨씬 좁으니 대부분이 이미 밖입니다. 이미지, 다채널 센서 시계열 — 전부 고차원입니다. 결론: 외삽은 예외 상황이 아니라 기본값입니다.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대본: 밖에서 왜 불확실해지는지 — 오차를 세 덩어리로 쪼개 봅니다. 왜 쪼개나? 원인마다 대처가 다르기 때문입니다. 잡음 — 측정·센서·환경, 본질적 랜덤, 과녁 비유로 손 떨림, 줄일 수 없습니다. 편향 — 모델 가정·구조가 틀린 체계적 오차, 조준 틀림, 가정을 고치면 줄입니다. 모름 — 데이터가 없어서 예측이 흔들리는 것, 과녁 위치를 모르는 것, 그 구간에 데이터를 모으면 줄일 수 있습니다. 그림 — 음영 안에서는 total error가 작고, 밖으로 가면 주황 '모름'이 폭발합니다. 훈련 범위 밖은 정의상 데이터가 없으니 '모름'만 구조적으로 못 줄입니다. 분해 목적 — 어디서 왜 틀리는지 진단하는 것, 3부 UQ에서 이 신호를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[2.5분] ★ 2부 클라이맥스.</a:t>
            </a:r>
          </a:p>
          <a:p>
            <a:r>
              <a:t>대본: 위 Fig.1부터 — φ는 활성화 함수(activation)입니다. 파란 부분이 훈련 구간, 안에서는 복잡한 타깃을 ReLU MLP가 잘 맞춥니다. 바깥 회색 격자면을 보세요 — 3D 세 장 모두 밖으로 나가면 평평한 plane으로 이어집니다. 타깃 함수만 다르고 밖 거동은 같습니다. 맨 오른쪽 2D는 단면 — sin을 배워도 밖은 직선. 아래 큰 그림도 같은 메시지. Xu 정리 1: ReLU MLP는 멀어지면 방향마다 직선. 외삽 불능이 아니라 '밖은 직선' 가정. Q ReLU만? tanh는 포화, sin/cos는 주기, φ=밖 모양 선언. φ 맞춰도 S09 한계·검증 필요 — S16. 가정을 어차피 하고 있다면, 내가 아는 것으로 골라 넣자.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대본: 왜 직선이 되는지 3단으로. 첫째 — 입력이 커지면 각 ReLU 뉴런의 켜짐/꺼짐이 고정됩니다. 둘째 — 켜짐이 고정된 네트워크는 그냥 행렬 곱셈입니다. 셋째 — 행렬 곱을 아무리 쌓아도 직선 하나입니다. 직관적으로: 네트워크의 비선형성은 훈련 범위 근처에만 살고, 멀리서 보면 전부 평평합니다. 2부 정리하겠습니다. 데이터는 함수를 못 정하고, 고차원 테스트는 어차피 대부분 밖이고, 밖에서는 '모름'(불확실성)이 커지고, 신경망조차 밖에서는 직선입니다. 그러니 질문을 바꿔야 합니다 — '외삽이 되나?'가 아니라 '내 모델이 하고 있는 가정이 내 문제와 맞나?'. 가정을 직접 골라서 넣는 방법들, 3부입니다.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[20초]</a:t>
            </a:r>
          </a:p>
          <a:p>
            <a:r>
              <a:t>대본: 3부 전반 — **대응법**입니다. 방법 지도 → 입구(활성화) → EQL·NALU → CMNN → Physics-ML → UQ·기권 → 종합. 검증은 방법을 다 본 뒤 **별도 구간**에서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대본: 3부 지도입니다. 가로축 = **내가 아는 사전 지식의 강도**입니다. 왼쪽 끝 — 타깃 함수의 형태를 안다: EQL과 NALU. 올바르면 전 영역에서 유효하고, 가정이 틀리면 전역 실패입니다. 두 번째 — 방향성만 안다: 단조 신경망. 실무에서 가장 흔한 지식 수준입니다. 세 번째 — **물리 지식**: 회귀면 **Physics-ML** (Aykol·Li — feature / physics loss). **PDE+장** u(x,t)만 Raissi **PDE-ML** (부록). 센서→품질 = physics **feature·soft loss** 또는 CMNN·UQ. 오른쪽 끝 — 사전 지식이 없다: 이때는 불확실성(UQ)과 기권(예측 안 함)으로 유보합니다. 순서가 중요합니다. 방법을 먼저 고르는 것이 아니라, 가용 지식이 먼저이고 방법이 뒤따릅니다.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</a:t>
            </a:r>
          </a:p>
          <a:p>
            <a:r>
              <a:t>대본: 본격적인 방법 전에, 가장 단순한 가정 주입부터 봅니다 — 활성화 함수 교체입니다. Xu의 Fig.5: 타깃이 주기함수일 때 활성화를 cos으로 바꾸면 외삽이 됩니다. tanh 타깃엔 tanh가 됩니다. 반대로 짝이 틀리면 오차가 백 배, 천 배로 뜁니다. 즉 활성화 선택이 곧 '밖은 이런 모양일 것'이라는 선언입니다. 가정에는 대가가 있다 — 이 원리를 들고 방법 1로 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</a:t>
            </a:r>
          </a:p>
          <a:p>
            <a:r>
              <a:t>대본: 방법 1 — 타깃이 '닫힌 수식'이라는 확신이 있는 경우입니다. EQL은 sin, cos, 곱셈 같은 수식 유닛을 뉴런 자리에 심습니다. 학습이 끝나면 네트워크 자체가 하나의 식이 됩니다. 배운 식이 참 식과 같은 족이면, 훈련 구간이 아니라 정의역 '전체'에서 유효합니다 — 아까 MLP가 직선이 되던 것과 정반대입니다. 대가: 유닛 목록에 없는 함수는 아예 표현 못 하고, 희소화 조절이 까다롭고, 고차원·잡음에 약합니다.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</a:t>
            </a:r>
          </a:p>
          <a:p>
            <a:r>
              <a:t>대본: Fig.2 두 장입니다. (a) NAC — +/− 부품. 아래 W 공장에서 W = tanh(Ŵ)⊙σ(M̂)로 w를 ±1,0에 가깝게 만들고, 위에서 y = W·x로 덧셈·뺄셈만 합니다. ×는 선형합으로 불가합니다. (b) NALU — NAC에 log-exp 곱셈 경로(보라)와 게이트 g(빨강)를 더한 완성입니다. y = g·(덧셈)+(1−g)·(곱셈). a+b만이면 (a)로 충분, a×b면 (b)가 필요합니다. 0~10으로 a+b 학습 후 10,000까지 테스트하면 MLP는 오차가 폭발하고 NALU는 평탄합니다. 단, ±1·0 수렴은 목표이지 보장은 아니고, 게이트 불안정·비산술 타깃이면 MLP로 붕괴합니다. 식 전체를 알면 NALU 없이 코드 한 줄이 낫습니다. 방법 1 요약: 함수 모양 가정은 수익도 최대, 리스크도 최대입니다.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</a:t>
            </a:r>
          </a:p>
          <a:p>
            <a:r>
              <a:t>대본: 방법 2 — 현실적으로 가장 중요한 방법입니다. 수식까진 몰라도 '가격이 오르면 수요는 준다', '충전량이 늘면 전압은 오른다' 같은 방향은 아는 경우가 대부분이죠. 그런데 방향을 강제하는 순진한 방법 — 가중치를 전부 양수로 자르는 것 — 은 그림 (b)처럼 표현력을 죽입니다. 단조는 얻었는데 사실상 직선이 돼서 x³조차 못 맞춥니다. 단조성과 표현력이 상충하는 것처럼 보입니다. 이걸 푸는 게 다음 장입니다.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★ 구조 내장 단조.</a:t>
            </a:r>
          </a:p>
          <a:p>
            <a:r>
              <a:t>대본: Fig.3 한 층. t는 입력 feature마다 +1, −1, 0 중 하나입니다. +1이면 그 입력이 올라갈 때 출력도 올라가야 하고, −1이면 반대, 0이면 그 feature는 단조 제약 없습니다. 배터리 예는 SOC에 +1 — 충전량 올라가면 전압도 올라가야 합니다. |W|_t는 t=±1일 때 가중치 부호만 고정하는 것이지, 가중치 전체 절댓값이 아닙니다. s는 hidden m개를 볼록 ρ̊, 오목 ρ̂, 포화 ρ̃에 나누는 인원표입니다. 예 (4,4,0)이면 볼록 4개, 오목 4개 — x³나 OCV 곡선처럼 양쪽으로 휘는 단조 함수에 씁니다. ReLU만 쓰면 clip+ReLU와 같아서 x³ 왼쪽이 깨집니다. 몇 번째 뉴런이냐로 φ가 정해지지, x 부호로 바뀌지 않습니다. 앞 장 Fig.1 (c)가 이 구조의 결과입니다 — (b) clip+ReLU는 x³ 실패, CMNN은 t+s로 둘 다 잡습니다. 외삽 보장은 t 쪽 **방향**뿐 — 값·곡선은 틀릴 수 있습니다. 다음 장 ③ — CMNN보다 physics **한 단계 더**: dQ/dV feature, thermo/단조 **loss**. 같은 ‘밖에서 이상한 예측’ 문제지만 **넣는 지식·방식**이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[2.5분]</a:t>
            </a:r>
          </a:p>
          <a:p>
            <a:r>
              <a:t>Q: 방향만 알면 CMNN 아닌가? — 맞다. ②가 그 경우.</a:t>
            </a:r>
          </a:p>
          <a:p>
            <a:r>
              <a:t>③ Physics-ML은 방향보다 더 안다 — 열화 peak(Li) 또는 법칙 형태(Aykol).</a:t>
            </a:r>
          </a:p>
          <a:p>
            <a:r>
              <a:t>Li: 고 DoD 학습 → 저 DoD 시험. ML 외삽 실패 → dQ/dV peak를 입력에.</a:t>
            </a:r>
          </a:p>
          <a:p>
            <a:r>
              <a:t>Aykol loss: 단조는 CMNN이 더 적합. Arrhenius·열역학 등 형태를 알 때 loss.</a:t>
            </a:r>
          </a:p>
          <a:p>
            <a:r>
              <a:t>Fesser: soft constraint — OOD 밖 구간에서 재검증 필수.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</a:t>
            </a:r>
          </a:p>
          <a:p>
            <a:r>
              <a:t>대본: S22 물리 모를 때 — UQ는 경보(숫자+띠), 기권은 차단(예측 없음). 센서 0~10 학습·20 입력 → UQ '5.2 불확실' vs 기권 '예측 안 함'. 고위험: 틀린 숫자 &gt; 기권. Zhu·DeepONet=부록. 다음 — 종합.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</a:t>
            </a:r>
          </a:p>
          <a:p>
            <a:r>
              <a:t>핵심 절차 4단계:</a:t>
            </a:r>
          </a:p>
          <a:p>
            <a:r>
              <a:t>① hull 밖 시험 actual 학습 전 분리 (Bartley).</a:t>
            </a:r>
          </a:p>
          <a:p>
            <a:r>
              <a:t>② 지식으로 가정 후보 → 각각 같은 train으로 학습.</a:t>
            </a:r>
          </a:p>
          <a:p>
            <a:r>
              <a:t>③ 같은 밖 시험에 MAPE — train만으론 구분 불가.</a:t>
            </a:r>
          </a:p>
          <a:p>
            <a:r>
              <a:t>④ 제일 잘 맞는 가정·방법 채택 (성능 포함).</a:t>
            </a:r>
          </a:p>
          <a:p>
            <a:r>
              <a:t>주의: 지식 먼저 · 시험 범위 한정 · 시험 없으면 UQ+기권.</a:t>
            </a:r>
          </a:p>
          <a:p>
            <a:r>
              <a:t>위 그림=진단(같은 train·다른 밖). 다음 S25=실무 4단계.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</a:t>
            </a:r>
          </a:p>
          <a:p>
            <a:r>
              <a:t>S24 절차를 현장 언어로.</a:t>
            </a:r>
          </a:p>
          <a:p>
            <a:r>
              <a:t>① 범위 ② 가정·방법 ③ 밖 시험 MAPE+UQ ④ 배포/기권.</a:t>
            </a:r>
          </a:p>
          <a:p>
            <a:r>
              <a:t>시험 데이터 없으면 숫자 판단 불가 → UQ+기권.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[1.5분]</a:t>
            </a:r>
          </a:p>
          <a:p>
            <a:r>
              <a:t>관통 문장 → 4파트 스토리(화살표) → 질문 리프레임 → 필독 3칩.</a:t>
            </a:r>
          </a:p>
          <a:p>
            <a:r>
              <a:t>더 읽기: Pfister·Fesser·Zhu·Li. Q&amp;A로.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[Q&amp;A]</a:t>
            </a:r>
          </a:p>
          <a:p>
            <a:r>
              <a:t>예상 질문 대비:</a:t>
            </a:r>
          </a:p>
          <a:p>
            <a:r>
              <a:t>Q. '데이터를 엄청 키우면 (foundation model) 해결 안 되나?' → 범위가 커질 뿐 범위 밖은 여전히 존재. 함수를 못 정하는 건 데이터 양이 아니라 범위의 문제.</a:t>
            </a:r>
          </a:p>
          <a:p>
            <a:r>
              <a:t>Q. 'ReLU 말고 다른 활성화면?' → Xu Fig.5 — 밖의 모양이 바뀔 뿐 '가정이 생긴다'는 구조는 동일.</a:t>
            </a:r>
          </a:p>
          <a:p>
            <a:r>
              <a:t>Q. '단조 가정이 틀린 데이터면?' → 방법 1과 같은 리스크. 그래서 검증 + 민감도 확인이 필수.</a:t>
            </a:r>
          </a:p>
          <a:p>
            <a:r>
              <a:t>Q. 'IRM·DomainBed는?' → **분류 domain generalization**. 회귀 extrap 본문 **범위 밖**. baseline 공정 비교 **교훈만** 차용.</a:t>
            </a:r>
          </a:p>
          <a:p>
            <a:r>
              <a:t>Q. '분류 extrap은?' → reject/OOD — **별도** 주제 (INDEX 참고).</a:t>
            </a:r>
          </a:p>
          <a:p>
            <a:r>
              <a:t>Q. 'Physics-ML/PDE-ML 실패는 해결됐나?' → 완화책은 있으나 '검증 별도' 원칙은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paper_pdfs/Liu2023_OOD_Generalization_Survey.pdf" TargetMode="External"/><Relationship Id="rId4" Type="http://schemas.openxmlformats.org/officeDocument/2006/relationships/hyperlink" Target="paper_pdfs/Bartley2019_Characterizing_Extrapolation_Multivariate.pdf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paper_pdfs/Bartley2019_Characterizing_Extrapolation_Multivariate.pdf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paper_pdfs/Pfister2024_Extrapolation-Aware_Nonparametric_Inference.pdf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paper_pdfs/Bartley2019_Characterizing_Extrapolation_Multivariate.pdf" TargetMode="Externa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hyperlink" Target="paper_pdfs/Xu2021_How_Neural_Networks_Extrapolate.pdf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hyperlink" Target="paper_pdfs/Xu2021_How_Neural_Networks_Extrapolate.pdf" TargetMode="External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hyperlink" Target="paper_pdfs/Martius2016_Extrapolation_Learning_Equations_EQL.pdf" TargetMode="External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hyperlink" Target="paper_pdfs/Trask2018_Neural_Arithmetic_Logic_Units_NALU.pdf" TargetMode="Externa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paper_pdfs/Runje2023_Constrained_Monotonic_NN.pdf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paper_pdfs/Runje2023_Constrained_Monotonic_NN.pdf" TargetMode="Externa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paper_pdfs/Li2023_Predicting_Battery_Lifetime_Varying_Conditions.pdf" TargetMode="External"/><Relationship Id="rId4" Type="http://schemas.openxmlformats.org/officeDocument/2006/relationships/hyperlink" Target="paper_pdfs/Aykol2021_Physics_ML_Battery_Lifetime.pdf" TargetMode="External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paper_pdfs/Ghahramani2013_Bayesian_Nonparametrics.pdf" TargetMode="External"/><Relationship Id="rId4" Type="http://schemas.openxmlformats.org/officeDocument/2006/relationships/hyperlink" Target="paper_pdfs/Zhu2022_Reliable_Extrapolation_DeepONet.pdf" TargetMode="Externa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paper_pdfs/Bartley2019_Characterizing_Extrapolation_Multivariate.pdf" TargetMode="Externa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paper_pdfs/Xu2021_How_Neural_Networks_Extrapolate.pdf" TargetMode="External"/><Relationship Id="rId3" Type="http://schemas.openxmlformats.org/officeDocument/2006/relationships/hyperlink" Target="paper_pdfs/Runje2023_Constrained_Monotonic_NN.pdf" TargetMode="External"/><Relationship Id="rId4" Type="http://schemas.openxmlformats.org/officeDocument/2006/relationships/hyperlink" Target="paper_pdfs/Bartley2019_Characterizing_Extrapolation_Multivariate.pdf" TargetMode="External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paper_pdfs/Xu2021_How_Neural_Networks_Extrapolate.pdf" TargetMode="External"/><Relationship Id="rId3" Type="http://schemas.openxmlformats.org/officeDocument/2006/relationships/hyperlink" Target="paper_pdfs/Pfister2024_Extrapolation-Aware_Nonparametric_Inference.pdf" TargetMode="External"/><Relationship Id="rId4" Type="http://schemas.openxmlformats.org/officeDocument/2006/relationships/hyperlink" Target="paper_pdfs/Bartley2019_Characterizing_Extrapolation_Multivariate.pdf" TargetMode="External"/><Relationship Id="rId5" Type="http://schemas.openxmlformats.org/officeDocument/2006/relationships/hyperlink" Target="paper_pdfs/Martius2016_Extrapolation_Learning_Equations_EQL.pdf" TargetMode="External"/><Relationship Id="rId6" Type="http://schemas.openxmlformats.org/officeDocument/2006/relationships/hyperlink" Target="paper_pdfs/Trask2018_Neural_Arithmetic_Logic_Units_NALU.pdf" TargetMode="External"/><Relationship Id="rId7" Type="http://schemas.openxmlformats.org/officeDocument/2006/relationships/hyperlink" Target="paper_pdfs/Runje2023_Constrained_Monotonic_NN.pdf" TargetMode="External"/><Relationship Id="rId8" Type="http://schemas.openxmlformats.org/officeDocument/2006/relationships/hyperlink" Target="paper_pdfs/Aykol2021_Physics_ML_Battery_Lifetime.pdf" TargetMode="External"/><Relationship Id="rId9" Type="http://schemas.openxmlformats.org/officeDocument/2006/relationships/hyperlink" Target="paper_pdfs/Li2023_Predicting_Battery_Lifetime_Varying_Conditions.pdf" TargetMode="External"/><Relationship Id="rId10" Type="http://schemas.openxmlformats.org/officeDocument/2006/relationships/hyperlink" Target="paper_pdfs/Raissi2019_Physics_Informed_Neural_Networks.pdf" TargetMode="External"/><Relationship Id="rId11" Type="http://schemas.openxmlformats.org/officeDocument/2006/relationships/hyperlink" Target="paper_pdfs/Fesser2023_Extrapolation_Failures_PINNs.pdf" TargetMode="External"/><Relationship Id="rId12" Type="http://schemas.openxmlformats.org/officeDocument/2006/relationships/hyperlink" Target="paper_pdfs/Ghahramani2013_Bayesian_Nonparametrics.pdf" TargetMode="External"/><Relationship Id="rId13" Type="http://schemas.openxmlformats.org/officeDocument/2006/relationships/hyperlink" Target="paper_pdfs/Zhu2022_Reliable_Extrapolation_DeepONet.pdf" TargetMode="External"/><Relationship Id="rId14" Type="http://schemas.openxmlformats.org/officeDocument/2006/relationships/hyperlink" Target="paper_pdfs/&#50808;&#49341;_&#50756;&#51204;&#51221;&#48373;_&#54617;&#49845;&#45432;&#53944;.pdf" TargetMode="External"/><Relationship Id="rId1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21808"/>
            <a:ext cx="12191695" cy="73152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8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D6C6"/>
                </a:solidFill>
                <a:latin typeface="Apple SD Gothic Neo"/>
                <a:ea typeface="Apple SD Gothic Neo"/>
              </a:rPr>
              <a:t>논문 기반 세미나  ·  50분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ple SD Gothic Neo"/>
                <a:ea typeface="Apple SD Gothic Neo"/>
              </a:rPr>
              <a:t>회귀 외삽 (Regression Extrapolation)
훈련 범위 밖 </a:t>
            </a:r>
            <a:r>
              <a:rPr sz="3200" b="1">
                <a:solidFill>
                  <a:srgbClr val="FFFFFF"/>
                </a:solidFill>
                <a:latin typeface="Apple SD Gothic Neo"/>
                <a:ea typeface="Apple SD Gothic Neo"/>
              </a:rPr>
              <a:t>연속값</a:t>
            </a:r>
            <a:r>
              <a:rPr sz="3200" b="1">
                <a:solidFill>
                  <a:srgbClr val="FFFFFF"/>
                </a:solidFill>
                <a:latin typeface="Apple SD Gothic Neo"/>
                <a:ea typeface="Apple SD Gothic Neo"/>
              </a:rPr>
              <a:t> 예측 — 정의 · 실패 원인 · 대응법 · 성능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8C4D0"/>
                </a:solidFill>
                <a:latin typeface="Apple SD Gothic Neo"/>
                <a:ea typeface="Apple SD Gothic Neo"/>
              </a:rPr>
              <a:t>범위: tabular·시계열 </a:t>
            </a:r>
            <a:r>
              <a:rPr sz="1600" b="1">
                <a:solidFill>
                  <a:srgbClr val="B8C4D0"/>
                </a:solidFill>
                <a:latin typeface="Apple SD Gothic Neo"/>
                <a:ea typeface="Apple SD Gothic Neo"/>
              </a:rPr>
              <a:t>회귀</a:t>
            </a:r>
            <a:r>
              <a:rPr sz="1600" b="0">
                <a:solidFill>
                  <a:srgbClr val="B8C4D0"/>
                </a:solidFill>
                <a:latin typeface="Apple SD Gothic Neo"/>
                <a:ea typeface="Apple SD Gothic Neo"/>
              </a:rPr>
              <a:t>  ·  분류·DG(OOD)는 본 세미나 </a:t>
            </a:r>
            <a:r>
              <a:rPr sz="1600" b="1">
                <a:solidFill>
                  <a:srgbClr val="B8C4D0"/>
                </a:solidFill>
                <a:latin typeface="Apple SD Gothic Neo"/>
                <a:ea typeface="Apple SD Gothic Neo"/>
              </a:rPr>
              <a:t>범위 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E7C8C"/>
                </a:solidFill>
                <a:latin typeface="Apple SD Gothic Neo"/>
                <a:ea typeface="Apple SD Gothic Neo"/>
              </a:rPr>
              <a:t>1부 정의  ·  2부 실패  ·  3부 대응 → 종합 → 검증 → </a:t>
            </a:r>
            <a:r>
              <a:rPr sz="1500" b="1">
                <a:solidFill>
                  <a:srgbClr val="6E7C8C"/>
                </a:solidFill>
                <a:latin typeface="Apple SD Gothic Neo"/>
                <a:ea typeface="Apple SD Gothic Neo"/>
              </a:rPr>
              <a:t>실무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</a:rPr>
              <a:t>Kookmin Univ. IE Lab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extrapolation-papers · 2026.07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발표 구조 — 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회귀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 외삽 · 정의 · 실패 · 대응 ·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hree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78992"/>
            <a:ext cx="11155680" cy="249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3913632"/>
            <a:ext cx="3703320" cy="1828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3913632"/>
            <a:ext cx="54864" cy="18288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041648"/>
            <a:ext cx="3355848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1부  외삽 정의 (5분)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OOD vs 외삽 — 오늘은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에 초점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보간 vs 외삽 — 새 입력이 범위 안/밖인지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훈련 범위 = convex hull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내부 적합도 ≠ 외삽 성능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논문: Bartley 2019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3913632"/>
            <a:ext cx="3886200" cy="1828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3913632"/>
            <a:ext cx="54864" cy="18288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4041648"/>
            <a:ext cx="3538728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2부  실패 원인 (15분)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① 데이터만으론 못 고름 — Pfister 2024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② 훈련 범위 밖이 기본 — Bartley 2019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③ 밖에선 불확실성↑ — Ghahramani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④ ReLU→직선 — Xu 2021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3913632"/>
            <a:ext cx="3703320" cy="1828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3913632"/>
            <a:ext cx="54864" cy="18288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4041648"/>
            <a:ext cx="3355848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3부  대응 · 검증 · 실무 (25분)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대응법 — 지식별 가정 4종 (EQL·CMNN·Physics-ML·UQ)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종합·검증 — 밖 시험 · MAPE · baseline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실무 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4단계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→ 마무리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 / 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정의 · 실패 · 대응 · 검증 · 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실무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핵심: 밖 예측을 정당화하는 건 데이터가 아니라 가정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용어 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가정(Assumption) — 오늘 발표의 중심 개념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ssumption_def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24128"/>
            <a:ext cx="6480048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60920" y="1024128"/>
            <a:ext cx="452628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60920" y="1024128"/>
            <a:ext cx="54864" cy="14173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62088" y="1152144"/>
            <a:ext cx="417880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① 가정이란?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훈련 범위 밖에서 함수가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어떻게 거동할지에 대한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사전 제약·구조적 지식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2578608"/>
            <a:ext cx="452628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60920" y="2578608"/>
            <a:ext cx="54864" cy="141732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2088" y="2706624"/>
            <a:ext cx="417880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② 왜 필요한가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데이터만으로는 밖을 유일하게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정할 수 없음 (Pfister 2024)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가정 없이는 외삽 불가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4133087"/>
            <a:ext cx="452628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60920" y="4133087"/>
            <a:ext cx="54864" cy="14173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62088" y="4261103"/>
            <a:ext cx="417880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③ 어디에 넣나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활성화 φ → 함수족 가정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단조·PDE·UQ/기권 → 방향·물리·유보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3부 방법과 1:1 대응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160520"/>
            <a:ext cx="681228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160520"/>
            <a:ext cx="54864" cy="141732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4288536"/>
            <a:ext cx="646480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④ 그림 해석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훈련점(●) 동일 · x&gt;2 밖에서 가정별 예측이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서로 다름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데이터는 같고 가정만 다름 = 오늘 발표 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3 / 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가정 = 밖에서의 함수 거동을 미리 제약하는 사전 지식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같은 훈련 데이터, 다른 가정 → 다른 외삽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65960"/>
            <a:ext cx="12191695" cy="73152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D6C6"/>
                </a:solidFill>
                <a:latin typeface="Apple SD Gothic Neo"/>
                <a:ea typeface="Apple SD Gothic Neo"/>
              </a:rPr>
              <a:t>PART 1  ·  5분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ple SD Gothic Neo"/>
                <a:ea typeface="Apple SD Gothic Neo"/>
              </a:rPr>
              <a:t>1부 · 외삽이란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8C4D0"/>
                </a:solidFill>
                <a:latin typeface="Apple SD Gothic Neo"/>
                <a:ea typeface="Apple SD Gothic Neo"/>
              </a:rPr>
              <a:t>훈련 범위의 안과 밖 — 오늘 내내 쓸 좌표계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886200"/>
            <a:ext cx="5074920" cy="1417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995928"/>
            <a:ext cx="4709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pple SD Gothic Neo"/>
                <a:ea typeface="Apple SD Gothic Neo"/>
              </a:rPr>
              <a:t>OOD vs 외삽 — 용어 구분, 오늘은 </a:t>
            </a:r>
            <a:r>
              <a:rPr sz="1300" b="1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886200"/>
            <a:ext cx="5074920" cy="1417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995928"/>
            <a:ext cx="4709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pple SD Gothic Neo"/>
                <a:ea typeface="Apple SD Gothic Neo"/>
              </a:rPr>
              <a:t>보간 vs 외삽: 입력이 훈련 범위 안/밖인지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486400"/>
            <a:ext cx="5074920" cy="1417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596128"/>
            <a:ext cx="4709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pple SD Gothic Neo"/>
                <a:ea typeface="Apple SD Gothic Neo"/>
              </a:rPr>
              <a:t>훈련 범위의 정확한 정의 = convex hull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5486400"/>
            <a:ext cx="5074920" cy="1417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596128"/>
            <a:ext cx="4709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4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pple SD Gothic Neo"/>
                <a:ea typeface="Apple SD Gothic Neo"/>
              </a:rPr>
              <a:t>대표 사례: 내부 적합과 외부 발산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E7C8C"/>
                </a:solidFill>
                <a:latin typeface="Apple SD Gothic Neo"/>
                <a:ea typeface="Apple SD Gothic Neo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1부 · 시작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OOD vs 외삽 — 오늘은 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외삽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을 다룹니다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051560"/>
            <a:ext cx="7360920" cy="443484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ood_vs_ex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115568"/>
            <a:ext cx="7223760" cy="310892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818120" y="1051560"/>
            <a:ext cx="406908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1051560"/>
            <a:ext cx="54864" cy="14173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9288" y="1179576"/>
            <a:ext cx="372160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그림 읽기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(a) OOD — train과 test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분포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가 다름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(b) 외삽 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입력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이 hull 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★ extrap · ■ concept shift (OOD만)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외삽 ⊂ OOD인 경우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많음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· 동일 개념 아님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578608"/>
            <a:ext cx="406908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2578608"/>
            <a:ext cx="54864" cy="141732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19288" y="2706624"/>
            <a:ext cx="372160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질문이 다름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OOD — '분포가 다른가?'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외삽 — '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입력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이 훈련 범위 밖인가?'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concept shift → hull로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판별 불가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4096512"/>
            <a:ext cx="4069080" cy="138988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18120" y="4096512"/>
            <a:ext cx="54864" cy="1389888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4224528"/>
            <a:ext cx="37216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오늘 발표 범위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회귀 외삽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hull 밖 +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연속 y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분류·DG · IRM/DomainBed →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다른 문제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다음 — 보간/외삽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구체화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891540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OOD survey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5 / 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OOD=분포 밖(넓음) · 회귀 외삽=hull 밖 입력(오늘)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분류·DG(OOD) ≠ 오늘 — 연속값 extrap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1부 · 외삽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외삽 = 훈련 범위(hull) 밖에서의 예측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interp_ex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406640" cy="2627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0040" y="4251960"/>
            <a:ext cx="736092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4251960"/>
            <a:ext cx="54864" cy="14173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379976"/>
            <a:ext cx="701344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적용 예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키 160~180cm로 학습 → 175cm 예측 = 보간 (안전)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같은 모델에 195cm 예측 = 외삽 (본 적 없음)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여름 데이터로 학습한 전력수요 모델 → 겨울 예측 = 외삽 (시간축도 마찬가지)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097280"/>
            <a:ext cx="3977639" cy="23774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0" y="1097280"/>
            <a:ext cx="54864" cy="23774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25296"/>
            <a:ext cx="3630167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판별 기준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입력 x가 훈련 범위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보간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입력 x가 훈련 범위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외삽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같은 모델도 입력마다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보간·외삽 동시 가능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먼저 확인: '이 입력, 범위 밖?'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피할 말: '모델이 외삽?' (입력 기준)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611880"/>
            <a:ext cx="3977639" cy="20116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3611880"/>
            <a:ext cx="54864" cy="201168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3739896"/>
            <a:ext cx="3630167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그림·기호 약속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음영 = 훈련 범위 (hull)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음영 밖 = 외삽 구간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이후 모든 장표에서 동일 좌표계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논문: Bartley 2019 (훈련 범위 정의)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6 / 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입력이 훈련 범위 안 — 보간 · 밖 — 외삽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같은 모델도 </a:t>
            </a:r>
            <a:r>
              <a:rPr sz="1000" b="1">
                <a:solidFill>
                  <a:srgbClr val="B8C4D0"/>
                </a:solidFill>
                <a:latin typeface="Apple SD Gothic Neo"/>
                <a:ea typeface="Apple SD Gothic Neo"/>
              </a:rPr>
              <a:t>입력이 범위 안/밖</a:t>
            </a: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에 따라 달라짐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1부 · 외삽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'훈련 범위'를 수학적으로 — convex hull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convex_h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2722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0040" y="4754880"/>
            <a:ext cx="6720840" cy="914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4754880"/>
            <a:ext cx="54864" cy="9144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882896"/>
            <a:ext cx="63733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예시 — 조합의 함정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20~30°C·습도 40~60%로 학습 → (35°C, 50%) 예측 = 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함정: (22도, 59%)처럼 '변수별로는 범위 안'이어도 조합이 훈련 범위 밖일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1097280"/>
            <a:ext cx="4572000" cy="2560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69480" y="1097280"/>
            <a:ext cx="54864" cy="25603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225296"/>
            <a:ext cx="4224528" cy="2359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convex hull — ① 개념 · ② 수식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① 개념 — 훈련 row(●)들을 고무줄로 감싼 영역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 (외곽 끝 + 그 안 전체, 피처 하나씩 아님)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② 수식 — Conv(X_train) = { x = Σ α_i x_i |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 x_i = row (모든 컬럼),  α_i ≥ 0,  Σ α_i = 1 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3749039"/>
            <a:ext cx="4572000" cy="202996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9480" y="3749039"/>
            <a:ext cx="54864" cy="2029968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0648" y="3877055"/>
            <a:ext cx="42245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③ 의미 · ④ 왜 정의?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hull 안 (x ∈) → 보간 — 훈련점 섞기로 만들 수 있음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hull 밖 (x ∉) → 외삽 — 본 적 없는 입력·조합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Σ=1 → 섞는 비율 100%, 고무줄 안 · Σ≠1 → 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④ 왜 정의? — '범위 밖'을 느낌→수학 판정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 min/max·감각 대신 공식 기준 → 3부 검증 가능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7 / 27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훈련 범위 = convex hull — 안이면 보간, 밖이면 외삽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느낌이 아니라 판정 가능한 기준 (3부 검증의 토대)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1부 · 대표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훈련구간 적합도는 외삽 성능을 보증하지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poly_ex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675120" cy="30916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0040" y="4709160"/>
            <a:ext cx="7178040" cy="960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4709160"/>
            <a:ext cx="54864" cy="96012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837176"/>
            <a:ext cx="6830568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예시 — 숫자로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설비 열화 곡선 100일치에 고차 다항식 적합: 훈련 오차 0.1% (완벽해 보임)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130일째 예측: 물리적으로 불가능한 음수 출력 — 안의 성적표는 밖을 모른다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4160520" cy="2514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1097280"/>
            <a:ext cx="54864" cy="25146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225296"/>
            <a:ext cx="3813048" cy="2313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관찰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4차 다항식 · 훈련구간 오차 ≈ 0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경계를 넘으면 급격히 벗어남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차수 높일수록 안은 더 잘 맞고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밖은 오차가 더 커진다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749039"/>
            <a:ext cx="4160520" cy="1874519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3749039"/>
            <a:ext cx="54864" cy="1874519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8" y="3877055"/>
            <a:ext cx="3813048" cy="1673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여기서 고정할 교훈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'안에서 잘 맞는다'와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'밖에서 맞는다'는 다른 질문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→ 왜 다른가? 2부에서 해부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8 / 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훈련구간 오차 ≈ 0 이어도 경계 밖에서 즉시 발산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안의 성적은 밖을 보증하지 않는다 — 이유는 2부에서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65960"/>
            <a:ext cx="12191695" cy="73152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D6C6"/>
                </a:solidFill>
                <a:latin typeface="Apple SD Gothic Neo"/>
                <a:ea typeface="Apple SD Gothic Neo"/>
              </a:rPr>
              <a:t>PART 2  ·  15분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ple SD Gothic Neo"/>
                <a:ea typeface="Apple SD Gothic Neo"/>
              </a:rPr>
              <a:t>2부 · 외삽 실패 원인 (4)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8C4D0"/>
                </a:solidFill>
                <a:latin typeface="Apple SD Gothic Neo"/>
                <a:ea typeface="Apple SD Gothic Neo"/>
              </a:rPr>
              <a:t>훈련 범위 밖에서 예측이 깨지는 이유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023360"/>
            <a:ext cx="3291840" cy="146304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pple SD Gothic Neo"/>
                <a:ea typeface="Apple SD Gothic Neo"/>
              </a:rPr>
              <a:t>이유 1·2: 데이터가 함수를 못 정하고, 고차원에선 거의 전부가 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4023360"/>
            <a:ext cx="3291840" cy="146304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41605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pple SD Gothic Neo"/>
                <a:ea typeface="Apple SD Gothic Neo"/>
              </a:rPr>
              <a:t>이유 3: 범위 밖에선 '모름'(불확실성)이 커진다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023360"/>
            <a:ext cx="3291840" cy="146304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1605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pple SD Gothic Neo"/>
                <a:ea typeface="Apple SD Gothic Neo"/>
              </a:rPr>
              <a:t>이유 4: 신경망도 밖에서는 직선이 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E7C8C"/>
                </a:solidFill>
                <a:latin typeface="Apple SD Gothic Neo"/>
                <a:ea typeface="Apple SD Gothic Neo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2부 · 실패 원인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데이터가 함수를 정해 주지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identif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675120" cy="31013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0040" y="4709160"/>
            <a:ext cx="7178040" cy="960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4709160"/>
            <a:ext cx="54864" cy="96012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837176"/>
            <a:ext cx="6830568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예시 — 배터리 수명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100사이클까지의 용량 데이터: '선형 열화'와 '지수 열화' 둘 다 완벽 적합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500사이클 수명 예측은 두 가설이 2배 차이 — 데이터는 어느 쪽인지 말해주지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4160520" cy="2514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1097280"/>
            <a:ext cx="54864" cy="25146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225296"/>
            <a:ext cx="3813048" cy="2313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같은 점, 다른 함수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훈련점을 지나는 함수(가설)는 무한히 많다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그림 — 직선·지수: 훈련 구간(OBSERVED) 안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에서는 둘 다 ● 통과 → 구분 불가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밖(UNIDENTIFIED)으로 가면 전부 갈라진다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데이터를 더 모아도 (안에서만 늘면)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구별 불가는 그대로 (Pfister 2024)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749039"/>
            <a:ext cx="4160520" cy="1874519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3749039"/>
            <a:ext cx="54864" cy="1874519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8" y="3877055"/>
            <a:ext cx="3813048" cy="1673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핵심 결론 (S03과 연결)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밖을 지탱하는 것은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데이터가 아니라 가정이다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가정 = 밖 거동에 대한 사전 제약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→ 어느 함수족을 믿을지 선택해야 함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Pfister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10 / 27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훈련 구간 안에서는 맞춰지지만 밖에서 갈라짐 — 데이터만으로는 선택 불가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밖을 지탱하는 것은 데이터가 아니라 가정이다 (핵심 문장)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2부 · 실패 원인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고차원에선 새 데이터가 거의 전부 범위 밖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hull_dim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589520" cy="27974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0040" y="4069080"/>
            <a:ext cx="7543800" cy="16002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4069080"/>
            <a:ext cx="54864" cy="16002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197096"/>
            <a:ext cx="7196328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예시 — 센서 20채널이면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각 채널이 훈련 범위 안에 있을 확률 95%라 해도, 20채널 '조합'이 전부 안일 확률 ≈ 0.95²⁰ ≈ 36%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실제 훈련 범위는 축 정렬 상자보다 훨씬 좁다 → 조합 기준으로는 대부분이 이미 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이미지(수만 차원)·다변량 시계열 — 여러분이 다루는 데이터가 정확히 이 영역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097280"/>
            <a:ext cx="3794760" cy="2514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097280"/>
            <a:ext cx="54864" cy="25146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225296"/>
            <a:ext cx="3447288" cy="2313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차원의 저주 (Bartley 2019)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2차원(왼쪽): 범위가 커 보인다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차원↑ → 새 입력이 훈련 범위 안에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있을 확률이 지수적으로 0으로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(오른쪽 곡선)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이미지·다채널 센서 = 이미 고차원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749039"/>
            <a:ext cx="3794760" cy="1874519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749039"/>
            <a:ext cx="54864" cy="1874519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3877055"/>
            <a:ext cx="3447288" cy="1673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함의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'우리 테스트는 안이겠지' 근거 없음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외삽은 예외가 아니라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기본 상황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→ 특수한 예외가 아니라 일반적 상황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11 / 27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차원이 올라가면 새 입력이 훈련 범위 안일 확률 → 0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외삽은 예외가 아니라 기본값이다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2부 · 실패 원인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범위 밖에선 '모름'(불확실성)이 커진다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error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24128"/>
            <a:ext cx="7086600" cy="26038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0040" y="4133087"/>
            <a:ext cx="7040880" cy="153619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4133087"/>
            <a:ext cx="54864" cy="1536192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261103"/>
            <a:ext cx="6693408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그림 읽기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음영 = 훈련 범위 · 안: total error 작음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(a) 세 색 쌓임 = (b) 펼친 곡선 (같은 분해)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밖으로 갈수록 주황(모름·Variance)이 total을 끌어올림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회색(잡음)은 어디서나 비슷 · 파랑(편향)은 완만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024128"/>
            <a:ext cx="4206240" cy="2606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1024128"/>
            <a:ext cx="54864" cy="26060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1152144"/>
            <a:ext cx="3858768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왜 세 가지로 쪼개 보나?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오차 원인이 다름 → 고치는 방법도 다름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잡음(Noise): 측정·센서·환경 — 본질적 랜덤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측정 한계 — 어디서나 비슷 · 줄이기 어려움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편향(Bias): 모델 가정·구조가 틀림 — 체계적 오차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모델·가정 문제 — 구조를 바꾸면 줄일 수 있음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모름(Var/epistemic): 데이터 없어 예측이 흔들림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데이터 부족 — 해당 구간 데이터를 모으면 줄임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03320"/>
            <a:ext cx="4206240" cy="2057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3703320"/>
            <a:ext cx="54864" cy="20574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6408" y="3831336"/>
            <a:ext cx="3858768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범위 밖 · 분해 목적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훈련 범위 밖 = 정의상 데이터 없음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범위 밖에서는 '모름'(epistemic)만 구조적으로 커짐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→ 잡음·편향만으로는 설명 안 됨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분해하는 이유: 어디서·왜 틀리는지 진단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(가정 문제? 데이터 부족? 측정 한계?)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→ 3부 UQ: '모름'을 신호로 쓰기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12 / 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훈련 범위 밖 — '모름'(epistemic)이 커짐 · 데이터로는 못 줄임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이 약점을 신호로 활용하는 방법이 3부 끝(UQ)에 나온다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2부 · 실패 원인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ReLU NN — 밖에서는 직선 (Xu 2021)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6894576" cy="1622414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xu_fig1_relu_ex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766560" cy="14943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" y="2719694"/>
            <a:ext cx="68945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4D0"/>
                </a:solidFill>
                <a:latin typeface="Apple SD Gothic Neo"/>
                <a:ea typeface="Apple SD Gothic Neo"/>
              </a:rPr>
              <a:t>논문: Xu et al., How Neural Networks Extrapolate: From Feedforward to Graph Neural Networks (ICLR 2021), Fig.1</a:t>
            </a:r>
          </a:p>
        </p:txBody>
      </p:sp>
      <p:pic>
        <p:nvPicPr>
          <p:cNvPr id="10" name="Picture 9" descr="fig_xu_sin_tan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456432"/>
            <a:ext cx="6766560" cy="250031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670048"/>
            <a:ext cx="6720840" cy="71323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4864" cy="713232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798064"/>
            <a:ext cx="63733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Fig.1 읽기 — φ = 활성화 함수 (activation)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파란 = 훈련 구간(안) · 바깥 격자 = ReLU MLP 예측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3D 3장: 타깃만 다름 — 공통으로 밖은 평면(plane) · 2D: sin vs 직선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078992"/>
            <a:ext cx="4572000" cy="21488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9480" y="1078992"/>
            <a:ext cx="54864" cy="214884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0648" y="1207008"/>
            <a:ext cx="4224528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Xu의 정리 1 (ReLU)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ReLU MLP — 입력 멀어지면 방향마다 직선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깊이·너비 키워도 동일 (Thm.1, 증명)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위: 논문 Fig.1 · 아래: sin 학습 MLP 예시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→ 실무 기본(ReLU)의 밖 거동을 정식화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3319272"/>
            <a:ext cx="4572000" cy="245059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69480" y="3319272"/>
            <a:ext cx="54864" cy="2450592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0648" y="3447288"/>
            <a:ext cx="4224528" cy="2249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예시 해석 · Q 다른 활성화 φ?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φ = 활성화 함수 — '밖은 이 모양' 선언 (S16)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음영 안: 완벽 적합 · 밖: 접선 직선, 다시 안 굽음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재해석: NN이 외삽을 '못' 하는 것이 아니라 밖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을 이미 함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Q: ReLU만? — tanh/sig: 밖 포화 · sin/cos: 주기(맞으면)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GELU 등: ReLU 근사 → 직선 쪽 · φ 안 맞으면 10²–10³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φ만으론 부족(S09) — 맞춰도 검증·UQ · 자세히 → S16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Xu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13 / 27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ReLU NN — 밖에서 직선 (Xu Thm.1) · 활성화마다 밖 가정이 다름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NN은 외삽 불능이 아니라 '직선'이라는 가정을 이미 하고 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2부 · 실패 원인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왜 직선인가 — 3단 논법 · 2부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relu_af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1051560"/>
            <a:ext cx="9235440" cy="31906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74320" y="4315968"/>
            <a:ext cx="379476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315968"/>
            <a:ext cx="54864" cy="14173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4443984"/>
            <a:ext cx="344728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① 뉴런 고정 (그림 a)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ReLU 뉴런은 딱 한 번만 꺾인다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입력이 커지면 마지막 꺾임을 지나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켜짐/꺼짐이 영원히 고정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87952" y="4315968"/>
            <a:ext cx="379476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4315968"/>
            <a:ext cx="54864" cy="14173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4443984"/>
            <a:ext cx="344728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② 층이 선형화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켜짐이 고정된 네트워크는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그냥 행렬 곱셈의 연속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비선형 굽힘이 전부 사라짐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4" y="4315968"/>
            <a:ext cx="379476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4" y="4315968"/>
            <a:ext cx="54864" cy="141732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4443984"/>
            <a:ext cx="344728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③ 직선 수렴 (그림 b)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고정된 직선들의 합 = 직선 하나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굽힘은 전부 데이터 근처에만 산다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→ 멀리서 보면 평평 (Thm.1)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14 / 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2부 정리 — '외삽 되나?' 대신 '모델 가정이 문제에 맞는가?'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가정을 직접 골라 넣으면? → 3부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65960"/>
            <a:ext cx="12191695" cy="73152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D6C6"/>
                </a:solidFill>
                <a:latin typeface="Apple SD Gothic Neo"/>
                <a:ea typeface="Apple SD Gothic Neo"/>
              </a:rPr>
              <a:t>PART 3  ·  18분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ple SD Gothic Neo"/>
                <a:ea typeface="Apple SD Gothic Neo"/>
              </a:rPr>
              <a:t>3부 · 회귀 외삽 대응법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8C4D0"/>
                </a:solidFill>
                <a:latin typeface="Apple SD Gothic Neo"/>
                <a:ea typeface="Apple SD Gothic Neo"/>
              </a:rPr>
              <a:t>아는 지식만큼 가정을 넣는다 — 지식 우선, 방법 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023360"/>
            <a:ext cx="3291840" cy="146304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pple SD Gothic Neo"/>
                <a:ea typeface="Apple SD Gothic Neo"/>
              </a:rPr>
              <a:t>방법 지도 — 사전 지식 4단계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4023360"/>
            <a:ext cx="3291840" cy="146304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41605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pple SD Gothic Neo"/>
                <a:ea typeface="Apple SD Gothic Neo"/>
              </a:rPr>
              <a:t>① 함수(EQL·NALU)  ② 방향(CMNN)  ③ 물리  ④ UQ·기권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023360"/>
            <a:ext cx="3291840" cy="146304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1605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pple SD Gothic Neo"/>
                <a:ea typeface="Apple SD Gothic Neo"/>
              </a:rPr>
              <a:t>종합 — 같은 데이터, 다른 가정 · 선택 가이드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465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E7C8C"/>
                </a:solidFill>
                <a:latin typeface="Apple SD Gothic Neo"/>
                <a:ea typeface="Apple SD Gothic Neo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대응법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방법 지도 — 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회귀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 외삽 · 사전 지식별 가정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ssumption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024128"/>
            <a:ext cx="7884587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0040" y="4069080"/>
            <a:ext cx="2788920" cy="16002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4069080"/>
            <a:ext cx="54864" cy="16002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197096"/>
            <a:ext cx="2441448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① 함수족 (강)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EQL: 수식 유닛 내장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NALU: 산술로 가중치 제약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이득: 전역 유효 가능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대가: 가정이 틀릴 때 전역 실패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4160520"/>
            <a:ext cx="2788920" cy="1508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4160520"/>
            <a:ext cx="54864" cy="150876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4288536"/>
            <a:ext cx="2441448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② 방향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CMNN: 단조를 구조로 강제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실무 지식의 대부분 수준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이득: 밖에서도 방향 보장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대가: 구조 설계 비용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60520"/>
            <a:ext cx="2788920" cy="1508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4160520"/>
            <a:ext cx="54864" cy="150876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4288536"/>
            <a:ext cx="2441448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③ 물리 (회귀)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Physics-ML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: Aykol · Li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L = L_data + λ·L_constraint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센서→품질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해당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(PDE-ML ✗)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대가: soft loss ·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밖 구간 시험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필수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4160520"/>
            <a:ext cx="2743200" cy="1508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4160520"/>
            <a:ext cx="54864" cy="150876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9448" y="4288536"/>
            <a:ext cx="2395728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④ 무가정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UQ: '모름'을 경보로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기권: 신뢰 낮으면 예측 안 함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이득: 과신 오답 방지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대가: 답변율 감소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16 / 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지식 우선, 방법 후행 — 가용 사전 지식이 방법을 정한다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다음 — ①~④ 방법 · 종합 · (이후)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입구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최소 개입의 가정 주입 — 활성화 함수를 타깃에 맞추기 (Xu Fig.5)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1051560"/>
            <a:ext cx="6437376" cy="1916606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xu_fig5_activ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6309360" cy="1788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" y="2986454"/>
            <a:ext cx="64373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4D0"/>
                </a:solidFill>
                <a:latin typeface="Apple SD Gothic Neo"/>
                <a:ea typeface="Apple SD Gothic Neo"/>
              </a:rPr>
              <a:t>논문: Xu et al., How Neural Networks Extrapolate (ICLR 2021), Fig.5</a:t>
            </a:r>
          </a:p>
        </p:txBody>
      </p:sp>
      <p:pic>
        <p:nvPicPr>
          <p:cNvPr id="10" name="Picture 9" descr="fig_activation_m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429000"/>
            <a:ext cx="6309360" cy="230584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12280" y="1051560"/>
            <a:ext cx="5029200" cy="2331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2280" y="1051560"/>
            <a:ext cx="54864" cy="23317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1179576"/>
            <a:ext cx="4681728" cy="213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실험 요지 (위: 논문 원본)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타깃이 주기함수 → 활성화를 cos으로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바꾸면 외삽이 된다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타깃이 tanh형 → tanh 활성화가 성공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짝이 틀리면 오차 100~1000배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3520440"/>
            <a:ext cx="5029200" cy="2103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12280" y="3520440"/>
            <a:ext cx="54864" cy="210312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13448" y="3648456"/>
            <a:ext cx="4681728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예시 — 같은 sin 타깃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(a) ReLU: 밖에서 직선 → 파동 놓침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(b) cos 활성화: 밖에서도 파동 유지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활성화 선택 = '밖은 이 모양' 선언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가정에는 대가가 있다: 불일치 시 오차 수백 배</a:t>
            </a:r>
          </a:p>
        </p:txBody>
      </p:sp>
      <p:sp>
        <p:nvSpPr>
          <p:cNvPr id="17" name="Rounded Rectangle 16">
            <a:hlinkClick r:id="rId4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Xu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17 / 27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활성화와 타깃이 같은 족일 때만 외삽 성립 — 틀린 짝은 오차 수백 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활성화 선택 = 함수 모양 가정의 선언. 가정에는 대가가 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방법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함수 모양을 안다 (a) — EQL: 수식을 통째로 배우기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1051560"/>
            <a:ext cx="5980176" cy="1695732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ql_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852160" cy="15677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" y="2765580"/>
            <a:ext cx="59801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4D0"/>
                </a:solidFill>
                <a:latin typeface="Apple SD Gothic Neo"/>
                <a:ea typeface="Apple SD Gothic Neo"/>
              </a:rPr>
              <a:t>논문: Martius &amp; Lampert, Extrapolation and Learning Equations (arXiv 2016), Fig.1</a:t>
            </a:r>
          </a:p>
        </p:txBody>
      </p:sp>
      <p:pic>
        <p:nvPicPr>
          <p:cNvPr id="10" name="Picture 9" descr="fig_eql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337560"/>
            <a:ext cx="6309360" cy="205694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12280" y="1051560"/>
            <a:ext cx="5029200" cy="2606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2280" y="1051560"/>
            <a:ext cx="54864" cy="26060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1179576"/>
            <a:ext cx="4681728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원리 (위: 논문 구조도)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뉴런 자리에 sin·cos·곱셈 같은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수식 유닛을 심는다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학습이 끝나면 네트워크 자체가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하나의 닫힌 수식: ŷ ≈ sin(1.01x)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배운 식이 참 식과 같은 족이면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→ 훈련 구간 아닌 전 영역에서 유효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379476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12280" y="3794760"/>
            <a:ext cx="54864" cy="18288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13448" y="3922776"/>
            <a:ext cx="4681728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예시 + 대가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초록(EQL): 식이라서 멀리서도 파동 유지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주황(MLP): 같은 데이터인데 직선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대가: 유닛 목록 밖 함수 표현 불가 ·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희소화 조절 까다로움 · 고차원 취약</a:t>
            </a:r>
          </a:p>
        </p:txBody>
      </p:sp>
      <p:sp>
        <p:nvSpPr>
          <p:cNvPr id="17" name="Rounded Rectangle 16">
            <a:hlinkClick r:id="rId4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EQL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18 / 27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배운 식이 참 식과 같은 족이면 전 영역 유효 — MLP 직선화와 정반대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대가: 유닛 밖 함수 표현 불가 · 희소화 · 고차원 취약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방법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함수 모양을 안다 (b) — NALU: 산술만 하도록 묶기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1051560"/>
            <a:ext cx="5797296" cy="20673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alu_fig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669280" cy="19393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" y="3137168"/>
            <a:ext cx="5797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4D0"/>
                </a:solidFill>
                <a:latin typeface="Apple SD Gothic Neo"/>
                <a:ea typeface="Apple SD Gothic Neo"/>
              </a:rPr>
              <a:t>논문: Trask et al., NALU (NeurIPS 2018), Fig.2 (a) NAC · (b) NALU · arXiv:1808.00508</a:t>
            </a:r>
          </a:p>
        </p:txBody>
      </p:sp>
      <p:pic>
        <p:nvPicPr>
          <p:cNvPr id="10" name="Picture 9" descr="fig_nalu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657600"/>
            <a:ext cx="6035040" cy="202405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12280" y="1051560"/>
            <a:ext cx="5029200" cy="27889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2280" y="1051560"/>
            <a:ext cx="54864" cy="27889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1179576"/>
            <a:ext cx="4681728" cy="258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Fig.2 — (a) NAC · (b) NALU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(a) NAC — +/− 부품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W = tanh(Ŵ)⊙σ(M̂) → w≈+1,0,−1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y = W·x (matmul) · w=+1 더함 · w=−1 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(b) NALU — NAC + × + 스위치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가운데: NAC · 보라: log→matmul→exp (×÷)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g=σ → y = g·(덧셈)+(1−g)·(곱셈)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(a)는 부품 · (b)는 +단·×단 완성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3977639"/>
            <a:ext cx="5029200" cy="1691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12280" y="3977639"/>
            <a:ext cx="54864" cy="169164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13448" y="4105655"/>
            <a:ext cx="4681728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예시 — 덧셈 학습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0~10으로 a+b 학습 → 10,000까지 테스트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MLP 오차 3,100배 폭발 · NALU는 평탄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대가: w·g ±1 수렴 보장 ❌ · 게이트 불안정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타깃이 산술 아니면 MLP 수준으로 퇴화 · y=a+b 알면 코드가 나음</a:t>
            </a:r>
          </a:p>
        </p:txBody>
      </p:sp>
      <p:sp>
        <p:nvSpPr>
          <p:cNvPr id="17" name="Rounded Rectangle 16">
            <a:hlinkClick r:id="rId4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NALU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19 / 27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가중치를 산술로 묶기 → 작은 수 훈련, 큰 수 일반화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방법 1 요약: 함수 모양 가정 = 최대 수익 · 최대 리스크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방법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방향만 안다 (a) — 단순 강제는 표현력을 희생한다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1051560"/>
            <a:ext cx="6894576" cy="2003182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nje_fig1_cub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6766560" cy="187516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" y="3073030"/>
            <a:ext cx="68945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4D0"/>
                </a:solidFill>
                <a:latin typeface="Apple SD Gothic Neo"/>
                <a:ea typeface="Apple SD Gothic Neo"/>
              </a:rPr>
              <a:t>논문: Runje &amp; Shankaranarayana, Constrained Monotonic Neural Networks (ICML 2023), Fig.1 · arXiv:2205.11775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520440"/>
            <a:ext cx="6720840" cy="21488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520440"/>
            <a:ext cx="54864" cy="214884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648456"/>
            <a:ext cx="6373368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Fig.1 — y = x³ (단조 증가 함수)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(a) 무제약 NN: 적합은 되나 단조 보장 없음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(b) 가중치 전부 양수: 단조는 되나 직선에 가까워짐 — x³ 실패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(c) CMNN: 단조 + 비선형 동시 (다음 장)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실무: 보험료↑·전압↑·수요↓ — 방향은 아는데 수식은 모를 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051560"/>
            <a:ext cx="4663440" cy="4617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78040" y="1051560"/>
            <a:ext cx="54864" cy="46177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9208" y="1179576"/>
            <a:ext cx="4315968" cy="4416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단조(monotonic) 가정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입력↑ → 출력이 절대 안 줄어듦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(또는 반대 방향)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실무 지식 대부분이 이 수준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딜레마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순진한 강제(가중치 자르기)는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표현력이 저하됨 — (b)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단조 vs 표현력, 둘 다?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→ 다음 장 CMNN</a:t>
            </a:r>
          </a:p>
        </p:txBody>
      </p:sp>
      <p:sp>
        <p:nvSpPr>
          <p:cNvPr id="16" name="Rounded Rectangle 15">
            <a:hlinkClick r:id="rId3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CMNN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20 / 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가중치 자르기: 단조는 얻지만 x³ 실패 — 표현력 저하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단조 vs 표현력의 상충 — 해법은 다음 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방법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방향만 안다 (b) — 해법: 구조 자체가 단조이게 만들기 (CMNN)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1051560"/>
            <a:ext cx="5595165" cy="2962656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nje_fig3_mono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467149" cy="2834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" y="4032504"/>
            <a:ext cx="559516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4D0"/>
                </a:solidFill>
                <a:latin typeface="Apple SD Gothic Neo"/>
                <a:ea typeface="Apple SD Gothic Neo"/>
              </a:rPr>
              <a:t>논문: Runje &amp; Shankaranarayana, Constrained Monotonic Neural Networks (ICML 2023), Fig.3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480560"/>
            <a:ext cx="6309360" cy="1188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4480560"/>
            <a:ext cx="54864" cy="11887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4608576"/>
            <a:ext cx="5961888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실무 예시 — 배터리 제어기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충전량(SOC) → 전압(OCV) 곡선을 CMNN으로 학습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훈련에 없던 고충전 조건 예측에도 '전압 급락'은 구조상 불가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→ 이 보장 하나로 제어기 안전 인증이 가능해진다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1051560"/>
            <a:ext cx="4937760" cy="2606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03720" y="1051560"/>
            <a:ext cx="54864" cy="26060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1179576"/>
            <a:ext cx="4590288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Fig.3 — 한 층 흐름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x → |W|_t·x+b → split(s) → concat → W_out → ŷ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t: 입력 feature마다 단조 방향 (+1 / −1 / 0)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+1 → x_j↑일 때 출력↑ (예: SOC↑ → OCV↑)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−1 → x_j↑일 때 출력↓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0 → 그 feature는 단조 제약 없음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|W|_t: t=±1일 때 w 부호만 고정 (전체 |W| 아님)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79476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03720" y="3794760"/>
            <a:ext cx="54864" cy="18288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4888" y="3922776"/>
            <a:ext cx="4590288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s — 활성화 배치 (곡선 모양)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s = (볼록 ρ̊, 오목 ρ̂, 포화 ρ̃) — 합 = hidden m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ρ̊: h&gt;0 구간에서 증가 (ReLU 계열)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ρ̂: h&lt;0 구간에서 증가 (거울 ReLU 계열)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  ρ̃: 위·아래 평평 (x³·배터리는 보통 0)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예 m=10, s=(4,4,0) → ρ̊ 4개 + ρ̂ 4개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뉴런 번호로 φ 고정 — x가 +/−냐로 바뀌지 않음</a:t>
            </a:r>
          </a:p>
        </p:txBody>
      </p:sp>
      <p:sp>
        <p:nvSpPr>
          <p:cNvPr id="19" name="Rounded Rectangle 18">
            <a:hlinkClick r:id="rId3"/>
          </p:cNvPr>
          <p:cNvSpPr/>
          <p:nvPr/>
        </p:nvSpPr>
        <p:spPr>
          <a:xfrm>
            <a:off x="104241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CMNN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21 / 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② CMNN — 방향을 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구조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로 고정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다음 ③ — Feature · Physics loss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방법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③ 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외삽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 · Physics-ML — 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방향(② CMNN)보다 더 아는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 경우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physics_loss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950976"/>
            <a:ext cx="6656832" cy="390657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76288" y="950976"/>
            <a:ext cx="4956048" cy="166420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76288" y="950976"/>
            <a:ext cx="54864" cy="1664208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7456" y="1078992"/>
            <a:ext cx="460857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외삽 문제 · 방법 선택 (그림 a)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고 DoD 학습 → 저 DoD 시험 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방향만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(cycle↑→용량↓) →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② CMNN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·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법칙·열화 지표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③ Physics-ML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순수 ML 외삽은 비선형 실제와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괴리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물리 법칙은 OOD에서도 성립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76288" y="2688336"/>
            <a:ext cx="4956048" cy="157276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76288" y="2688336"/>
            <a:ext cx="54864" cy="1572768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77456" y="2816352"/>
            <a:ext cx="46085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③-A Feature — 입력에 물리 (그림 b · Li)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충방전 곡선에서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열화 peak(dQ/dV)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뽑을 수 있을 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Q(V) →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dQ/dV peak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→ 회귀 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loss 아님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DoD 바뀌어도 peak 유효 · OOD MAPE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~22%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76288" y="4334256"/>
            <a:ext cx="4956048" cy="157276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76288" y="4334256"/>
            <a:ext cx="54864" cy="1572768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77456" y="4462272"/>
            <a:ext cx="46085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③-B Loss — 학습에 법칙 (그림 c · Aykol)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단조만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이면 CMNN으로 충분 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loss 불필요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Arrhenius·열역학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등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관계 형태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를 알 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L = L_data +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λ·L_physics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· soft ·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밖 구간 시험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필수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873252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Li</a:t>
            </a:r>
          </a:p>
        </p:txBody>
      </p:sp>
      <p:sp>
        <p:nvSpPr>
          <p:cNvPr id="18" name="Rounded Rectangle 17">
            <a:hlinkClick r:id="rId4"/>
          </p:cNvPr>
          <p:cNvSpPr/>
          <p:nvPr/>
        </p:nvSpPr>
        <p:spPr>
          <a:xfrm>
            <a:off x="101955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Aykol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22 /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방향만 → CMNN(②)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 · 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더 알면 Physics-ML(③)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Feature(Li) · Loss(Aykol) · </a:t>
            </a:r>
            <a:r>
              <a:rPr sz="1000" b="1">
                <a:solidFill>
                  <a:srgbClr val="B8C4D0"/>
                </a:solidFill>
                <a:latin typeface="Apple SD Gothic Neo"/>
                <a:ea typeface="Apple SD Gothic Neo"/>
              </a:rPr>
              <a:t>밖 구간 시험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방법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사전 지식 없음 — UQ(경보) + 기권(예측 안 함)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042415"/>
            <a:ext cx="5669280" cy="27889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uq_aleatoric_epist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115568"/>
            <a:ext cx="5532120" cy="1992126"/>
          </a:xfrm>
          <a:prstGeom prst="rect">
            <a:avLst/>
          </a:prstGeom>
        </p:spPr>
      </p:pic>
      <p:sp>
        <p:nvSpPr>
          <p:cNvPr id="9" name="Rounded Rectangle 8">
            <a:hlinkClick r:id="rId3"/>
          </p:cNvPr>
          <p:cNvSpPr/>
          <p:nvPr/>
        </p:nvSpPr>
        <p:spPr>
          <a:xfrm>
            <a:off x="873252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Ghahramani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1019556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Zhu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" y="3913632"/>
            <a:ext cx="5650992" cy="12344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" y="3913632"/>
            <a:ext cx="54864" cy="12344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041648"/>
            <a:ext cx="5303520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UQ 그림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훈련 범위 밖 → 불확실성 띠 벌어짐 =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경보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예측값은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나옴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‘믿지 말 것’ 신호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" y="5230368"/>
            <a:ext cx="5650992" cy="117043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2608" y="5230368"/>
            <a:ext cx="54864" cy="1170432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5358384"/>
            <a:ext cx="53035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실무 예 — 센서 3개 → 품질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학습: 센서 각 0~10 · 추론: 센서=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20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범위 밖(외삽)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UQ: '품질 5.2 (불확실↑)' · 기권: '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예측 안 함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재측정'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042415"/>
            <a:ext cx="5806440" cy="13258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1042415"/>
            <a:ext cx="54864" cy="132588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1170431"/>
            <a:ext cx="545896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UQ — 경보등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예측값 + 불확실성(띠·분산)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둘 다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출력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밖/낯선 입력 → 불확실성↑ 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숫자는 나옴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예: 앙상블 5개 갈리면 경보 · GP는 멀수록 띠↑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2450592"/>
            <a:ext cx="5806440" cy="1417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2450592"/>
            <a:ext cx="54864" cy="141732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2578608"/>
            <a:ext cx="5458968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기권 — 답변 거부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신뢰·불확실성이 임계 미만 →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예측값 자체 안 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규칙: if 센서∉[0,10]: 거부 도 동일 철학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성능: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정확도 × coverage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Zhu (operator 문헌)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3950208"/>
            <a:ext cx="5806440" cy="12344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3950208"/>
            <a:ext cx="54864" cy="12344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4078224"/>
            <a:ext cx="5458968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UQ vs 기권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= 경보 (숫자 O) ·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= 차단 (숫자 X)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불확실 작음 → 사용 · 큼 → 경보 또는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거부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고위험 영역: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틀린 숫자 1번 &gt; 기권 1번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5230368"/>
            <a:ext cx="5806440" cy="117043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0760" y="5230368"/>
            <a:ext cx="54864" cy="1170432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5358384"/>
            <a:ext cx="5458968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DeepONet(Zhu) — 부록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PDE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연산자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extrap + 기권 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이 장 그림 아님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센서→품질 =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표 회귀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위 UQ·기권으로 충분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23 / 27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UQ=경보(숫자 O) · 기권=차단(숫자 X)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센서 범위 밖(20) → 재측정 · DeepONet=부록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hull 밖 시험 분리 → 가정 후보 → 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MAPE로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0040" y="1005840"/>
            <a:ext cx="11548872" cy="224028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method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11548872" cy="225358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20040" y="3355848"/>
            <a:ext cx="2761488" cy="120700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3355848"/>
            <a:ext cx="54864" cy="1207008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3483864"/>
            <a:ext cx="24140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① hull 밖 분리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Conv(X_train) 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수학적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훈련 범위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밖 시험 actual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hull 밖 · 학습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전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분리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min–max로는 부족 —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이 밖일 수 있음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8688" y="3355848"/>
            <a:ext cx="2761488" cy="120700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18688" y="3355848"/>
            <a:ext cx="54864" cy="1207008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3483864"/>
            <a:ext cx="24140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② 가정 후보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지식 우선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후보를 먼저 고름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함수→EQL · 방향→CMNN · 물리→Physics-ML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모름→UQ · 후보마다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같은 train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학습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17336" y="3355848"/>
            <a:ext cx="2761488" cy="120700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17336" y="3355848"/>
            <a:ext cx="54864" cy="1207008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3483864"/>
            <a:ext cx="24140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③ 밖 시험 MAPE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같은 밖 시험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actual에 MAPE/RMSE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train 동일 →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에서만 예측이 갈라짐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baseline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튜닝·데이터 동일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3355848"/>
            <a:ext cx="2761488" cy="120700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5984" y="3355848"/>
            <a:ext cx="54864" cy="1207008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3483864"/>
            <a:ext cx="24140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④ 채택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밖 시험에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가장 가까운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가정·방법 선택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성능 MAPE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포함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— Li: EQL vs MLP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시험 없음 → UQ+기권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4654296"/>
            <a:ext cx="11548872" cy="475488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" y="4745736"/>
            <a:ext cx="11219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주의 — ① 지식 먼저 · 밖 시험은 </a:t>
            </a:r>
            <a:r>
              <a:rPr sz="1000" b="1">
                <a:solidFill>
                  <a:srgbClr val="B8C4D0"/>
                </a:solidFill>
                <a:latin typeface="Apple SD Gothic Neo"/>
                <a:ea typeface="Apple SD Gothic Neo"/>
              </a:rPr>
              <a:t>판정</a:t>
            </a: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용  ② </a:t>
            </a:r>
            <a:r>
              <a:rPr sz="1000" b="1">
                <a:solidFill>
                  <a:srgbClr val="B8C4D0"/>
                </a:solidFill>
                <a:latin typeface="Apple SD Gothic Neo"/>
                <a:ea typeface="Apple SD Gothic Neo"/>
              </a:rPr>
              <a:t>시험한 밖 구간까지만</a:t>
            </a: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 · 더 먼 밖→UQ/기권  ③ 시험 없으면 MAPE </a:t>
            </a:r>
            <a:r>
              <a:rPr sz="1000" b="1">
                <a:solidFill>
                  <a:srgbClr val="B8C4D0"/>
                </a:solidFill>
                <a:latin typeface="Apple SD Gothic Neo"/>
                <a:ea typeface="Apple SD Gothic Neo"/>
              </a:rPr>
              <a:t>불가</a:t>
            </a:r>
          </a:p>
        </p:txBody>
      </p:sp>
      <p:sp>
        <p:nvSpPr>
          <p:cNvPr id="23" name="Rounded Rectangle 22">
            <a:hlinkClick r:id="rId3"/>
          </p:cNvPr>
          <p:cNvSpPr/>
          <p:nvPr/>
        </p:nvSpPr>
        <p:spPr>
          <a:xfrm>
            <a:off x="8732520" y="256032"/>
            <a:ext cx="1417320" cy="310896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24 / 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5184648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5184648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230368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hull 밖 시험 → 후보별 MAPE → 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최적 가정 선택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시험 범위 밖 · 시험 없음 → </a:t>
            </a:r>
            <a:r>
              <a:rPr sz="1000" b="1">
                <a:solidFill>
                  <a:srgbClr val="B8C4D0"/>
                </a:solidFill>
                <a:latin typeface="Apple SD Gothic Neo"/>
                <a:ea typeface="Apple SD Gothic Neo"/>
              </a:rPr>
              <a:t>UQ/기권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3부 · 실무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현장에 쓰려면 — 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네 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0040" y="1005840"/>
            <a:ext cx="11548872" cy="23317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closing_prac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11548872" cy="242442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20040" y="3483864"/>
            <a:ext cx="2761488" cy="117043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3483864"/>
            <a:ext cx="54864" cy="1170432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3611880"/>
            <a:ext cx="2414016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① 범위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학습 범위와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현장(운영)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범위 비교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hull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시험 데이터 — 학습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전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3483864"/>
            <a:ext cx="2761488" cy="117043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3483864"/>
            <a:ext cx="54864" cy="1170432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3611880"/>
            <a:ext cx="2414016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② 가정·방법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도메인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지식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으로 후보 선택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함수→EQL · 방향→CMNN · 물리→Physics-ML · 모름→UQ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483864"/>
            <a:ext cx="2761488" cy="117043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483864"/>
            <a:ext cx="54864" cy="1170432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3611880"/>
            <a:ext cx="2414016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③ 성능 검증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밖 시험에서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MAPE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로 후보별 비교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baseline 동일 조건 ·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로 과신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3483864"/>
            <a:ext cx="2761488" cy="117043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3483864"/>
            <a:ext cx="54864" cy="1170432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9448" y="3611880"/>
            <a:ext cx="2414016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④ 배포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오차·불확실성 OK →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배포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아니면 해당 구간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예측 안 함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(기권)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25 / 27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45736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745736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791456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범위 확인 → 방법 선택 → 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밖에서 검증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 → 배포 또는 기권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시험 데이터 없으면 </a:t>
            </a:r>
            <a:r>
              <a:rPr sz="1000" b="1">
                <a:solidFill>
                  <a:srgbClr val="B8C4D0"/>
                </a:solidFill>
                <a:latin typeface="Apple SD Gothic Neo"/>
                <a:ea typeface="Apple SD Gothic Neo"/>
              </a:rPr>
              <a:t>예측하지 않음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회귀 extrap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 — 오늘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024128"/>
            <a:ext cx="11365992" cy="749808"/>
          </a:xfrm>
          <a:prstGeom prst="roundRect">
            <a:avLst>
              <a:gd name="adj" fmla="val 5000"/>
            </a:avLst>
          </a:prstGeom>
          <a:solidFill>
            <a:srgbClr val="0C121A"/>
          </a:solidFill>
          <a:ln w="9525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  <a:ea typeface="Apple SD Gothic Neo"/>
              </a:rPr>
              <a:t>밖을 지탱하는 것은 데이터가 아니라 </a:t>
            </a:r>
            <a:r>
              <a:rPr sz="2200" b="1">
                <a:solidFill>
                  <a:srgbClr val="FFFFFF"/>
                </a:solidFill>
                <a:latin typeface="Apple SD Gothic Neo"/>
                <a:ea typeface="Apple SD Gothic Neo"/>
              </a:rPr>
              <a:t>가정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2724912" cy="129844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54864" cy="1298448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2029968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1부 · 정의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외삽 = 훈련 범위(hull)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을 예측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연속값 회귀 · 분류 DG와 다름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395728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7C8C"/>
                </a:solidFill>
                <a:latin typeface="Apple SD Gothic Neo"/>
                <a:ea typeface="Apple SD Gothic Neo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8717683240" y="1901952"/>
            <a:ext cx="2724912" cy="129844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8717683240" y="1901952"/>
            <a:ext cx="54864" cy="1298448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8717884408" y="2029968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2부 · 실패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데이터만으론 밖의 모양을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정할 수 없다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NN도 밖에선 직선 · 불확실성↑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8720426440" y="2395728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7C8C"/>
                </a:solidFill>
                <a:latin typeface="Apple SD Gothic Neo"/>
                <a:ea typeface="Apple SD Gothic Neo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7435046440" y="1901952"/>
            <a:ext cx="2724912" cy="129844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17435046440" y="1901952"/>
            <a:ext cx="54864" cy="1298448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7435247608" y="2029968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3부 · 대응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아는 지식만큼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가정을 넣는다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식 · 방향 · 물리 · 모름(UQ)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437789640" y="2395728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7C8C"/>
                </a:solidFill>
                <a:latin typeface="Apple SD Gothic Neo"/>
                <a:ea typeface="Apple SD Gothic Neo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6152409640" y="1901952"/>
            <a:ext cx="2724912" cy="1298448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26152409640" y="1901952"/>
            <a:ext cx="54864" cy="1298448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26152610808" y="2029968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실무 · 검증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밖 시험으로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확인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하고 배포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–  못 믿으면 </a:t>
            </a:r>
            <a:r>
              <a:rPr sz="1100" b="1">
                <a:solidFill>
                  <a:srgbClr val="A0ADBC"/>
                </a:solidFill>
                <a:latin typeface="Apple SD Gothic Neo"/>
                <a:ea typeface="Apple SD Gothic Neo"/>
              </a:rPr>
              <a:t>예측하지 않음</a:t>
            </a: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(기권)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310128"/>
            <a:ext cx="11365992" cy="530352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3832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CF1F7"/>
                </a:solidFill>
                <a:latin typeface="Apple SD Gothic Neo"/>
                <a:ea typeface="Apple SD Gothic Neo"/>
              </a:rPr>
              <a:t>“외삽 되나?”  →  “</a:t>
            </a:r>
            <a:r>
              <a:rPr sz="1500" b="1">
                <a:solidFill>
                  <a:srgbClr val="ECF1F7"/>
                </a:solidFill>
                <a:latin typeface="Apple SD Gothic Neo"/>
                <a:ea typeface="Apple SD Gothic Neo"/>
              </a:rPr>
              <a:t>가정</a:t>
            </a:r>
            <a:r>
              <a:rPr sz="1500" b="1">
                <a:solidFill>
                  <a:srgbClr val="ECF1F7"/>
                </a:solidFill>
                <a:latin typeface="Apple SD Gothic Neo"/>
                <a:ea typeface="Apple SD Gothic Neo"/>
              </a:rPr>
              <a:t>이 맞고, </a:t>
            </a:r>
            <a:r>
              <a:rPr sz="1500" b="1">
                <a:solidFill>
                  <a:srgbClr val="ECF1F7"/>
                </a:solidFill>
                <a:latin typeface="Apple SD Gothic Neo"/>
                <a:ea typeface="Apple SD Gothic Neo"/>
              </a:rPr>
              <a:t>밖에서 시험</a:t>
            </a:r>
            <a:r>
              <a:rPr sz="1500" b="1">
                <a:solidFill>
                  <a:srgbClr val="ECF1F7"/>
                </a:solidFill>
                <a:latin typeface="Apple SD Gothic Neo"/>
                <a:ea typeface="Apple SD Gothic Neo"/>
              </a:rPr>
              <a:t>했나?”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4005072"/>
            <a:ext cx="3246120" cy="43891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965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CF1F7"/>
                </a:solidFill>
                <a:latin typeface="Apple SD Gothic Neo"/>
                <a:ea typeface="Apple SD Gothic Neo"/>
              </a:rPr>
              <a:t>진단 · Xu 2021</a:t>
            </a:r>
          </a:p>
        </p:txBody>
      </p:sp>
      <p:sp>
        <p:nvSpPr>
          <p:cNvPr id="28" name="Rounded Rectangle 27">
            <a:hlinkClick r:id="rId2"/>
          </p:cNvPr>
          <p:cNvSpPr/>
          <p:nvPr/>
        </p:nvSpPr>
        <p:spPr>
          <a:xfrm>
            <a:off x="2651760" y="4059936"/>
            <a:ext cx="868680" cy="329184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1960" y="4005072"/>
            <a:ext cx="3246120" cy="43891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6552" y="40965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CF1F7"/>
                </a:solidFill>
                <a:latin typeface="Apple SD Gothic Neo"/>
                <a:ea typeface="Apple SD Gothic Neo"/>
              </a:rPr>
              <a:t>처방 · Runje 2023</a:t>
            </a:r>
          </a:p>
        </p:txBody>
      </p:sp>
      <p:sp>
        <p:nvSpPr>
          <p:cNvPr id="31" name="Rounded Rectangle 30">
            <a:hlinkClick r:id="rId3"/>
          </p:cNvPr>
          <p:cNvSpPr/>
          <p:nvPr/>
        </p:nvSpPr>
        <p:spPr>
          <a:xfrm>
            <a:off x="6492240" y="4059936"/>
            <a:ext cx="868680" cy="329184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4005072"/>
            <a:ext cx="3246120" cy="438912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40965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CF1F7"/>
                </a:solidFill>
                <a:latin typeface="Apple SD Gothic Neo"/>
                <a:ea typeface="Apple SD Gothic Neo"/>
              </a:rPr>
              <a:t>검증 · Bartley 2019</a:t>
            </a:r>
          </a:p>
        </p:txBody>
      </p:sp>
      <p:sp>
        <p:nvSpPr>
          <p:cNvPr id="34" name="Rounded Rectangle 33">
            <a:hlinkClick r:id="rId4"/>
          </p:cNvPr>
          <p:cNvSpPr/>
          <p:nvPr/>
        </p:nvSpPr>
        <p:spPr>
          <a:xfrm>
            <a:off x="10332720" y="4059936"/>
            <a:ext cx="868680" cy="329184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26 / 27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4617720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617720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466344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가정 맞추고 · 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밖에서 시험</a:t>
            </a:r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 · UQ/기권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Xu · Runje · Bartley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Q&amp;A · 참고문헌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회귀 extrap</a:t>
            </a:r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 본문  ·  분류 DG는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11480" y="1325880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380744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Xu 2021 — NN Extrapolate (2부·3부)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411480" y="1892807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947671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Pfister 2024 — 함수 못 정함 (2부)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411480" y="2459736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5146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Bartley 2019 — 고차원·훈련 범위 (1부·2부)</a:t>
            </a:r>
          </a:p>
        </p:txBody>
      </p:sp>
      <p:sp>
        <p:nvSpPr>
          <p:cNvPr id="13" name="Rounded Rectangle 12">
            <a:hlinkClick r:id="rId5"/>
          </p:cNvPr>
          <p:cNvSpPr/>
          <p:nvPr/>
        </p:nvSpPr>
        <p:spPr>
          <a:xfrm>
            <a:off x="411480" y="3026663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81527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Martius 2016 — EQL (3부)</a:t>
            </a:r>
          </a:p>
        </p:txBody>
      </p:sp>
      <p:sp>
        <p:nvSpPr>
          <p:cNvPr id="15" name="Rounded Rectangle 14">
            <a:hlinkClick r:id="rId6"/>
          </p:cNvPr>
          <p:cNvSpPr/>
          <p:nvPr/>
        </p:nvSpPr>
        <p:spPr>
          <a:xfrm>
            <a:off x="411480" y="3593591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48455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Trask 2018 — NALU (3부)</a:t>
            </a:r>
          </a:p>
        </p:txBody>
      </p:sp>
      <p:sp>
        <p:nvSpPr>
          <p:cNvPr id="17" name="Rounded Rectangle 16">
            <a:hlinkClick r:id="rId7"/>
          </p:cNvPr>
          <p:cNvSpPr/>
          <p:nvPr/>
        </p:nvSpPr>
        <p:spPr>
          <a:xfrm>
            <a:off x="411480" y="4160520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215384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Runje 2023 — CMNN (3부)</a:t>
            </a:r>
          </a:p>
        </p:txBody>
      </p:sp>
      <p:sp>
        <p:nvSpPr>
          <p:cNvPr id="19" name="Rounded Rectangle 18">
            <a:hlinkClick r:id="rId8"/>
          </p:cNvPr>
          <p:cNvSpPr/>
          <p:nvPr/>
        </p:nvSpPr>
        <p:spPr>
          <a:xfrm>
            <a:off x="6172200" y="1325880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13807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Aykol 2021 — Physics-ML (3부)</a:t>
            </a:r>
          </a:p>
        </p:txBody>
      </p:sp>
      <p:sp>
        <p:nvSpPr>
          <p:cNvPr id="21" name="Rounded Rectangle 20">
            <a:hlinkClick r:id="rId9"/>
          </p:cNvPr>
          <p:cNvSpPr/>
          <p:nvPr/>
        </p:nvSpPr>
        <p:spPr>
          <a:xfrm>
            <a:off x="6172200" y="1892807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194767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Li 2023 — Physics RUL (3부)</a:t>
            </a:r>
          </a:p>
        </p:txBody>
      </p:sp>
      <p:sp>
        <p:nvSpPr>
          <p:cNvPr id="23" name="Rounded Rectangle 22">
            <a:hlinkClick r:id="rId10"/>
          </p:cNvPr>
          <p:cNvSpPr/>
          <p:nvPr/>
        </p:nvSpPr>
        <p:spPr>
          <a:xfrm>
            <a:off x="6172200" y="2459736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2514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Raissi 2019 — PDE-ML (부록)</a:t>
            </a:r>
          </a:p>
        </p:txBody>
      </p:sp>
      <p:sp>
        <p:nvSpPr>
          <p:cNvPr id="25" name="Rounded Rectangle 24">
            <a:hlinkClick r:id="rId11"/>
          </p:cNvPr>
          <p:cNvSpPr/>
          <p:nvPr/>
        </p:nvSpPr>
        <p:spPr>
          <a:xfrm>
            <a:off x="6172200" y="3026663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308152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Fesser 2023 — Physics soft loss 반례 (3부)</a:t>
            </a:r>
          </a:p>
        </p:txBody>
      </p:sp>
      <p:sp>
        <p:nvSpPr>
          <p:cNvPr id="27" name="Rounded Rectangle 26">
            <a:hlinkClick r:id="rId12"/>
          </p:cNvPr>
          <p:cNvSpPr/>
          <p:nvPr/>
        </p:nvSpPr>
        <p:spPr>
          <a:xfrm>
            <a:off x="6172200" y="3593591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64845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Ghahramani 2013 — UQ (3부)</a:t>
            </a:r>
          </a:p>
        </p:txBody>
      </p:sp>
      <p:sp>
        <p:nvSpPr>
          <p:cNvPr id="29" name="Rounded Rectangle 28">
            <a:hlinkClick r:id="rId13"/>
          </p:cNvPr>
          <p:cNvSpPr/>
          <p:nvPr/>
        </p:nvSpPr>
        <p:spPr>
          <a:xfrm>
            <a:off x="6172200" y="4160520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2153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Zhu 2022 — 기권 (3부)</a:t>
            </a:r>
          </a:p>
        </p:txBody>
      </p:sp>
      <p:sp>
        <p:nvSpPr>
          <p:cNvPr id="31" name="Rounded Rectangle 30">
            <a:hlinkClick r:id="rId14"/>
          </p:cNvPr>
          <p:cNvSpPr/>
          <p:nvPr/>
        </p:nvSpPr>
        <p:spPr>
          <a:xfrm>
            <a:off x="6172200" y="4727448"/>
            <a:ext cx="1325880" cy="384048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47823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CF1F7"/>
                </a:solidFill>
                <a:latin typeface="Apple SD Gothic Neo"/>
                <a:ea typeface="Apple SD Gothic Neo"/>
              </a:rPr>
              <a:t>학습노트 PDF (전체 정리)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