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28.png" ContentType="image/png"/>
  <Override PartName="/ppt/media/image30.png" ContentType="image/png"/>
  <Override PartName="/ppt/media/image10.png" ContentType="image/png"/>
  <Override PartName="/ppt/media/image5.png" ContentType="image/png"/>
  <Override PartName="/ppt/media/image35.png" ContentType="image/png"/>
  <Override PartName="/ppt/media/image29.png" ContentType="image/png"/>
  <Override PartName="/ppt/media/image6.png" ContentType="image/png"/>
  <Override PartName="/ppt/media/image3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hdphoto1.wdp" ContentType="image/vnd.ms-photo"/>
  <Override PartName="/ppt/media/image1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ko-KR" sz="4400" spc="-1" strike="noStrike">
                <a:latin typeface="Noto Sans CJK KR"/>
              </a:rPr>
              <a:t>슬라이드를 이동하려면 클릭하십시오</a:t>
            </a:r>
            <a:r>
              <a:rPr b="0" lang="en-US" sz="4400" spc="-1" strike="noStrike">
                <a:latin typeface="Noto Sans CJK KR"/>
              </a:rPr>
              <a:t>.</a:t>
            </a:r>
            <a:endParaRPr b="0" lang="en-US" sz="4400" spc="-1" strike="noStrike">
              <a:latin typeface="Noto Sans CJK KR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ko-KR" sz="2000" spc="-1" strike="noStrike">
                <a:latin typeface="Noto Sans CJK KR"/>
              </a:rPr>
              <a:t>메모 서식을 편집하려면 클릭하십시오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Noto Serif CJK KR"/>
              </a:rPr>
              <a:t>&lt;머리글&gt;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Noto Serif CJK KR"/>
              </a:rPr>
              <a:t>&lt;날짜/시간&gt;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Noto Serif CJK KR"/>
              </a:defRPr>
            </a:lvl1pPr>
          </a:lstStyle>
          <a:p>
            <a:r>
              <a:rPr b="0" lang="en-US" sz="1400" spc="-1" strike="noStrike">
                <a:latin typeface="Noto Serif CJK KR"/>
              </a:rPr>
              <a:t>&lt;바닥글&gt;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r">
              <a:buNone/>
            </a:pPr>
            <a:fld id="{028B5161-1CF7-4058-A295-96651A7C07C7}" type="slidenum">
              <a:rPr b="0" lang="en-US" sz="1400" spc="-1" strike="noStrike">
                <a:latin typeface="Noto Serif CJK KR"/>
              </a:rPr>
              <a:t>&lt;숫자&gt;</a:t>
            </a:fld>
            <a:endParaRPr b="0" lang="en-US" sz="1400" spc="-1" strike="noStrike"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[30</a:t>
            </a:r>
            <a:r>
              <a:rPr b="0" lang="ko-KR" sz="2000" spc="-1" strike="noStrike">
                <a:latin typeface="Noto Sans CJK KR"/>
              </a:rPr>
              <a:t>초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오늘은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회귀 외삽</a:t>
            </a:r>
            <a:r>
              <a:rPr b="0" lang="en-US" sz="2000" spc="-1" strike="noStrike">
                <a:latin typeface="Noto Sans CJK KR"/>
              </a:rPr>
              <a:t>** — </a:t>
            </a:r>
            <a:r>
              <a:rPr b="0" lang="ko-KR" sz="2000" spc="-1" strike="noStrike">
                <a:latin typeface="Noto Sans CJK KR"/>
              </a:rPr>
              <a:t>연속값 </a:t>
            </a:r>
            <a:r>
              <a:rPr b="0" lang="en-US" sz="2000" spc="-1" strike="noStrike">
                <a:latin typeface="Noto Sans CJK KR"/>
              </a:rPr>
              <a:t>y, </a:t>
            </a:r>
            <a:r>
              <a:rPr b="0" lang="ko-KR" sz="2000" spc="-1" strike="noStrike">
                <a:latin typeface="Noto Sans CJK KR"/>
              </a:rPr>
              <a:t>센서→품질 같은 </a:t>
            </a:r>
            <a:r>
              <a:rPr b="0" lang="en-US" sz="2000" spc="-1" strike="noStrike">
                <a:latin typeface="Noto Sans CJK KR"/>
              </a:rPr>
              <a:t>tabular·</a:t>
            </a:r>
            <a:r>
              <a:rPr b="0" lang="ko-KR" sz="2000" spc="-1" strike="noStrike">
                <a:latin typeface="Noto Sans CJK KR"/>
              </a:rPr>
              <a:t>시계열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분류</a:t>
            </a:r>
            <a:r>
              <a:rPr b="0" lang="en-US" sz="2000" spc="-1" strike="noStrike">
                <a:latin typeface="Noto Sans CJK KR"/>
              </a:rPr>
              <a:t>·domain generalization(OOD)</a:t>
            </a:r>
            <a:r>
              <a:rPr b="0" lang="ko-KR" sz="2000" spc="-1" strike="noStrike">
                <a:latin typeface="Noto Sans CJK KR"/>
              </a:rPr>
              <a:t>은 범위 밖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네 파트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정의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실패 원인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대응법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성능 검증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결론 미리 — 밖을 지탱하는 건 데이터가 아니라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가정</a:t>
            </a:r>
            <a:r>
              <a:rPr b="0" lang="en-US" sz="2000" spc="-1" strike="noStrike">
                <a:latin typeface="Noto Sans CJK KR"/>
              </a:rPr>
              <a:t>**.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위 세 상자가 목차입니다</a:t>
            </a:r>
            <a:r>
              <a:rPr b="0" lang="en-US" sz="2000" spc="-1" strike="noStrike">
                <a:latin typeface="Noto Sans CJK KR"/>
              </a:rPr>
              <a:t>. 1</a:t>
            </a:r>
            <a:r>
              <a:rPr b="0" lang="ko-KR" sz="2000" spc="-1" strike="noStrike">
                <a:latin typeface="Noto Sans CJK KR"/>
              </a:rPr>
              <a:t>부 —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외삽 정의</a:t>
            </a:r>
            <a:r>
              <a:rPr b="0" lang="en-US" sz="2000" spc="-1" strike="noStrike">
                <a:latin typeface="Noto Sans CJK KR"/>
              </a:rPr>
              <a:t>**(</a:t>
            </a:r>
            <a:r>
              <a:rPr b="0" lang="ko-KR" sz="2000" spc="-1" strike="noStrike">
                <a:latin typeface="Noto Sans CJK KR"/>
              </a:rPr>
              <a:t>보간 </a:t>
            </a:r>
            <a:r>
              <a:rPr b="0" lang="en-US" sz="2000" spc="-1" strike="noStrike">
                <a:latin typeface="Noto Sans CJK KR"/>
              </a:rPr>
              <a:t>vs </a:t>
            </a:r>
            <a:r>
              <a:rPr b="0" lang="ko-KR" sz="2000" spc="-1" strike="noStrike">
                <a:latin typeface="Noto Sans CJK KR"/>
              </a:rPr>
              <a:t>외삽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훈련 범위</a:t>
            </a:r>
            <a:r>
              <a:rPr b="0" lang="en-US" sz="2000" spc="-1" strike="noStrike">
                <a:latin typeface="Noto Sans CJK KR"/>
              </a:rPr>
              <a:t>). 2</a:t>
            </a:r>
            <a:r>
              <a:rPr b="0" lang="ko-KR" sz="2000" spc="-1" strike="noStrike">
                <a:latin typeface="Noto Sans CJK KR"/>
              </a:rPr>
              <a:t>부 —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외삽 실패 원인</a:t>
            </a:r>
            <a:r>
              <a:rPr b="0" lang="en-US" sz="2000" spc="-1" strike="noStrike">
                <a:latin typeface="Noto Sans CJK KR"/>
              </a:rPr>
              <a:t>** </a:t>
            </a:r>
            <a:r>
              <a:rPr b="0" lang="ko-KR" sz="2000" spc="-1" strike="noStrike">
                <a:latin typeface="Noto Sans CJK KR"/>
              </a:rPr>
              <a:t>네 가지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데이터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차원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불확실성</a:t>
            </a:r>
            <a:r>
              <a:rPr b="0" lang="en-US" sz="2000" spc="-1" strike="noStrike">
                <a:latin typeface="Noto Sans CJK KR"/>
              </a:rPr>
              <a:t>·ReLU). 3</a:t>
            </a:r>
            <a:r>
              <a:rPr b="0" lang="ko-KR" sz="2000" spc="-1" strike="noStrike">
                <a:latin typeface="Noto Sans CJK KR"/>
              </a:rPr>
              <a:t>부 —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외삽 대응법</a:t>
            </a:r>
            <a:r>
              <a:rPr b="0" lang="en-US" sz="2000" spc="-1" strike="noStrike">
                <a:latin typeface="Noto Sans CJK KR"/>
              </a:rPr>
              <a:t>**(</a:t>
            </a:r>
            <a:r>
              <a:rPr b="0" lang="ko-KR" sz="2000" spc="-1" strike="noStrike">
                <a:latin typeface="Noto Sans CJK KR"/>
              </a:rPr>
              <a:t>가정 넣기</a:t>
            </a:r>
            <a:r>
              <a:rPr b="0" lang="en-US" sz="2000" spc="-1" strike="noStrike">
                <a:latin typeface="Noto Sans CJK KR"/>
              </a:rPr>
              <a:t>)</a:t>
            </a:r>
            <a:r>
              <a:rPr b="0" lang="ko-KR" sz="2000" spc="-1" strike="noStrike">
                <a:latin typeface="Noto Sans CJK KR"/>
              </a:rPr>
              <a:t>과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외삽 성능 검증</a:t>
            </a:r>
            <a:r>
              <a:rPr b="0" lang="en-US" sz="2000" spc="-1" strike="noStrike">
                <a:latin typeface="Noto Sans CJK KR"/>
              </a:rPr>
              <a:t>**(</a:t>
            </a:r>
            <a:r>
              <a:rPr b="0" lang="ko-KR" sz="2000" spc="-1" strike="noStrike">
                <a:latin typeface="Noto Sans CJK KR"/>
              </a:rPr>
              <a:t>주장이 맞는지 확인</a:t>
            </a:r>
            <a:r>
              <a:rPr b="0" lang="en-US" sz="2000" spc="-1" strike="noStrike">
                <a:latin typeface="Noto Sans CJK KR"/>
              </a:rPr>
              <a:t>). </a:t>
            </a:r>
            <a:r>
              <a:rPr b="0" lang="ko-KR" sz="2000" spc="-1" strike="noStrike">
                <a:latin typeface="Noto Sans CJK KR"/>
              </a:rPr>
              <a:t>다음 장에서 핵심 용어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가정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을 정의합니다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 ★ </a:t>
            </a:r>
            <a:r>
              <a:rPr b="0" lang="ko-KR" sz="2000" spc="-1" strike="noStrike">
                <a:latin typeface="Noto Sans CJK KR"/>
              </a:rPr>
              <a:t>용어 장 — 반드시 천천히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'</a:t>
            </a:r>
            <a:r>
              <a:rPr b="0" lang="ko-KR" sz="2000" spc="-1" strike="noStrike">
                <a:latin typeface="Noto Sans CJK KR"/>
              </a:rPr>
              <a:t>가정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이 오늘 키워드입니다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왼쪽 그림 — 훈련점</a:t>
            </a:r>
            <a:r>
              <a:rPr b="0" lang="en-US" sz="2000" spc="-1" strike="noStrike">
                <a:latin typeface="Noto Sans CJK KR"/>
              </a:rPr>
              <a:t>(●)</a:t>
            </a:r>
            <a:r>
              <a:rPr b="0" lang="ko-KR" sz="2000" spc="-1" strike="noStrike">
                <a:latin typeface="Noto Sans CJK KR"/>
              </a:rPr>
              <a:t>은 전부 같습니다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가정 </a:t>
            </a:r>
            <a:r>
              <a:rPr b="0" lang="en-US" sz="2000" spc="-1" strike="noStrike">
                <a:latin typeface="Noto Sans CJK KR"/>
              </a:rPr>
              <a:t>A(</a:t>
            </a:r>
            <a:r>
              <a:rPr b="0" lang="ko-KR" sz="2000" spc="-1" strike="noStrike">
                <a:latin typeface="Noto Sans CJK KR"/>
              </a:rPr>
              <a:t>선형</a:t>
            </a:r>
            <a:r>
              <a:rPr b="0" lang="en-US" sz="2000" spc="-1" strike="noStrike">
                <a:latin typeface="Noto Sans CJK KR"/>
              </a:rPr>
              <a:t>)·B(</a:t>
            </a:r>
            <a:r>
              <a:rPr b="0" lang="ko-KR" sz="2000" spc="-1" strike="noStrike">
                <a:latin typeface="Noto Sans CJK KR"/>
              </a:rPr>
              <a:t>지수</a:t>
            </a:r>
            <a:r>
              <a:rPr b="0" lang="en-US" sz="2000" spc="-1" strike="noStrike">
                <a:latin typeface="Noto Sans CJK KR"/>
              </a:rPr>
              <a:t>)·C(</a:t>
            </a:r>
            <a:r>
              <a:rPr b="0" lang="ko-KR" sz="2000" spc="-1" strike="noStrike">
                <a:latin typeface="Noto Sans CJK KR"/>
              </a:rPr>
              <a:t>비선형</a:t>
            </a:r>
            <a:r>
              <a:rPr b="0" lang="en-US" sz="2000" spc="-1" strike="noStrike">
                <a:latin typeface="Noto Sans CJK KR"/>
              </a:rPr>
              <a:t>)</a:t>
            </a:r>
            <a:r>
              <a:rPr b="0" lang="ko-KR" sz="2000" spc="-1" strike="noStrike">
                <a:latin typeface="Noto Sans CJK KR"/>
              </a:rPr>
              <a:t>만 바꾸면 </a:t>
            </a:r>
            <a:r>
              <a:rPr b="0" lang="en-US" sz="2000" spc="-1" strike="noStrike">
                <a:latin typeface="Noto Sans CJK KR"/>
              </a:rPr>
              <a:t>x&gt;2 </a:t>
            </a:r>
            <a:r>
              <a:rPr b="0" lang="ko-KR" sz="2000" spc="-1" strike="noStrike">
                <a:latin typeface="Noto Sans CJK KR"/>
              </a:rPr>
              <a:t>밖에서 곡선이 완전히 달라집니다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오른쪽 ① 정의</a:t>
            </a:r>
            <a:r>
              <a:rPr b="0" lang="en-US" sz="2000" spc="-1" strike="noStrike">
                <a:latin typeface="Noto Sans CJK KR"/>
              </a:rPr>
              <a:t>, ② </a:t>
            </a:r>
            <a:r>
              <a:rPr b="0" lang="ko-KR" sz="2000" spc="-1" strike="noStrike">
                <a:latin typeface="Noto Sans CJK KR"/>
              </a:rPr>
              <a:t>왜 필요</a:t>
            </a:r>
            <a:r>
              <a:rPr b="0" lang="en-US" sz="2000" spc="-1" strike="noStrike">
                <a:latin typeface="Noto Sans CJK KR"/>
              </a:rPr>
              <a:t>(Pfister), ③ </a:t>
            </a:r>
            <a:r>
              <a:rPr b="0" lang="ko-KR" sz="2000" spc="-1" strike="noStrike">
                <a:latin typeface="Noto Sans CJK KR"/>
              </a:rPr>
              <a:t>주입 위치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아래 ④ 그림 해석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이후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가정을 넣는다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는 이 뜻으로만 쓰겠습니다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[20</a:t>
            </a:r>
            <a:r>
              <a:rPr b="0" lang="ko-KR" sz="2000" spc="-1" strike="noStrike">
                <a:latin typeface="Noto Sans CJK KR"/>
              </a:rPr>
              <a:t>초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1</a:t>
            </a:r>
            <a:r>
              <a:rPr b="0" lang="ko-KR" sz="2000" spc="-1" strike="noStrike">
                <a:latin typeface="Noto Sans CJK KR"/>
              </a:rPr>
              <a:t>부입니다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먼저 </a:t>
            </a:r>
            <a:r>
              <a:rPr b="0" lang="en-US" sz="2000" spc="-1" strike="noStrike">
                <a:latin typeface="Noto Sans CJK KR"/>
              </a:rPr>
              <a:t>OOD</a:t>
            </a:r>
            <a:r>
              <a:rPr b="0" lang="ko-KR" sz="2000" spc="-1" strike="noStrike">
                <a:latin typeface="Noto Sans CJK KR"/>
              </a:rPr>
              <a:t>와 외삽 — 헷갈리기 쉬운 두 단어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이 발표는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외삽</a:t>
            </a:r>
            <a:r>
              <a:rPr b="0" lang="en-US" sz="2000" spc="-1" strike="noStrike">
                <a:latin typeface="Noto Sans CJK KR"/>
              </a:rPr>
              <a:t>** </a:t>
            </a:r>
            <a:r>
              <a:rPr b="0" lang="ko-KR" sz="2000" spc="-1" strike="noStrike">
                <a:latin typeface="Noto Sans CJK KR"/>
              </a:rPr>
              <a:t>좌표계에 집중합니다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그다음 보간</a:t>
            </a:r>
            <a:r>
              <a:rPr b="0" lang="en-US" sz="2000" spc="-1" strike="noStrike">
                <a:latin typeface="Noto Sans CJK KR"/>
              </a:rPr>
              <a:t>/</a:t>
            </a:r>
            <a:r>
              <a:rPr b="0" lang="ko-KR" sz="2000" spc="-1" strike="noStrike">
                <a:latin typeface="Noto Sans CJK KR"/>
              </a:rPr>
              <a:t>외삽</a:t>
            </a:r>
            <a:r>
              <a:rPr b="0" lang="en-US" sz="2000" spc="-1" strike="noStrike">
                <a:latin typeface="Noto Sans CJK KR"/>
              </a:rPr>
              <a:t>, hull, </a:t>
            </a:r>
            <a:r>
              <a:rPr b="0" lang="ko-KR" sz="2000" spc="-1" strike="noStrike">
                <a:latin typeface="Noto Sans CJK KR"/>
              </a:rPr>
              <a:t>사례</a:t>
            </a:r>
            <a:r>
              <a:rPr b="0" lang="en-US" sz="2000" spc="-1" strike="noStrike">
                <a:latin typeface="Noto Sans CJK KR"/>
              </a:rPr>
              <a:t>. 5</a:t>
            </a:r>
            <a:r>
              <a:rPr b="0" lang="ko-KR" sz="2000" spc="-1" strike="noStrike">
                <a:latin typeface="Noto Sans CJK KR"/>
              </a:rPr>
              <a:t>분입니다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1</a:t>
            </a:r>
            <a:r>
              <a:rPr b="0" lang="ko-KR" sz="2000" spc="-1" strike="noStrike">
                <a:latin typeface="Noto Sans CJK KR"/>
              </a:rPr>
              <a:t>부 시작 — </a:t>
            </a:r>
            <a:r>
              <a:rPr b="0" lang="en-US" sz="2000" spc="-1" strike="noStrike">
                <a:latin typeface="Noto Sans CJK KR"/>
              </a:rPr>
              <a:t>OOD</a:t>
            </a:r>
            <a:r>
              <a:rPr b="0" lang="ko-KR" sz="2000" spc="-1" strike="noStrike">
                <a:latin typeface="Noto Sans CJK KR"/>
              </a:rPr>
              <a:t>와 외삽부터</a:t>
            </a:r>
            <a:r>
              <a:rPr b="0" lang="en-US" sz="2000" spc="-1" strike="noStrike">
                <a:latin typeface="Noto Sans CJK KR"/>
              </a:rPr>
              <a:t>. **</a:t>
            </a:r>
            <a:r>
              <a:rPr b="0" lang="ko-KR" sz="2000" spc="-1" strike="noStrike">
                <a:latin typeface="Noto Sans CJK KR"/>
              </a:rPr>
              <a:t>왼쪽 그림 </a:t>
            </a:r>
            <a:r>
              <a:rPr b="0" lang="en-US" sz="2000" spc="-1" strike="noStrike">
                <a:latin typeface="Noto Sans CJK KR"/>
              </a:rPr>
              <a:t>(a)** — OOD. train</a:t>
            </a:r>
            <a:r>
              <a:rPr b="0" lang="ko-KR" sz="2000" spc="-1" strike="noStrike">
                <a:latin typeface="Noto Sans CJK KR"/>
              </a:rPr>
              <a:t>과 </a:t>
            </a:r>
            <a:r>
              <a:rPr b="0" lang="en-US" sz="2000" spc="-1" strike="noStrike">
                <a:latin typeface="Noto Sans CJK KR"/>
              </a:rPr>
              <a:t>test **</a:t>
            </a:r>
            <a:r>
              <a:rPr b="0" lang="ko-KR" sz="2000" spc="-1" strike="noStrike">
                <a:latin typeface="Noto Sans CJK KR"/>
              </a:rPr>
              <a:t>분포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가 다릅니다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오른쪽 꼬리 </a:t>
            </a:r>
            <a:r>
              <a:rPr b="0" lang="en-US" sz="2000" spc="-1" strike="noStrike">
                <a:latin typeface="Noto Sans CJK KR"/>
              </a:rPr>
              <a:t>query</a:t>
            </a:r>
            <a:r>
              <a:rPr b="0" lang="ko-KR" sz="2000" spc="-1" strike="noStrike">
                <a:latin typeface="Noto Sans CJK KR"/>
              </a:rPr>
              <a:t>는 </a:t>
            </a:r>
            <a:r>
              <a:rPr b="0" lang="en-US" sz="2000" spc="-1" strike="noStrike">
                <a:latin typeface="Noto Sans CJK KR"/>
              </a:rPr>
              <a:t>train</a:t>
            </a:r>
            <a:r>
              <a:rPr b="0" lang="ko-KR" sz="2000" spc="-1" strike="noStrike">
                <a:latin typeface="Noto Sans CJK KR"/>
              </a:rPr>
              <a:t>이 본 적 없는 영역 — </a:t>
            </a:r>
            <a:r>
              <a:rPr b="0" lang="en-US" sz="2000" spc="-1" strike="noStrike">
                <a:latin typeface="Noto Sans CJK KR"/>
              </a:rPr>
              <a:t>OOD. **</a:t>
            </a:r>
            <a:r>
              <a:rPr b="0" lang="ko-KR" sz="2000" spc="-1" strike="noStrike">
                <a:latin typeface="Noto Sans CJK KR"/>
              </a:rPr>
              <a:t>오른쪽 그림 </a:t>
            </a:r>
            <a:r>
              <a:rPr b="0" lang="en-US" sz="2000" spc="-1" strike="noStrike">
                <a:latin typeface="Noto Sans CJK KR"/>
              </a:rPr>
              <a:t>(b)** — </a:t>
            </a:r>
            <a:r>
              <a:rPr b="0" lang="ko-KR" sz="2000" spc="-1" strike="noStrike">
                <a:latin typeface="Noto Sans CJK KR"/>
              </a:rPr>
              <a:t>외삽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훈련 점들의 </a:t>
            </a:r>
            <a:r>
              <a:rPr b="0" lang="en-US" sz="2000" spc="-1" strike="noStrike">
                <a:latin typeface="Noto Sans CJK KR"/>
              </a:rPr>
              <a:t>convex hull </a:t>
            </a:r>
            <a:r>
              <a:rPr b="0" lang="ko-KR" sz="2000" spc="-1" strike="noStrike">
                <a:latin typeface="Noto Sans CJK KR"/>
              </a:rPr>
              <a:t>안</a:t>
            </a:r>
            <a:r>
              <a:rPr b="0" lang="en-US" sz="2000" spc="-1" strike="noStrike">
                <a:latin typeface="Noto Sans CJK KR"/>
              </a:rPr>
              <a:t>/</a:t>
            </a:r>
            <a:r>
              <a:rPr b="0" lang="ko-KR" sz="2000" spc="-1" strike="noStrike">
                <a:latin typeface="Noto Sans CJK KR"/>
              </a:rPr>
              <a:t>밖으로 판별</a:t>
            </a:r>
            <a:r>
              <a:rPr b="0" lang="en-US" sz="2000" spc="-1" strike="noStrike">
                <a:latin typeface="Noto Sans CJK KR"/>
              </a:rPr>
              <a:t>. ★ </a:t>
            </a:r>
            <a:r>
              <a:rPr b="0" lang="ko-KR" sz="2000" spc="-1" strike="noStrike">
                <a:latin typeface="Noto Sans CJK KR"/>
              </a:rPr>
              <a:t>표시는 </a:t>
            </a:r>
            <a:r>
              <a:rPr b="0" lang="en-US" sz="2000" spc="-1" strike="noStrike">
                <a:latin typeface="Noto Sans CJK KR"/>
              </a:rPr>
              <a:t>hull **</a:t>
            </a:r>
            <a:r>
              <a:rPr b="0" lang="ko-KR" sz="2000" spc="-1" strike="noStrike">
                <a:latin typeface="Noto Sans CJK KR"/>
              </a:rPr>
              <a:t>밖</a:t>
            </a:r>
            <a:r>
              <a:rPr b="0" lang="en-US" sz="2000" spc="-1" strike="noStrike">
                <a:latin typeface="Noto Sans CJK KR"/>
              </a:rPr>
              <a:t>** extrap — </a:t>
            </a:r>
            <a:r>
              <a:rPr b="0" lang="ko-KR" sz="2000" spc="-1" strike="noStrike">
                <a:latin typeface="Noto Sans CJK KR"/>
              </a:rPr>
              <a:t>오늘의 좌표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보라 ■는 </a:t>
            </a:r>
            <a:r>
              <a:rPr b="0" lang="en-US" sz="2000" spc="-1" strike="noStrike">
                <a:latin typeface="Noto Sans CJK KR"/>
              </a:rPr>
              <a:t>hull **</a:t>
            </a:r>
            <a:r>
              <a:rPr b="0" lang="ko-KR" sz="2000" spc="-1" strike="noStrike">
                <a:latin typeface="Noto Sans CJK KR"/>
              </a:rPr>
              <a:t>안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인데 </a:t>
            </a:r>
            <a:r>
              <a:rPr b="0" lang="en-US" sz="2000" spc="-1" strike="noStrike">
                <a:latin typeface="Noto Sans CJK KR"/>
              </a:rPr>
              <a:t>concept shift — OOD</a:t>
            </a:r>
            <a:r>
              <a:rPr b="0" lang="ko-KR" sz="2000" spc="-1" strike="noStrike">
                <a:latin typeface="Noto Sans CJK KR"/>
              </a:rPr>
              <a:t>지만 </a:t>
            </a:r>
            <a:r>
              <a:rPr b="0" lang="en-US" sz="2000" spc="-1" strike="noStrike">
                <a:latin typeface="Noto Sans CJK KR"/>
              </a:rPr>
              <a:t>extrap </a:t>
            </a:r>
            <a:r>
              <a:rPr b="0" lang="ko-KR" sz="2000" spc="-1" strike="noStrike">
                <a:latin typeface="Noto Sans CJK KR"/>
              </a:rPr>
              <a:t>판별은 안 됩니다</a:t>
            </a:r>
            <a:r>
              <a:rPr b="0" lang="en-US" sz="2000" spc="-1" strike="noStrike">
                <a:latin typeface="Noto Sans CJK KR"/>
              </a:rPr>
              <a:t>. extrap</a:t>
            </a:r>
            <a:r>
              <a:rPr b="0" lang="ko-KR" sz="2000" spc="-1" strike="noStrike">
                <a:latin typeface="Noto Sans CJK KR"/>
              </a:rPr>
              <a:t>은 종종 </a:t>
            </a:r>
            <a:r>
              <a:rPr b="0" lang="en-US" sz="2000" spc="-1" strike="noStrike">
                <a:latin typeface="Noto Sans CJK KR"/>
              </a:rPr>
              <a:t>OOD </a:t>
            </a:r>
            <a:r>
              <a:rPr b="0" lang="ko-KR" sz="2000" spc="-1" strike="noStrike">
                <a:latin typeface="Noto Sans CJK KR"/>
              </a:rPr>
              <a:t>안쪽이지만</a:t>
            </a:r>
            <a:r>
              <a:rPr b="0" lang="en-US" sz="2000" spc="-1" strike="noStrike">
                <a:latin typeface="Noto Sans CJK KR"/>
              </a:rPr>
              <a:t>, OOD </a:t>
            </a:r>
            <a:r>
              <a:rPr b="0" lang="ko-KR" sz="2000" spc="-1" strike="noStrike">
                <a:latin typeface="Noto Sans CJK KR"/>
              </a:rPr>
              <a:t>전체가 </a:t>
            </a:r>
            <a:r>
              <a:rPr b="0" lang="en-US" sz="2000" spc="-1" strike="noStrike">
                <a:latin typeface="Noto Sans CJK KR"/>
              </a:rPr>
              <a:t>extrap</a:t>
            </a:r>
            <a:r>
              <a:rPr b="0" lang="ko-KR" sz="2000" spc="-1" strike="noStrike">
                <a:latin typeface="Noto Sans CJK KR"/>
              </a:rPr>
              <a:t>은 아닙니다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오늘 </a:t>
            </a:r>
            <a:r>
              <a:rPr b="0" lang="en-US" sz="2000" spc="-1" strike="noStrike">
                <a:latin typeface="Noto Sans CJK KR"/>
              </a:rPr>
              <a:t>50</a:t>
            </a:r>
            <a:r>
              <a:rPr b="0" lang="ko-KR" sz="2000" spc="-1" strike="noStrike">
                <a:latin typeface="Noto Sans CJK KR"/>
              </a:rPr>
              <a:t>분은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회귀 외삽</a:t>
            </a:r>
            <a:r>
              <a:rPr b="0" lang="en-US" sz="2000" spc="-1" strike="noStrike">
                <a:latin typeface="Noto Sans CJK KR"/>
              </a:rPr>
              <a:t>** — hull·</a:t>
            </a:r>
            <a:r>
              <a:rPr b="0" lang="ko-KR" sz="2000" spc="-1" strike="noStrike">
                <a:latin typeface="Noto Sans CJK KR"/>
              </a:rPr>
              <a:t>연속 </a:t>
            </a:r>
            <a:r>
              <a:rPr b="0" lang="en-US" sz="2000" spc="-1" strike="noStrike">
                <a:latin typeface="Noto Sans CJK KR"/>
              </a:rPr>
              <a:t>y·</a:t>
            </a:r>
            <a:r>
              <a:rPr b="0" lang="ko-KR" sz="2000" spc="-1" strike="noStrike">
                <a:latin typeface="Noto Sans CJK KR"/>
              </a:rPr>
              <a:t>가정</a:t>
            </a:r>
            <a:r>
              <a:rPr b="0" lang="en-US" sz="2000" spc="-1" strike="noStrike">
                <a:latin typeface="Noto Sans CJK KR"/>
              </a:rPr>
              <a:t>. IRM·DomainBed</a:t>
            </a:r>
            <a:r>
              <a:rPr b="0" lang="ko-KR" sz="2000" spc="-1" strike="noStrike">
                <a:latin typeface="Noto Sans CJK KR"/>
              </a:rPr>
              <a:t>는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분류 </a:t>
            </a:r>
            <a:r>
              <a:rPr b="0" lang="en-US" sz="2000" spc="-1" strike="noStrike">
                <a:latin typeface="Noto Sans CJK KR"/>
              </a:rPr>
              <a:t>DG** </a:t>
            </a:r>
            <a:r>
              <a:rPr b="0" lang="ko-KR" sz="2000" spc="-1" strike="noStrike">
                <a:latin typeface="Noto Sans CJK KR"/>
              </a:rPr>
              <a:t>쪽 — 오늘 범위 밖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다음 장 보간</a:t>
            </a:r>
            <a:r>
              <a:rPr b="0" lang="en-US" sz="2000" spc="-1" strike="noStrike">
                <a:latin typeface="Noto Sans CJK KR"/>
              </a:rPr>
              <a:t>/</a:t>
            </a:r>
            <a:r>
              <a:rPr b="0" lang="ko-KR" sz="2000" spc="-1" strike="noStrike">
                <a:latin typeface="Noto Sans CJK KR"/>
              </a:rPr>
              <a:t>외삽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정의부터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외삽은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훈련 범위 밖에서의 예측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왼쪽 그림 — 같은 모델인데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예측할 입력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이 훈련 범위 안이면 보간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밖이면 외삽입니다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그래서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모델이 외삽되나</a:t>
            </a:r>
            <a:r>
              <a:rPr b="0" lang="en-US" sz="2000" spc="-1" strike="noStrike">
                <a:latin typeface="Noto Sans CJK KR"/>
              </a:rPr>
              <a:t>?'</a:t>
            </a:r>
            <a:r>
              <a:rPr b="0" lang="ko-KR" sz="2000" spc="-1" strike="noStrike">
                <a:latin typeface="Noto Sans CJK KR"/>
              </a:rPr>
              <a:t>가 아니라 </a:t>
            </a:r>
            <a:r>
              <a:rPr b="0" lang="en-US" sz="2000" spc="-1" strike="noStrike">
                <a:latin typeface="Noto Sans CJK KR"/>
              </a:rPr>
              <a:t>'**</a:t>
            </a:r>
            <a:r>
              <a:rPr b="0" lang="ko-KR" sz="2000" spc="-1" strike="noStrike">
                <a:latin typeface="Noto Sans CJK KR"/>
              </a:rPr>
              <a:t>지금 넣는 입력이 범위 밖인가</a:t>
            </a:r>
            <a:r>
              <a:rPr b="0" lang="en-US" sz="2000" spc="-1" strike="noStrike">
                <a:latin typeface="Noto Sans CJK KR"/>
              </a:rPr>
              <a:t>?**'</a:t>
            </a:r>
            <a:r>
              <a:rPr b="0" lang="ko-KR" sz="2000" spc="-1" strike="noStrike">
                <a:latin typeface="Noto Sans CJK KR"/>
              </a:rPr>
              <a:t>가 먼저입니다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적용 예 — 키 </a:t>
            </a:r>
            <a:r>
              <a:rPr b="0" lang="en-US" sz="2000" spc="-1" strike="noStrike">
                <a:latin typeface="Noto Sans CJK KR"/>
              </a:rPr>
              <a:t>160~180</a:t>
            </a:r>
            <a:r>
              <a:rPr b="0" lang="ko-KR" sz="2000" spc="-1" strike="noStrike">
                <a:latin typeface="Noto Sans CJK KR"/>
              </a:rPr>
              <a:t>으로 학습한 몸무게 모델에 </a:t>
            </a:r>
            <a:r>
              <a:rPr b="0" lang="en-US" sz="2000" spc="-1" strike="noStrike">
                <a:latin typeface="Noto Sans CJK KR"/>
              </a:rPr>
              <a:t>175</a:t>
            </a:r>
            <a:r>
              <a:rPr b="0" lang="ko-KR" sz="2000" spc="-1" strike="noStrike">
                <a:latin typeface="Noto Sans CJK KR"/>
              </a:rPr>
              <a:t>를 물으면 보간</a:t>
            </a:r>
            <a:r>
              <a:rPr b="0" lang="en-US" sz="2000" spc="-1" strike="noStrike">
                <a:latin typeface="Noto Sans CJK KR"/>
              </a:rPr>
              <a:t>, 195</a:t>
            </a:r>
            <a:r>
              <a:rPr b="0" lang="ko-KR" sz="2000" spc="-1" strike="noStrike">
                <a:latin typeface="Noto Sans CJK KR"/>
              </a:rPr>
              <a:t>를 물으면 외삽입니다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여름 데이터로 겨울 수요를 예측하는 것도 외삽입니다 — 시간축도 똑같습니다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약속 하나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오늘 모든 그림에서 음영이 훈련 범위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그 밖이 외삽 영역입니다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오른쪽 네 단계입니다</a:t>
            </a:r>
            <a:r>
              <a:rPr b="0" lang="en-US" sz="2000" spc="-1" strike="noStrike">
                <a:latin typeface="Noto Sans CJK KR"/>
              </a:rPr>
              <a:t>. ① </a:t>
            </a:r>
            <a:r>
              <a:rPr b="0" lang="ko-KR" sz="2000" spc="-1" strike="noStrike">
                <a:latin typeface="Noto Sans CJK KR"/>
              </a:rPr>
              <a:t>개념 — 훈련 </a:t>
            </a:r>
            <a:r>
              <a:rPr b="0" lang="en-US" sz="2000" spc="-1" strike="noStrike">
                <a:latin typeface="Noto Sans CJK KR"/>
              </a:rPr>
              <a:t>row(●)</a:t>
            </a:r>
            <a:r>
              <a:rPr b="0" lang="ko-KR" sz="2000" spc="-1" strike="noStrike">
                <a:latin typeface="Noto Sans CJK KR"/>
              </a:rPr>
              <a:t>들을 고무줄로 감싼 영역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외곽</a:t>
            </a:r>
            <a:r>
              <a:rPr b="0" lang="en-US" sz="2000" spc="-1" strike="noStrike">
                <a:latin typeface="Noto Sans CJK KR"/>
              </a:rPr>
              <a:t>+</a:t>
            </a:r>
            <a:r>
              <a:rPr b="0" lang="ko-KR" sz="2000" spc="-1" strike="noStrike">
                <a:latin typeface="Noto Sans CJK KR"/>
              </a:rPr>
              <a:t>안</a:t>
            </a:r>
            <a:r>
              <a:rPr b="0" lang="en-US" sz="2000" spc="-1" strike="noStrike">
                <a:latin typeface="Noto Sans CJK KR"/>
              </a:rPr>
              <a:t>. ② </a:t>
            </a:r>
            <a:r>
              <a:rPr b="0" lang="ko-KR" sz="2000" spc="-1" strike="noStrike">
                <a:latin typeface="Noto Sans CJK KR"/>
              </a:rPr>
              <a:t>수식 — </a:t>
            </a:r>
            <a:r>
              <a:rPr b="0" lang="en-US" sz="2000" spc="-1" strike="noStrike">
                <a:latin typeface="Noto Sans CJK KR"/>
              </a:rPr>
              <a:t>Conv(X_train) = Σ α_i x_i, α_i ≥ 0, Σ α_i = 1. ③ </a:t>
            </a:r>
            <a:r>
              <a:rPr b="0" lang="ko-KR" sz="2000" spc="-1" strike="noStrike">
                <a:latin typeface="Noto Sans CJK KR"/>
              </a:rPr>
              <a:t>의미 — </a:t>
            </a:r>
            <a:r>
              <a:rPr b="0" lang="en-US" sz="2000" spc="-1" strike="noStrike">
                <a:latin typeface="Noto Sans CJK KR"/>
              </a:rPr>
              <a:t>hull </a:t>
            </a:r>
            <a:r>
              <a:rPr b="0" lang="ko-KR" sz="2000" spc="-1" strike="noStrike">
                <a:latin typeface="Noto Sans CJK KR"/>
              </a:rPr>
              <a:t>안</a:t>
            </a:r>
            <a:r>
              <a:rPr b="0" lang="en-US" sz="2000" spc="-1" strike="noStrike">
                <a:latin typeface="Noto Sans CJK KR"/>
              </a:rPr>
              <a:t>=</a:t>
            </a:r>
            <a:r>
              <a:rPr b="0" lang="ko-KR" sz="2000" spc="-1" strike="noStrike">
                <a:latin typeface="Noto Sans CJK KR"/>
              </a:rPr>
              <a:t>보간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밖</a:t>
            </a:r>
            <a:r>
              <a:rPr b="0" lang="en-US" sz="2000" spc="-1" strike="noStrike">
                <a:latin typeface="Noto Sans CJK KR"/>
              </a:rPr>
              <a:t>=</a:t>
            </a:r>
            <a:r>
              <a:rPr b="0" lang="ko-KR" sz="2000" spc="-1" strike="noStrike">
                <a:latin typeface="Noto Sans CJK KR"/>
              </a:rPr>
              <a:t>외삽</a:t>
            </a:r>
            <a:r>
              <a:rPr b="0" lang="en-US" sz="2000" spc="-1" strike="noStrike">
                <a:latin typeface="Noto Sans CJK KR"/>
              </a:rPr>
              <a:t>. Σ=1</a:t>
            </a:r>
            <a:r>
              <a:rPr b="0" lang="ko-KR" sz="2000" spc="-1" strike="noStrike">
                <a:latin typeface="Noto Sans CJK KR"/>
              </a:rPr>
              <a:t>은 섞기 </a:t>
            </a:r>
            <a:r>
              <a:rPr b="0" lang="en-US" sz="2000" spc="-1" strike="noStrike">
                <a:latin typeface="Noto Sans CJK KR"/>
              </a:rPr>
              <a:t>100%</a:t>
            </a:r>
            <a:r>
              <a:rPr b="0" lang="ko-KR" sz="2000" spc="-1" strike="noStrike">
                <a:latin typeface="Noto Sans CJK KR"/>
              </a:rPr>
              <a:t>라 고무줄 안만</a:t>
            </a:r>
            <a:r>
              <a:rPr b="0" lang="en-US" sz="2000" spc="-1" strike="noStrike">
                <a:latin typeface="Noto Sans CJK KR"/>
              </a:rPr>
              <a:t>. ④ </a:t>
            </a:r>
            <a:r>
              <a:rPr b="0" lang="ko-KR" sz="2000" spc="-1" strike="noStrike">
                <a:latin typeface="Noto Sans CJK KR"/>
              </a:rPr>
              <a:t>왜 정의</a:t>
            </a:r>
            <a:r>
              <a:rPr b="0" lang="en-US" sz="2000" spc="-1" strike="noStrike">
                <a:latin typeface="Noto Sans CJK KR"/>
              </a:rPr>
              <a:t>? — '</a:t>
            </a:r>
            <a:r>
              <a:rPr b="0" lang="ko-KR" sz="2000" spc="-1" strike="noStrike">
                <a:latin typeface="Noto Sans CJK KR"/>
              </a:rPr>
              <a:t>범위 밖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을 느낌이 아니라 수학으로 판정해야 </a:t>
            </a:r>
            <a:r>
              <a:rPr b="0" lang="en-US" sz="2000" spc="-1" strike="noStrike">
                <a:latin typeface="Noto Sans CJK KR"/>
              </a:rPr>
              <a:t>3</a:t>
            </a:r>
            <a:r>
              <a:rPr b="0" lang="ko-KR" sz="2000" spc="-1" strike="noStrike">
                <a:latin typeface="Noto Sans CJK KR"/>
              </a:rPr>
              <a:t>부 검증이 됩니다</a:t>
            </a:r>
            <a:r>
              <a:rPr b="0" lang="en-US" sz="2000" spc="-1" strike="noStrike">
                <a:latin typeface="Noto Sans CJK KR"/>
              </a:rPr>
              <a:t>. min/max</a:t>
            </a:r>
            <a:r>
              <a:rPr b="0" lang="ko-KR" sz="2000" spc="-1" strike="noStrike">
                <a:latin typeface="Noto Sans CJK KR"/>
              </a:rPr>
              <a:t>나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비슷해 보여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로는 부족합니다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왼쪽 함정 — 변수별로는 범위 안인데 조합은 </a:t>
            </a:r>
            <a:r>
              <a:rPr b="0" lang="en-US" sz="2000" spc="-1" strike="noStrike">
                <a:latin typeface="Noto Sans CJK KR"/>
              </a:rPr>
              <a:t>hull </a:t>
            </a:r>
            <a:r>
              <a:rPr b="0" lang="ko-KR" sz="2000" spc="-1" strike="noStrike">
                <a:latin typeface="Noto Sans CJK KR"/>
              </a:rPr>
              <a:t>밖일 수 있습니다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밖에서 무슨 일이 생기는지 대표 사례입니다</a:t>
            </a:r>
            <a:r>
              <a:rPr b="0" lang="en-US" sz="2000" spc="-1" strike="noStrike">
                <a:latin typeface="Noto Sans CJK KR"/>
              </a:rPr>
              <a:t>. 4</a:t>
            </a:r>
            <a:r>
              <a:rPr b="0" lang="ko-KR" sz="2000" spc="-1" strike="noStrike">
                <a:latin typeface="Noto Sans CJK KR"/>
              </a:rPr>
              <a:t>차 다항식이 훈련 구간 안에서는 사실상 완벽합니다 — 오차가 </a:t>
            </a:r>
            <a:r>
              <a:rPr b="0" lang="en-US" sz="2000" spc="-1" strike="noStrike">
                <a:latin typeface="Noto Sans CJK KR"/>
              </a:rPr>
              <a:t>0</a:t>
            </a:r>
            <a:r>
              <a:rPr b="0" lang="ko-KR" sz="2000" spc="-1" strike="noStrike">
                <a:latin typeface="Noto Sans CJK KR"/>
              </a:rPr>
              <a:t>에 가깝습니다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그런데 경계를 넘는 순간 폭발합니다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차수를 높이면 안은 더 잘 맞는데 밖은 더 크게 터집니다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여기서 교훈 하나만 새기고 </a:t>
            </a:r>
            <a:r>
              <a:rPr b="0" lang="en-US" sz="2000" spc="-1" strike="noStrike">
                <a:latin typeface="Noto Sans CJK KR"/>
              </a:rPr>
              <a:t>2</a:t>
            </a:r>
            <a:r>
              <a:rPr b="0" lang="ko-KR" sz="2000" spc="-1" strike="noStrike">
                <a:latin typeface="Noto Sans CJK KR"/>
              </a:rPr>
              <a:t>부로 갑니다</a:t>
            </a:r>
            <a:r>
              <a:rPr b="0" lang="en-US" sz="2000" spc="-1" strike="noStrike">
                <a:latin typeface="Noto Sans CJK KR"/>
              </a:rPr>
              <a:t>: '</a:t>
            </a:r>
            <a:r>
              <a:rPr b="0" lang="ko-KR" sz="2000" spc="-1" strike="noStrike">
                <a:latin typeface="Noto Sans CJK KR"/>
              </a:rPr>
              <a:t>안에서 잘 맞는다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와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밖에서 맞는다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는 서로 다른 질문이다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왜 다른 질문일 수밖에 없는지 — 그게 </a:t>
            </a:r>
            <a:r>
              <a:rPr b="0" lang="en-US" sz="2000" spc="-1" strike="noStrike">
                <a:latin typeface="Noto Sans CJK KR"/>
              </a:rPr>
              <a:t>2</a:t>
            </a:r>
            <a:r>
              <a:rPr b="0" lang="ko-KR" sz="2000" spc="-1" strike="noStrike">
                <a:latin typeface="Noto Sans CJK KR"/>
              </a:rPr>
              <a:t>부입니다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[20</a:t>
            </a:r>
            <a:r>
              <a:rPr b="0" lang="ko-KR" sz="2000" spc="-1" strike="noStrike">
                <a:latin typeface="Noto Sans CJK KR"/>
              </a:rPr>
              <a:t>초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2</a:t>
            </a:r>
            <a:r>
              <a:rPr b="0" lang="ko-KR" sz="2000" spc="-1" strike="noStrike">
                <a:latin typeface="Noto Sans CJK KR"/>
              </a:rPr>
              <a:t>부</a:t>
            </a:r>
            <a:r>
              <a:rPr b="0" lang="en-US" sz="2000" spc="-1" strike="noStrike">
                <a:latin typeface="Noto Sans CJK KR"/>
              </a:rPr>
              <a:t>, **</a:t>
            </a:r>
            <a:r>
              <a:rPr b="0" lang="ko-KR" sz="2000" spc="-1" strike="noStrike">
                <a:latin typeface="Noto Sans CJK KR"/>
              </a:rPr>
              <a:t>외삽 실패 원인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 '</a:t>
            </a:r>
            <a:r>
              <a:rPr b="0" lang="ko-KR" sz="2000" spc="-1" strike="noStrike">
                <a:latin typeface="Noto Sans CJK KR"/>
              </a:rPr>
              <a:t>한계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가 아니라 — 밖에서 왜 틀리는지 네 가지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식별 불가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데이터만으론 못 고름</a:t>
            </a:r>
            <a:r>
              <a:rPr b="0" lang="en-US" sz="2000" spc="-1" strike="noStrike">
                <a:latin typeface="Noto Sans CJK KR"/>
              </a:rPr>
              <a:t>), </a:t>
            </a:r>
            <a:r>
              <a:rPr b="0" lang="ko-KR" sz="2000" spc="-1" strike="noStrike">
                <a:latin typeface="Noto Sans CJK KR"/>
              </a:rPr>
              <a:t>고차원에서 범위 밖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밖에서 불확실성 폭발</a:t>
            </a:r>
            <a:r>
              <a:rPr b="0" lang="en-US" sz="2000" spc="-1" strike="noStrike">
                <a:latin typeface="Noto Sans CJK KR"/>
              </a:rPr>
              <a:t>, ReLU </a:t>
            </a:r>
            <a:r>
              <a:rPr b="0" lang="ko-KR" sz="2000" spc="-1" strike="noStrike">
                <a:latin typeface="Noto Sans CJK KR"/>
              </a:rPr>
              <a:t>직선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하나씩 보겠습니다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 ★ </a:t>
            </a:r>
            <a:r>
              <a:rPr b="0" lang="ko-KR" sz="2000" spc="-1" strike="noStrike">
                <a:latin typeface="Noto Sans CJK KR"/>
              </a:rPr>
              <a:t>발표 전체에서 가장 중요한 장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첫 번째 이유이자 오늘의 심장입니다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그림 — 직선 가설과 지수 가설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훈련 구간</a:t>
            </a:r>
            <a:r>
              <a:rPr b="0" lang="en-US" sz="2000" spc="-1" strike="noStrike">
                <a:latin typeface="Noto Sans CJK KR"/>
              </a:rPr>
              <a:t>(OBSERVED) </a:t>
            </a:r>
            <a:r>
              <a:rPr b="0" lang="ko-KR" sz="2000" spc="-1" strike="noStrike">
                <a:latin typeface="Noto Sans CJK KR"/>
              </a:rPr>
              <a:t>안에서는 둘 다 ●를 통과합니다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구분이 안 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밖</a:t>
            </a:r>
            <a:r>
              <a:rPr b="0" lang="en-US" sz="2000" spc="-1" strike="noStrike">
                <a:latin typeface="Noto Sans CJK KR"/>
              </a:rPr>
              <a:t>(UNIDENTIFIED)</a:t>
            </a:r>
            <a:r>
              <a:rPr b="0" lang="ko-KR" sz="2000" spc="-1" strike="noStrike">
                <a:latin typeface="Noto Sans CJK KR"/>
              </a:rPr>
              <a:t>으로 나가는 순간 전부 다른 답을 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아무 함수나 맞는 게 아니라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훈련점을 지나는 가설이 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원칙적으로</a:t>
            </a:r>
            <a:r>
              <a:rPr b="0" lang="en-US" sz="2000" spc="-1" strike="noStrike">
                <a:latin typeface="Noto Sans CJK KR"/>
              </a:rPr>
              <a:t>) </a:t>
            </a:r>
            <a:r>
              <a:rPr b="0" lang="ko-KR" sz="2000" spc="-1" strike="noStrike">
                <a:latin typeface="Noto Sans CJK KR"/>
              </a:rPr>
              <a:t>무한히 많다는 뜻입니다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그럼 데이터를 더 모으면 되지 않나</a:t>
            </a:r>
            <a:r>
              <a:rPr b="0" lang="en-US" sz="2000" spc="-1" strike="noStrike">
                <a:latin typeface="Noto Sans CJK KR"/>
              </a:rPr>
              <a:t>? — </a:t>
            </a:r>
            <a:r>
              <a:rPr b="0" lang="ko-KR" sz="2000" spc="-1" strike="noStrike">
                <a:latin typeface="Noto Sans CJK KR"/>
              </a:rPr>
              <a:t>훈련 범위 안에서만 늘어나면 소용없습니다</a:t>
            </a:r>
            <a:r>
              <a:rPr b="0" lang="en-US" sz="2000" spc="-1" strike="noStrike">
                <a:latin typeface="Noto Sans CJK KR"/>
              </a:rPr>
              <a:t>. Pfister 2024: </a:t>
            </a:r>
            <a:r>
              <a:rPr b="0" lang="ko-KR" sz="2000" spc="-1" strike="noStrike">
                <a:latin typeface="Noto Sans CJK KR"/>
              </a:rPr>
              <a:t>범위 밖 추론은 추가 가정 없이는 원리적으로 불가능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배터리 예 — </a:t>
            </a:r>
            <a:r>
              <a:rPr b="0" lang="en-US" sz="2000" spc="-1" strike="noStrike">
                <a:latin typeface="Noto Sans CJK KR"/>
              </a:rPr>
              <a:t>100</a:t>
            </a:r>
            <a:r>
              <a:rPr b="0" lang="ko-KR" sz="2000" spc="-1" strike="noStrike">
                <a:latin typeface="Noto Sans CJK KR"/>
              </a:rPr>
              <a:t>사이클까지 선형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지수 열화 둘 다 완벽 적합</a:t>
            </a:r>
            <a:r>
              <a:rPr b="0" lang="en-US" sz="2000" spc="-1" strike="noStrike">
                <a:latin typeface="Noto Sans CJK KR"/>
              </a:rPr>
              <a:t>, 500</a:t>
            </a:r>
            <a:r>
              <a:rPr b="0" lang="ko-KR" sz="2000" spc="-1" strike="noStrike">
                <a:latin typeface="Noto Sans CJK KR"/>
              </a:rPr>
              <a:t>사이클 수명은 </a:t>
            </a:r>
            <a:r>
              <a:rPr b="0" lang="en-US" sz="2000" spc="-1" strike="noStrike">
                <a:latin typeface="Noto Sans CJK KR"/>
              </a:rPr>
              <a:t>2</a:t>
            </a:r>
            <a:r>
              <a:rPr b="0" lang="ko-KR" sz="2000" spc="-1" strike="noStrike">
                <a:latin typeface="Noto Sans CJK KR"/>
              </a:rPr>
              <a:t>배 차이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데이터는 어느 쪽인지 말해주지 않습니다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밖을 지탱하는 것은 데이터가 아니라 가정입니다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두 번째 이유 — 규모의 문제입니다</a:t>
            </a:r>
            <a:r>
              <a:rPr b="0" lang="en-US" sz="2000" spc="-1" strike="noStrike">
                <a:latin typeface="Noto Sans CJK KR"/>
              </a:rPr>
              <a:t>. '</a:t>
            </a:r>
            <a:r>
              <a:rPr b="0" lang="ko-KR" sz="2000" spc="-1" strike="noStrike">
                <a:latin typeface="Noto Sans CJK KR"/>
              </a:rPr>
              <a:t>데이터가 충분히 많으니 테스트는 범위 안이겠지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라고 생각하기 쉽습니다</a:t>
            </a:r>
            <a:r>
              <a:rPr b="0" lang="en-US" sz="2000" spc="-1" strike="noStrike">
                <a:latin typeface="Noto Sans CJK KR"/>
              </a:rPr>
              <a:t>. 2</a:t>
            </a:r>
            <a:r>
              <a:rPr b="0" lang="ko-KR" sz="2000" spc="-1" strike="noStrike">
                <a:latin typeface="Noto Sans CJK KR"/>
              </a:rPr>
              <a:t>차원에서는 맞는 직관입니다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왼쪽 그림처럼 훈련 범위가 꽤 넓거든요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그런데 오른쪽 곡선 — 차원이 올라가면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새 입력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이 훈련 범위 안일 확률이 지수적으로 </a:t>
            </a:r>
            <a:r>
              <a:rPr b="0" lang="en-US" sz="2000" spc="-1" strike="noStrike">
                <a:latin typeface="Noto Sans CJK KR"/>
              </a:rPr>
              <a:t>0</a:t>
            </a:r>
            <a:r>
              <a:rPr b="0" lang="ko-KR" sz="2000" spc="-1" strike="noStrike">
                <a:latin typeface="Noto Sans CJK KR"/>
              </a:rPr>
              <a:t>에 수렴합니다</a:t>
            </a:r>
            <a:r>
              <a:rPr b="0" lang="en-US" sz="2000" spc="-1" strike="noStrike">
                <a:latin typeface="Noto Sans CJK KR"/>
              </a:rPr>
              <a:t>. 100</a:t>
            </a:r>
            <a:r>
              <a:rPr b="0" lang="ko-KR" sz="2000" spc="-1" strike="noStrike">
                <a:latin typeface="Noto Sans CJK KR"/>
              </a:rPr>
              <a:t>차원이면 사실상 </a:t>
            </a:r>
            <a:r>
              <a:rPr b="0" lang="en-US" sz="2000" spc="-1" strike="noStrike">
                <a:latin typeface="Noto Sans CJK KR"/>
              </a:rPr>
              <a:t>0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체감 예시 — 센서 </a:t>
            </a:r>
            <a:r>
              <a:rPr b="0" lang="en-US" sz="2000" spc="-1" strike="noStrike">
                <a:latin typeface="Noto Sans CJK KR"/>
              </a:rPr>
              <a:t>20</a:t>
            </a:r>
            <a:r>
              <a:rPr b="0" lang="ko-KR" sz="2000" spc="-1" strike="noStrike">
                <a:latin typeface="Noto Sans CJK KR"/>
              </a:rPr>
              <a:t>채널에서 채널별로 </a:t>
            </a:r>
            <a:r>
              <a:rPr b="0" lang="en-US" sz="2000" spc="-1" strike="noStrike">
                <a:latin typeface="Noto Sans CJK KR"/>
              </a:rPr>
              <a:t>95% </a:t>
            </a:r>
            <a:r>
              <a:rPr b="0" lang="ko-KR" sz="2000" spc="-1" strike="noStrike">
                <a:latin typeface="Noto Sans CJK KR"/>
              </a:rPr>
              <a:t>확률로 범위 안이라 해도</a:t>
            </a:r>
            <a:r>
              <a:rPr b="0" lang="en-US" sz="2000" spc="-1" strike="noStrike">
                <a:latin typeface="Noto Sans CJK KR"/>
              </a:rPr>
              <a:t>, 20</a:t>
            </a:r>
            <a:r>
              <a:rPr b="0" lang="ko-KR" sz="2000" spc="-1" strike="noStrike">
                <a:latin typeface="Noto Sans CJK KR"/>
              </a:rPr>
              <a:t>개 조합이 전부 안일 확률은 </a:t>
            </a:r>
            <a:r>
              <a:rPr b="0" lang="en-US" sz="2000" spc="-1" strike="noStrike">
                <a:latin typeface="Noto Sans CJK KR"/>
              </a:rPr>
              <a:t>0.95</a:t>
            </a:r>
            <a:r>
              <a:rPr b="0" lang="ko-KR" sz="2000" spc="-1" strike="noStrike">
                <a:latin typeface="Noto Sans CJK KR"/>
              </a:rPr>
              <a:t>의 </a:t>
            </a:r>
            <a:r>
              <a:rPr b="0" lang="en-US" sz="2000" spc="-1" strike="noStrike">
                <a:latin typeface="Noto Sans CJK KR"/>
              </a:rPr>
              <a:t>20</a:t>
            </a:r>
            <a:r>
              <a:rPr b="0" lang="ko-KR" sz="2000" spc="-1" strike="noStrike">
                <a:latin typeface="Noto Sans CJK KR"/>
              </a:rPr>
              <a:t>제곱</a:t>
            </a:r>
            <a:r>
              <a:rPr b="0" lang="en-US" sz="2000" spc="-1" strike="noStrike">
                <a:latin typeface="Noto Sans CJK KR"/>
              </a:rPr>
              <a:t>, 36%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실제 훈련 범위는 그보다 훨씬 좁으니 대부분이 이미 밖입니다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이미지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다채널 센서 시계열 — 전부 고차원입니다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결론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외삽은 예외 상황이 아니라 기본값입니다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밖에서 왜 불확실해지는지 — 오차를 세 덩어리로 쪼개 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왜 쪼개나</a:t>
            </a:r>
            <a:r>
              <a:rPr b="0" lang="en-US" sz="2000" spc="-1" strike="noStrike">
                <a:latin typeface="Noto Sans CJK KR"/>
              </a:rPr>
              <a:t>? </a:t>
            </a:r>
            <a:r>
              <a:rPr b="0" lang="ko-KR" sz="2000" spc="-1" strike="noStrike">
                <a:latin typeface="Noto Sans CJK KR"/>
              </a:rPr>
              <a:t>원인마다 대처가 다르기 때문입니다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잡음 — 측정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센서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환경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본질적 랜덤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과녁 비유로 손 떨림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줄일 수 없습니다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편향 — 모델 가정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구조가 틀린 체계적 오차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조준 틀림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가정을 고치면 줄입니다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모름 — 데이터가 없어서 예측이 흔들리는 것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과녁 위치를 모르는 것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그 구간에 데이터를 모으면 줄일 수 있습니다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그림 — 음영 안에서는 </a:t>
            </a:r>
            <a:r>
              <a:rPr b="0" lang="en-US" sz="2000" spc="-1" strike="noStrike">
                <a:latin typeface="Noto Sans CJK KR"/>
              </a:rPr>
              <a:t>total error</a:t>
            </a:r>
            <a:r>
              <a:rPr b="0" lang="ko-KR" sz="2000" spc="-1" strike="noStrike">
                <a:latin typeface="Noto Sans CJK KR"/>
              </a:rPr>
              <a:t>가 작고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밖으로 가면 주황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모름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이 폭발합니다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훈련 범위 밖은 정의상 데이터가 없으니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모름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만 구조적으로 못 줄입니다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분해 목적 — 어디서 왜 틀리는지 진단하는 것</a:t>
            </a:r>
            <a:r>
              <a:rPr b="0" lang="en-US" sz="2000" spc="-1" strike="noStrike">
                <a:latin typeface="Noto Sans CJK KR"/>
              </a:rPr>
              <a:t>, 3</a:t>
            </a:r>
            <a:r>
              <a:rPr b="0" lang="ko-KR" sz="2000" spc="-1" strike="noStrike">
                <a:latin typeface="Noto Sans CJK KR"/>
              </a:rPr>
              <a:t>부 </a:t>
            </a:r>
            <a:r>
              <a:rPr b="0" lang="en-US" sz="2000" spc="-1" strike="noStrike">
                <a:latin typeface="Noto Sans CJK KR"/>
              </a:rPr>
              <a:t>UQ</a:t>
            </a:r>
            <a:r>
              <a:rPr b="0" lang="ko-KR" sz="2000" spc="-1" strike="noStrike">
                <a:latin typeface="Noto Sans CJK KR"/>
              </a:rPr>
              <a:t>에서 이 신호를 씁니다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 ★ 2</a:t>
            </a:r>
            <a:r>
              <a:rPr b="0" lang="ko-KR" sz="2000" spc="-1" strike="noStrike">
                <a:latin typeface="Noto Sans CJK KR"/>
              </a:rPr>
              <a:t>부 클라이맥스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위 </a:t>
            </a:r>
            <a:r>
              <a:rPr b="0" lang="en-US" sz="2000" spc="-1" strike="noStrike">
                <a:latin typeface="Noto Sans CJK KR"/>
              </a:rPr>
              <a:t>Fig.1</a:t>
            </a:r>
            <a:r>
              <a:rPr b="0" lang="ko-KR" sz="2000" spc="-1" strike="noStrike">
                <a:latin typeface="Noto Sans CJK KR"/>
              </a:rPr>
              <a:t>부터 — </a:t>
            </a:r>
            <a:r>
              <a:rPr b="0" lang="en-US" sz="2000" spc="-1" strike="noStrike">
                <a:latin typeface="Noto Sans CJK KR"/>
              </a:rPr>
              <a:t>φ</a:t>
            </a:r>
            <a:r>
              <a:rPr b="0" lang="ko-KR" sz="2000" spc="-1" strike="noStrike">
                <a:latin typeface="Noto Sans CJK KR"/>
              </a:rPr>
              <a:t>는 활성화 함수</a:t>
            </a:r>
            <a:r>
              <a:rPr b="0" lang="en-US" sz="2000" spc="-1" strike="noStrike">
                <a:latin typeface="Noto Sans CJK KR"/>
              </a:rPr>
              <a:t>(activation)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파란 부분이 훈련 구간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안에서는 복잡한 타깃을 </a:t>
            </a:r>
            <a:r>
              <a:rPr b="0" lang="en-US" sz="2000" spc="-1" strike="noStrike">
                <a:latin typeface="Noto Sans CJK KR"/>
              </a:rPr>
              <a:t>ReLU MLP</a:t>
            </a:r>
            <a:r>
              <a:rPr b="0" lang="ko-KR" sz="2000" spc="-1" strike="noStrike">
                <a:latin typeface="Noto Sans CJK KR"/>
              </a:rPr>
              <a:t>가 잘 맞춥니다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바깥 회색 격자면을 보세요 — </a:t>
            </a:r>
            <a:r>
              <a:rPr b="0" lang="en-US" sz="2000" spc="-1" strike="noStrike">
                <a:latin typeface="Noto Sans CJK KR"/>
              </a:rPr>
              <a:t>3D </a:t>
            </a:r>
            <a:r>
              <a:rPr b="0" lang="ko-KR" sz="2000" spc="-1" strike="noStrike">
                <a:latin typeface="Noto Sans CJK KR"/>
              </a:rPr>
              <a:t>세 장 모두 밖으로 나가면 평평한 </a:t>
            </a:r>
            <a:r>
              <a:rPr b="0" lang="en-US" sz="2000" spc="-1" strike="noStrike">
                <a:latin typeface="Noto Sans CJK KR"/>
              </a:rPr>
              <a:t>plane</a:t>
            </a:r>
            <a:r>
              <a:rPr b="0" lang="ko-KR" sz="2000" spc="-1" strike="noStrike">
                <a:latin typeface="Noto Sans CJK KR"/>
              </a:rPr>
              <a:t>으로 이어집니다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타깃 함수만 다르고 밖 거동은 같습니다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맨 오른쪽 </a:t>
            </a:r>
            <a:r>
              <a:rPr b="0" lang="en-US" sz="2000" spc="-1" strike="noStrike">
                <a:latin typeface="Noto Sans CJK KR"/>
              </a:rPr>
              <a:t>2D</a:t>
            </a:r>
            <a:r>
              <a:rPr b="0" lang="ko-KR" sz="2000" spc="-1" strike="noStrike">
                <a:latin typeface="Noto Sans CJK KR"/>
              </a:rPr>
              <a:t>는 단면 — </a:t>
            </a:r>
            <a:r>
              <a:rPr b="0" lang="en-US" sz="2000" spc="-1" strike="noStrike">
                <a:latin typeface="Noto Sans CJK KR"/>
              </a:rPr>
              <a:t>sin</a:t>
            </a:r>
            <a:r>
              <a:rPr b="0" lang="ko-KR" sz="2000" spc="-1" strike="noStrike">
                <a:latin typeface="Noto Sans CJK KR"/>
              </a:rPr>
              <a:t>을 배워도 밖은 직선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아래 큰 그림도 같은 메시지</a:t>
            </a:r>
            <a:r>
              <a:rPr b="0" lang="en-US" sz="2000" spc="-1" strike="noStrike">
                <a:latin typeface="Noto Sans CJK KR"/>
              </a:rPr>
              <a:t>. Xu </a:t>
            </a:r>
            <a:r>
              <a:rPr b="0" lang="ko-KR" sz="2000" spc="-1" strike="noStrike">
                <a:latin typeface="Noto Sans CJK KR"/>
              </a:rPr>
              <a:t>정리 </a:t>
            </a:r>
            <a:r>
              <a:rPr b="0" lang="en-US" sz="2000" spc="-1" strike="noStrike">
                <a:latin typeface="Noto Sans CJK KR"/>
              </a:rPr>
              <a:t>1: ReLU MLP</a:t>
            </a:r>
            <a:r>
              <a:rPr b="0" lang="ko-KR" sz="2000" spc="-1" strike="noStrike">
                <a:latin typeface="Noto Sans CJK KR"/>
              </a:rPr>
              <a:t>는 멀어지면 방향마다 직선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외삽 불능이 아니라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밖은 직선</a:t>
            </a:r>
            <a:r>
              <a:rPr b="0" lang="en-US" sz="2000" spc="-1" strike="noStrike">
                <a:latin typeface="Noto Sans CJK KR"/>
              </a:rPr>
              <a:t>' </a:t>
            </a:r>
            <a:r>
              <a:rPr b="0" lang="ko-KR" sz="2000" spc="-1" strike="noStrike">
                <a:latin typeface="Noto Sans CJK KR"/>
              </a:rPr>
              <a:t>가정</a:t>
            </a:r>
            <a:r>
              <a:rPr b="0" lang="en-US" sz="2000" spc="-1" strike="noStrike">
                <a:latin typeface="Noto Sans CJK KR"/>
              </a:rPr>
              <a:t>. Q ReLU</a:t>
            </a:r>
            <a:r>
              <a:rPr b="0" lang="ko-KR" sz="2000" spc="-1" strike="noStrike">
                <a:latin typeface="Noto Sans CJK KR"/>
              </a:rPr>
              <a:t>만</a:t>
            </a:r>
            <a:r>
              <a:rPr b="0" lang="en-US" sz="2000" spc="-1" strike="noStrike">
                <a:latin typeface="Noto Sans CJK KR"/>
              </a:rPr>
              <a:t>? tanh</a:t>
            </a:r>
            <a:r>
              <a:rPr b="0" lang="ko-KR" sz="2000" spc="-1" strike="noStrike">
                <a:latin typeface="Noto Sans CJK KR"/>
              </a:rPr>
              <a:t>는 포화</a:t>
            </a:r>
            <a:r>
              <a:rPr b="0" lang="en-US" sz="2000" spc="-1" strike="noStrike">
                <a:latin typeface="Noto Sans CJK KR"/>
              </a:rPr>
              <a:t>, sin/cos</a:t>
            </a:r>
            <a:r>
              <a:rPr b="0" lang="ko-KR" sz="2000" spc="-1" strike="noStrike">
                <a:latin typeface="Noto Sans CJK KR"/>
              </a:rPr>
              <a:t>는 주기</a:t>
            </a:r>
            <a:r>
              <a:rPr b="0" lang="en-US" sz="2000" spc="-1" strike="noStrike">
                <a:latin typeface="Noto Sans CJK KR"/>
              </a:rPr>
              <a:t>, φ=</a:t>
            </a:r>
            <a:r>
              <a:rPr b="0" lang="ko-KR" sz="2000" spc="-1" strike="noStrike">
                <a:latin typeface="Noto Sans CJK KR"/>
              </a:rPr>
              <a:t>밖 모양 선언</a:t>
            </a:r>
            <a:r>
              <a:rPr b="0" lang="en-US" sz="2000" spc="-1" strike="noStrike">
                <a:latin typeface="Noto Sans CJK KR"/>
              </a:rPr>
              <a:t>. φ </a:t>
            </a:r>
            <a:r>
              <a:rPr b="0" lang="ko-KR" sz="2000" spc="-1" strike="noStrike">
                <a:latin typeface="Noto Sans CJK KR"/>
              </a:rPr>
              <a:t>맞춰도 </a:t>
            </a:r>
            <a:r>
              <a:rPr b="0" lang="en-US" sz="2000" spc="-1" strike="noStrike">
                <a:latin typeface="Noto Sans CJK KR"/>
              </a:rPr>
              <a:t>S09 </a:t>
            </a:r>
            <a:r>
              <a:rPr b="0" lang="ko-KR" sz="2000" spc="-1" strike="noStrike">
                <a:latin typeface="Noto Sans CJK KR"/>
              </a:rPr>
              <a:t>한계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검증 필요 — </a:t>
            </a:r>
            <a:r>
              <a:rPr b="0" lang="en-US" sz="2000" spc="-1" strike="noStrike">
                <a:latin typeface="Noto Sans CJK KR"/>
              </a:rPr>
              <a:t>S16. </a:t>
            </a:r>
            <a:r>
              <a:rPr b="0" lang="ko-KR" sz="2000" spc="-1" strike="noStrike">
                <a:latin typeface="Noto Sans CJK KR"/>
              </a:rPr>
              <a:t>가정을 어차피 하고 있다면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내가 아는 것으로 골라 넣자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[20</a:t>
            </a:r>
            <a:r>
              <a:rPr b="0" lang="ko-KR" sz="2000" spc="-1" strike="noStrike">
                <a:latin typeface="Noto Sans CJK KR"/>
              </a:rPr>
              <a:t>초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3</a:t>
            </a:r>
            <a:r>
              <a:rPr b="0" lang="ko-KR" sz="2000" spc="-1" strike="noStrike">
                <a:latin typeface="Noto Sans CJK KR"/>
              </a:rPr>
              <a:t>부 전반 —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대응법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방법 지도 → 입구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활성화</a:t>
            </a:r>
            <a:r>
              <a:rPr b="0" lang="en-US" sz="2000" spc="-1" strike="noStrike">
                <a:latin typeface="Noto Sans CJK KR"/>
              </a:rPr>
              <a:t>) → EQL·NALU → CMNN → Physics-ML → UQ·</a:t>
            </a:r>
            <a:r>
              <a:rPr b="0" lang="ko-KR" sz="2000" spc="-1" strike="noStrike">
                <a:latin typeface="Noto Sans CJK KR"/>
              </a:rPr>
              <a:t>기권 → 종합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검증은 방법을 다 본 뒤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별도 구간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에서 합니다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3</a:t>
            </a:r>
            <a:r>
              <a:rPr b="0" lang="ko-KR" sz="2000" spc="-1" strike="noStrike">
                <a:latin typeface="Noto Sans CJK KR"/>
              </a:rPr>
              <a:t>부 지도입니다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가로축 </a:t>
            </a:r>
            <a:r>
              <a:rPr b="0" lang="en-US" sz="2000" spc="-1" strike="noStrike">
                <a:latin typeface="Noto Sans CJK KR"/>
              </a:rPr>
              <a:t>= **</a:t>
            </a:r>
            <a:r>
              <a:rPr b="0" lang="ko-KR" sz="2000" spc="-1" strike="noStrike">
                <a:latin typeface="Noto Sans CJK KR"/>
              </a:rPr>
              <a:t>내가 아는 사전 지식의 강도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왼쪽 끝 — 타깃 함수의 형태를 안다</a:t>
            </a:r>
            <a:r>
              <a:rPr b="0" lang="en-US" sz="2000" spc="-1" strike="noStrike">
                <a:latin typeface="Noto Sans CJK KR"/>
              </a:rPr>
              <a:t>: EQL</a:t>
            </a:r>
            <a:r>
              <a:rPr b="0" lang="ko-KR" sz="2000" spc="-1" strike="noStrike">
                <a:latin typeface="Noto Sans CJK KR"/>
              </a:rPr>
              <a:t>과 </a:t>
            </a:r>
            <a:r>
              <a:rPr b="0" lang="en-US" sz="2000" spc="-1" strike="noStrike">
                <a:latin typeface="Noto Sans CJK KR"/>
              </a:rPr>
              <a:t>NALU. </a:t>
            </a:r>
            <a:r>
              <a:rPr b="0" lang="ko-KR" sz="2000" spc="-1" strike="noStrike">
                <a:latin typeface="Noto Sans CJK KR"/>
              </a:rPr>
              <a:t>올바르면 전 영역에서 유효하고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가정이 틀리면 전역 실패입니다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두 번째 — 방향성만 안다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단조 신경망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실무에서 가장 흔한 지식 수준입니다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세 번째 —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물리 지식</a:t>
            </a:r>
            <a:r>
              <a:rPr b="0" lang="en-US" sz="2000" spc="-1" strike="noStrike">
                <a:latin typeface="Noto Sans CJK KR"/>
              </a:rPr>
              <a:t>**: </a:t>
            </a:r>
            <a:r>
              <a:rPr b="0" lang="ko-KR" sz="2000" spc="-1" strike="noStrike">
                <a:latin typeface="Noto Sans CJK KR"/>
              </a:rPr>
              <a:t>회귀면 </a:t>
            </a:r>
            <a:r>
              <a:rPr b="0" lang="en-US" sz="2000" spc="-1" strike="noStrike">
                <a:latin typeface="Noto Sans CJK KR"/>
              </a:rPr>
              <a:t>**Physics-ML** (Aykol·Li — feature / physics loss). **PDE+</a:t>
            </a:r>
            <a:r>
              <a:rPr b="0" lang="ko-KR" sz="2000" spc="-1" strike="noStrike">
                <a:latin typeface="Noto Sans CJK KR"/>
              </a:rPr>
              <a:t>장</a:t>
            </a:r>
            <a:r>
              <a:rPr b="0" lang="en-US" sz="2000" spc="-1" strike="noStrike">
                <a:latin typeface="Noto Sans CJK KR"/>
              </a:rPr>
              <a:t>** u(x,t)</a:t>
            </a:r>
            <a:r>
              <a:rPr b="0" lang="ko-KR" sz="2000" spc="-1" strike="noStrike">
                <a:latin typeface="Noto Sans CJK KR"/>
              </a:rPr>
              <a:t>만 </a:t>
            </a:r>
            <a:r>
              <a:rPr b="0" lang="en-US" sz="2000" spc="-1" strike="noStrike">
                <a:latin typeface="Noto Sans CJK KR"/>
              </a:rPr>
              <a:t>Raissi **PDE-ML** (</a:t>
            </a:r>
            <a:r>
              <a:rPr b="0" lang="ko-KR" sz="2000" spc="-1" strike="noStrike">
                <a:latin typeface="Noto Sans CJK KR"/>
              </a:rPr>
              <a:t>부록</a:t>
            </a:r>
            <a:r>
              <a:rPr b="0" lang="en-US" sz="2000" spc="-1" strike="noStrike">
                <a:latin typeface="Noto Sans CJK KR"/>
              </a:rPr>
              <a:t>). </a:t>
            </a:r>
            <a:r>
              <a:rPr b="0" lang="ko-KR" sz="2000" spc="-1" strike="noStrike">
                <a:latin typeface="Noto Sans CJK KR"/>
              </a:rPr>
              <a:t>센서→품질 </a:t>
            </a:r>
            <a:r>
              <a:rPr b="0" lang="en-US" sz="2000" spc="-1" strike="noStrike">
                <a:latin typeface="Noto Sans CJK KR"/>
              </a:rPr>
              <a:t>= physics **feature·soft loss** </a:t>
            </a:r>
            <a:r>
              <a:rPr b="0" lang="ko-KR" sz="2000" spc="-1" strike="noStrike">
                <a:latin typeface="Noto Sans CJK KR"/>
              </a:rPr>
              <a:t>또는 </a:t>
            </a:r>
            <a:r>
              <a:rPr b="0" lang="en-US" sz="2000" spc="-1" strike="noStrike">
                <a:latin typeface="Noto Sans CJK KR"/>
              </a:rPr>
              <a:t>CMNN·UQ. </a:t>
            </a:r>
            <a:r>
              <a:rPr b="0" lang="ko-KR" sz="2000" spc="-1" strike="noStrike">
                <a:latin typeface="Noto Sans CJK KR"/>
              </a:rPr>
              <a:t>오른쪽 끝 — 사전 지식이 없다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이때는 불확실성</a:t>
            </a:r>
            <a:r>
              <a:rPr b="0" lang="en-US" sz="2000" spc="-1" strike="noStrike">
                <a:latin typeface="Noto Sans CJK KR"/>
              </a:rPr>
              <a:t>(UQ)</a:t>
            </a:r>
            <a:r>
              <a:rPr b="0" lang="ko-KR" sz="2000" spc="-1" strike="noStrike">
                <a:latin typeface="Noto Sans CJK KR"/>
              </a:rPr>
              <a:t>과 기권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예측 안 함</a:t>
            </a:r>
            <a:r>
              <a:rPr b="0" lang="en-US" sz="2000" spc="-1" strike="noStrike">
                <a:latin typeface="Noto Sans CJK KR"/>
              </a:rPr>
              <a:t>)</a:t>
            </a:r>
            <a:r>
              <a:rPr b="0" lang="ko-KR" sz="2000" spc="-1" strike="noStrike">
                <a:latin typeface="Noto Sans CJK KR"/>
              </a:rPr>
              <a:t>으로 유보합니다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순서가 중요합니다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방법을 먼저 고르는 것이 아니라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가용 지식이 먼저이고 방법이 뒤따릅니다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본격적인 방법 전에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가장 단순한 가정 주입부터 봅니다 — 활성화 함수 교체입니다</a:t>
            </a:r>
            <a:r>
              <a:rPr b="0" lang="en-US" sz="2000" spc="-1" strike="noStrike">
                <a:latin typeface="Noto Sans CJK KR"/>
              </a:rPr>
              <a:t>. Xu</a:t>
            </a:r>
            <a:r>
              <a:rPr b="0" lang="ko-KR" sz="2000" spc="-1" strike="noStrike">
                <a:latin typeface="Noto Sans CJK KR"/>
              </a:rPr>
              <a:t>의 </a:t>
            </a:r>
            <a:r>
              <a:rPr b="0" lang="en-US" sz="2000" spc="-1" strike="noStrike">
                <a:latin typeface="Noto Sans CJK KR"/>
              </a:rPr>
              <a:t>Fig.5: </a:t>
            </a:r>
            <a:r>
              <a:rPr b="0" lang="ko-KR" sz="2000" spc="-1" strike="noStrike">
                <a:latin typeface="Noto Sans CJK KR"/>
              </a:rPr>
              <a:t>타깃이 주기함수일 때 활성화를 </a:t>
            </a:r>
            <a:r>
              <a:rPr b="0" lang="en-US" sz="2000" spc="-1" strike="noStrike">
                <a:latin typeface="Noto Sans CJK KR"/>
              </a:rPr>
              <a:t>cos</a:t>
            </a:r>
            <a:r>
              <a:rPr b="0" lang="ko-KR" sz="2000" spc="-1" strike="noStrike">
                <a:latin typeface="Noto Sans CJK KR"/>
              </a:rPr>
              <a:t>으로 바꾸면 외삽이 됩니다</a:t>
            </a:r>
            <a:r>
              <a:rPr b="0" lang="en-US" sz="2000" spc="-1" strike="noStrike">
                <a:latin typeface="Noto Sans CJK KR"/>
              </a:rPr>
              <a:t>. tanh </a:t>
            </a:r>
            <a:r>
              <a:rPr b="0" lang="ko-KR" sz="2000" spc="-1" strike="noStrike">
                <a:latin typeface="Noto Sans CJK KR"/>
              </a:rPr>
              <a:t>타깃엔 </a:t>
            </a:r>
            <a:r>
              <a:rPr b="0" lang="en-US" sz="2000" spc="-1" strike="noStrike">
                <a:latin typeface="Noto Sans CJK KR"/>
              </a:rPr>
              <a:t>tanh</a:t>
            </a:r>
            <a:r>
              <a:rPr b="0" lang="ko-KR" sz="2000" spc="-1" strike="noStrike">
                <a:latin typeface="Noto Sans CJK KR"/>
              </a:rPr>
              <a:t>가 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반대로 짝이 틀리면 오차가 백 배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천 배로 뜁니다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즉 활성화 선택이 곧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밖은 이런 모양일 것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이라는 선언입니다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가정에는 대가가 있다 — 이 원리를 들고 방법 </a:t>
            </a:r>
            <a:r>
              <a:rPr b="0" lang="en-US" sz="2000" spc="-1" strike="noStrike">
                <a:latin typeface="Noto Sans CJK KR"/>
              </a:rPr>
              <a:t>1</a:t>
            </a:r>
            <a:r>
              <a:rPr b="0" lang="ko-KR" sz="2000" spc="-1" strike="noStrike">
                <a:latin typeface="Noto Sans CJK KR"/>
              </a:rPr>
              <a:t>로 갑니다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방법 </a:t>
            </a:r>
            <a:r>
              <a:rPr b="0" lang="en-US" sz="2000" spc="-1" strike="noStrike">
                <a:latin typeface="Noto Sans CJK KR"/>
              </a:rPr>
              <a:t>1 — </a:t>
            </a:r>
            <a:r>
              <a:rPr b="0" lang="ko-KR" sz="2000" spc="-1" strike="noStrike">
                <a:latin typeface="Noto Sans CJK KR"/>
              </a:rPr>
              <a:t>타깃이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닫힌 수식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이라는 확신이 있는 경우입니다</a:t>
            </a:r>
            <a:r>
              <a:rPr b="0" lang="en-US" sz="2000" spc="-1" strike="noStrike">
                <a:latin typeface="Noto Sans CJK KR"/>
              </a:rPr>
              <a:t>. EQL</a:t>
            </a:r>
            <a:r>
              <a:rPr b="0" lang="ko-KR" sz="2000" spc="-1" strike="noStrike">
                <a:latin typeface="Noto Sans CJK KR"/>
              </a:rPr>
              <a:t>은 </a:t>
            </a:r>
            <a:r>
              <a:rPr b="0" lang="en-US" sz="2000" spc="-1" strike="noStrike">
                <a:latin typeface="Noto Sans CJK KR"/>
              </a:rPr>
              <a:t>sin, cos, </a:t>
            </a:r>
            <a:r>
              <a:rPr b="0" lang="ko-KR" sz="2000" spc="-1" strike="noStrike">
                <a:latin typeface="Noto Sans CJK KR"/>
              </a:rPr>
              <a:t>곱셈 같은 수식 유닛을 뉴런 자리에 심습니다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학습이 끝나면 네트워크 자체가 하나의 식이 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배운 식이 참 식과 같은 족이면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훈련 구간이 아니라 정의역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전체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에서 유효합니다 — 아까 </a:t>
            </a:r>
            <a:r>
              <a:rPr b="0" lang="en-US" sz="2000" spc="-1" strike="noStrike">
                <a:latin typeface="Noto Sans CJK KR"/>
              </a:rPr>
              <a:t>MLP</a:t>
            </a:r>
            <a:r>
              <a:rPr b="0" lang="ko-KR" sz="2000" spc="-1" strike="noStrike">
                <a:latin typeface="Noto Sans CJK KR"/>
              </a:rPr>
              <a:t>가 직선이 되던 것과 정반대입니다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대가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유닛 목록에 없는 함수는 아예 표현 못 하고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희소화 조절이 까다롭고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고차원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잡음에 약합니다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Fig.2 </a:t>
            </a:r>
            <a:r>
              <a:rPr b="0" lang="ko-KR" sz="2000" spc="-1" strike="noStrike">
                <a:latin typeface="Noto Sans CJK KR"/>
              </a:rPr>
              <a:t>두 장입니다</a:t>
            </a:r>
            <a:r>
              <a:rPr b="0" lang="en-US" sz="2000" spc="-1" strike="noStrike">
                <a:latin typeface="Noto Sans CJK KR"/>
              </a:rPr>
              <a:t>. (a) NAC — +/− </a:t>
            </a:r>
            <a:r>
              <a:rPr b="0" lang="ko-KR" sz="2000" spc="-1" strike="noStrike">
                <a:latin typeface="Noto Sans CJK KR"/>
              </a:rPr>
              <a:t>부품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아래 </a:t>
            </a:r>
            <a:r>
              <a:rPr b="0" lang="en-US" sz="2000" spc="-1" strike="noStrike">
                <a:latin typeface="Noto Sans CJK KR"/>
              </a:rPr>
              <a:t>W </a:t>
            </a:r>
            <a:r>
              <a:rPr b="0" lang="ko-KR" sz="2000" spc="-1" strike="noStrike">
                <a:latin typeface="Noto Sans CJK KR"/>
              </a:rPr>
              <a:t>공장에서 </a:t>
            </a:r>
            <a:r>
              <a:rPr b="0" lang="en-US" sz="2000" spc="-1" strike="noStrike">
                <a:latin typeface="Noto Sans CJK KR"/>
              </a:rPr>
              <a:t>W = tanh(Ŵ)⊙σ(M̂)</a:t>
            </a:r>
            <a:r>
              <a:rPr b="0" lang="ko-KR" sz="2000" spc="-1" strike="noStrike">
                <a:latin typeface="Noto Sans CJK KR"/>
              </a:rPr>
              <a:t>로 </a:t>
            </a:r>
            <a:r>
              <a:rPr b="0" lang="en-US" sz="2000" spc="-1" strike="noStrike">
                <a:latin typeface="Noto Sans CJK KR"/>
              </a:rPr>
              <a:t>w</a:t>
            </a:r>
            <a:r>
              <a:rPr b="0" lang="ko-KR" sz="2000" spc="-1" strike="noStrike">
                <a:latin typeface="Noto Sans CJK KR"/>
              </a:rPr>
              <a:t>를 </a:t>
            </a:r>
            <a:r>
              <a:rPr b="0" lang="en-US" sz="2000" spc="-1" strike="noStrike">
                <a:latin typeface="Noto Sans CJK KR"/>
              </a:rPr>
              <a:t>±1,0</a:t>
            </a:r>
            <a:r>
              <a:rPr b="0" lang="ko-KR" sz="2000" spc="-1" strike="noStrike">
                <a:latin typeface="Noto Sans CJK KR"/>
              </a:rPr>
              <a:t>에 가깝게 만들고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위에서 </a:t>
            </a:r>
            <a:r>
              <a:rPr b="0" lang="en-US" sz="2000" spc="-1" strike="noStrike">
                <a:latin typeface="Noto Sans CJK KR"/>
              </a:rPr>
              <a:t>y = W·x</a:t>
            </a:r>
            <a:r>
              <a:rPr b="0" lang="ko-KR" sz="2000" spc="-1" strike="noStrike">
                <a:latin typeface="Noto Sans CJK KR"/>
              </a:rPr>
              <a:t>로 덧셈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뺄셈만 합니다</a:t>
            </a:r>
            <a:r>
              <a:rPr b="0" lang="en-US" sz="2000" spc="-1" strike="noStrike">
                <a:latin typeface="Noto Sans CJK KR"/>
              </a:rPr>
              <a:t>. ×</a:t>
            </a:r>
            <a:r>
              <a:rPr b="0" lang="ko-KR" sz="2000" spc="-1" strike="noStrike">
                <a:latin typeface="Noto Sans CJK KR"/>
              </a:rPr>
              <a:t>는 선형합으로 불가합니다</a:t>
            </a:r>
            <a:r>
              <a:rPr b="0" lang="en-US" sz="2000" spc="-1" strike="noStrike">
                <a:latin typeface="Noto Sans CJK KR"/>
              </a:rPr>
              <a:t>. (b) NALU — NAC</a:t>
            </a:r>
            <a:r>
              <a:rPr b="0" lang="ko-KR" sz="2000" spc="-1" strike="noStrike">
                <a:latin typeface="Noto Sans CJK KR"/>
              </a:rPr>
              <a:t>에 </a:t>
            </a:r>
            <a:r>
              <a:rPr b="0" lang="en-US" sz="2000" spc="-1" strike="noStrike">
                <a:latin typeface="Noto Sans CJK KR"/>
              </a:rPr>
              <a:t>log-exp </a:t>
            </a:r>
            <a:r>
              <a:rPr b="0" lang="ko-KR" sz="2000" spc="-1" strike="noStrike">
                <a:latin typeface="Noto Sans CJK KR"/>
              </a:rPr>
              <a:t>곱셈 경로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보라</a:t>
            </a:r>
            <a:r>
              <a:rPr b="0" lang="en-US" sz="2000" spc="-1" strike="noStrike">
                <a:latin typeface="Noto Sans CJK KR"/>
              </a:rPr>
              <a:t>)</a:t>
            </a:r>
            <a:r>
              <a:rPr b="0" lang="ko-KR" sz="2000" spc="-1" strike="noStrike">
                <a:latin typeface="Noto Sans CJK KR"/>
              </a:rPr>
              <a:t>와 게이트 </a:t>
            </a:r>
            <a:r>
              <a:rPr b="0" lang="en-US" sz="2000" spc="-1" strike="noStrike">
                <a:latin typeface="Noto Sans CJK KR"/>
              </a:rPr>
              <a:t>g(</a:t>
            </a:r>
            <a:r>
              <a:rPr b="0" lang="ko-KR" sz="2000" spc="-1" strike="noStrike">
                <a:latin typeface="Noto Sans CJK KR"/>
              </a:rPr>
              <a:t>빨강</a:t>
            </a:r>
            <a:r>
              <a:rPr b="0" lang="en-US" sz="2000" spc="-1" strike="noStrike">
                <a:latin typeface="Noto Sans CJK KR"/>
              </a:rPr>
              <a:t>)</a:t>
            </a:r>
            <a:r>
              <a:rPr b="0" lang="ko-KR" sz="2000" spc="-1" strike="noStrike">
                <a:latin typeface="Noto Sans CJK KR"/>
              </a:rPr>
              <a:t>를 더한 완성입니다</a:t>
            </a:r>
            <a:r>
              <a:rPr b="0" lang="en-US" sz="2000" spc="-1" strike="noStrike">
                <a:latin typeface="Noto Sans CJK KR"/>
              </a:rPr>
              <a:t>. y = g·(</a:t>
            </a:r>
            <a:r>
              <a:rPr b="0" lang="ko-KR" sz="2000" spc="-1" strike="noStrike">
                <a:latin typeface="Noto Sans CJK KR"/>
              </a:rPr>
              <a:t>덧셈</a:t>
            </a:r>
            <a:r>
              <a:rPr b="0" lang="en-US" sz="2000" spc="-1" strike="noStrike">
                <a:latin typeface="Noto Sans CJK KR"/>
              </a:rPr>
              <a:t>)+(1−g)·(</a:t>
            </a:r>
            <a:r>
              <a:rPr b="0" lang="ko-KR" sz="2000" spc="-1" strike="noStrike">
                <a:latin typeface="Noto Sans CJK KR"/>
              </a:rPr>
              <a:t>곱셈</a:t>
            </a:r>
            <a:r>
              <a:rPr b="0" lang="en-US" sz="2000" spc="-1" strike="noStrike">
                <a:latin typeface="Noto Sans CJK KR"/>
              </a:rPr>
              <a:t>). a+b</a:t>
            </a:r>
            <a:r>
              <a:rPr b="0" lang="ko-KR" sz="2000" spc="-1" strike="noStrike">
                <a:latin typeface="Noto Sans CJK KR"/>
              </a:rPr>
              <a:t>만이면 </a:t>
            </a:r>
            <a:r>
              <a:rPr b="0" lang="en-US" sz="2000" spc="-1" strike="noStrike">
                <a:latin typeface="Noto Sans CJK KR"/>
              </a:rPr>
              <a:t>(a)</a:t>
            </a:r>
            <a:r>
              <a:rPr b="0" lang="ko-KR" sz="2000" spc="-1" strike="noStrike">
                <a:latin typeface="Noto Sans CJK KR"/>
              </a:rPr>
              <a:t>로 충분</a:t>
            </a:r>
            <a:r>
              <a:rPr b="0" lang="en-US" sz="2000" spc="-1" strike="noStrike">
                <a:latin typeface="Noto Sans CJK KR"/>
              </a:rPr>
              <a:t>, a×b</a:t>
            </a:r>
            <a:r>
              <a:rPr b="0" lang="ko-KR" sz="2000" spc="-1" strike="noStrike">
                <a:latin typeface="Noto Sans CJK KR"/>
              </a:rPr>
              <a:t>면 </a:t>
            </a:r>
            <a:r>
              <a:rPr b="0" lang="en-US" sz="2000" spc="-1" strike="noStrike">
                <a:latin typeface="Noto Sans CJK KR"/>
              </a:rPr>
              <a:t>(b)</a:t>
            </a:r>
            <a:r>
              <a:rPr b="0" lang="ko-KR" sz="2000" spc="-1" strike="noStrike">
                <a:latin typeface="Noto Sans CJK KR"/>
              </a:rPr>
              <a:t>가 필요합니다</a:t>
            </a:r>
            <a:r>
              <a:rPr b="0" lang="en-US" sz="2000" spc="-1" strike="noStrike">
                <a:latin typeface="Noto Sans CJK KR"/>
              </a:rPr>
              <a:t>. 0~10</a:t>
            </a:r>
            <a:r>
              <a:rPr b="0" lang="ko-KR" sz="2000" spc="-1" strike="noStrike">
                <a:latin typeface="Noto Sans CJK KR"/>
              </a:rPr>
              <a:t>으로 </a:t>
            </a:r>
            <a:r>
              <a:rPr b="0" lang="en-US" sz="2000" spc="-1" strike="noStrike">
                <a:latin typeface="Noto Sans CJK KR"/>
              </a:rPr>
              <a:t>a+b </a:t>
            </a:r>
            <a:r>
              <a:rPr b="0" lang="ko-KR" sz="2000" spc="-1" strike="noStrike">
                <a:latin typeface="Noto Sans CJK KR"/>
              </a:rPr>
              <a:t>학습 후 </a:t>
            </a:r>
            <a:r>
              <a:rPr b="0" lang="en-US" sz="2000" spc="-1" strike="noStrike">
                <a:latin typeface="Noto Sans CJK KR"/>
              </a:rPr>
              <a:t>10,000</a:t>
            </a:r>
            <a:r>
              <a:rPr b="0" lang="ko-KR" sz="2000" spc="-1" strike="noStrike">
                <a:latin typeface="Noto Sans CJK KR"/>
              </a:rPr>
              <a:t>까지 테스트하면 </a:t>
            </a:r>
            <a:r>
              <a:rPr b="0" lang="en-US" sz="2000" spc="-1" strike="noStrike">
                <a:latin typeface="Noto Sans CJK KR"/>
              </a:rPr>
              <a:t>MLP</a:t>
            </a:r>
            <a:r>
              <a:rPr b="0" lang="ko-KR" sz="2000" spc="-1" strike="noStrike">
                <a:latin typeface="Noto Sans CJK KR"/>
              </a:rPr>
              <a:t>는 오차가 폭발하고 </a:t>
            </a:r>
            <a:r>
              <a:rPr b="0" lang="en-US" sz="2000" spc="-1" strike="noStrike">
                <a:latin typeface="Noto Sans CJK KR"/>
              </a:rPr>
              <a:t>NALU</a:t>
            </a:r>
            <a:r>
              <a:rPr b="0" lang="ko-KR" sz="2000" spc="-1" strike="noStrike">
                <a:latin typeface="Noto Sans CJK KR"/>
              </a:rPr>
              <a:t>는 평탄합니다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단</a:t>
            </a:r>
            <a:r>
              <a:rPr b="0" lang="en-US" sz="2000" spc="-1" strike="noStrike">
                <a:latin typeface="Noto Sans CJK KR"/>
              </a:rPr>
              <a:t>, ±1·0 </a:t>
            </a:r>
            <a:r>
              <a:rPr b="0" lang="ko-KR" sz="2000" spc="-1" strike="noStrike">
                <a:latin typeface="Noto Sans CJK KR"/>
              </a:rPr>
              <a:t>수렴은 목표이지 보장은 아니고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게이트 불안정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비산술 타깃이면 </a:t>
            </a:r>
            <a:r>
              <a:rPr b="0" lang="en-US" sz="2000" spc="-1" strike="noStrike">
                <a:latin typeface="Noto Sans CJK KR"/>
              </a:rPr>
              <a:t>MLP</a:t>
            </a:r>
            <a:r>
              <a:rPr b="0" lang="ko-KR" sz="2000" spc="-1" strike="noStrike">
                <a:latin typeface="Noto Sans CJK KR"/>
              </a:rPr>
              <a:t>로 붕괴합니다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식 전체를 알면 </a:t>
            </a:r>
            <a:r>
              <a:rPr b="0" lang="en-US" sz="2000" spc="-1" strike="noStrike">
                <a:latin typeface="Noto Sans CJK KR"/>
              </a:rPr>
              <a:t>NALU </a:t>
            </a:r>
            <a:r>
              <a:rPr b="0" lang="ko-KR" sz="2000" spc="-1" strike="noStrike">
                <a:latin typeface="Noto Sans CJK KR"/>
              </a:rPr>
              <a:t>없이 코드 한 줄이 낫습니다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방법 </a:t>
            </a:r>
            <a:r>
              <a:rPr b="0" lang="en-US" sz="2000" spc="-1" strike="noStrike">
                <a:latin typeface="Noto Sans CJK KR"/>
              </a:rPr>
              <a:t>1 </a:t>
            </a:r>
            <a:r>
              <a:rPr b="0" lang="ko-KR" sz="2000" spc="-1" strike="noStrike">
                <a:latin typeface="Noto Sans CJK KR"/>
              </a:rPr>
              <a:t>요약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함수 모양 가정은 수익도 최대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리스크도 최대입니다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방법 </a:t>
            </a:r>
            <a:r>
              <a:rPr b="0" lang="en-US" sz="2000" spc="-1" strike="noStrike">
                <a:latin typeface="Noto Sans CJK KR"/>
              </a:rPr>
              <a:t>2 — </a:t>
            </a:r>
            <a:r>
              <a:rPr b="0" lang="ko-KR" sz="2000" spc="-1" strike="noStrike">
                <a:latin typeface="Noto Sans CJK KR"/>
              </a:rPr>
              <a:t>현실적으로 가장 중요한 방법입니다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수식까진 몰라도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가격이 오르면 수요는 준다</a:t>
            </a:r>
            <a:r>
              <a:rPr b="0" lang="en-US" sz="2000" spc="-1" strike="noStrike">
                <a:latin typeface="Noto Sans CJK KR"/>
              </a:rPr>
              <a:t>', '</a:t>
            </a:r>
            <a:r>
              <a:rPr b="0" lang="ko-KR" sz="2000" spc="-1" strike="noStrike">
                <a:latin typeface="Noto Sans CJK KR"/>
              </a:rPr>
              <a:t>충전량이 늘면 전압은 오른다</a:t>
            </a:r>
            <a:r>
              <a:rPr b="0" lang="en-US" sz="2000" spc="-1" strike="noStrike">
                <a:latin typeface="Noto Sans CJK KR"/>
              </a:rPr>
              <a:t>' </a:t>
            </a:r>
            <a:r>
              <a:rPr b="0" lang="ko-KR" sz="2000" spc="-1" strike="noStrike">
                <a:latin typeface="Noto Sans CJK KR"/>
              </a:rPr>
              <a:t>같은 방향은 아는 경우가 대부분이죠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그런데 방향을 강제하는 순진한 방법 — 가중치를 전부 양수로 자르는 것 — 은 그림 </a:t>
            </a:r>
            <a:r>
              <a:rPr b="0" lang="en-US" sz="2000" spc="-1" strike="noStrike">
                <a:latin typeface="Noto Sans CJK KR"/>
              </a:rPr>
              <a:t>(b)</a:t>
            </a:r>
            <a:r>
              <a:rPr b="0" lang="ko-KR" sz="2000" spc="-1" strike="noStrike">
                <a:latin typeface="Noto Sans CJK KR"/>
              </a:rPr>
              <a:t>처럼 표현력을 죽입니다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단조는 얻었는데 사실상 직선이 돼서 </a:t>
            </a:r>
            <a:r>
              <a:rPr b="0" lang="en-US" sz="2000" spc="-1" strike="noStrike">
                <a:latin typeface="Noto Sans CJK KR"/>
              </a:rPr>
              <a:t>x³</a:t>
            </a:r>
            <a:r>
              <a:rPr b="0" lang="ko-KR" sz="2000" spc="-1" strike="noStrike">
                <a:latin typeface="Noto Sans CJK KR"/>
              </a:rPr>
              <a:t>조차 못 맞춥니다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단조성과 표현력이 상충하는 것처럼 보입니다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이걸 푸는 게 다음 장입니다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 ★ </a:t>
            </a:r>
            <a:r>
              <a:rPr b="0" lang="ko-KR" sz="2000" spc="-1" strike="noStrike">
                <a:latin typeface="Noto Sans CJK KR"/>
              </a:rPr>
              <a:t>구조 내장 단조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Fig.3 </a:t>
            </a:r>
            <a:r>
              <a:rPr b="0" lang="ko-KR" sz="2000" spc="-1" strike="noStrike">
                <a:latin typeface="Noto Sans CJK KR"/>
              </a:rPr>
              <a:t>한 층</a:t>
            </a:r>
            <a:r>
              <a:rPr b="0" lang="en-US" sz="2000" spc="-1" strike="noStrike">
                <a:latin typeface="Noto Sans CJK KR"/>
              </a:rPr>
              <a:t>. t</a:t>
            </a:r>
            <a:r>
              <a:rPr b="0" lang="ko-KR" sz="2000" spc="-1" strike="noStrike">
                <a:latin typeface="Noto Sans CJK KR"/>
              </a:rPr>
              <a:t>는 입력 </a:t>
            </a:r>
            <a:r>
              <a:rPr b="0" lang="en-US" sz="2000" spc="-1" strike="noStrike">
                <a:latin typeface="Noto Sans CJK KR"/>
              </a:rPr>
              <a:t>feature</a:t>
            </a:r>
            <a:r>
              <a:rPr b="0" lang="ko-KR" sz="2000" spc="-1" strike="noStrike">
                <a:latin typeface="Noto Sans CJK KR"/>
              </a:rPr>
              <a:t>마다 </a:t>
            </a:r>
            <a:r>
              <a:rPr b="0" lang="en-US" sz="2000" spc="-1" strike="noStrike">
                <a:latin typeface="Noto Sans CJK KR"/>
              </a:rPr>
              <a:t>+1, −1, 0 </a:t>
            </a:r>
            <a:r>
              <a:rPr b="0" lang="ko-KR" sz="2000" spc="-1" strike="noStrike">
                <a:latin typeface="Noto Sans CJK KR"/>
              </a:rPr>
              <a:t>중 하나입니다</a:t>
            </a:r>
            <a:r>
              <a:rPr b="0" lang="en-US" sz="2000" spc="-1" strike="noStrike">
                <a:latin typeface="Noto Sans CJK KR"/>
              </a:rPr>
              <a:t>. +1</a:t>
            </a:r>
            <a:r>
              <a:rPr b="0" lang="ko-KR" sz="2000" spc="-1" strike="noStrike">
                <a:latin typeface="Noto Sans CJK KR"/>
              </a:rPr>
              <a:t>이면 그 입력이 올라갈 때 출력도 올라가야 하고</a:t>
            </a:r>
            <a:r>
              <a:rPr b="0" lang="en-US" sz="2000" spc="-1" strike="noStrike">
                <a:latin typeface="Noto Sans CJK KR"/>
              </a:rPr>
              <a:t>, −1</a:t>
            </a:r>
            <a:r>
              <a:rPr b="0" lang="ko-KR" sz="2000" spc="-1" strike="noStrike">
                <a:latin typeface="Noto Sans CJK KR"/>
              </a:rPr>
              <a:t>이면 반대</a:t>
            </a:r>
            <a:r>
              <a:rPr b="0" lang="en-US" sz="2000" spc="-1" strike="noStrike">
                <a:latin typeface="Noto Sans CJK KR"/>
              </a:rPr>
              <a:t>, 0</a:t>
            </a:r>
            <a:r>
              <a:rPr b="0" lang="ko-KR" sz="2000" spc="-1" strike="noStrike">
                <a:latin typeface="Noto Sans CJK KR"/>
              </a:rPr>
              <a:t>이면 그 </a:t>
            </a:r>
            <a:r>
              <a:rPr b="0" lang="en-US" sz="2000" spc="-1" strike="noStrike">
                <a:latin typeface="Noto Sans CJK KR"/>
              </a:rPr>
              <a:t>feature</a:t>
            </a:r>
            <a:r>
              <a:rPr b="0" lang="ko-KR" sz="2000" spc="-1" strike="noStrike">
                <a:latin typeface="Noto Sans CJK KR"/>
              </a:rPr>
              <a:t>는 단조 제약 없습니다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배터리 예는 </a:t>
            </a:r>
            <a:r>
              <a:rPr b="0" lang="en-US" sz="2000" spc="-1" strike="noStrike">
                <a:latin typeface="Noto Sans CJK KR"/>
              </a:rPr>
              <a:t>SOC</a:t>
            </a:r>
            <a:r>
              <a:rPr b="0" lang="ko-KR" sz="2000" spc="-1" strike="noStrike">
                <a:latin typeface="Noto Sans CJK KR"/>
              </a:rPr>
              <a:t>에 </a:t>
            </a:r>
            <a:r>
              <a:rPr b="0" lang="en-US" sz="2000" spc="-1" strike="noStrike">
                <a:latin typeface="Noto Sans CJK KR"/>
              </a:rPr>
              <a:t>+1 — </a:t>
            </a:r>
            <a:r>
              <a:rPr b="0" lang="ko-KR" sz="2000" spc="-1" strike="noStrike">
                <a:latin typeface="Noto Sans CJK KR"/>
              </a:rPr>
              <a:t>충전량 올라가면 전압도 올라가야 합니다</a:t>
            </a:r>
            <a:r>
              <a:rPr b="0" lang="en-US" sz="2000" spc="-1" strike="noStrike">
                <a:latin typeface="Noto Sans CJK KR"/>
              </a:rPr>
              <a:t>. |W|_t</a:t>
            </a:r>
            <a:r>
              <a:rPr b="0" lang="ko-KR" sz="2000" spc="-1" strike="noStrike">
                <a:latin typeface="Noto Sans CJK KR"/>
              </a:rPr>
              <a:t>는 </a:t>
            </a:r>
            <a:r>
              <a:rPr b="0" lang="en-US" sz="2000" spc="-1" strike="noStrike">
                <a:latin typeface="Noto Sans CJK KR"/>
              </a:rPr>
              <a:t>t=±1</a:t>
            </a:r>
            <a:r>
              <a:rPr b="0" lang="ko-KR" sz="2000" spc="-1" strike="noStrike">
                <a:latin typeface="Noto Sans CJK KR"/>
              </a:rPr>
              <a:t>일 때 가중치 부호만 고정하는 것이지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가중치 전체 절댓값이 아닙니다</a:t>
            </a:r>
            <a:r>
              <a:rPr b="0" lang="en-US" sz="2000" spc="-1" strike="noStrike">
                <a:latin typeface="Noto Sans CJK KR"/>
              </a:rPr>
              <a:t>. s</a:t>
            </a:r>
            <a:r>
              <a:rPr b="0" lang="ko-KR" sz="2000" spc="-1" strike="noStrike">
                <a:latin typeface="Noto Sans CJK KR"/>
              </a:rPr>
              <a:t>는 </a:t>
            </a:r>
            <a:r>
              <a:rPr b="0" lang="en-US" sz="2000" spc="-1" strike="noStrike">
                <a:latin typeface="Noto Sans CJK KR"/>
              </a:rPr>
              <a:t>hidden m</a:t>
            </a:r>
            <a:r>
              <a:rPr b="0" lang="ko-KR" sz="2000" spc="-1" strike="noStrike">
                <a:latin typeface="Noto Sans CJK KR"/>
              </a:rPr>
              <a:t>개를 볼록 </a:t>
            </a:r>
            <a:r>
              <a:rPr b="0" lang="en-US" sz="2000" spc="-1" strike="noStrike">
                <a:latin typeface="Noto Sans CJK KR"/>
              </a:rPr>
              <a:t>ρ̊, </a:t>
            </a:r>
            <a:r>
              <a:rPr b="0" lang="ko-KR" sz="2000" spc="-1" strike="noStrike">
                <a:latin typeface="Noto Sans CJK KR"/>
              </a:rPr>
              <a:t>오목 </a:t>
            </a:r>
            <a:r>
              <a:rPr b="0" lang="en-US" sz="2000" spc="-1" strike="noStrike">
                <a:latin typeface="Noto Sans CJK KR"/>
              </a:rPr>
              <a:t>ρ̂, </a:t>
            </a:r>
            <a:r>
              <a:rPr b="0" lang="ko-KR" sz="2000" spc="-1" strike="noStrike">
                <a:latin typeface="Noto Sans CJK KR"/>
              </a:rPr>
              <a:t>포화 </a:t>
            </a:r>
            <a:r>
              <a:rPr b="0" lang="en-US" sz="2000" spc="-1" strike="noStrike">
                <a:latin typeface="Noto Sans CJK KR"/>
              </a:rPr>
              <a:t>ρ̃</a:t>
            </a:r>
            <a:r>
              <a:rPr b="0" lang="ko-KR" sz="2000" spc="-1" strike="noStrike">
                <a:latin typeface="Noto Sans CJK KR"/>
              </a:rPr>
              <a:t>에 나누는 인원표입니다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예 </a:t>
            </a:r>
            <a:r>
              <a:rPr b="0" lang="en-US" sz="2000" spc="-1" strike="noStrike">
                <a:latin typeface="Noto Sans CJK KR"/>
              </a:rPr>
              <a:t>(4,4,0)</a:t>
            </a:r>
            <a:r>
              <a:rPr b="0" lang="ko-KR" sz="2000" spc="-1" strike="noStrike">
                <a:latin typeface="Noto Sans CJK KR"/>
              </a:rPr>
              <a:t>이면 볼록 </a:t>
            </a:r>
            <a:r>
              <a:rPr b="0" lang="en-US" sz="2000" spc="-1" strike="noStrike">
                <a:latin typeface="Noto Sans CJK KR"/>
              </a:rPr>
              <a:t>4</a:t>
            </a:r>
            <a:r>
              <a:rPr b="0" lang="ko-KR" sz="2000" spc="-1" strike="noStrike">
                <a:latin typeface="Noto Sans CJK KR"/>
              </a:rPr>
              <a:t>개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오목 </a:t>
            </a:r>
            <a:r>
              <a:rPr b="0" lang="en-US" sz="2000" spc="-1" strike="noStrike">
                <a:latin typeface="Noto Sans CJK KR"/>
              </a:rPr>
              <a:t>4</a:t>
            </a:r>
            <a:r>
              <a:rPr b="0" lang="ko-KR" sz="2000" spc="-1" strike="noStrike">
                <a:latin typeface="Noto Sans CJK KR"/>
              </a:rPr>
              <a:t>개 — </a:t>
            </a:r>
            <a:r>
              <a:rPr b="0" lang="en-US" sz="2000" spc="-1" strike="noStrike">
                <a:latin typeface="Noto Sans CJK KR"/>
              </a:rPr>
              <a:t>x³</a:t>
            </a:r>
            <a:r>
              <a:rPr b="0" lang="ko-KR" sz="2000" spc="-1" strike="noStrike">
                <a:latin typeface="Noto Sans CJK KR"/>
              </a:rPr>
              <a:t>나 </a:t>
            </a:r>
            <a:r>
              <a:rPr b="0" lang="en-US" sz="2000" spc="-1" strike="noStrike">
                <a:latin typeface="Noto Sans CJK KR"/>
              </a:rPr>
              <a:t>OCV </a:t>
            </a:r>
            <a:r>
              <a:rPr b="0" lang="ko-KR" sz="2000" spc="-1" strike="noStrike">
                <a:latin typeface="Noto Sans CJK KR"/>
              </a:rPr>
              <a:t>곡선처럼 양쪽으로 휘는 단조 함수에 씁니다</a:t>
            </a:r>
            <a:r>
              <a:rPr b="0" lang="en-US" sz="2000" spc="-1" strike="noStrike">
                <a:latin typeface="Noto Sans CJK KR"/>
              </a:rPr>
              <a:t>. ReLU</a:t>
            </a:r>
            <a:r>
              <a:rPr b="0" lang="ko-KR" sz="2000" spc="-1" strike="noStrike">
                <a:latin typeface="Noto Sans CJK KR"/>
              </a:rPr>
              <a:t>만 쓰면 </a:t>
            </a:r>
            <a:r>
              <a:rPr b="0" lang="en-US" sz="2000" spc="-1" strike="noStrike">
                <a:latin typeface="Noto Sans CJK KR"/>
              </a:rPr>
              <a:t>clip+ReLU</a:t>
            </a:r>
            <a:r>
              <a:rPr b="0" lang="ko-KR" sz="2000" spc="-1" strike="noStrike">
                <a:latin typeface="Noto Sans CJK KR"/>
              </a:rPr>
              <a:t>와 같아서 </a:t>
            </a:r>
            <a:r>
              <a:rPr b="0" lang="en-US" sz="2000" spc="-1" strike="noStrike">
                <a:latin typeface="Noto Sans CJK KR"/>
              </a:rPr>
              <a:t>x³ </a:t>
            </a:r>
            <a:r>
              <a:rPr b="0" lang="ko-KR" sz="2000" spc="-1" strike="noStrike">
                <a:latin typeface="Noto Sans CJK KR"/>
              </a:rPr>
              <a:t>왼쪽이 깨집니다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몇 번째 뉴런이냐로 </a:t>
            </a:r>
            <a:r>
              <a:rPr b="0" lang="en-US" sz="2000" spc="-1" strike="noStrike">
                <a:latin typeface="Noto Sans CJK KR"/>
              </a:rPr>
              <a:t>φ</a:t>
            </a:r>
            <a:r>
              <a:rPr b="0" lang="ko-KR" sz="2000" spc="-1" strike="noStrike">
                <a:latin typeface="Noto Sans CJK KR"/>
              </a:rPr>
              <a:t>가 정해지지</a:t>
            </a:r>
            <a:r>
              <a:rPr b="0" lang="en-US" sz="2000" spc="-1" strike="noStrike">
                <a:latin typeface="Noto Sans CJK KR"/>
              </a:rPr>
              <a:t>, x </a:t>
            </a:r>
            <a:r>
              <a:rPr b="0" lang="ko-KR" sz="2000" spc="-1" strike="noStrike">
                <a:latin typeface="Noto Sans CJK KR"/>
              </a:rPr>
              <a:t>부호로 바뀌지 않습니다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앞 장 </a:t>
            </a:r>
            <a:r>
              <a:rPr b="0" lang="en-US" sz="2000" spc="-1" strike="noStrike">
                <a:latin typeface="Noto Sans CJK KR"/>
              </a:rPr>
              <a:t>Fig.1 (c)</a:t>
            </a:r>
            <a:r>
              <a:rPr b="0" lang="ko-KR" sz="2000" spc="-1" strike="noStrike">
                <a:latin typeface="Noto Sans CJK KR"/>
              </a:rPr>
              <a:t>가 이 구조의 결과입니다 — </a:t>
            </a:r>
            <a:r>
              <a:rPr b="0" lang="en-US" sz="2000" spc="-1" strike="noStrike">
                <a:latin typeface="Noto Sans CJK KR"/>
              </a:rPr>
              <a:t>(b) clip+ReLU</a:t>
            </a:r>
            <a:r>
              <a:rPr b="0" lang="ko-KR" sz="2000" spc="-1" strike="noStrike">
                <a:latin typeface="Noto Sans CJK KR"/>
              </a:rPr>
              <a:t>는 </a:t>
            </a:r>
            <a:r>
              <a:rPr b="0" lang="en-US" sz="2000" spc="-1" strike="noStrike">
                <a:latin typeface="Noto Sans CJK KR"/>
              </a:rPr>
              <a:t>x³ </a:t>
            </a:r>
            <a:r>
              <a:rPr b="0" lang="ko-KR" sz="2000" spc="-1" strike="noStrike">
                <a:latin typeface="Noto Sans CJK KR"/>
              </a:rPr>
              <a:t>실패</a:t>
            </a:r>
            <a:r>
              <a:rPr b="0" lang="en-US" sz="2000" spc="-1" strike="noStrike">
                <a:latin typeface="Noto Sans CJK KR"/>
              </a:rPr>
              <a:t>, CMNN</a:t>
            </a:r>
            <a:r>
              <a:rPr b="0" lang="ko-KR" sz="2000" spc="-1" strike="noStrike">
                <a:latin typeface="Noto Sans CJK KR"/>
              </a:rPr>
              <a:t>은 </a:t>
            </a:r>
            <a:r>
              <a:rPr b="0" lang="en-US" sz="2000" spc="-1" strike="noStrike">
                <a:latin typeface="Noto Sans CJK KR"/>
              </a:rPr>
              <a:t>t+s</a:t>
            </a:r>
            <a:r>
              <a:rPr b="0" lang="ko-KR" sz="2000" spc="-1" strike="noStrike">
                <a:latin typeface="Noto Sans CJK KR"/>
              </a:rPr>
              <a:t>로 둘 다 잡습니다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외삽 보장은 </a:t>
            </a:r>
            <a:r>
              <a:rPr b="0" lang="en-US" sz="2000" spc="-1" strike="noStrike">
                <a:latin typeface="Noto Sans CJK KR"/>
              </a:rPr>
              <a:t>t </a:t>
            </a:r>
            <a:r>
              <a:rPr b="0" lang="ko-KR" sz="2000" spc="-1" strike="noStrike">
                <a:latin typeface="Noto Sans CJK KR"/>
              </a:rPr>
              <a:t>쪽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방향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뿐 — 값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곡선은 틀릴 수 있습니다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다음 장 ③ — </a:t>
            </a:r>
            <a:r>
              <a:rPr b="0" lang="en-US" sz="2000" spc="-1" strike="noStrike">
                <a:latin typeface="Noto Sans CJK KR"/>
              </a:rPr>
              <a:t>CMNN</a:t>
            </a:r>
            <a:r>
              <a:rPr b="0" lang="ko-KR" sz="2000" spc="-1" strike="noStrike">
                <a:latin typeface="Noto Sans CJK KR"/>
              </a:rPr>
              <a:t>보다 </a:t>
            </a:r>
            <a:r>
              <a:rPr b="0" lang="en-US" sz="2000" spc="-1" strike="noStrike">
                <a:latin typeface="Noto Sans CJK KR"/>
              </a:rPr>
              <a:t>physics **</a:t>
            </a:r>
            <a:r>
              <a:rPr b="0" lang="ko-KR" sz="2000" spc="-1" strike="noStrike">
                <a:latin typeface="Noto Sans CJK KR"/>
              </a:rPr>
              <a:t>한 단계 더</a:t>
            </a:r>
            <a:r>
              <a:rPr b="0" lang="en-US" sz="2000" spc="-1" strike="noStrike">
                <a:latin typeface="Noto Sans CJK KR"/>
              </a:rPr>
              <a:t>**: dQ/dV feature, thermo/</a:t>
            </a:r>
            <a:r>
              <a:rPr b="0" lang="ko-KR" sz="2000" spc="-1" strike="noStrike">
                <a:latin typeface="Noto Sans CJK KR"/>
              </a:rPr>
              <a:t>단조 </a:t>
            </a:r>
            <a:r>
              <a:rPr b="0" lang="en-US" sz="2000" spc="-1" strike="noStrike">
                <a:latin typeface="Noto Sans CJK KR"/>
              </a:rPr>
              <a:t>**loss**. </a:t>
            </a:r>
            <a:r>
              <a:rPr b="0" lang="ko-KR" sz="2000" spc="-1" strike="noStrike">
                <a:latin typeface="Noto Sans CJK KR"/>
              </a:rPr>
              <a:t>같은 ‘밖에서 이상한 예측’ 문제지만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넣는 지식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방식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이 다릅니다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Q: </a:t>
            </a:r>
            <a:r>
              <a:rPr b="0" lang="ko-KR" sz="2000" spc="-1" strike="noStrike">
                <a:latin typeface="Noto Sans CJK KR"/>
              </a:rPr>
              <a:t>방향만 알면 </a:t>
            </a:r>
            <a:r>
              <a:rPr b="0" lang="en-US" sz="2000" spc="-1" strike="noStrike">
                <a:latin typeface="Noto Sans CJK KR"/>
              </a:rPr>
              <a:t>CMNN </a:t>
            </a:r>
            <a:r>
              <a:rPr b="0" lang="ko-KR" sz="2000" spc="-1" strike="noStrike">
                <a:latin typeface="Noto Sans CJK KR"/>
              </a:rPr>
              <a:t>아닌가</a:t>
            </a:r>
            <a:r>
              <a:rPr b="0" lang="en-US" sz="2000" spc="-1" strike="noStrike">
                <a:latin typeface="Noto Sans CJK KR"/>
              </a:rPr>
              <a:t>? — </a:t>
            </a:r>
            <a:r>
              <a:rPr b="0" lang="ko-KR" sz="2000" spc="-1" strike="noStrike">
                <a:latin typeface="Noto Sans CJK KR"/>
              </a:rPr>
              <a:t>맞다</a:t>
            </a:r>
            <a:r>
              <a:rPr b="0" lang="en-US" sz="2000" spc="-1" strike="noStrike">
                <a:latin typeface="Noto Sans CJK KR"/>
              </a:rPr>
              <a:t>. ②</a:t>
            </a:r>
            <a:r>
              <a:rPr b="0" lang="ko-KR" sz="2000" spc="-1" strike="noStrike">
                <a:latin typeface="Noto Sans CJK KR"/>
              </a:rPr>
              <a:t>가 그 경우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③ </a:t>
            </a:r>
            <a:r>
              <a:rPr b="0" lang="en-US" sz="2000" spc="-1" strike="noStrike">
                <a:latin typeface="Noto Sans CJK KR"/>
              </a:rPr>
              <a:t>Physics-ML</a:t>
            </a:r>
            <a:r>
              <a:rPr b="0" lang="ko-KR" sz="2000" spc="-1" strike="noStrike">
                <a:latin typeface="Noto Sans CJK KR"/>
              </a:rPr>
              <a:t>은 방향보다 더 안다 — 열화 </a:t>
            </a:r>
            <a:r>
              <a:rPr b="0" lang="en-US" sz="2000" spc="-1" strike="noStrike">
                <a:latin typeface="Noto Sans CJK KR"/>
              </a:rPr>
              <a:t>peak(Li) </a:t>
            </a:r>
            <a:r>
              <a:rPr b="0" lang="ko-KR" sz="2000" spc="-1" strike="noStrike">
                <a:latin typeface="Noto Sans CJK KR"/>
              </a:rPr>
              <a:t>또는 법칙 형태</a:t>
            </a:r>
            <a:r>
              <a:rPr b="0" lang="en-US" sz="2000" spc="-1" strike="noStrike">
                <a:latin typeface="Noto Sans CJK KR"/>
              </a:rPr>
              <a:t>(Aykol).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Li: </a:t>
            </a:r>
            <a:r>
              <a:rPr b="0" lang="ko-KR" sz="2000" spc="-1" strike="noStrike">
                <a:latin typeface="Noto Sans CJK KR"/>
              </a:rPr>
              <a:t>고 </a:t>
            </a:r>
            <a:r>
              <a:rPr b="0" lang="en-US" sz="2000" spc="-1" strike="noStrike">
                <a:latin typeface="Noto Sans CJK KR"/>
              </a:rPr>
              <a:t>DoD </a:t>
            </a:r>
            <a:r>
              <a:rPr b="0" lang="ko-KR" sz="2000" spc="-1" strike="noStrike">
                <a:latin typeface="Noto Sans CJK KR"/>
              </a:rPr>
              <a:t>학습 → 저 </a:t>
            </a:r>
            <a:r>
              <a:rPr b="0" lang="en-US" sz="2000" spc="-1" strike="noStrike">
                <a:latin typeface="Noto Sans CJK KR"/>
              </a:rPr>
              <a:t>DoD </a:t>
            </a:r>
            <a:r>
              <a:rPr b="0" lang="ko-KR" sz="2000" spc="-1" strike="noStrike">
                <a:latin typeface="Noto Sans CJK KR"/>
              </a:rPr>
              <a:t>시험</a:t>
            </a:r>
            <a:r>
              <a:rPr b="0" lang="en-US" sz="2000" spc="-1" strike="noStrike">
                <a:latin typeface="Noto Sans CJK KR"/>
              </a:rPr>
              <a:t>. ML </a:t>
            </a:r>
            <a:r>
              <a:rPr b="0" lang="ko-KR" sz="2000" spc="-1" strike="noStrike">
                <a:latin typeface="Noto Sans CJK KR"/>
              </a:rPr>
              <a:t>외삽 실패 → </a:t>
            </a:r>
            <a:r>
              <a:rPr b="0" lang="en-US" sz="2000" spc="-1" strike="noStrike">
                <a:latin typeface="Noto Sans CJK KR"/>
              </a:rPr>
              <a:t>dQ/dV peak</a:t>
            </a:r>
            <a:r>
              <a:rPr b="0" lang="ko-KR" sz="2000" spc="-1" strike="noStrike">
                <a:latin typeface="Noto Sans CJK KR"/>
              </a:rPr>
              <a:t>를 입력에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Aykol loss: </a:t>
            </a:r>
            <a:r>
              <a:rPr b="0" lang="ko-KR" sz="2000" spc="-1" strike="noStrike">
                <a:latin typeface="Noto Sans CJK KR"/>
              </a:rPr>
              <a:t>단조는 </a:t>
            </a:r>
            <a:r>
              <a:rPr b="0" lang="en-US" sz="2000" spc="-1" strike="noStrike">
                <a:latin typeface="Noto Sans CJK KR"/>
              </a:rPr>
              <a:t>CMNN</a:t>
            </a:r>
            <a:r>
              <a:rPr b="0" lang="ko-KR" sz="2000" spc="-1" strike="noStrike">
                <a:latin typeface="Noto Sans CJK KR"/>
              </a:rPr>
              <a:t>이 더 적합</a:t>
            </a:r>
            <a:r>
              <a:rPr b="0" lang="en-US" sz="2000" spc="-1" strike="noStrike">
                <a:latin typeface="Noto Sans CJK KR"/>
              </a:rPr>
              <a:t>. Arrhenius·</a:t>
            </a:r>
            <a:r>
              <a:rPr b="0" lang="ko-KR" sz="2000" spc="-1" strike="noStrike">
                <a:latin typeface="Noto Sans CJK KR"/>
              </a:rPr>
              <a:t>열역학 등 형태를 알 때 </a:t>
            </a:r>
            <a:r>
              <a:rPr b="0" lang="en-US" sz="2000" spc="-1" strike="noStrike">
                <a:latin typeface="Noto Sans CJK KR"/>
              </a:rPr>
              <a:t>loss.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Fesser: soft constraint — OOD </a:t>
            </a:r>
            <a:r>
              <a:rPr b="0" lang="ko-KR" sz="2000" spc="-1" strike="noStrike">
                <a:latin typeface="Noto Sans CJK KR"/>
              </a:rPr>
              <a:t>밖 구간에서 재검증 필수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37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[1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대본</a:t>
            </a:r>
            <a:r>
              <a:rPr b="0" lang="en-US" sz="2000" spc="-1" strike="noStrike">
                <a:latin typeface="Noto Sans CJK KR"/>
              </a:rPr>
              <a:t>: S22 </a:t>
            </a:r>
            <a:r>
              <a:rPr b="0" lang="ko-KR" sz="2000" spc="-1" strike="noStrike">
                <a:latin typeface="Noto Sans CJK KR"/>
              </a:rPr>
              <a:t>물리 모를 때 — </a:t>
            </a:r>
            <a:r>
              <a:rPr b="0" lang="en-US" sz="2000" spc="-1" strike="noStrike">
                <a:latin typeface="Noto Sans CJK KR"/>
              </a:rPr>
              <a:t>UQ</a:t>
            </a:r>
            <a:r>
              <a:rPr b="0" lang="ko-KR" sz="2000" spc="-1" strike="noStrike">
                <a:latin typeface="Noto Sans CJK KR"/>
              </a:rPr>
              <a:t>는 경보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숫자</a:t>
            </a:r>
            <a:r>
              <a:rPr b="0" lang="en-US" sz="2000" spc="-1" strike="noStrike">
                <a:latin typeface="Noto Sans CJK KR"/>
              </a:rPr>
              <a:t>+</a:t>
            </a:r>
            <a:r>
              <a:rPr b="0" lang="ko-KR" sz="2000" spc="-1" strike="noStrike">
                <a:latin typeface="Noto Sans CJK KR"/>
              </a:rPr>
              <a:t>띠</a:t>
            </a:r>
            <a:r>
              <a:rPr b="0" lang="en-US" sz="2000" spc="-1" strike="noStrike">
                <a:latin typeface="Noto Sans CJK KR"/>
              </a:rPr>
              <a:t>), </a:t>
            </a:r>
            <a:r>
              <a:rPr b="0" lang="ko-KR" sz="2000" spc="-1" strike="noStrike">
                <a:latin typeface="Noto Sans CJK KR"/>
              </a:rPr>
              <a:t>기권은 차단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예측 없음</a:t>
            </a:r>
            <a:r>
              <a:rPr b="0" lang="en-US" sz="2000" spc="-1" strike="noStrike">
                <a:latin typeface="Noto Sans CJK KR"/>
              </a:rPr>
              <a:t>). </a:t>
            </a:r>
            <a:r>
              <a:rPr b="0" lang="ko-KR" sz="2000" spc="-1" strike="noStrike">
                <a:latin typeface="Noto Sans CJK KR"/>
              </a:rPr>
              <a:t>센서 </a:t>
            </a:r>
            <a:r>
              <a:rPr b="0" lang="en-US" sz="2000" spc="-1" strike="noStrike">
                <a:latin typeface="Noto Sans CJK KR"/>
              </a:rPr>
              <a:t>0~10 </a:t>
            </a:r>
            <a:r>
              <a:rPr b="0" lang="ko-KR" sz="2000" spc="-1" strike="noStrike">
                <a:latin typeface="Noto Sans CJK KR"/>
              </a:rPr>
              <a:t>학습</a:t>
            </a:r>
            <a:r>
              <a:rPr b="0" lang="en-US" sz="2000" spc="-1" strike="noStrike">
                <a:latin typeface="Noto Sans CJK KR"/>
              </a:rPr>
              <a:t>·20 </a:t>
            </a:r>
            <a:r>
              <a:rPr b="0" lang="ko-KR" sz="2000" spc="-1" strike="noStrike">
                <a:latin typeface="Noto Sans CJK KR"/>
              </a:rPr>
              <a:t>입력 → </a:t>
            </a:r>
            <a:r>
              <a:rPr b="0" lang="en-US" sz="2000" spc="-1" strike="noStrike">
                <a:latin typeface="Noto Sans CJK KR"/>
              </a:rPr>
              <a:t>UQ '5.2 </a:t>
            </a:r>
            <a:r>
              <a:rPr b="0" lang="ko-KR" sz="2000" spc="-1" strike="noStrike">
                <a:latin typeface="Noto Sans CJK KR"/>
              </a:rPr>
              <a:t>불확실</a:t>
            </a:r>
            <a:r>
              <a:rPr b="0" lang="en-US" sz="2000" spc="-1" strike="noStrike">
                <a:latin typeface="Noto Sans CJK KR"/>
              </a:rPr>
              <a:t>' vs </a:t>
            </a:r>
            <a:r>
              <a:rPr b="0" lang="ko-KR" sz="2000" spc="-1" strike="noStrike">
                <a:latin typeface="Noto Sans CJK KR"/>
              </a:rPr>
              <a:t>기권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예측 안 함</a:t>
            </a:r>
            <a:r>
              <a:rPr b="0" lang="en-US" sz="2000" spc="-1" strike="noStrike">
                <a:latin typeface="Noto Sans CJK KR"/>
              </a:rPr>
              <a:t>'. </a:t>
            </a:r>
            <a:r>
              <a:rPr b="0" lang="ko-KR" sz="2000" spc="-1" strike="noStrike">
                <a:latin typeface="Noto Sans CJK KR"/>
              </a:rPr>
              <a:t>고위험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틀린 숫자 </a:t>
            </a:r>
            <a:r>
              <a:rPr b="0" lang="en-US" sz="2000" spc="-1" strike="noStrike">
                <a:latin typeface="Noto Sans CJK KR"/>
              </a:rPr>
              <a:t>&gt; </a:t>
            </a:r>
            <a:r>
              <a:rPr b="0" lang="ko-KR" sz="2000" spc="-1" strike="noStrike">
                <a:latin typeface="Noto Sans CJK KR"/>
              </a:rPr>
              <a:t>기권</a:t>
            </a:r>
            <a:r>
              <a:rPr b="0" lang="en-US" sz="2000" spc="-1" strike="noStrike">
                <a:latin typeface="Noto Sans CJK KR"/>
              </a:rPr>
              <a:t>. Zhu·DeepONet=</a:t>
            </a:r>
            <a:r>
              <a:rPr b="0" lang="ko-KR" sz="2000" spc="-1" strike="noStrike">
                <a:latin typeface="Noto Sans CJK KR"/>
              </a:rPr>
              <a:t>부록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다음 — 종합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40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핵심 절차 </a:t>
            </a:r>
            <a:r>
              <a:rPr b="0" lang="en-US" sz="2000" spc="-1" strike="noStrike">
                <a:latin typeface="Noto Sans CJK KR"/>
              </a:rPr>
              <a:t>4</a:t>
            </a:r>
            <a:r>
              <a:rPr b="0" lang="ko-KR" sz="2000" spc="-1" strike="noStrike">
                <a:latin typeface="Noto Sans CJK KR"/>
              </a:rPr>
              <a:t>단계</a:t>
            </a:r>
            <a:r>
              <a:rPr b="0" lang="en-US" sz="2000" spc="-1" strike="noStrike">
                <a:latin typeface="Noto Sans CJK KR"/>
              </a:rPr>
              <a:t>: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① </a:t>
            </a:r>
            <a:r>
              <a:rPr b="0" lang="en-US" sz="2000" spc="-1" strike="noStrike">
                <a:latin typeface="Noto Sans CJK KR"/>
              </a:rPr>
              <a:t>hull </a:t>
            </a:r>
            <a:r>
              <a:rPr b="0" lang="ko-KR" sz="2000" spc="-1" strike="noStrike">
                <a:latin typeface="Noto Sans CJK KR"/>
              </a:rPr>
              <a:t>밖 시험 </a:t>
            </a:r>
            <a:r>
              <a:rPr b="0" lang="en-US" sz="2000" spc="-1" strike="noStrike">
                <a:latin typeface="Noto Sans CJK KR"/>
              </a:rPr>
              <a:t>actual </a:t>
            </a:r>
            <a:r>
              <a:rPr b="0" lang="ko-KR" sz="2000" spc="-1" strike="noStrike">
                <a:latin typeface="Noto Sans CJK KR"/>
              </a:rPr>
              <a:t>학습 전 분리 </a:t>
            </a:r>
            <a:r>
              <a:rPr b="0" lang="en-US" sz="2000" spc="-1" strike="noStrike">
                <a:latin typeface="Noto Sans CJK KR"/>
              </a:rPr>
              <a:t>(Bartley).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② </a:t>
            </a:r>
            <a:r>
              <a:rPr b="0" lang="ko-KR" sz="2000" spc="-1" strike="noStrike">
                <a:latin typeface="Noto Sans CJK KR"/>
              </a:rPr>
              <a:t>지식으로 가정 후보 → 각각 같은 </a:t>
            </a:r>
            <a:r>
              <a:rPr b="0" lang="en-US" sz="2000" spc="-1" strike="noStrike">
                <a:latin typeface="Noto Sans CJK KR"/>
              </a:rPr>
              <a:t>train</a:t>
            </a:r>
            <a:r>
              <a:rPr b="0" lang="ko-KR" sz="2000" spc="-1" strike="noStrike">
                <a:latin typeface="Noto Sans CJK KR"/>
              </a:rPr>
              <a:t>으로 학습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③ </a:t>
            </a:r>
            <a:r>
              <a:rPr b="0" lang="ko-KR" sz="2000" spc="-1" strike="noStrike">
                <a:latin typeface="Noto Sans CJK KR"/>
              </a:rPr>
              <a:t>같은 밖 시험에 </a:t>
            </a:r>
            <a:r>
              <a:rPr b="0" lang="en-US" sz="2000" spc="-1" strike="noStrike">
                <a:latin typeface="Noto Sans CJK KR"/>
              </a:rPr>
              <a:t>MAPE — train</a:t>
            </a:r>
            <a:r>
              <a:rPr b="0" lang="ko-KR" sz="2000" spc="-1" strike="noStrike">
                <a:latin typeface="Noto Sans CJK KR"/>
              </a:rPr>
              <a:t>만으론 구분 불가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④ </a:t>
            </a:r>
            <a:r>
              <a:rPr b="0" lang="ko-KR" sz="2000" spc="-1" strike="noStrike">
                <a:latin typeface="Noto Sans CJK KR"/>
              </a:rPr>
              <a:t>제일 잘 맞는 가정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방법 채택 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성능 포함</a:t>
            </a:r>
            <a:r>
              <a:rPr b="0" lang="en-US" sz="2000" spc="-1" strike="noStrike">
                <a:latin typeface="Noto Sans CJK KR"/>
              </a:rPr>
              <a:t>).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주의</a:t>
            </a:r>
            <a:r>
              <a:rPr b="0" lang="en-US" sz="2000" spc="-1" strike="noStrike">
                <a:latin typeface="Noto Sans CJK KR"/>
              </a:rPr>
              <a:t>: </a:t>
            </a:r>
            <a:r>
              <a:rPr b="0" lang="ko-KR" sz="2000" spc="-1" strike="noStrike">
                <a:latin typeface="Noto Sans CJK KR"/>
              </a:rPr>
              <a:t>지식 먼저 </a:t>
            </a:r>
            <a:r>
              <a:rPr b="0" lang="en-US" sz="2000" spc="-1" strike="noStrike">
                <a:latin typeface="Noto Sans CJK KR"/>
              </a:rPr>
              <a:t>· </a:t>
            </a:r>
            <a:r>
              <a:rPr b="0" lang="ko-KR" sz="2000" spc="-1" strike="noStrike">
                <a:latin typeface="Noto Sans CJK KR"/>
              </a:rPr>
              <a:t>시험 범위 한정 </a:t>
            </a:r>
            <a:r>
              <a:rPr b="0" lang="en-US" sz="2000" spc="-1" strike="noStrike">
                <a:latin typeface="Noto Sans CJK KR"/>
              </a:rPr>
              <a:t>· </a:t>
            </a:r>
            <a:r>
              <a:rPr b="0" lang="ko-KR" sz="2000" spc="-1" strike="noStrike">
                <a:latin typeface="Noto Sans CJK KR"/>
              </a:rPr>
              <a:t>시험 없으면 </a:t>
            </a:r>
            <a:r>
              <a:rPr b="0" lang="en-US" sz="2000" spc="-1" strike="noStrike">
                <a:latin typeface="Noto Sans CJK KR"/>
              </a:rPr>
              <a:t>UQ+</a:t>
            </a:r>
            <a:r>
              <a:rPr b="0" lang="ko-KR" sz="2000" spc="-1" strike="noStrike">
                <a:latin typeface="Noto Sans CJK KR"/>
              </a:rPr>
              <a:t>기권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위 그림</a:t>
            </a:r>
            <a:r>
              <a:rPr b="0" lang="en-US" sz="2000" spc="-1" strike="noStrike">
                <a:latin typeface="Noto Sans CJK KR"/>
              </a:rPr>
              <a:t>=</a:t>
            </a:r>
            <a:r>
              <a:rPr b="0" lang="ko-KR" sz="2000" spc="-1" strike="noStrike">
                <a:latin typeface="Noto Sans CJK KR"/>
              </a:rPr>
              <a:t>진단</a:t>
            </a:r>
            <a:r>
              <a:rPr b="0" lang="en-US" sz="2000" spc="-1" strike="noStrike">
                <a:latin typeface="Noto Sans CJK KR"/>
              </a:rPr>
              <a:t>(</a:t>
            </a:r>
            <a:r>
              <a:rPr b="0" lang="ko-KR" sz="2000" spc="-1" strike="noStrike">
                <a:latin typeface="Noto Sans CJK KR"/>
              </a:rPr>
              <a:t>같은 </a:t>
            </a:r>
            <a:r>
              <a:rPr b="0" lang="en-US" sz="2000" spc="-1" strike="noStrike">
                <a:latin typeface="Noto Sans CJK KR"/>
              </a:rPr>
              <a:t>train·</a:t>
            </a:r>
            <a:r>
              <a:rPr b="0" lang="ko-KR" sz="2000" spc="-1" strike="noStrike">
                <a:latin typeface="Noto Sans CJK KR"/>
              </a:rPr>
              <a:t>다른 밖</a:t>
            </a:r>
            <a:r>
              <a:rPr b="0" lang="en-US" sz="2000" spc="-1" strike="noStrike">
                <a:latin typeface="Noto Sans CJK KR"/>
              </a:rPr>
              <a:t>). </a:t>
            </a:r>
            <a:r>
              <a:rPr b="0" lang="ko-KR" sz="2000" spc="-1" strike="noStrike">
                <a:latin typeface="Noto Sans CJK KR"/>
              </a:rPr>
              <a:t>다음 </a:t>
            </a:r>
            <a:r>
              <a:rPr b="0" lang="en-US" sz="2000" spc="-1" strike="noStrike">
                <a:latin typeface="Noto Sans CJK KR"/>
              </a:rPr>
              <a:t>S25=</a:t>
            </a:r>
            <a:r>
              <a:rPr b="0" lang="ko-KR" sz="2000" spc="-1" strike="noStrike">
                <a:latin typeface="Noto Sans CJK KR"/>
              </a:rPr>
              <a:t>실무 </a:t>
            </a:r>
            <a:r>
              <a:rPr b="0" lang="en-US" sz="2000" spc="-1" strike="noStrike">
                <a:latin typeface="Noto Sans CJK KR"/>
              </a:rPr>
              <a:t>4</a:t>
            </a:r>
            <a:r>
              <a:rPr b="0" lang="ko-KR" sz="2000" spc="-1" strike="noStrike">
                <a:latin typeface="Noto Sans CJK KR"/>
              </a:rPr>
              <a:t>단계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[2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S24 </a:t>
            </a:r>
            <a:r>
              <a:rPr b="0" lang="ko-KR" sz="2000" spc="-1" strike="noStrike">
                <a:latin typeface="Noto Sans CJK KR"/>
              </a:rPr>
              <a:t>절차를 현장 언어로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① </a:t>
            </a:r>
            <a:r>
              <a:rPr b="0" lang="ko-KR" sz="2000" spc="-1" strike="noStrike">
                <a:latin typeface="Noto Sans CJK KR"/>
              </a:rPr>
              <a:t>범위 ② 가정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방법 ③ 밖 시험 </a:t>
            </a:r>
            <a:r>
              <a:rPr b="0" lang="en-US" sz="2000" spc="-1" strike="noStrike">
                <a:latin typeface="Noto Sans CJK KR"/>
              </a:rPr>
              <a:t>MAPE+UQ ④ </a:t>
            </a:r>
            <a:r>
              <a:rPr b="0" lang="ko-KR" sz="2000" spc="-1" strike="noStrike">
                <a:latin typeface="Noto Sans CJK KR"/>
              </a:rPr>
              <a:t>배포</a:t>
            </a:r>
            <a:r>
              <a:rPr b="0" lang="en-US" sz="2000" spc="-1" strike="noStrike">
                <a:latin typeface="Noto Sans CJK KR"/>
              </a:rPr>
              <a:t>/</a:t>
            </a:r>
            <a:r>
              <a:rPr b="0" lang="ko-KR" sz="2000" spc="-1" strike="noStrike">
                <a:latin typeface="Noto Sans CJK KR"/>
              </a:rPr>
              <a:t>기권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시험 데이터 없으면 숫자 판단 불가 → </a:t>
            </a:r>
            <a:r>
              <a:rPr b="0" lang="en-US" sz="2000" spc="-1" strike="noStrike">
                <a:latin typeface="Noto Sans CJK KR"/>
              </a:rPr>
              <a:t>UQ+</a:t>
            </a:r>
            <a:r>
              <a:rPr b="0" lang="ko-KR" sz="2000" spc="-1" strike="noStrike">
                <a:latin typeface="Noto Sans CJK KR"/>
              </a:rPr>
              <a:t>기권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[1.5</a:t>
            </a:r>
            <a:r>
              <a:rPr b="0" lang="ko-KR" sz="2000" spc="-1" strike="noStrike">
                <a:latin typeface="Noto Sans CJK KR"/>
              </a:rPr>
              <a:t>분</a:t>
            </a:r>
            <a:r>
              <a:rPr b="0" lang="en-US" sz="2000" spc="-1" strike="noStrike">
                <a:latin typeface="Noto Sans CJK KR"/>
              </a:rPr>
              <a:t>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관통 문장 → ①</a:t>
            </a:r>
            <a:r>
              <a:rPr b="0" lang="en-US" sz="2000" spc="-1" strike="noStrike">
                <a:latin typeface="Noto Sans CJK KR"/>
              </a:rPr>
              <a:t>~④ </a:t>
            </a:r>
            <a:r>
              <a:rPr b="0" lang="ko-KR" sz="2000" spc="-1" strike="noStrike">
                <a:latin typeface="Noto Sans CJK KR"/>
              </a:rPr>
              <a:t>한 줄씩 → 필독 </a:t>
            </a:r>
            <a:r>
              <a:rPr b="0" lang="en-US" sz="2000" spc="-1" strike="noStrike">
                <a:latin typeface="Noto Sans CJK KR"/>
              </a:rPr>
              <a:t>3</a:t>
            </a:r>
            <a:r>
              <a:rPr b="0" lang="ko-KR" sz="2000" spc="-1" strike="noStrike">
                <a:latin typeface="Noto Sans CJK KR"/>
              </a:rPr>
              <a:t>편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더 읽기</a:t>
            </a:r>
            <a:r>
              <a:rPr b="0" lang="en-US" sz="2000" spc="-1" strike="noStrike">
                <a:latin typeface="Noto Sans CJK KR"/>
              </a:rPr>
              <a:t>: Pfister·Fesser·Zhu·Li. Q&amp;A</a:t>
            </a:r>
            <a:r>
              <a:rPr b="0" lang="ko-KR" sz="2000" spc="-1" strike="noStrike">
                <a:latin typeface="Noto Sans CJK KR"/>
              </a:rPr>
              <a:t>로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[Q&amp;A]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예상 질문 대비</a:t>
            </a:r>
            <a:r>
              <a:rPr b="0" lang="en-US" sz="2000" spc="-1" strike="noStrike">
                <a:latin typeface="Noto Sans CJK KR"/>
              </a:rPr>
              <a:t>: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</a:t>
            </a:r>
            <a:r>
              <a:rPr b="0" lang="ko-KR" sz="2000" spc="-1" strike="noStrike">
                <a:latin typeface="Noto Sans CJK KR"/>
              </a:rPr>
              <a:t>데이터를 엄청 키우면 </a:t>
            </a:r>
            <a:r>
              <a:rPr b="0" lang="en-US" sz="2000" spc="-1" strike="noStrike">
                <a:latin typeface="Noto Sans CJK KR"/>
              </a:rPr>
              <a:t>(foundation model) </a:t>
            </a:r>
            <a:r>
              <a:rPr b="0" lang="ko-KR" sz="2000" spc="-1" strike="noStrike">
                <a:latin typeface="Noto Sans CJK KR"/>
              </a:rPr>
              <a:t>해결 안 되나</a:t>
            </a:r>
            <a:r>
              <a:rPr b="0" lang="en-US" sz="2000" spc="-1" strike="noStrike">
                <a:latin typeface="Noto Sans CJK KR"/>
              </a:rPr>
              <a:t>?' → </a:t>
            </a:r>
            <a:r>
              <a:rPr b="0" lang="ko-KR" sz="2000" spc="-1" strike="noStrike">
                <a:latin typeface="Noto Sans CJK KR"/>
              </a:rPr>
              <a:t>범위가 커질 뿐 범위 밖은 여전히 존재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함수를 못 정하는 건 데이터 양이 아니라 범위의 문제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'ReLU </a:t>
            </a:r>
            <a:r>
              <a:rPr b="0" lang="ko-KR" sz="2000" spc="-1" strike="noStrike">
                <a:latin typeface="Noto Sans CJK KR"/>
              </a:rPr>
              <a:t>말고 다른 활성화면</a:t>
            </a:r>
            <a:r>
              <a:rPr b="0" lang="en-US" sz="2000" spc="-1" strike="noStrike">
                <a:latin typeface="Noto Sans CJK KR"/>
              </a:rPr>
              <a:t>?' → Xu Fig.5 — </a:t>
            </a:r>
            <a:r>
              <a:rPr b="0" lang="ko-KR" sz="2000" spc="-1" strike="noStrike">
                <a:latin typeface="Noto Sans CJK KR"/>
              </a:rPr>
              <a:t>밖의 모양이 바뀔 뿐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가정이 생긴다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는 구조는 동일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</a:t>
            </a:r>
            <a:r>
              <a:rPr b="0" lang="ko-KR" sz="2000" spc="-1" strike="noStrike">
                <a:latin typeface="Noto Sans CJK KR"/>
              </a:rPr>
              <a:t>단조 가정이 틀린 데이터면</a:t>
            </a:r>
            <a:r>
              <a:rPr b="0" lang="en-US" sz="2000" spc="-1" strike="noStrike">
                <a:latin typeface="Noto Sans CJK KR"/>
              </a:rPr>
              <a:t>?' → </a:t>
            </a:r>
            <a:r>
              <a:rPr b="0" lang="ko-KR" sz="2000" spc="-1" strike="noStrike">
                <a:latin typeface="Noto Sans CJK KR"/>
              </a:rPr>
              <a:t>방법 </a:t>
            </a:r>
            <a:r>
              <a:rPr b="0" lang="en-US" sz="2000" spc="-1" strike="noStrike">
                <a:latin typeface="Noto Sans CJK KR"/>
              </a:rPr>
              <a:t>1</a:t>
            </a:r>
            <a:r>
              <a:rPr b="0" lang="ko-KR" sz="2000" spc="-1" strike="noStrike">
                <a:latin typeface="Noto Sans CJK KR"/>
              </a:rPr>
              <a:t>과 같은 리스크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그래서 검증 </a:t>
            </a:r>
            <a:r>
              <a:rPr b="0" lang="en-US" sz="2000" spc="-1" strike="noStrike">
                <a:latin typeface="Noto Sans CJK KR"/>
              </a:rPr>
              <a:t>+ </a:t>
            </a:r>
            <a:r>
              <a:rPr b="0" lang="ko-KR" sz="2000" spc="-1" strike="noStrike">
                <a:latin typeface="Noto Sans CJK KR"/>
              </a:rPr>
              <a:t>민감도 확인이 필수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'IRM·DomainBed</a:t>
            </a:r>
            <a:r>
              <a:rPr b="0" lang="ko-KR" sz="2000" spc="-1" strike="noStrike">
                <a:latin typeface="Noto Sans CJK KR"/>
              </a:rPr>
              <a:t>는</a:t>
            </a:r>
            <a:r>
              <a:rPr b="0" lang="en-US" sz="2000" spc="-1" strike="noStrike">
                <a:latin typeface="Noto Sans CJK KR"/>
              </a:rPr>
              <a:t>?' → **</a:t>
            </a:r>
            <a:r>
              <a:rPr b="0" lang="ko-KR" sz="2000" spc="-1" strike="noStrike">
                <a:latin typeface="Noto Sans CJK KR"/>
              </a:rPr>
              <a:t>분류 </a:t>
            </a:r>
            <a:r>
              <a:rPr b="0" lang="en-US" sz="2000" spc="-1" strike="noStrike">
                <a:latin typeface="Noto Sans CJK KR"/>
              </a:rPr>
              <a:t>domain generalization**. </a:t>
            </a:r>
            <a:r>
              <a:rPr b="0" lang="ko-KR" sz="2000" spc="-1" strike="noStrike">
                <a:latin typeface="Noto Sans CJK KR"/>
              </a:rPr>
              <a:t>회귀 </a:t>
            </a:r>
            <a:r>
              <a:rPr b="0" lang="en-US" sz="2000" spc="-1" strike="noStrike">
                <a:latin typeface="Noto Sans CJK KR"/>
              </a:rPr>
              <a:t>extrap </a:t>
            </a:r>
            <a:r>
              <a:rPr b="0" lang="ko-KR" sz="2000" spc="-1" strike="noStrike">
                <a:latin typeface="Noto Sans CJK KR"/>
              </a:rPr>
              <a:t>본문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범위 밖</a:t>
            </a:r>
            <a:r>
              <a:rPr b="0" lang="en-US" sz="2000" spc="-1" strike="noStrike">
                <a:latin typeface="Noto Sans CJK KR"/>
              </a:rPr>
              <a:t>**. baseline </a:t>
            </a:r>
            <a:r>
              <a:rPr b="0" lang="ko-KR" sz="2000" spc="-1" strike="noStrike">
                <a:latin typeface="Noto Sans CJK KR"/>
              </a:rPr>
              <a:t>공정 비교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교훈만</a:t>
            </a:r>
            <a:r>
              <a:rPr b="0" lang="en-US" sz="2000" spc="-1" strike="noStrike">
                <a:latin typeface="Noto Sans CJK KR"/>
              </a:rPr>
              <a:t>** </a:t>
            </a:r>
            <a:r>
              <a:rPr b="0" lang="ko-KR" sz="2000" spc="-1" strike="noStrike">
                <a:latin typeface="Noto Sans CJK KR"/>
              </a:rPr>
              <a:t>차용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</a:t>
            </a:r>
            <a:r>
              <a:rPr b="0" lang="ko-KR" sz="2000" spc="-1" strike="noStrike">
                <a:latin typeface="Noto Sans CJK KR"/>
              </a:rPr>
              <a:t>분류 </a:t>
            </a:r>
            <a:r>
              <a:rPr b="0" lang="en-US" sz="2000" spc="-1" strike="noStrike">
                <a:latin typeface="Noto Sans CJK KR"/>
              </a:rPr>
              <a:t>extrap</a:t>
            </a:r>
            <a:r>
              <a:rPr b="0" lang="ko-KR" sz="2000" spc="-1" strike="noStrike">
                <a:latin typeface="Noto Sans CJK KR"/>
              </a:rPr>
              <a:t>은</a:t>
            </a:r>
            <a:r>
              <a:rPr b="0" lang="en-US" sz="2000" spc="-1" strike="noStrike">
                <a:latin typeface="Noto Sans CJK KR"/>
              </a:rPr>
              <a:t>?' → reject/OOD — **</a:t>
            </a:r>
            <a:r>
              <a:rPr b="0" lang="ko-KR" sz="2000" spc="-1" strike="noStrike">
                <a:latin typeface="Noto Sans CJK KR"/>
              </a:rPr>
              <a:t>별도</a:t>
            </a:r>
            <a:r>
              <a:rPr b="0" lang="en-US" sz="2000" spc="-1" strike="noStrike">
                <a:latin typeface="Noto Sans CJK KR"/>
              </a:rPr>
              <a:t>** </a:t>
            </a:r>
            <a:r>
              <a:rPr b="0" lang="ko-KR" sz="2000" spc="-1" strike="noStrike">
                <a:latin typeface="Noto Sans CJK KR"/>
              </a:rPr>
              <a:t>주제 </a:t>
            </a:r>
            <a:r>
              <a:rPr b="0" lang="en-US" sz="2000" spc="-1" strike="noStrike">
                <a:latin typeface="Noto Sans CJK KR"/>
              </a:rPr>
              <a:t>(INDEX </a:t>
            </a:r>
            <a:r>
              <a:rPr b="0" lang="ko-KR" sz="2000" spc="-1" strike="noStrike">
                <a:latin typeface="Noto Sans CJK KR"/>
              </a:rPr>
              <a:t>참고</a:t>
            </a:r>
            <a:r>
              <a:rPr b="0" lang="en-US" sz="2000" spc="-1" strike="noStrike">
                <a:latin typeface="Noto Sans CJK KR"/>
              </a:rPr>
              <a:t>).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'Physics-ML/PDE-ML </a:t>
            </a:r>
            <a:r>
              <a:rPr b="0" lang="ko-KR" sz="2000" spc="-1" strike="noStrike">
                <a:latin typeface="Noto Sans CJK KR"/>
              </a:rPr>
              <a:t>실패는 해결됐나</a:t>
            </a:r>
            <a:r>
              <a:rPr b="0" lang="en-US" sz="2000" spc="-1" strike="noStrike">
                <a:latin typeface="Noto Sans CJK KR"/>
              </a:rPr>
              <a:t>?' → </a:t>
            </a:r>
            <a:r>
              <a:rPr b="0" lang="ko-KR" sz="2000" spc="-1" strike="noStrike">
                <a:latin typeface="Noto Sans CJK KR"/>
              </a:rPr>
              <a:t>완화책은 있으나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검증 별도</a:t>
            </a:r>
            <a:r>
              <a:rPr b="0" lang="en-US" sz="2000" spc="-1" strike="noStrike">
                <a:latin typeface="Noto Sans CJK KR"/>
              </a:rPr>
              <a:t>' </a:t>
            </a:r>
            <a:r>
              <a:rPr b="0" lang="ko-KR" sz="2000" spc="-1" strike="noStrike">
                <a:latin typeface="Noto Sans CJK KR"/>
              </a:rPr>
              <a:t>원칙은 유지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[Q&amp;A]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latin typeface="Noto Sans CJK KR"/>
              </a:rPr>
              <a:t>예상 질문 대비</a:t>
            </a:r>
            <a:r>
              <a:rPr b="0" lang="en-US" sz="2000" spc="-1" strike="noStrike">
                <a:latin typeface="Noto Sans CJK KR"/>
              </a:rPr>
              <a:t>: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</a:t>
            </a:r>
            <a:r>
              <a:rPr b="0" lang="ko-KR" sz="2000" spc="-1" strike="noStrike">
                <a:latin typeface="Noto Sans CJK KR"/>
              </a:rPr>
              <a:t>데이터를 엄청 키우면 </a:t>
            </a:r>
            <a:r>
              <a:rPr b="0" lang="en-US" sz="2000" spc="-1" strike="noStrike">
                <a:latin typeface="Noto Sans CJK KR"/>
              </a:rPr>
              <a:t>(foundation model) </a:t>
            </a:r>
            <a:r>
              <a:rPr b="0" lang="ko-KR" sz="2000" spc="-1" strike="noStrike">
                <a:latin typeface="Noto Sans CJK KR"/>
              </a:rPr>
              <a:t>해결 안 되나</a:t>
            </a:r>
            <a:r>
              <a:rPr b="0" lang="en-US" sz="2000" spc="-1" strike="noStrike">
                <a:latin typeface="Noto Sans CJK KR"/>
              </a:rPr>
              <a:t>?' → </a:t>
            </a:r>
            <a:r>
              <a:rPr b="0" lang="ko-KR" sz="2000" spc="-1" strike="noStrike">
                <a:latin typeface="Noto Sans CJK KR"/>
              </a:rPr>
              <a:t>범위가 커질 뿐 범위 밖은 여전히 존재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함수를 못 정하는 건 데이터 양이 아니라 범위의 문제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'ReLU </a:t>
            </a:r>
            <a:r>
              <a:rPr b="0" lang="ko-KR" sz="2000" spc="-1" strike="noStrike">
                <a:latin typeface="Noto Sans CJK KR"/>
              </a:rPr>
              <a:t>말고 다른 활성화면</a:t>
            </a:r>
            <a:r>
              <a:rPr b="0" lang="en-US" sz="2000" spc="-1" strike="noStrike">
                <a:latin typeface="Noto Sans CJK KR"/>
              </a:rPr>
              <a:t>?' → Xu Fig.5 — </a:t>
            </a:r>
            <a:r>
              <a:rPr b="0" lang="ko-KR" sz="2000" spc="-1" strike="noStrike">
                <a:latin typeface="Noto Sans CJK KR"/>
              </a:rPr>
              <a:t>밖의 모양이 바뀔 뿐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가정이 생긴다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는 구조는 동일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</a:t>
            </a:r>
            <a:r>
              <a:rPr b="0" lang="ko-KR" sz="2000" spc="-1" strike="noStrike">
                <a:latin typeface="Noto Sans CJK KR"/>
              </a:rPr>
              <a:t>단조 가정이 틀린 데이터면</a:t>
            </a:r>
            <a:r>
              <a:rPr b="0" lang="en-US" sz="2000" spc="-1" strike="noStrike">
                <a:latin typeface="Noto Sans CJK KR"/>
              </a:rPr>
              <a:t>?' → </a:t>
            </a:r>
            <a:r>
              <a:rPr b="0" lang="ko-KR" sz="2000" spc="-1" strike="noStrike">
                <a:latin typeface="Noto Sans CJK KR"/>
              </a:rPr>
              <a:t>방법 </a:t>
            </a:r>
            <a:r>
              <a:rPr b="0" lang="en-US" sz="2000" spc="-1" strike="noStrike">
                <a:latin typeface="Noto Sans CJK KR"/>
              </a:rPr>
              <a:t>1</a:t>
            </a:r>
            <a:r>
              <a:rPr b="0" lang="ko-KR" sz="2000" spc="-1" strike="noStrike">
                <a:latin typeface="Noto Sans CJK KR"/>
              </a:rPr>
              <a:t>과 같은 리스크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그래서 검증 </a:t>
            </a:r>
            <a:r>
              <a:rPr b="0" lang="en-US" sz="2000" spc="-1" strike="noStrike">
                <a:latin typeface="Noto Sans CJK KR"/>
              </a:rPr>
              <a:t>+ </a:t>
            </a:r>
            <a:r>
              <a:rPr b="0" lang="ko-KR" sz="2000" spc="-1" strike="noStrike">
                <a:latin typeface="Noto Sans CJK KR"/>
              </a:rPr>
              <a:t>민감도 확인이 필수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'IRM·DomainBed</a:t>
            </a:r>
            <a:r>
              <a:rPr b="0" lang="ko-KR" sz="2000" spc="-1" strike="noStrike">
                <a:latin typeface="Noto Sans CJK KR"/>
              </a:rPr>
              <a:t>는</a:t>
            </a:r>
            <a:r>
              <a:rPr b="0" lang="en-US" sz="2000" spc="-1" strike="noStrike">
                <a:latin typeface="Noto Sans CJK KR"/>
              </a:rPr>
              <a:t>?' → **</a:t>
            </a:r>
            <a:r>
              <a:rPr b="0" lang="ko-KR" sz="2000" spc="-1" strike="noStrike">
                <a:latin typeface="Noto Sans CJK KR"/>
              </a:rPr>
              <a:t>분류 </a:t>
            </a:r>
            <a:r>
              <a:rPr b="0" lang="en-US" sz="2000" spc="-1" strike="noStrike">
                <a:latin typeface="Noto Sans CJK KR"/>
              </a:rPr>
              <a:t>domain generalization**. </a:t>
            </a:r>
            <a:r>
              <a:rPr b="0" lang="ko-KR" sz="2000" spc="-1" strike="noStrike">
                <a:latin typeface="Noto Sans CJK KR"/>
              </a:rPr>
              <a:t>회귀 </a:t>
            </a:r>
            <a:r>
              <a:rPr b="0" lang="en-US" sz="2000" spc="-1" strike="noStrike">
                <a:latin typeface="Noto Sans CJK KR"/>
              </a:rPr>
              <a:t>extrap </a:t>
            </a:r>
            <a:r>
              <a:rPr b="0" lang="ko-KR" sz="2000" spc="-1" strike="noStrike">
                <a:latin typeface="Noto Sans CJK KR"/>
              </a:rPr>
              <a:t>본문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범위 밖</a:t>
            </a:r>
            <a:r>
              <a:rPr b="0" lang="en-US" sz="2000" spc="-1" strike="noStrike">
                <a:latin typeface="Noto Sans CJK KR"/>
              </a:rPr>
              <a:t>**. baseline </a:t>
            </a:r>
            <a:r>
              <a:rPr b="0" lang="ko-KR" sz="2000" spc="-1" strike="noStrike">
                <a:latin typeface="Noto Sans CJK KR"/>
              </a:rPr>
              <a:t>공정 비교 </a:t>
            </a:r>
            <a:r>
              <a:rPr b="0" lang="en-US" sz="2000" spc="-1" strike="noStrike">
                <a:latin typeface="Noto Sans CJK KR"/>
              </a:rPr>
              <a:t>**</a:t>
            </a:r>
            <a:r>
              <a:rPr b="0" lang="ko-KR" sz="2000" spc="-1" strike="noStrike">
                <a:latin typeface="Noto Sans CJK KR"/>
              </a:rPr>
              <a:t>교훈만</a:t>
            </a:r>
            <a:r>
              <a:rPr b="0" lang="en-US" sz="2000" spc="-1" strike="noStrike">
                <a:latin typeface="Noto Sans CJK KR"/>
              </a:rPr>
              <a:t>** </a:t>
            </a:r>
            <a:r>
              <a:rPr b="0" lang="ko-KR" sz="2000" spc="-1" strike="noStrike">
                <a:latin typeface="Noto Sans CJK KR"/>
              </a:rPr>
              <a:t>차용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</a:t>
            </a:r>
            <a:r>
              <a:rPr b="0" lang="ko-KR" sz="2000" spc="-1" strike="noStrike">
                <a:latin typeface="Noto Sans CJK KR"/>
              </a:rPr>
              <a:t>분류 </a:t>
            </a:r>
            <a:r>
              <a:rPr b="0" lang="en-US" sz="2000" spc="-1" strike="noStrike">
                <a:latin typeface="Noto Sans CJK KR"/>
              </a:rPr>
              <a:t>extrap</a:t>
            </a:r>
            <a:r>
              <a:rPr b="0" lang="ko-KR" sz="2000" spc="-1" strike="noStrike">
                <a:latin typeface="Noto Sans CJK KR"/>
              </a:rPr>
              <a:t>은</a:t>
            </a:r>
            <a:r>
              <a:rPr b="0" lang="en-US" sz="2000" spc="-1" strike="noStrike">
                <a:latin typeface="Noto Sans CJK KR"/>
              </a:rPr>
              <a:t>?' → reject/OOD — **</a:t>
            </a:r>
            <a:r>
              <a:rPr b="0" lang="ko-KR" sz="2000" spc="-1" strike="noStrike">
                <a:latin typeface="Noto Sans CJK KR"/>
              </a:rPr>
              <a:t>별도</a:t>
            </a:r>
            <a:r>
              <a:rPr b="0" lang="en-US" sz="2000" spc="-1" strike="noStrike">
                <a:latin typeface="Noto Sans CJK KR"/>
              </a:rPr>
              <a:t>** </a:t>
            </a:r>
            <a:r>
              <a:rPr b="0" lang="ko-KR" sz="2000" spc="-1" strike="noStrike">
                <a:latin typeface="Noto Sans CJK KR"/>
              </a:rPr>
              <a:t>주제 </a:t>
            </a:r>
            <a:r>
              <a:rPr b="0" lang="en-US" sz="2000" spc="-1" strike="noStrike">
                <a:latin typeface="Noto Sans CJK KR"/>
              </a:rPr>
              <a:t>(INDEX </a:t>
            </a:r>
            <a:r>
              <a:rPr b="0" lang="ko-KR" sz="2000" spc="-1" strike="noStrike">
                <a:latin typeface="Noto Sans CJK KR"/>
              </a:rPr>
              <a:t>참고</a:t>
            </a:r>
            <a:r>
              <a:rPr b="0" lang="en-US" sz="2000" spc="-1" strike="noStrike">
                <a:latin typeface="Noto Sans CJK KR"/>
              </a:rPr>
              <a:t>).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Noto Sans CJK KR"/>
              </a:rPr>
              <a:t>Q. 'Physics-ML/PDE-ML </a:t>
            </a:r>
            <a:r>
              <a:rPr b="0" lang="ko-KR" sz="2000" spc="-1" strike="noStrike">
                <a:latin typeface="Noto Sans CJK KR"/>
              </a:rPr>
              <a:t>실패는 해결됐나</a:t>
            </a:r>
            <a:r>
              <a:rPr b="0" lang="en-US" sz="2000" spc="-1" strike="noStrike">
                <a:latin typeface="Noto Sans CJK KR"/>
              </a:rPr>
              <a:t>?' → </a:t>
            </a:r>
            <a:r>
              <a:rPr b="0" lang="ko-KR" sz="2000" spc="-1" strike="noStrike">
                <a:latin typeface="Noto Sans CJK KR"/>
              </a:rPr>
              <a:t>완화책은 있으나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검증 별도</a:t>
            </a:r>
            <a:r>
              <a:rPr b="0" lang="en-US" sz="2000" spc="-1" strike="noStrike">
                <a:latin typeface="Noto Sans CJK KR"/>
              </a:rPr>
              <a:t>' </a:t>
            </a:r>
            <a:r>
              <a:rPr b="0" lang="ko-KR" sz="2000" spc="-1" strike="noStrike">
                <a:latin typeface="Noto Sans CJK KR"/>
              </a:rPr>
              <a:t>원칙은 유지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Noto Serif CJK KR"/>
              </a:defRPr>
            </a:lvl1pPr>
          </a:lstStyle>
          <a:p>
            <a:endParaRPr b="0" lang="en-US" sz="2400" spc="-1" strike="noStrike"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BD62E2-C12B-498E-BADE-7326B9603F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DE3BE0-4943-4AE3-9DD2-0CA37DFE92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59096C-6650-4BC2-BBD8-4507866C37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ACA253-E55D-425C-9809-205C3ACA18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D27BAE-3C64-491E-BC3E-0EB8214E54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5BB03D-BC8D-4174-A065-6F7E65D270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0424A1-B13A-4ECB-B4CF-12BA87C4A2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645DA5-6EC6-46D8-92BF-8861811701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D12779-FEF7-4340-BCA5-7056C5CF3B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7C25AC-3A42-475D-8E9C-806573EB53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2B2791-68BC-42AE-9B4A-99F19E2D57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84AE14-FBB9-403C-B2B8-E8452F224C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oto Sans CJK KR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Noto Serif CJK KR"/>
              </a:rPr>
              <a:t>&lt;바닥글&gt;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416000-67C5-4A27-9043-75604817747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&lt;숫자&gt;</a:t>
            </a:fld>
            <a:endParaRPr b="0" lang="en-US" sz="1200" spc="-1" strike="noStrike"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Noto Serif CJK KR"/>
              </a:defRPr>
            </a:lvl1pPr>
          </a:lstStyle>
          <a:p>
            <a:r>
              <a:rPr b="0" lang="en-US" sz="1400" spc="-1" strike="noStrike">
                <a:latin typeface="Noto Serif CJK KR"/>
              </a:rPr>
              <a:t>&lt;날짜/시간&gt;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ko-KR" sz="4400" spc="-1" strike="noStrike">
                <a:latin typeface="Noto Sans CJK KR"/>
              </a:rPr>
              <a:t>제목 텍스트의 서식을 편집하려면 클릭하십시오</a:t>
            </a:r>
            <a:r>
              <a:rPr b="0" lang="en-US" sz="4400" spc="-1" strike="noStrike">
                <a:latin typeface="Noto Sans CJK KR"/>
              </a:rPr>
              <a:t>.</a:t>
            </a:r>
            <a:endParaRPr b="0" lang="en-US" sz="4400" spc="-1" strike="noStrike">
              <a:latin typeface="Noto Sans CJK KR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Noto Sans CJK KR"/>
              </a:rPr>
              <a:t>2</a:t>
            </a:r>
            <a:r>
              <a:rPr b="0" lang="ko-KR" sz="2800" spc="-1" strike="noStrike">
                <a:latin typeface="Noto Sans CJK KR"/>
              </a:rPr>
              <a:t>번째 개요 수준</a:t>
            </a:r>
            <a:endParaRPr b="0" lang="en-US" sz="2800" spc="-1" strike="noStrike"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Noto Sans CJK KR"/>
              </a:rPr>
              <a:t>3</a:t>
            </a:r>
            <a:r>
              <a:rPr b="0" lang="ko-KR" sz="2400" spc="-1" strike="noStrike">
                <a:latin typeface="Noto Sans CJK KR"/>
              </a:rPr>
              <a:t>번째 개요 수준</a:t>
            </a:r>
            <a:endParaRPr b="0" lang="en-US" sz="2400" spc="-1" strike="noStrike"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Noto Sans CJK KR"/>
              </a:rPr>
              <a:t>4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CJK KR"/>
              </a:rPr>
              <a:t>5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CJK KR"/>
              </a:rPr>
              <a:t>6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CJK KR"/>
              </a:rPr>
              <a:t>7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2" descr=""/>
          <p:cNvPicPr/>
          <p:nvPr/>
        </p:nvPicPr>
        <p:blipFill>
          <a:blip r:embed="rId2"/>
          <a:srcRect l="448" t="5696" r="663" b="1266"/>
          <a:stretch/>
        </p:blipFill>
        <p:spPr>
          <a:xfrm>
            <a:off x="0" y="6502320"/>
            <a:ext cx="12191400" cy="354960"/>
          </a:xfrm>
          <a:prstGeom prst="rect">
            <a:avLst/>
          </a:prstGeom>
          <a:ln w="0">
            <a:noFill/>
          </a:ln>
        </p:spPr>
      </p:pic>
      <p:sp>
        <p:nvSpPr>
          <p:cNvPr id="42" name="TextBox 5"/>
          <p:cNvSpPr/>
          <p:nvPr/>
        </p:nvSpPr>
        <p:spPr>
          <a:xfrm>
            <a:off x="18000" y="6575760"/>
            <a:ext cx="992520" cy="272160"/>
          </a:xfrm>
          <a:prstGeom prst="rect">
            <a:avLst/>
          </a:prstGeom>
          <a:noFill/>
          <a:ln w="285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 Narrow"/>
                <a:ea typeface="맑은 고딕"/>
              </a:rPr>
              <a:t>Confidential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3" name="직사각형 6"/>
          <p:cNvSpPr/>
          <p:nvPr/>
        </p:nvSpPr>
        <p:spPr>
          <a:xfrm>
            <a:off x="998640" y="6619320"/>
            <a:ext cx="2640960" cy="187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000" rIns="18000" tIns="18000" bIns="18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 Narrow"/>
                <a:ea typeface="맑은 고딕"/>
              </a:rPr>
              <a:t>Ⓒ </a:t>
            </a:r>
            <a:r>
              <a:rPr b="1" lang="en-US" sz="1000" spc="-1" strike="noStrike">
                <a:solidFill>
                  <a:srgbClr val="ffffff"/>
                </a:solidFill>
                <a:latin typeface="Arial Narrow"/>
                <a:ea typeface="맑은 고딕"/>
              </a:rPr>
              <a:t>2024 LG Energy Solution, Ltd. All rights reserved.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4" name="Line 9"/>
          <p:cNvSpPr/>
          <p:nvPr/>
        </p:nvSpPr>
        <p:spPr>
          <a:xfrm>
            <a:off x="132840" y="504000"/>
            <a:ext cx="11918520" cy="360"/>
          </a:xfrm>
          <a:prstGeom prst="line">
            <a:avLst/>
          </a:prstGeom>
          <a:ln w="3810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ko-KR" sz="4400" spc="-1" strike="noStrike">
                <a:latin typeface="Noto Sans CJK KR"/>
              </a:rPr>
              <a:t>제목 텍스트의 서식을 편집하려면 클릭하십시오</a:t>
            </a:r>
            <a:r>
              <a:rPr b="0" lang="en-US" sz="4400" spc="-1" strike="noStrike">
                <a:latin typeface="Noto Sans CJK KR"/>
              </a:rPr>
              <a:t>.</a:t>
            </a:r>
            <a:endParaRPr b="0" lang="en-US" sz="4400" spc="-1" strike="noStrike">
              <a:latin typeface="Noto Sans CJK KR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Noto Sans CJK KR"/>
              </a:rPr>
              <a:t>2</a:t>
            </a:r>
            <a:r>
              <a:rPr b="0" lang="ko-KR" sz="2800" spc="-1" strike="noStrike">
                <a:latin typeface="Noto Sans CJK KR"/>
              </a:rPr>
              <a:t>번째 개요 수준</a:t>
            </a:r>
            <a:endParaRPr b="0" lang="en-US" sz="2800" spc="-1" strike="noStrike"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Noto Sans CJK KR"/>
              </a:rPr>
              <a:t>3</a:t>
            </a:r>
            <a:r>
              <a:rPr b="0" lang="ko-KR" sz="2400" spc="-1" strike="noStrike">
                <a:latin typeface="Noto Sans CJK KR"/>
              </a:rPr>
              <a:t>번째 개요 수준</a:t>
            </a:r>
            <a:endParaRPr b="0" lang="en-US" sz="2400" spc="-1" strike="noStrike"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Noto Sans CJK KR"/>
              </a:rPr>
              <a:t>4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CJK KR"/>
              </a:rPr>
              <a:t>5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CJK KR"/>
              </a:rPr>
              <a:t>6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CJK KR"/>
              </a:rPr>
              <a:t>7</a:t>
            </a:r>
            <a:r>
              <a:rPr b="0" lang="ko-KR" sz="2000" spc="-1" strike="noStrike">
                <a:latin typeface="Noto Sans CJK KR"/>
              </a:rPr>
              <a:t>번째 개요 수준</a:t>
            </a:r>
            <a:endParaRPr b="0" lang="en-US" sz="2000" spc="-1" strike="noStrike"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hyperlink" Target="file:///tmp/paper_pdfs/Liu2023_OOD_Generalization_Survey.pdf" TargetMode="External"/><Relationship Id="rId3" Type="http://schemas.openxmlformats.org/officeDocument/2006/relationships/hyperlink" Target="file:///tmp/paper_pdfs/Bartley2019_Characterizing_Extrapolation_Multivariate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hyperlink" Target="file:///tmp/paper_pdfs/Bartley2019_Characterizing_Extrapolation_Multivariate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file:///tmp/paper_pdfs/Pfister2024_Extrapolation-Aware_Nonparametric_Inference.pdf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hyperlink" Target="file:///tmp/paper_pdfs/Bartley2019_Characterizing_Extrapolation_Multivariate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hyperlink" Target="file:///tmp/paper_pdfs/Xu2021_How_Neural_Networks_Extrapolate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hyperlink" Target="file:///tmp/paper_pdfs/Xu2021_How_Neural_Networks_Extrapolate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hyperlink" Target="file:///tmp/paper_pdfs/Martius2016_Extrapolation_Learning_Equations_EQL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hyperlink" Target="file:///tmp/paper_pdfs/Trask2018_Neural_Arithmetic_Logic_Units_NALU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hyperlink" Target="file:///tmp/paper_pdfs/Runje2023_Constrained_Monotonic_NN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hyperlink" Target="file:///tmp/paper_pdfs/Runje2023_Constrained_Monotonic_NN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hyperlink" Target="file:///tmp/paper_pdfs/Li2023_Predicting_Battery_Lifetime_Varying_Conditions.pdf" TargetMode="External"/><Relationship Id="rId3" Type="http://schemas.openxmlformats.org/officeDocument/2006/relationships/hyperlink" Target="file:///tmp/paper_pdfs/Aykol2021_Physics_ML_Battery_Lifetime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hyperlink" Target="file:///tmp/paper_pdfs/Ghahramani2013_Bayesian_Nonparametrics.pdf" TargetMode="External"/><Relationship Id="rId3" Type="http://schemas.openxmlformats.org/officeDocument/2006/relationships/hyperlink" Target="file:///tmp/paper_pdfs/Zhu2022_Reliable_Extrapolation_DeepONet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hyperlink" Target="file:///tmp/paper_pdfs/Bartley2019_Characterizing_Extrapolation_Multivariate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file:///home/pjs1207/extra_study/literec_study/extrapolation-papers/paper_pdfs/Xu2021_How_Neural_Networks_Extrapolate.pdf" TargetMode="External"/><Relationship Id="rId2" Type="http://schemas.openxmlformats.org/officeDocument/2006/relationships/hyperlink" Target="file:///home/pjs1207/extra_study/literec_study/extrapolation-papers/paper_pdfs/Runje2023_Constrained_Monotonic_NN.pdf" TargetMode="External"/><Relationship Id="rId3" Type="http://schemas.openxmlformats.org/officeDocument/2006/relationships/hyperlink" Target="file:///home/pjs1207/extra_study/literec_study/extrapolation-papers/paper_pdfs/Bartley2019_Characterizing_Extrapolation_Multivariate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file:///tmp/paper_pdfs/Xu2021_How_Neural_Networks_Extrapolate.pdf" TargetMode="External"/><Relationship Id="rId2" Type="http://schemas.openxmlformats.org/officeDocument/2006/relationships/hyperlink" Target="file:///tmp/paper_pdfs/Pfister2024_Extrapolation-Aware_Nonparametric_Inference.pdf" TargetMode="External"/><Relationship Id="rId3" Type="http://schemas.openxmlformats.org/officeDocument/2006/relationships/hyperlink" Target="file:///tmp/paper_pdfs/Bartley2019_Characterizing_Extrapolation_Multivariate.pdf" TargetMode="External"/><Relationship Id="rId4" Type="http://schemas.openxmlformats.org/officeDocument/2006/relationships/hyperlink" Target="file:///tmp/paper_pdfs/Martius2016_Extrapolation_Learning_Equations_EQL.pdf" TargetMode="External"/><Relationship Id="rId5" Type="http://schemas.openxmlformats.org/officeDocument/2006/relationships/hyperlink" Target="file:///tmp/paper_pdfs/Trask2018_Neural_Arithmetic_Logic_Units_NALU.pdf" TargetMode="External"/><Relationship Id="rId6" Type="http://schemas.openxmlformats.org/officeDocument/2006/relationships/hyperlink" Target="file:///tmp/paper_pdfs/Runje2023_Constrained_Monotonic_NN.pdf" TargetMode="External"/><Relationship Id="rId7" Type="http://schemas.openxmlformats.org/officeDocument/2006/relationships/hyperlink" Target="file:///tmp/paper_pdfs/Aykol2021_Physics_ML_Battery_Lifetime.pdf" TargetMode="External"/><Relationship Id="rId8" Type="http://schemas.openxmlformats.org/officeDocument/2006/relationships/hyperlink" Target="file:///tmp/paper_pdfs/Li2023_Predicting_Battery_Lifetime_Varying_Conditions.pdf" TargetMode="External"/><Relationship Id="rId9" Type="http://schemas.openxmlformats.org/officeDocument/2006/relationships/hyperlink" Target="file:///tmp/paper_pdfs/Raissi2019_Physics_Informed_Neural_Networks.pdf" TargetMode="External"/><Relationship Id="rId10" Type="http://schemas.openxmlformats.org/officeDocument/2006/relationships/hyperlink" Target="file:///tmp/paper_pdfs/Fesser2023_Extrapolation_Failures_PINNs.pdf" TargetMode="External"/><Relationship Id="rId11" Type="http://schemas.openxmlformats.org/officeDocument/2006/relationships/hyperlink" Target="file:///tmp/paper_pdfs/Ghahramani2013_Bayesian_Nonparametrics.pdf" TargetMode="External"/><Relationship Id="rId12" Type="http://schemas.openxmlformats.org/officeDocument/2006/relationships/hyperlink" Target="file:///tmp/paper_pdfs/Zhu2022_Reliable_Extrapolation_DeepONet.pdf" TargetMode="External"/><Relationship Id="rId13" Type="http://schemas.openxmlformats.org/officeDocument/2006/relationships/hyperlink" Target="file:///tmp/paper_pdfs/&#50808;&#49341;_&#50756;&#51204;&#51221;&#48373;_&#54617;&#49845;&#45432;&#53944;.pdf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file:///tmp/paper_pdfs/Xu2021_How_Neural_Networks_Extrapolate.pdf" TargetMode="External"/><Relationship Id="rId2" Type="http://schemas.openxmlformats.org/officeDocument/2006/relationships/hyperlink" Target="file:///tmp/paper_pdfs/Pfister2024_Extrapolation-Aware_Nonparametric_Inference.pdf" TargetMode="External"/><Relationship Id="rId3" Type="http://schemas.openxmlformats.org/officeDocument/2006/relationships/hyperlink" Target="file:///tmp/paper_pdfs/Bartley2019_Characterizing_Extrapolation_Multivariate.pdf" TargetMode="External"/><Relationship Id="rId4" Type="http://schemas.openxmlformats.org/officeDocument/2006/relationships/hyperlink" Target="file:///tmp/paper_pdfs/Martius2016_Extrapolation_Learning_Equations_EQL.pdf" TargetMode="External"/><Relationship Id="rId5" Type="http://schemas.openxmlformats.org/officeDocument/2006/relationships/hyperlink" Target="file:///tmp/paper_pdfs/Trask2018_Neural_Arithmetic_Logic_Units_NALU.pdf" TargetMode="External"/><Relationship Id="rId6" Type="http://schemas.openxmlformats.org/officeDocument/2006/relationships/hyperlink" Target="file:///tmp/paper_pdfs/Runje2023_Constrained_Monotonic_NN.pdf" TargetMode="External"/><Relationship Id="rId7" Type="http://schemas.openxmlformats.org/officeDocument/2006/relationships/hyperlink" Target="file:///tmp/paper_pdfs/Aykol2021_Physics_ML_Battery_Lifetime.pdf" TargetMode="External"/><Relationship Id="rId8" Type="http://schemas.openxmlformats.org/officeDocument/2006/relationships/hyperlink" Target="file:///tmp/paper_pdfs/Li2023_Predicting_Battery_Lifetime_Varying_Conditions.pdf" TargetMode="External"/><Relationship Id="rId9" Type="http://schemas.openxmlformats.org/officeDocument/2006/relationships/hyperlink" Target="file:///tmp/paper_pdfs/Raissi2019_Physics_Informed_Neural_Networks.pdf" TargetMode="External"/><Relationship Id="rId10" Type="http://schemas.openxmlformats.org/officeDocument/2006/relationships/hyperlink" Target="file:///tmp/paper_pdfs/Fesser2023_Extrapolation_Failures_PINNs.pdf" TargetMode="External"/><Relationship Id="rId11" Type="http://schemas.openxmlformats.org/officeDocument/2006/relationships/hyperlink" Target="file:///tmp/paper_pdfs/Ghahramani2013_Bayesian_Nonparametrics.pdf" TargetMode="External"/><Relationship Id="rId12" Type="http://schemas.openxmlformats.org/officeDocument/2006/relationships/hyperlink" Target="file:///tmp/paper_pdfs/Zhu2022_Reliable_Extrapolation_DeepONet.pdf" TargetMode="External"/><Relationship Id="rId13" Type="http://schemas.openxmlformats.org/officeDocument/2006/relationships/hyperlink" Target="file:///tmp/paper_pdfs/&#50808;&#49341;_&#50756;&#51204;&#51221;&#48373;_&#54617;&#49845;&#45432;&#53944;.pdf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microsoft.com/office/2007/relationships/hdphoto" Target="../media/hdphoto1.wdp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c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Rectangle 3"/>
          <p:cNvSpPr/>
          <p:nvPr/>
        </p:nvSpPr>
        <p:spPr>
          <a:xfrm>
            <a:off x="0" y="5321880"/>
            <a:ext cx="12191040" cy="723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Rectangle 4"/>
          <p:cNvSpPr/>
          <p:nvPr/>
        </p:nvSpPr>
        <p:spPr>
          <a:xfrm>
            <a:off x="0" y="5394960"/>
            <a:ext cx="12191040" cy="1462320"/>
          </a:xfrm>
          <a:prstGeom prst="rect">
            <a:avLst/>
          </a:prstGeom>
          <a:solidFill>
            <a:srgbClr val="1821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5"/>
          <p:cNvSpPr/>
          <p:nvPr/>
        </p:nvSpPr>
        <p:spPr>
          <a:xfrm>
            <a:off x="914400" y="1737360"/>
            <a:ext cx="10057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</a:t>
            </a:r>
            <a:r>
              <a:rPr b="1" lang="en-US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 50</a:t>
            </a:r>
            <a:r>
              <a:rPr b="1" lang="ko-KR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분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914400" y="2194560"/>
            <a:ext cx="106977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회귀 외삽 </a:t>
            </a:r>
            <a:r>
              <a:rPr b="1" lang="en-US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(Regression Extrapolation)</a:t>
            </a:r>
            <a:endParaRPr b="0" lang="en-US" sz="3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b="1" lang="ko-KR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훈련 범위 밖 연속값 예측 — 정의 </a:t>
            </a:r>
            <a:r>
              <a:rPr b="1" lang="en-US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실패 원인 </a:t>
            </a:r>
            <a:r>
              <a:rPr b="1" lang="en-US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대응법 </a:t>
            </a:r>
            <a:r>
              <a:rPr b="1" lang="en-US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32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성능 검증</a:t>
            </a:r>
            <a:endParaRPr b="0" lang="en-US" sz="3200" spc="-1" strike="noStrike">
              <a:latin typeface="Noto Sans CJK KR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914400" y="3977640"/>
            <a:ext cx="10514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범위</a:t>
            </a:r>
            <a:r>
              <a:rPr b="0" lang="en-US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tabular·</a:t>
            </a:r>
            <a:r>
              <a:rPr b="0" lang="ko-KR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시계열 </a:t>
            </a:r>
            <a:r>
              <a:rPr b="1" lang="ko-KR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b="0" lang="en-US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 </a:t>
            </a:r>
            <a:r>
              <a:rPr b="0" lang="ko-KR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분류</a:t>
            </a:r>
            <a:r>
              <a:rPr b="0" lang="en-US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·DG(OOD)</a:t>
            </a:r>
            <a:r>
              <a:rPr b="0" lang="ko-KR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는 본 세미나 </a:t>
            </a:r>
            <a:r>
              <a:rPr b="1" lang="ko-KR" sz="16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914400" y="4526280"/>
            <a:ext cx="105148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</a:t>
            </a:r>
            <a:r>
              <a:rPr b="0" lang="ko-KR" sz="15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 정의  </a:t>
            </a:r>
            <a:r>
              <a:rPr b="0" lang="en-US" sz="15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·  2</a:t>
            </a:r>
            <a:r>
              <a:rPr b="0" lang="ko-KR" sz="15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 실패  </a:t>
            </a:r>
            <a:r>
              <a:rPr b="0" lang="en-US" sz="15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·  3</a:t>
            </a:r>
            <a:r>
              <a:rPr b="0" lang="ko-KR" sz="15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 대응 → 종합 → 검증 → </a:t>
            </a:r>
            <a:r>
              <a:rPr b="1" lang="ko-KR" sz="15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실무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914400" y="5715000"/>
            <a:ext cx="100576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  <a:endParaRPr b="0" lang="en-US" sz="16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  <a:endParaRPr b="0" lang="en-US" sz="13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회귀 외삽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정의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실패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대응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검증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02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03" name="Picture 6" descr="fig_three_questions.png"/>
          <p:cNvPicPr/>
          <p:nvPr/>
        </p:nvPicPr>
        <p:blipFill>
          <a:blip r:embed="rId1"/>
          <a:stretch/>
        </p:blipFill>
        <p:spPr>
          <a:xfrm>
            <a:off x="502920" y="1078920"/>
            <a:ext cx="11154960" cy="2495520"/>
          </a:xfrm>
          <a:prstGeom prst="rect">
            <a:avLst/>
          </a:prstGeom>
          <a:ln w="0">
            <a:noFill/>
          </a:ln>
        </p:spPr>
      </p:pic>
      <p:sp>
        <p:nvSpPr>
          <p:cNvPr id="104" name="Rounded Rectangle 7"/>
          <p:cNvSpPr/>
          <p:nvPr/>
        </p:nvSpPr>
        <p:spPr>
          <a:xfrm>
            <a:off x="365760" y="3913560"/>
            <a:ext cx="3702600" cy="1828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Rectangle 8"/>
          <p:cNvSpPr/>
          <p:nvPr/>
        </p:nvSpPr>
        <p:spPr>
          <a:xfrm>
            <a:off x="365760" y="3913560"/>
            <a:ext cx="54000" cy="18280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9"/>
          <p:cNvSpPr/>
          <p:nvPr/>
        </p:nvSpPr>
        <p:spPr>
          <a:xfrm>
            <a:off x="567000" y="4041720"/>
            <a:ext cx="3355200" cy="12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 외삽 정의 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OOD vs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— 금번 세미나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에 초점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보간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vs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— 새 입력이 범위 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/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밖인지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convex hull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내부 적합도 ≠ 외삽 성능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Bartley 2019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07" name="Rounded Rectangle 10"/>
          <p:cNvSpPr/>
          <p:nvPr/>
        </p:nvSpPr>
        <p:spPr>
          <a:xfrm>
            <a:off x="4206240" y="3913560"/>
            <a:ext cx="3885480" cy="1828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ectangle 11"/>
          <p:cNvSpPr/>
          <p:nvPr/>
        </p:nvSpPr>
        <p:spPr>
          <a:xfrm>
            <a:off x="4206240" y="3913560"/>
            <a:ext cx="54000" cy="18280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12"/>
          <p:cNvSpPr/>
          <p:nvPr/>
        </p:nvSpPr>
        <p:spPr>
          <a:xfrm>
            <a:off x="4407480" y="4041720"/>
            <a:ext cx="353808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2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부  실패 원인 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①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데이터만으론 못 고름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Pfister 2024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②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 분포는 훈련 범위 밖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Bartley 2019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③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밖에선 불확실성↑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Ghahramani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④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ReLU→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Xu 2021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10" name="Rounded Rectangle 13"/>
          <p:cNvSpPr/>
          <p:nvPr/>
        </p:nvSpPr>
        <p:spPr>
          <a:xfrm>
            <a:off x="8092440" y="3913560"/>
            <a:ext cx="3702600" cy="1828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Rectangle 14"/>
          <p:cNvSpPr/>
          <p:nvPr/>
        </p:nvSpPr>
        <p:spPr>
          <a:xfrm>
            <a:off x="8092440" y="3913560"/>
            <a:ext cx="54000" cy="18280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15"/>
          <p:cNvSpPr/>
          <p:nvPr/>
        </p:nvSpPr>
        <p:spPr>
          <a:xfrm>
            <a:off x="8293680" y="4041720"/>
            <a:ext cx="36295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 대응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검증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실무 사례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대응법 — 지식별 가정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4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종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(EQL·CMNN·Physics-ML·UQ)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종합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검증 — 밖 시험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MAPE · baseline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13" name="TextBox 16"/>
          <p:cNvSpPr/>
          <p:nvPr/>
        </p:nvSpPr>
        <p:spPr>
          <a:xfrm>
            <a:off x="3334320" y="6473880"/>
            <a:ext cx="3388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10990800" y="6473880"/>
            <a:ext cx="511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115" name="Rounded Rectangle 18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Rectangle 19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20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정의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실패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대응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검증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실무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핵심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밖 예측을 정당화하는 건 데이터가 아니라 가정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가정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(Assumption) —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오늘 발표의 중심 개념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22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Rounded Rectangle 7"/>
          <p:cNvSpPr/>
          <p:nvPr/>
        </p:nvSpPr>
        <p:spPr>
          <a:xfrm>
            <a:off x="7360920" y="1024200"/>
            <a:ext cx="452556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Rectangle 8"/>
          <p:cNvSpPr/>
          <p:nvPr/>
        </p:nvSpPr>
        <p:spPr>
          <a:xfrm>
            <a:off x="7360920" y="1024200"/>
            <a:ext cx="54000" cy="14166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9"/>
          <p:cNvSpPr/>
          <p:nvPr/>
        </p:nvSpPr>
        <p:spPr>
          <a:xfrm>
            <a:off x="7562160" y="1152000"/>
            <a:ext cx="41781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①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가정이란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?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밖에서 함수가어떻게 거동할지에 대한</a:t>
            </a: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사전 제약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구조적 지식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26" name="Rounded Rectangle 10"/>
          <p:cNvSpPr/>
          <p:nvPr/>
        </p:nvSpPr>
        <p:spPr>
          <a:xfrm>
            <a:off x="7360920" y="2578680"/>
            <a:ext cx="452556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ectangle 11"/>
          <p:cNvSpPr/>
          <p:nvPr/>
        </p:nvSpPr>
        <p:spPr>
          <a:xfrm>
            <a:off x="7360920" y="2578680"/>
            <a:ext cx="54000" cy="14166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12"/>
          <p:cNvSpPr/>
          <p:nvPr/>
        </p:nvSpPr>
        <p:spPr>
          <a:xfrm>
            <a:off x="7562160" y="2706480"/>
            <a:ext cx="41781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②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왜 필요한가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데이터만으로는 밖을 정할 수 없음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(Pfister 2024)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 없이는 외삽 어려움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29" name="Rounded Rectangle 13"/>
          <p:cNvSpPr/>
          <p:nvPr/>
        </p:nvSpPr>
        <p:spPr>
          <a:xfrm>
            <a:off x="7360920" y="4133160"/>
            <a:ext cx="452556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14"/>
          <p:cNvSpPr/>
          <p:nvPr/>
        </p:nvSpPr>
        <p:spPr>
          <a:xfrm>
            <a:off x="7360920" y="4133160"/>
            <a:ext cx="54000" cy="14166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15"/>
          <p:cNvSpPr/>
          <p:nvPr/>
        </p:nvSpPr>
        <p:spPr>
          <a:xfrm>
            <a:off x="7562160" y="4260960"/>
            <a:ext cx="41781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③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어디에 넣나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활성화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φ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함수족 가정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·PDE·UQ/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 → 방향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물리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유보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32" name="Rounded Rectangle 16"/>
          <p:cNvSpPr/>
          <p:nvPr/>
        </p:nvSpPr>
        <p:spPr>
          <a:xfrm>
            <a:off x="320040" y="4160520"/>
            <a:ext cx="681156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Rectangle 17"/>
          <p:cNvSpPr/>
          <p:nvPr/>
        </p:nvSpPr>
        <p:spPr>
          <a:xfrm>
            <a:off x="320040" y="4160520"/>
            <a:ext cx="54000" cy="14166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TextBox 18"/>
          <p:cNvSpPr/>
          <p:nvPr/>
        </p:nvSpPr>
        <p:spPr>
          <a:xfrm>
            <a:off x="521280" y="4288680"/>
            <a:ext cx="646416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④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그림 해석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5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Apple SD Gothic Neo"/>
              </a:rPr>
              <a:t>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  <a:ea typeface="Apple SD Gothic Neo"/>
              </a:rPr>
              <a:t>훈련 — 하나로 보임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  <a:ea typeface="Apple SD Gothic Neo"/>
              </a:rPr>
              <a:t>가정 구분 불가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Apple SD Gothic Neo"/>
              </a:rPr>
              <a:t>) x&gt;2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  <a:ea typeface="Apple SD Gothic Neo"/>
              </a:rPr>
              <a:t>밖 — 가정 연장마다 예측 다름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35" name="TextBox 19"/>
          <p:cNvSpPr/>
          <p:nvPr/>
        </p:nvSpPr>
        <p:spPr>
          <a:xfrm>
            <a:off x="3334320" y="6473880"/>
            <a:ext cx="3388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136" name="TextBox 20"/>
          <p:cNvSpPr/>
          <p:nvPr/>
        </p:nvSpPr>
        <p:spPr>
          <a:xfrm>
            <a:off x="10990800" y="6473880"/>
            <a:ext cx="511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3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137" name="Rounded Rectangle 21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ectangle 22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23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가정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=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밖에서의 함수 거동을 미리 제약하는 사전 지식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같은 훈련 데이터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다른 가정 → 다른 외삽 결과</a:t>
            </a:r>
            <a:endParaRPr b="0" lang="en-US" sz="1000" spc="-1" strike="noStrike">
              <a:latin typeface="Noto Sans CJK KR"/>
            </a:endParaRPr>
          </a:p>
        </p:txBody>
      </p:sp>
      <p:pic>
        <p:nvPicPr>
          <p:cNvPr id="140" name="Picture 24" descr="fig_assumption_defined.png"/>
          <p:cNvPicPr/>
          <p:nvPr/>
        </p:nvPicPr>
        <p:blipFill>
          <a:blip r:embed="rId1"/>
          <a:stretch/>
        </p:blipFill>
        <p:spPr>
          <a:xfrm>
            <a:off x="320040" y="1024200"/>
            <a:ext cx="6479280" cy="28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Rectangle 2"/>
          <p:cNvSpPr/>
          <p:nvPr/>
        </p:nvSpPr>
        <p:spPr>
          <a:xfrm>
            <a:off x="360" y="45720"/>
            <a:ext cx="12191040" cy="6857280"/>
          </a:xfrm>
          <a:prstGeom prst="rect">
            <a:avLst/>
          </a:prstGeom>
          <a:solidFill>
            <a:srgbClr val="0c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Rectangle 3"/>
          <p:cNvSpPr/>
          <p:nvPr/>
        </p:nvSpPr>
        <p:spPr>
          <a:xfrm>
            <a:off x="0" y="1965960"/>
            <a:ext cx="12191040" cy="723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TextBox 4"/>
          <p:cNvSpPr/>
          <p:nvPr/>
        </p:nvSpPr>
        <p:spPr>
          <a:xfrm>
            <a:off x="914400" y="1417320"/>
            <a:ext cx="10057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PART 1  ·  5</a:t>
            </a:r>
            <a:r>
              <a:rPr b="1" lang="ko-KR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분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914400" y="2194560"/>
            <a:ext cx="1005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1</a:t>
            </a:r>
            <a:r>
              <a:rPr b="1" lang="ko-KR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외삽이란 무엇인가</a:t>
            </a:r>
            <a:endParaRPr b="0" lang="en-US" sz="3600" spc="-1" strike="noStrike">
              <a:latin typeface="Noto Sans CJK KR"/>
            </a:endParaRPr>
          </a:p>
        </p:txBody>
      </p:sp>
      <p:sp>
        <p:nvSpPr>
          <p:cNvPr id="146" name="Rounded Rectangle 7"/>
          <p:cNvSpPr/>
          <p:nvPr/>
        </p:nvSpPr>
        <p:spPr>
          <a:xfrm>
            <a:off x="914400" y="3764160"/>
            <a:ext cx="5074200" cy="14166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8"/>
          <p:cNvSpPr/>
          <p:nvPr/>
        </p:nvSpPr>
        <p:spPr>
          <a:xfrm>
            <a:off x="1097280" y="3873960"/>
            <a:ext cx="47084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OOD vs </a:t>
            </a: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외삽 — 용어 구분</a:t>
            </a:r>
            <a:r>
              <a:rPr b="0" lang="en-US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오늘은 </a:t>
            </a:r>
            <a:r>
              <a:rPr b="1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48" name="Rounded Rectangle 9"/>
          <p:cNvSpPr/>
          <p:nvPr/>
        </p:nvSpPr>
        <p:spPr>
          <a:xfrm>
            <a:off x="6263640" y="3764160"/>
            <a:ext cx="5074200" cy="14166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10"/>
          <p:cNvSpPr/>
          <p:nvPr/>
        </p:nvSpPr>
        <p:spPr>
          <a:xfrm>
            <a:off x="6446520" y="3873960"/>
            <a:ext cx="47084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  <a:buNone/>
            </a:pP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보간 </a:t>
            </a:r>
            <a:r>
              <a:rPr b="0" lang="en-US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vs </a:t>
            </a: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  <a:r>
              <a:rPr b="0" lang="en-US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입력이 훈련 범위 안</a:t>
            </a:r>
            <a:r>
              <a:rPr b="0" lang="en-US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/</a:t>
            </a: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밖인지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50" name="Rounded Rectangle 11"/>
          <p:cNvSpPr/>
          <p:nvPr/>
        </p:nvSpPr>
        <p:spPr>
          <a:xfrm>
            <a:off x="914400" y="5364360"/>
            <a:ext cx="5074200" cy="14166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TextBox 12"/>
          <p:cNvSpPr/>
          <p:nvPr/>
        </p:nvSpPr>
        <p:spPr>
          <a:xfrm>
            <a:off x="1097280" y="5474160"/>
            <a:ext cx="47084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  <a:buNone/>
            </a:pP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</a:t>
            </a:r>
            <a:r>
              <a:rPr b="0" lang="en-US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= convex hull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52" name="Rounded Rectangle 13"/>
          <p:cNvSpPr/>
          <p:nvPr/>
        </p:nvSpPr>
        <p:spPr>
          <a:xfrm>
            <a:off x="6263640" y="5364360"/>
            <a:ext cx="5074200" cy="14166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TextBox 14"/>
          <p:cNvSpPr/>
          <p:nvPr/>
        </p:nvSpPr>
        <p:spPr>
          <a:xfrm>
            <a:off x="6446520" y="5474160"/>
            <a:ext cx="47084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4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  <a:buNone/>
            </a:pP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대표 사례</a:t>
            </a:r>
            <a:r>
              <a:rPr b="0" lang="en-US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3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내부 적합과 외부 발산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10974240" y="6446520"/>
            <a:ext cx="54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4 / 27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시작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OOD vs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외삽 — 오늘은 외삽을 다룹니다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59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Rounded Rectangle 6"/>
          <p:cNvSpPr/>
          <p:nvPr/>
        </p:nvSpPr>
        <p:spPr>
          <a:xfrm>
            <a:off x="274320" y="1051560"/>
            <a:ext cx="7360200" cy="44341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61" name="Picture 7" descr="fig_ood_vs_extrap.png"/>
          <p:cNvPicPr/>
          <p:nvPr/>
        </p:nvPicPr>
        <p:blipFill>
          <a:blip r:embed="rId1"/>
          <a:stretch/>
        </p:blipFill>
        <p:spPr>
          <a:xfrm>
            <a:off x="347400" y="1115640"/>
            <a:ext cx="7223040" cy="4291560"/>
          </a:xfrm>
          <a:prstGeom prst="rect">
            <a:avLst/>
          </a:prstGeom>
          <a:ln w="0">
            <a:noFill/>
          </a:ln>
        </p:spPr>
      </p:pic>
      <p:sp>
        <p:nvSpPr>
          <p:cNvPr id="162" name="Rounded Rectangle 8"/>
          <p:cNvSpPr/>
          <p:nvPr/>
        </p:nvSpPr>
        <p:spPr>
          <a:xfrm>
            <a:off x="7818120" y="1051560"/>
            <a:ext cx="406836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Rectangle 9"/>
          <p:cNvSpPr/>
          <p:nvPr/>
        </p:nvSpPr>
        <p:spPr>
          <a:xfrm>
            <a:off x="7818120" y="1051560"/>
            <a:ext cx="54000" cy="14166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TextBox 10"/>
          <p:cNvSpPr/>
          <p:nvPr/>
        </p:nvSpPr>
        <p:spPr>
          <a:xfrm>
            <a:off x="8019360" y="1179720"/>
            <a:ext cx="372096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그림 관련 내용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(a) OOD — train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과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test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 다름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(b)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—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⊂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OOD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인 경우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많음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동일 개념 아님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65" name="Rounded Rectangle 11"/>
          <p:cNvSpPr/>
          <p:nvPr/>
        </p:nvSpPr>
        <p:spPr>
          <a:xfrm>
            <a:off x="7818120" y="2578680"/>
            <a:ext cx="406836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ectangle 12"/>
          <p:cNvSpPr/>
          <p:nvPr/>
        </p:nvSpPr>
        <p:spPr>
          <a:xfrm>
            <a:off x="7818120" y="2578680"/>
            <a:ext cx="54000" cy="14166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13"/>
          <p:cNvSpPr/>
          <p:nvPr/>
        </p:nvSpPr>
        <p:spPr>
          <a:xfrm>
            <a:off x="8019360" y="2706480"/>
            <a:ext cx="372096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질문이 다름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OOD — 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분포가 다른가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?’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훈련 범위 밖인가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?’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concept shift → hull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판별 불가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68" name="Rounded Rectangle 14"/>
          <p:cNvSpPr/>
          <p:nvPr/>
        </p:nvSpPr>
        <p:spPr>
          <a:xfrm>
            <a:off x="7818120" y="4096440"/>
            <a:ext cx="4068360" cy="1389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Rectangle 15"/>
          <p:cNvSpPr/>
          <p:nvPr/>
        </p:nvSpPr>
        <p:spPr>
          <a:xfrm>
            <a:off x="7818120" y="4096440"/>
            <a:ext cx="54000" cy="138924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TextBox 16"/>
          <p:cNvSpPr/>
          <p:nvPr/>
        </p:nvSpPr>
        <p:spPr>
          <a:xfrm>
            <a:off x="8019360" y="4224600"/>
            <a:ext cx="372096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오늘 발표 범위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회귀 외삽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연속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y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분류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·DG · IRM/DomainBed →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다른 문제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다음 — 보간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/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71" name="Rounded Rectangle 17">
            <a:hlinkClick r:id="rId2"/>
          </p:cNvPr>
          <p:cNvSpPr/>
          <p:nvPr/>
        </p:nvSpPr>
        <p:spPr>
          <a:xfrm>
            <a:off x="891540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172" name="Rounded Rectangle 18">
            <a:hlinkClick r:id="rId3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173" name="TextBox 19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174" name="TextBox 20"/>
          <p:cNvSpPr/>
          <p:nvPr/>
        </p:nvSpPr>
        <p:spPr>
          <a:xfrm>
            <a:off x="10990800" y="6473880"/>
            <a:ext cx="511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5 / 27</a:t>
            </a:r>
            <a:endParaRPr b="0" lang="en-US" sz="9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외삽 정의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외삽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=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 범위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(hull)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밖에서의 예측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79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80" name="Picture 6" descr="fig_interp_extrap.png"/>
          <p:cNvPicPr/>
          <p:nvPr/>
        </p:nvPicPr>
        <p:blipFill>
          <a:blip r:embed="rId1"/>
          <a:stretch/>
        </p:blipFill>
        <p:spPr>
          <a:xfrm>
            <a:off x="274320" y="1097280"/>
            <a:ext cx="7405920" cy="2627280"/>
          </a:xfrm>
          <a:prstGeom prst="rect">
            <a:avLst/>
          </a:prstGeom>
          <a:ln w="0">
            <a:noFill/>
          </a:ln>
        </p:spPr>
      </p:pic>
      <p:sp>
        <p:nvSpPr>
          <p:cNvPr id="181" name="Rounded Rectangle 7"/>
          <p:cNvSpPr/>
          <p:nvPr/>
        </p:nvSpPr>
        <p:spPr>
          <a:xfrm>
            <a:off x="320040" y="4251960"/>
            <a:ext cx="736020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Rectangle 8"/>
          <p:cNvSpPr/>
          <p:nvPr/>
        </p:nvSpPr>
        <p:spPr>
          <a:xfrm>
            <a:off x="320040" y="4251960"/>
            <a:ext cx="54000" cy="14166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9"/>
          <p:cNvSpPr/>
          <p:nvPr/>
        </p:nvSpPr>
        <p:spPr>
          <a:xfrm>
            <a:off x="521280" y="4380120"/>
            <a:ext cx="701280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적용 예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키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160~180cm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 학습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175cm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보간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모델에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195cm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본 적 없음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여름 데이터로 학습한 전력수요 모델 → 겨울 예측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시간축도 마찬가지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84" name="Rounded Rectangle 10"/>
          <p:cNvSpPr/>
          <p:nvPr/>
        </p:nvSpPr>
        <p:spPr>
          <a:xfrm>
            <a:off x="7863840" y="1097280"/>
            <a:ext cx="3976920" cy="2376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Rectangle 11"/>
          <p:cNvSpPr/>
          <p:nvPr/>
        </p:nvSpPr>
        <p:spPr>
          <a:xfrm>
            <a:off x="7863840" y="1097280"/>
            <a:ext cx="54000" cy="237672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TextBox 12"/>
          <p:cNvSpPr/>
          <p:nvPr/>
        </p:nvSpPr>
        <p:spPr>
          <a:xfrm>
            <a:off x="8065080" y="1225440"/>
            <a:ext cx="3629520" cy="15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 훈련 범위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보간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 훈련 범위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외삽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모델도 입력마다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보간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동시 가능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먼저 확인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입력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?'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피할 말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모델이 외삽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?' 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 기준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87" name="Rounded Rectangle 13"/>
          <p:cNvSpPr/>
          <p:nvPr/>
        </p:nvSpPr>
        <p:spPr>
          <a:xfrm>
            <a:off x="7863840" y="3611880"/>
            <a:ext cx="3976920" cy="2010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Rectangle 14"/>
          <p:cNvSpPr/>
          <p:nvPr/>
        </p:nvSpPr>
        <p:spPr>
          <a:xfrm>
            <a:off x="7863840" y="3611880"/>
            <a:ext cx="54000" cy="201096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TextBox 15"/>
          <p:cNvSpPr/>
          <p:nvPr/>
        </p:nvSpPr>
        <p:spPr>
          <a:xfrm>
            <a:off x="8065080" y="3740040"/>
            <a:ext cx="362952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그림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·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기호 약속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음영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(hull)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음영 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구간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이후 모든 장표에서 동일 좌표계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Bartley 2019 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 정의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191" name="TextBox 17"/>
          <p:cNvSpPr/>
          <p:nvPr/>
        </p:nvSpPr>
        <p:spPr>
          <a:xfrm>
            <a:off x="10990800" y="6473880"/>
            <a:ext cx="511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6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192" name="Rounded Rectangle 18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Rectangle 19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TextBox 20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— 보간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 — 외삽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</a:t>
            </a:r>
            <a:r>
              <a:rPr b="1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/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밖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외삽 정의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'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 범위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'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를 수학적으로 —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convex hull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00" name="Picture 6" descr="fig_convex_hull.png"/>
          <p:cNvPicPr/>
          <p:nvPr/>
        </p:nvPicPr>
        <p:blipFill>
          <a:blip r:embed="rId1"/>
          <a:stretch/>
        </p:blipFill>
        <p:spPr>
          <a:xfrm>
            <a:off x="274320" y="1097280"/>
            <a:ext cx="6217200" cy="3271680"/>
          </a:xfrm>
          <a:prstGeom prst="rect">
            <a:avLst/>
          </a:prstGeom>
          <a:ln w="0">
            <a:noFill/>
          </a:ln>
        </p:spPr>
      </p:pic>
      <p:sp>
        <p:nvSpPr>
          <p:cNvPr id="201" name="Rounded Rectangle 7"/>
          <p:cNvSpPr/>
          <p:nvPr/>
        </p:nvSpPr>
        <p:spPr>
          <a:xfrm>
            <a:off x="320040" y="4754880"/>
            <a:ext cx="6720120" cy="913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Rectangle 8"/>
          <p:cNvSpPr/>
          <p:nvPr/>
        </p:nvSpPr>
        <p:spPr>
          <a:xfrm>
            <a:off x="320040" y="4754880"/>
            <a:ext cx="54000" cy="9136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TextBox 9"/>
          <p:cNvSpPr/>
          <p:nvPr/>
        </p:nvSpPr>
        <p:spPr>
          <a:xfrm>
            <a:off x="521280" y="4883040"/>
            <a:ext cx="637272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20~30°C·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습도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40~60%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 학습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(35°C, 50%)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함정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(22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59%)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처럼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변수별로는 범위 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이어도 조합이 훈련 범위 밖일 수 있다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04" name="Rounded Rectangle 10"/>
          <p:cNvSpPr/>
          <p:nvPr/>
        </p:nvSpPr>
        <p:spPr>
          <a:xfrm>
            <a:off x="7269480" y="1097280"/>
            <a:ext cx="4571280" cy="2559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Rectangle 11"/>
          <p:cNvSpPr/>
          <p:nvPr/>
        </p:nvSpPr>
        <p:spPr>
          <a:xfrm>
            <a:off x="7269480" y="1097280"/>
            <a:ext cx="54000" cy="25596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12"/>
          <p:cNvSpPr/>
          <p:nvPr/>
        </p:nvSpPr>
        <p:spPr>
          <a:xfrm>
            <a:off x="7470720" y="1225440"/>
            <a:ext cx="4342680" cy="25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convex hull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br>
              <a:rPr sz="1200"/>
            </a:br>
            <a:br>
              <a:rPr sz="300"/>
            </a:b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 </a:t>
            </a:r>
            <a:r>
              <a:rPr b="1" lang="en-US" sz="1200" spc="-1" strike="noStrike">
                <a:solidFill>
                  <a:srgbClr val="3dd6c6"/>
                </a:solidFill>
                <a:latin typeface="LG스마트체2.0 Regular"/>
                <a:ea typeface="LG스마트체2.0 Regular"/>
              </a:rPr>
              <a:t>① </a:t>
            </a:r>
            <a:r>
              <a:rPr b="1" lang="ko-KR" sz="1200" spc="-1" strike="noStrike">
                <a:solidFill>
                  <a:srgbClr val="3dd6c6"/>
                </a:solidFill>
                <a:latin typeface="LG스마트체2.0 Regular"/>
                <a:ea typeface="LG스마트체2.0 Regular"/>
              </a:rPr>
              <a:t>개념 </a:t>
            </a:r>
            <a:r>
              <a:rPr b="1" lang="en-US" sz="1200" spc="-1" strike="noStrike">
                <a:solidFill>
                  <a:srgbClr val="3dd6c6"/>
                </a:solidFill>
                <a:latin typeface="LG스마트체2.0 Regular"/>
                <a:ea typeface="LG스마트체2.0 Regular"/>
              </a:rPr>
              <a:t>·</a:t>
            </a:r>
            <a:br>
              <a:rPr sz="1200"/>
            </a:b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       –  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훈련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row(●)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들을 고무줄로 감싼 영역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LG스마트체2.0 Regular"/>
                <a:ea typeface="LG스마트체2.0 Regular"/>
              </a:rPr>
              <a:t> ② </a:t>
            </a:r>
            <a:r>
              <a:rPr b="1" lang="ko-KR" sz="1100" spc="-1" strike="noStrike">
                <a:solidFill>
                  <a:srgbClr val="3dd6c6"/>
                </a:solidFill>
                <a:latin typeface="LG스마트체2.0 Regular"/>
                <a:ea typeface="LG스마트체2.0 Regular"/>
              </a:rPr>
              <a:t>수식</a:t>
            </a:r>
            <a:br>
              <a:rPr sz="1100"/>
            </a:br>
            <a:br>
              <a:rPr sz="500"/>
            </a:b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      –  수식 —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Conv(X_train) = { x = Σ α_i x_i |x_i = row (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모든 컬럼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),      </a:t>
            </a: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                                                α_i ≥ 0,  Σ α_i = 1 }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en-US" sz="1100" spc="-1" strike="noStrike">
                <a:solidFill>
                  <a:srgbClr val="000000"/>
                </a:solidFill>
                <a:latin typeface="LG스마트체2.0 Regular"/>
                <a:ea typeface="LG스마트체2.0 Regular"/>
              </a:rPr>
              <a:t>   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 – “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훈련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row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들을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nonnegative 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비율로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100% 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섞어서 만들 수 있는     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         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x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의 집합 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훈련 범위</a:t>
            </a:r>
            <a:r>
              <a:rPr b="0" lang="en-US" sz="1100" spc="-1" strike="noStrike">
                <a:solidFill>
                  <a:srgbClr val="a0adbc"/>
                </a:solidFill>
                <a:latin typeface="LG스마트체2.0 Regular"/>
                <a:ea typeface="LG스마트체2.0 Regular"/>
              </a:rPr>
              <a:t>(hull).”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07" name="Rounded Rectangle 13"/>
          <p:cNvSpPr/>
          <p:nvPr/>
        </p:nvSpPr>
        <p:spPr>
          <a:xfrm>
            <a:off x="7269480" y="3749040"/>
            <a:ext cx="4571280" cy="2029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Rectangle 14"/>
          <p:cNvSpPr/>
          <p:nvPr/>
        </p:nvSpPr>
        <p:spPr>
          <a:xfrm>
            <a:off x="7269480" y="3749040"/>
            <a:ext cx="54000" cy="202932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15"/>
          <p:cNvSpPr/>
          <p:nvPr/>
        </p:nvSpPr>
        <p:spPr>
          <a:xfrm>
            <a:off x="7470720" y="3877200"/>
            <a:ext cx="4223880" cy="15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③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의미 </a:t>
            </a:r>
            <a:br>
              <a:rPr sz="1200"/>
            </a:br>
            <a:br>
              <a:rPr sz="500"/>
            </a:b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(x ∈)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보간 — 훈련점 섞기로 만들 수 있음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(x ∉)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 — 본 적 없는 입력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br>
              <a:rPr sz="1100"/>
            </a:b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1" lang="en-US" sz="11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④ </a:t>
            </a:r>
            <a:r>
              <a:rPr b="1" lang="ko-KR" sz="11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왜 정의</a:t>
            </a:r>
            <a:r>
              <a:rPr b="1" lang="en-US" sz="11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?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–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을 감으로 말하지 않는다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min/max·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축별 범위 대신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재현 가능한 판정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10" name="Rounded Rectangle 16">
            <a:hlinkClick r:id="rId2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211" name="TextBox 17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10990800" y="6473880"/>
            <a:ext cx="511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7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13" name="Rounded Rectangle 19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Rectangle 20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TextBox 21"/>
          <p:cNvSpPr/>
          <p:nvPr/>
        </p:nvSpPr>
        <p:spPr>
          <a:xfrm>
            <a:off x="543600" y="6020280"/>
            <a:ext cx="110635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 범위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= convex hull —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안이면 보간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,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밖이면 외삽</a:t>
            </a:r>
            <a:endParaRPr b="0" lang="en-US" sz="12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대표 사례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19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20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21" name="Picture 6" descr="fig_poly_extrap.png"/>
          <p:cNvPicPr/>
          <p:nvPr/>
        </p:nvPicPr>
        <p:blipFill>
          <a:blip r:embed="rId1"/>
          <a:stretch/>
        </p:blipFill>
        <p:spPr>
          <a:xfrm>
            <a:off x="274320" y="1097280"/>
            <a:ext cx="6674400" cy="3090960"/>
          </a:xfrm>
          <a:prstGeom prst="rect">
            <a:avLst/>
          </a:prstGeom>
          <a:ln w="0">
            <a:noFill/>
          </a:ln>
        </p:spPr>
      </p:pic>
      <p:sp>
        <p:nvSpPr>
          <p:cNvPr id="222" name="Rounded Rectangle 7"/>
          <p:cNvSpPr/>
          <p:nvPr/>
        </p:nvSpPr>
        <p:spPr>
          <a:xfrm>
            <a:off x="320040" y="4709160"/>
            <a:ext cx="7177320" cy="959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Rectangle 8"/>
          <p:cNvSpPr/>
          <p:nvPr/>
        </p:nvSpPr>
        <p:spPr>
          <a:xfrm>
            <a:off x="320040" y="4709160"/>
            <a:ext cx="54000" cy="9594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TextBox 9"/>
          <p:cNvSpPr/>
          <p:nvPr/>
        </p:nvSpPr>
        <p:spPr>
          <a:xfrm>
            <a:off x="521280" y="4837320"/>
            <a:ext cx="682992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설비 열화 곡선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100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일치에 고차 다항식 적합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오차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0.1% 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완벽해 보임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130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일째 예측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물리적으로 불가능한 음수 출력 — 안의 성적표는 밖을 모른다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25" name="Rounded Rectangle 10"/>
          <p:cNvSpPr/>
          <p:nvPr/>
        </p:nvSpPr>
        <p:spPr>
          <a:xfrm>
            <a:off x="7680960" y="1097280"/>
            <a:ext cx="4159800" cy="2513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11"/>
          <p:cNvSpPr/>
          <p:nvPr/>
        </p:nvSpPr>
        <p:spPr>
          <a:xfrm>
            <a:off x="7680960" y="1097280"/>
            <a:ext cx="54000" cy="25138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12"/>
          <p:cNvSpPr/>
          <p:nvPr/>
        </p:nvSpPr>
        <p:spPr>
          <a:xfrm>
            <a:off x="7882200" y="1225440"/>
            <a:ext cx="3812400" cy="11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현상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다항식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훈련구간 오차 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 경계를 넘으면 정담에서급격히 벗어남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훈련 데이터에 대해 다항식 차수  올릴수록 훈련     </a:t>
            </a: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   범위  밖은 오차가 더 커진다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28" name="Rounded Rectangle 13"/>
          <p:cNvSpPr/>
          <p:nvPr/>
        </p:nvSpPr>
        <p:spPr>
          <a:xfrm>
            <a:off x="7680960" y="3749040"/>
            <a:ext cx="4159800" cy="1873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Rectangle 14"/>
          <p:cNvSpPr/>
          <p:nvPr/>
        </p:nvSpPr>
        <p:spPr>
          <a:xfrm>
            <a:off x="7680960" y="3749040"/>
            <a:ext cx="54000" cy="18738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15"/>
          <p:cNvSpPr/>
          <p:nvPr/>
        </p:nvSpPr>
        <p:spPr>
          <a:xfrm>
            <a:off x="7882200" y="3877200"/>
            <a:ext cx="3812400" cy="12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핵심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takeaway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안에서 잘 맞는다’와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–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밖에서 맞는다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는 다른 질문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31" name="TextBox 16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32" name="TextBox 17"/>
          <p:cNvSpPr/>
          <p:nvPr/>
        </p:nvSpPr>
        <p:spPr>
          <a:xfrm>
            <a:off x="10990800" y="6473880"/>
            <a:ext cx="511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8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33" name="Rounded Rectangle 18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Rectangle 19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5" name="TextBox 20"/>
          <p:cNvSpPr/>
          <p:nvPr/>
        </p:nvSpPr>
        <p:spPr>
          <a:xfrm>
            <a:off x="555120" y="5961600"/>
            <a:ext cx="110635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훈련구간 오차 ≈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0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이어도 경계 밖에서 즉시 발산</a:t>
            </a:r>
            <a:endParaRPr b="0" lang="en-US" sz="12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c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Rectangle 3"/>
          <p:cNvSpPr/>
          <p:nvPr/>
        </p:nvSpPr>
        <p:spPr>
          <a:xfrm>
            <a:off x="0" y="1965960"/>
            <a:ext cx="12191040" cy="723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4"/>
          <p:cNvSpPr/>
          <p:nvPr/>
        </p:nvSpPr>
        <p:spPr>
          <a:xfrm>
            <a:off x="914400" y="1417320"/>
            <a:ext cx="10057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PART 2  ·  15</a:t>
            </a:r>
            <a:r>
              <a:rPr b="1" lang="ko-KR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분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914400" y="2194560"/>
            <a:ext cx="1005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2</a:t>
            </a:r>
            <a:r>
              <a:rPr b="1" lang="ko-KR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외삽 실패 원인 </a:t>
            </a:r>
            <a:r>
              <a:rPr b="1" lang="en-US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(4)</a:t>
            </a:r>
            <a:endParaRPr b="0" lang="en-US" sz="3600" spc="-1" strike="noStrike">
              <a:latin typeface="Noto Sans CJK KR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914400" y="3200400"/>
            <a:ext cx="1005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8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42" name="Rounded Rectangle 7"/>
          <p:cNvSpPr/>
          <p:nvPr/>
        </p:nvSpPr>
        <p:spPr>
          <a:xfrm>
            <a:off x="914400" y="4023360"/>
            <a:ext cx="3291120" cy="1462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TextBox 8"/>
          <p:cNvSpPr/>
          <p:nvPr/>
        </p:nvSpPr>
        <p:spPr>
          <a:xfrm>
            <a:off x="1097280" y="4160520"/>
            <a:ext cx="292536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None/>
            </a:pP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이유 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1·2: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데이터가 함수를 못 정하고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고차원에선 거의 전부가 밖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244" name="Rounded Rectangle 9"/>
          <p:cNvSpPr/>
          <p:nvPr/>
        </p:nvSpPr>
        <p:spPr>
          <a:xfrm>
            <a:off x="4480560" y="4023360"/>
            <a:ext cx="3291120" cy="1462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10"/>
          <p:cNvSpPr/>
          <p:nvPr/>
        </p:nvSpPr>
        <p:spPr>
          <a:xfrm>
            <a:off x="4663440" y="4160520"/>
            <a:ext cx="292536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None/>
            </a:pP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이유 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3: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범위 밖에선 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모름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'(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불확실성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)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이 커진다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246" name="Rounded Rectangle 11"/>
          <p:cNvSpPr/>
          <p:nvPr/>
        </p:nvSpPr>
        <p:spPr>
          <a:xfrm>
            <a:off x="8046720" y="4023360"/>
            <a:ext cx="3291120" cy="1462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TextBox 12"/>
          <p:cNvSpPr/>
          <p:nvPr/>
        </p:nvSpPr>
        <p:spPr>
          <a:xfrm>
            <a:off x="8229600" y="4160520"/>
            <a:ext cx="292536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None/>
            </a:pP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이유 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4: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신경망도 밖에서는 직선이 된다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248" name="TextBox 13"/>
          <p:cNvSpPr/>
          <p:nvPr/>
        </p:nvSpPr>
        <p:spPr>
          <a:xfrm>
            <a:off x="10974240" y="6446520"/>
            <a:ext cx="54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9 / 27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실패 원인 ①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52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53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Rounded Rectangle 7"/>
          <p:cNvSpPr/>
          <p:nvPr/>
        </p:nvSpPr>
        <p:spPr>
          <a:xfrm>
            <a:off x="320040" y="4709160"/>
            <a:ext cx="7177320" cy="959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Rectangle 8"/>
          <p:cNvSpPr/>
          <p:nvPr/>
        </p:nvSpPr>
        <p:spPr>
          <a:xfrm>
            <a:off x="320040" y="4709160"/>
            <a:ext cx="54000" cy="9594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TextBox 9"/>
          <p:cNvSpPr/>
          <p:nvPr/>
        </p:nvSpPr>
        <p:spPr>
          <a:xfrm>
            <a:off x="521280" y="4837320"/>
            <a:ext cx="682992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100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사이클까지의 용량 데이터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선형 열화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지수 열화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둘 다 완벽 적합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500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사이클 수명 예측은 두 가설이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2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배 차이 — 데이터는 어느 쪽인지 말해주지 않는다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57" name="Rounded Rectangle 10"/>
          <p:cNvSpPr/>
          <p:nvPr/>
        </p:nvSpPr>
        <p:spPr>
          <a:xfrm>
            <a:off x="7680960" y="1097280"/>
            <a:ext cx="4159800" cy="2513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Rectangle 11"/>
          <p:cNvSpPr/>
          <p:nvPr/>
        </p:nvSpPr>
        <p:spPr>
          <a:xfrm>
            <a:off x="7680960" y="1097280"/>
            <a:ext cx="54000" cy="25138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9" name="TextBox 12"/>
          <p:cNvSpPr/>
          <p:nvPr/>
        </p:nvSpPr>
        <p:spPr>
          <a:xfrm>
            <a:off x="7882200" y="1225440"/>
            <a:ext cx="4004280" cy="11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같은 점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,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다른 함수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훈련점을 지나는 함수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가설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는 무한히 많다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그림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지수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구간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(OBSERVED)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안에서는 둘 다 통과 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외삽영역으로 으로 가면 갈라진다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데이터를 더 모아도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안에서만 늘면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구별 불가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60" name="Rounded Rectangle 13"/>
          <p:cNvSpPr/>
          <p:nvPr/>
        </p:nvSpPr>
        <p:spPr>
          <a:xfrm>
            <a:off x="7680960" y="3749040"/>
            <a:ext cx="4159800" cy="1873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Rectangle 14"/>
          <p:cNvSpPr/>
          <p:nvPr/>
        </p:nvSpPr>
        <p:spPr>
          <a:xfrm>
            <a:off x="7680960" y="3749040"/>
            <a:ext cx="54000" cy="18738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TextBox 15"/>
          <p:cNvSpPr/>
          <p:nvPr/>
        </p:nvSpPr>
        <p:spPr>
          <a:xfrm>
            <a:off x="7882200" y="3877200"/>
            <a:ext cx="381240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핵심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takeaway 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밖을 지탱하는 것은  데이터가 아니라 가정이다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거동에 대한 사전 제약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(prior) </a:t>
            </a: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어느 가정으로 연장할지 선택해야 함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63" name="Rounded Rectangle 16">
            <a:hlinkClick r:id="rId1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264" name="TextBox 17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10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66" name="Rounded Rectangle 19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Rectangle 20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TextBox 21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 밖에서 갈라짐 — 데이터만으로는 선택 불가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핵심 문장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)</a:t>
            </a:r>
            <a:endParaRPr b="0" lang="en-US" sz="1000" spc="-1" strike="noStrike">
              <a:latin typeface="Noto Sans CJK KR"/>
            </a:endParaRPr>
          </a:p>
        </p:txBody>
      </p:sp>
      <p:pic>
        <p:nvPicPr>
          <p:cNvPr id="269" name="Picture 6" descr="fig_poly_extrap.png"/>
          <p:cNvPicPr/>
          <p:nvPr/>
        </p:nvPicPr>
        <p:blipFill>
          <a:blip r:embed="rId2"/>
          <a:stretch/>
        </p:blipFill>
        <p:spPr>
          <a:xfrm>
            <a:off x="274320" y="1097280"/>
            <a:ext cx="7177320" cy="317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실패 원인 ②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74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75" name="Picture 6" descr="fig_hull_dimension.png"/>
          <p:cNvPicPr/>
          <p:nvPr/>
        </p:nvPicPr>
        <p:blipFill>
          <a:blip r:embed="rId1"/>
          <a:stretch/>
        </p:blipFill>
        <p:spPr>
          <a:xfrm>
            <a:off x="274320" y="1097280"/>
            <a:ext cx="7588800" cy="2796840"/>
          </a:xfrm>
          <a:prstGeom prst="rect">
            <a:avLst/>
          </a:prstGeom>
          <a:ln w="0">
            <a:noFill/>
          </a:ln>
        </p:spPr>
      </p:pic>
      <p:sp>
        <p:nvSpPr>
          <p:cNvPr id="276" name="Rounded Rectangle 7"/>
          <p:cNvSpPr/>
          <p:nvPr/>
        </p:nvSpPr>
        <p:spPr>
          <a:xfrm>
            <a:off x="320040" y="4069080"/>
            <a:ext cx="7543080" cy="1599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7" name="Rectangle 8"/>
          <p:cNvSpPr/>
          <p:nvPr/>
        </p:nvSpPr>
        <p:spPr>
          <a:xfrm>
            <a:off x="320040" y="4069080"/>
            <a:ext cx="54000" cy="15994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TextBox 9"/>
          <p:cNvSpPr/>
          <p:nvPr/>
        </p:nvSpPr>
        <p:spPr>
          <a:xfrm>
            <a:off x="521280" y="4197240"/>
            <a:ext cx="719568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20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채널이면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각 채널이 훈련 범위 안에 있을 확률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95%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라 해도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20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채널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전부 안일 확률 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0.95²⁰ ≈ 36%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실제 훈련 범위는 축 정렬 상자보다 훨씬 좁다 → 조합 기준으로는 대부분이 이미 밖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이미지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수만 차원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다변량 시계열 — 여러분이 다루는 데이터가 정확히 이 영역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79" name="Rounded Rectangle 10"/>
          <p:cNvSpPr/>
          <p:nvPr/>
        </p:nvSpPr>
        <p:spPr>
          <a:xfrm>
            <a:off x="8046720" y="1097280"/>
            <a:ext cx="3794040" cy="2513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Rectangle 11"/>
          <p:cNvSpPr/>
          <p:nvPr/>
        </p:nvSpPr>
        <p:spPr>
          <a:xfrm>
            <a:off x="8046720" y="1097280"/>
            <a:ext cx="54000" cy="25138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1" name="TextBox 12"/>
          <p:cNvSpPr/>
          <p:nvPr/>
        </p:nvSpPr>
        <p:spPr>
          <a:xfrm>
            <a:off x="8247960" y="1225440"/>
            <a:ext cx="344664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차원의 저주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(Bartley 2019)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2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차원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왼쪽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): 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범위가 커 보인다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차원↑ → 새 입력이 훈련 범위 안에  있을 확률이 지    </a:t>
            </a: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 수적으로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으로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82" name="Rounded Rectangle 13"/>
          <p:cNvSpPr/>
          <p:nvPr/>
        </p:nvSpPr>
        <p:spPr>
          <a:xfrm>
            <a:off x="8046720" y="3749040"/>
            <a:ext cx="3794040" cy="1873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3" name="Rectangle 14"/>
          <p:cNvSpPr/>
          <p:nvPr/>
        </p:nvSpPr>
        <p:spPr>
          <a:xfrm>
            <a:off x="8046720" y="3749040"/>
            <a:ext cx="54000" cy="18738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TextBox 15"/>
          <p:cNvSpPr/>
          <p:nvPr/>
        </p:nvSpPr>
        <p:spPr>
          <a:xfrm>
            <a:off x="8247960" y="3877200"/>
            <a:ext cx="3446640" cy="15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핵심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takeaway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차원이 크면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test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 훈련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안에 들어올    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확률은 급격히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에 가깝다 </a:t>
            </a:r>
            <a:br>
              <a:rPr sz="1100"/>
            </a:b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test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는 대부분 안이겠지”라고 가정하기 어렵고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   </a:t>
            </a: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 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 외삽을 예외가 아니라 기본 시나리오로 두고 </a:t>
            </a:r>
            <a:br>
              <a:rPr sz="11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    검증해야 한다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.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85" name="Rounded Rectangle 16">
            <a:hlinkClick r:id="rId2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286" name="TextBox 17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87" name="TextBox 18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11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288" name="Rounded Rectangle 19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9" name="Rectangle 20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TextBox 21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차원이 올라가면 새 입력이 훈련 범위 안일 확률 →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0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실패 원인 ③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94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'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모름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'(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불확실성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이 커진다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95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96" name="Picture 6" descr="fig_error_decomp.png"/>
          <p:cNvPicPr/>
          <p:nvPr/>
        </p:nvPicPr>
        <p:blipFill>
          <a:blip r:embed="rId1"/>
          <a:stretch/>
        </p:blipFill>
        <p:spPr>
          <a:xfrm>
            <a:off x="274320" y="1024200"/>
            <a:ext cx="7085880" cy="3016800"/>
          </a:xfrm>
          <a:prstGeom prst="rect">
            <a:avLst/>
          </a:prstGeom>
          <a:ln w="0">
            <a:noFill/>
          </a:ln>
        </p:spPr>
      </p:pic>
      <p:sp>
        <p:nvSpPr>
          <p:cNvPr id="297" name="Rounded Rectangle 7"/>
          <p:cNvSpPr/>
          <p:nvPr/>
        </p:nvSpPr>
        <p:spPr>
          <a:xfrm>
            <a:off x="320040" y="4133160"/>
            <a:ext cx="7040160" cy="1535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Rectangle 8"/>
          <p:cNvSpPr/>
          <p:nvPr/>
        </p:nvSpPr>
        <p:spPr>
          <a:xfrm>
            <a:off x="320040" y="4133160"/>
            <a:ext cx="54000" cy="15354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9" name="TextBox 9"/>
          <p:cNvSpPr/>
          <p:nvPr/>
        </p:nvSpPr>
        <p:spPr>
          <a:xfrm>
            <a:off x="521280" y="4260960"/>
            <a:ext cx="6692760" cy="13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그림 내용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음영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(hull)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total error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작음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(a)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세 색 쌓임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(b)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펼친 곡선 — 같은 분해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Err ≈ Bias² + Variance(epistemic) + Noise(aleatoric)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개념도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밖에서 주황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(epistemic·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total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을 가장 급격히 끌어올림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파랑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(bias):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그림에선 완만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 틀리면 밖에서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bias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도 ↑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회색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잡음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비슷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측정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센서 한계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00" name="Rounded Rectangle 10"/>
          <p:cNvSpPr/>
          <p:nvPr/>
        </p:nvSpPr>
        <p:spPr>
          <a:xfrm>
            <a:off x="7635240" y="1024200"/>
            <a:ext cx="4205520" cy="2129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1" name="Rectangle 11"/>
          <p:cNvSpPr/>
          <p:nvPr/>
        </p:nvSpPr>
        <p:spPr>
          <a:xfrm>
            <a:off x="7635240" y="1024200"/>
            <a:ext cx="54000" cy="21297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2" name="TextBox 12"/>
          <p:cNvSpPr/>
          <p:nvPr/>
        </p:nvSpPr>
        <p:spPr>
          <a:xfrm>
            <a:off x="7742520" y="976320"/>
            <a:ext cx="4251240" cy="22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왜 세 가지로 쪼개 보나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?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원인마다 처방이 다름 — 한 번에 “모델 탓”으로 끝내기 어려움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잡음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(aleatoric):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측정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센서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환경 — 본질적 랜덤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비슷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거의 못 줄임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편향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(bias):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구조가 틀린 체계적 오차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prior·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모델 형태 문제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3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부에서 가정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구조로 ↓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(epistemic):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+prior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기준 불확실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prior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약하면 ↑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prior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강하면 ↓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bias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위험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해당 구간 데이터로 ↓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train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만으론 ↓ 불가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03" name="Rounded Rectangle 13"/>
          <p:cNvSpPr/>
          <p:nvPr/>
        </p:nvSpPr>
        <p:spPr>
          <a:xfrm>
            <a:off x="7635240" y="3319200"/>
            <a:ext cx="4205520" cy="2440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Rectangle 14"/>
          <p:cNvSpPr/>
          <p:nvPr/>
        </p:nvSpPr>
        <p:spPr>
          <a:xfrm>
            <a:off x="7644240" y="3319200"/>
            <a:ext cx="45000" cy="24408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TextBox 15"/>
          <p:cNvSpPr/>
          <p:nvPr/>
        </p:nvSpPr>
        <p:spPr>
          <a:xfrm>
            <a:off x="7836480" y="3290400"/>
            <a:ext cx="4205520" cy="24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범위 밖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분해 목적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그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에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train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 없음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정의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밖에서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total ↑ — epistemic(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구조적으로 키움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(prior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강하면 작아 보일 수 있음 → 틀리면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bias)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잡음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편향만으로 “밖에서만 터짐”을 다 설명하긴 어려움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분해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진단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어디서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편향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(3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·prior 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UQ·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잡음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측정 한계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3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UQ: epistemic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을 경보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 신호로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숫자만 믿지 않기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06" name="TextBox 16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07" name="TextBox 17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12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08" name="Rounded Rectangle 18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9" name="Rectangle 19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TextBox 20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'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모름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'(epistemic)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이 커짐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데이터로는 못 줄임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3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부 끝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(UQ)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에 나온다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2340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2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실패 원인 ④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14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ReLU NN —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밖에서는 직선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(Xu 2021)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15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Rounded Rectangle 6"/>
          <p:cNvSpPr/>
          <p:nvPr/>
        </p:nvSpPr>
        <p:spPr>
          <a:xfrm>
            <a:off x="255960" y="1078920"/>
            <a:ext cx="6894000" cy="162180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17" name="Picture 7" descr="xu_fig1_relu_extrap.png"/>
          <p:cNvPicPr/>
          <p:nvPr/>
        </p:nvPicPr>
        <p:blipFill>
          <a:blip r:embed="rId1"/>
          <a:stretch/>
        </p:blipFill>
        <p:spPr>
          <a:xfrm>
            <a:off x="320040" y="1143000"/>
            <a:ext cx="6765840" cy="1493640"/>
          </a:xfrm>
          <a:prstGeom prst="rect">
            <a:avLst/>
          </a:prstGeom>
          <a:ln w="0">
            <a:noFill/>
          </a:ln>
        </p:spPr>
      </p:pic>
      <p:sp>
        <p:nvSpPr>
          <p:cNvPr id="318" name="TextBox 8"/>
          <p:cNvSpPr/>
          <p:nvPr/>
        </p:nvSpPr>
        <p:spPr>
          <a:xfrm>
            <a:off x="255960" y="2719800"/>
            <a:ext cx="68940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Xu et al., How Neural Networks Extrapolate: From Feedforward to Graph Neural Networks (ICLR 2021), Fig.1</a:t>
            </a:r>
            <a:endParaRPr b="0" lang="en-US" sz="900" spc="-1" strike="noStrike">
              <a:latin typeface="Noto Sans CJK KR"/>
            </a:endParaRPr>
          </a:p>
        </p:txBody>
      </p:sp>
      <p:pic>
        <p:nvPicPr>
          <p:cNvPr id="319" name="Picture 9" descr="fig_xu_sin_tangent.png"/>
          <p:cNvPicPr/>
          <p:nvPr/>
        </p:nvPicPr>
        <p:blipFill>
          <a:blip r:embed="rId2"/>
          <a:stretch/>
        </p:blipFill>
        <p:spPr>
          <a:xfrm>
            <a:off x="255960" y="3780360"/>
            <a:ext cx="6765840" cy="2175480"/>
          </a:xfrm>
          <a:prstGeom prst="rect">
            <a:avLst/>
          </a:prstGeom>
          <a:ln w="0">
            <a:noFill/>
          </a:ln>
        </p:spPr>
      </p:pic>
      <p:sp>
        <p:nvSpPr>
          <p:cNvPr id="320" name="Rounded Rectangle 10"/>
          <p:cNvSpPr/>
          <p:nvPr/>
        </p:nvSpPr>
        <p:spPr>
          <a:xfrm>
            <a:off x="320040" y="2670120"/>
            <a:ext cx="6720120" cy="899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Rectangle 11"/>
          <p:cNvSpPr/>
          <p:nvPr/>
        </p:nvSpPr>
        <p:spPr>
          <a:xfrm>
            <a:off x="320040" y="2670120"/>
            <a:ext cx="54000" cy="87192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TextBox 12"/>
          <p:cNvSpPr/>
          <p:nvPr/>
        </p:nvSpPr>
        <p:spPr>
          <a:xfrm>
            <a:off x="497880" y="2692440"/>
            <a:ext cx="637272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Fig.1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읽기 —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φ =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활성화 함수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(activation)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파란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train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검은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true g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회색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MLP f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f≈g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f≠g 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회색이 검은에서 갈라짐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- 3D: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타깃만 다름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2D: sin(g) vs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(f)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23" name="Rounded Rectangle 13"/>
          <p:cNvSpPr/>
          <p:nvPr/>
        </p:nvSpPr>
        <p:spPr>
          <a:xfrm>
            <a:off x="7269480" y="1078920"/>
            <a:ext cx="4571280" cy="1535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4" name="Rectangle 14"/>
          <p:cNvSpPr/>
          <p:nvPr/>
        </p:nvSpPr>
        <p:spPr>
          <a:xfrm>
            <a:off x="7269480" y="1078920"/>
            <a:ext cx="54000" cy="15354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5" name="TextBox 15"/>
          <p:cNvSpPr/>
          <p:nvPr/>
        </p:nvSpPr>
        <p:spPr>
          <a:xfrm>
            <a:off x="7470720" y="1207080"/>
            <a:ext cx="4223880" cy="12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Xu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의 정리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1 (ReLU)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ReLU MLP: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입력이 멀어지면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v)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거동 → 직선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(affine)</a:t>
            </a:r>
            <a:br>
              <a:rPr sz="1100"/>
            </a:b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깊이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너비 ↑ 해도 동일 — 증명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(Thm.1), capacity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 해결 안 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대상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L-layer ReLU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피드포워드 — 실무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baseline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정식화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200" spc="-1" strike="noStrike">
              <a:latin typeface="Noto Sans CJK KR"/>
            </a:endParaRPr>
          </a:p>
        </p:txBody>
      </p:sp>
      <p:sp>
        <p:nvSpPr>
          <p:cNvPr id="326" name="Rounded Rectangle 16"/>
          <p:cNvSpPr/>
          <p:nvPr/>
        </p:nvSpPr>
        <p:spPr>
          <a:xfrm>
            <a:off x="7269480" y="2743200"/>
            <a:ext cx="4571280" cy="3025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Rectangle 17"/>
          <p:cNvSpPr/>
          <p:nvPr/>
        </p:nvSpPr>
        <p:spPr>
          <a:xfrm>
            <a:off x="7251120" y="2781360"/>
            <a:ext cx="72360" cy="29880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8" name="TextBox 18"/>
          <p:cNvSpPr/>
          <p:nvPr/>
        </p:nvSpPr>
        <p:spPr>
          <a:xfrm>
            <a:off x="7470720" y="2800440"/>
            <a:ext cx="4223880" cy="30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예시 해석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Q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다른 활성화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φ?</a:t>
            </a:r>
            <a:br>
              <a:rPr sz="1200"/>
            </a:b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sin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=fit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true f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와 어긋남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오해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"NN extrap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불가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"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실제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밖에서도 예측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prior(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 연장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ReLU MLP prior ≈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(Thm.1)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범위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Thm.1 = ReLU MLP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Transformer/GNN 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별도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prior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Q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다른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φ? tanh→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포화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sin/cos→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주기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(Fig.5)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Q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다른 구조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GNN — task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와 맞으면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(alignment)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OK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Transformer —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 결론 그대로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 · 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검증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φ·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구조 맞춰도 검증 필요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S16·3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29" name="Rounded Rectangle 19">
            <a:hlinkClick r:id="rId3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330" name="TextBox 20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31" name="TextBox 21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13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32" name="Rounded Rectangle 22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Rectangle 23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4" name="TextBox 24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ReLU NN —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밖에서 직선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(Xu Thm.1) 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활성화마다 밖 가정이 다름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NN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은 외삽 불능이 아니라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직선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이라는 가정을 이미 하고 있다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6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c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Rectangle 3"/>
          <p:cNvSpPr/>
          <p:nvPr/>
        </p:nvSpPr>
        <p:spPr>
          <a:xfrm>
            <a:off x="0" y="1965960"/>
            <a:ext cx="12191040" cy="723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TextBox 4"/>
          <p:cNvSpPr/>
          <p:nvPr/>
        </p:nvSpPr>
        <p:spPr>
          <a:xfrm>
            <a:off x="914400" y="1417320"/>
            <a:ext cx="100576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PART 3  ·  18</a:t>
            </a:r>
            <a:r>
              <a:rPr b="1" lang="ko-KR" sz="16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분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39" name="TextBox 5"/>
          <p:cNvSpPr/>
          <p:nvPr/>
        </p:nvSpPr>
        <p:spPr>
          <a:xfrm>
            <a:off x="914400" y="2194560"/>
            <a:ext cx="1005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3</a:t>
            </a:r>
            <a:r>
              <a:rPr b="1" lang="ko-KR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36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회귀 외삽 대응법</a:t>
            </a:r>
            <a:endParaRPr b="0" lang="en-US" sz="3600" spc="-1" strike="noStrike">
              <a:latin typeface="Noto Sans CJK KR"/>
            </a:endParaRPr>
          </a:p>
        </p:txBody>
      </p:sp>
      <p:sp>
        <p:nvSpPr>
          <p:cNvPr id="340" name="TextBox 6"/>
          <p:cNvSpPr/>
          <p:nvPr/>
        </p:nvSpPr>
        <p:spPr>
          <a:xfrm>
            <a:off x="914400" y="3200400"/>
            <a:ext cx="1005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8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아는 지식만큼 가정을 넣는다 — 지식 우선</a:t>
            </a:r>
            <a:r>
              <a:rPr b="0" lang="en-US" sz="18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8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방법 후행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41" name="Rounded Rectangle 7"/>
          <p:cNvSpPr/>
          <p:nvPr/>
        </p:nvSpPr>
        <p:spPr>
          <a:xfrm>
            <a:off x="914400" y="4023360"/>
            <a:ext cx="3291120" cy="1462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2" name="TextBox 8"/>
          <p:cNvSpPr/>
          <p:nvPr/>
        </p:nvSpPr>
        <p:spPr>
          <a:xfrm>
            <a:off x="1097280" y="4160520"/>
            <a:ext cx="292536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None/>
            </a:pP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방법 지도 — 사전 지식 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4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단계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43" name="Rounded Rectangle 9"/>
          <p:cNvSpPr/>
          <p:nvPr/>
        </p:nvSpPr>
        <p:spPr>
          <a:xfrm>
            <a:off x="4480560" y="4023360"/>
            <a:ext cx="3291120" cy="1462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4" name="TextBox 10"/>
          <p:cNvSpPr/>
          <p:nvPr/>
        </p:nvSpPr>
        <p:spPr>
          <a:xfrm>
            <a:off x="4663440" y="4160520"/>
            <a:ext cx="292536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①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함수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(EQL·NALU)  ②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방향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(CMNN)  ③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물리  ④ 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UQ·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기권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45" name="Rounded Rectangle 11"/>
          <p:cNvSpPr/>
          <p:nvPr/>
        </p:nvSpPr>
        <p:spPr>
          <a:xfrm>
            <a:off x="8046720" y="4023360"/>
            <a:ext cx="3291120" cy="1462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TextBox 12"/>
          <p:cNvSpPr/>
          <p:nvPr/>
        </p:nvSpPr>
        <p:spPr>
          <a:xfrm>
            <a:off x="8229600" y="4160520"/>
            <a:ext cx="292536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endParaRPr b="0" lang="en-US" sz="14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None/>
            </a:pP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종합 — 같은 데이터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다른 가정 </a:t>
            </a:r>
            <a:r>
              <a:rPr b="0" lang="en-US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4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선택 가이드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47" name="TextBox 13"/>
          <p:cNvSpPr/>
          <p:nvPr/>
        </p:nvSpPr>
        <p:spPr>
          <a:xfrm>
            <a:off x="10933920" y="6446520"/>
            <a:ext cx="62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15 / 27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9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0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대응법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51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회귀 외삽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사전 지식별 가정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2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53" name="Picture 6" descr="fig_assumption_spectrum.png"/>
          <p:cNvPicPr/>
          <p:nvPr/>
        </p:nvPicPr>
        <p:blipFill>
          <a:blip r:embed="rId1"/>
          <a:stretch/>
        </p:blipFill>
        <p:spPr>
          <a:xfrm>
            <a:off x="1417320" y="1024200"/>
            <a:ext cx="7884000" cy="2925360"/>
          </a:xfrm>
          <a:prstGeom prst="rect">
            <a:avLst/>
          </a:prstGeom>
          <a:ln w="0">
            <a:noFill/>
          </a:ln>
        </p:spPr>
      </p:pic>
      <p:sp>
        <p:nvSpPr>
          <p:cNvPr id="354" name="Rounded Rectangle 7"/>
          <p:cNvSpPr/>
          <p:nvPr/>
        </p:nvSpPr>
        <p:spPr>
          <a:xfrm>
            <a:off x="320040" y="4069080"/>
            <a:ext cx="2788200" cy="1599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Rectangle 8"/>
          <p:cNvSpPr/>
          <p:nvPr/>
        </p:nvSpPr>
        <p:spPr>
          <a:xfrm>
            <a:off x="320040" y="4069080"/>
            <a:ext cx="54000" cy="15994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TextBox 9"/>
          <p:cNvSpPr/>
          <p:nvPr/>
        </p:nvSpPr>
        <p:spPr>
          <a:xfrm>
            <a:off x="521280" y="4197240"/>
            <a:ext cx="244080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①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함수족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강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EQL: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수식 유닛 내장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NALU: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산술로 가중치 제약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이득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전역 유효 가능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가정이 틀릴 때 전역 실패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57" name="Rounded Rectangle 10"/>
          <p:cNvSpPr/>
          <p:nvPr/>
        </p:nvSpPr>
        <p:spPr>
          <a:xfrm>
            <a:off x="3246120" y="4160520"/>
            <a:ext cx="2788200" cy="1508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8" name="Rectangle 11"/>
          <p:cNvSpPr/>
          <p:nvPr/>
        </p:nvSpPr>
        <p:spPr>
          <a:xfrm>
            <a:off x="3246120" y="4160520"/>
            <a:ext cx="54000" cy="150804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TextBox 12"/>
          <p:cNvSpPr/>
          <p:nvPr/>
        </p:nvSpPr>
        <p:spPr>
          <a:xfrm>
            <a:off x="3447360" y="4288680"/>
            <a:ext cx="244080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②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방향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CMNN: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단조를 구조로 강제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실무 지식의 대부분 수준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이득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밖에서도 방향 보장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구조 설계 비용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60" name="Rounded Rectangle 13"/>
          <p:cNvSpPr/>
          <p:nvPr/>
        </p:nvSpPr>
        <p:spPr>
          <a:xfrm>
            <a:off x="6172200" y="4160520"/>
            <a:ext cx="2788200" cy="1508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1" name="Rectangle 14"/>
          <p:cNvSpPr/>
          <p:nvPr/>
        </p:nvSpPr>
        <p:spPr>
          <a:xfrm>
            <a:off x="6172200" y="4160520"/>
            <a:ext cx="54000" cy="150804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2" name="TextBox 15"/>
          <p:cNvSpPr/>
          <p:nvPr/>
        </p:nvSpPr>
        <p:spPr>
          <a:xfrm>
            <a:off x="6373440" y="4288680"/>
            <a:ext cx="244080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③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물리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회귀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L = L_data + λ·L_constraint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센서→품질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(PDE-ML ✗)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soft loss ·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63" name="Rounded Rectangle 16"/>
          <p:cNvSpPr/>
          <p:nvPr/>
        </p:nvSpPr>
        <p:spPr>
          <a:xfrm>
            <a:off x="9098280" y="4160520"/>
            <a:ext cx="2742480" cy="1508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Rectangle 17"/>
          <p:cNvSpPr/>
          <p:nvPr/>
        </p:nvSpPr>
        <p:spPr>
          <a:xfrm>
            <a:off x="9098280" y="4160520"/>
            <a:ext cx="54000" cy="150804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5" name="TextBox 18"/>
          <p:cNvSpPr/>
          <p:nvPr/>
        </p:nvSpPr>
        <p:spPr>
          <a:xfrm>
            <a:off x="9299520" y="4288680"/>
            <a:ext cx="239508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④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무가정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UQ: 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을 경보로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신뢰 낮으면 예측 안 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이득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과신 오답 방지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답변율 감소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66" name="TextBox 19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67" name="TextBox 20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16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68" name="Rounded Rectangle 21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Rectangle 22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0" name="TextBox 23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지식 우선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,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방법 후행 — 가용 사전 지식이 방법을 정한다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다음 — ①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~④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방법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종합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(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이후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)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검증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입구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74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(Xu Fig.5)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75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Rounded Rectangle 6"/>
          <p:cNvSpPr/>
          <p:nvPr/>
        </p:nvSpPr>
        <p:spPr>
          <a:xfrm>
            <a:off x="255960" y="1051560"/>
            <a:ext cx="6436800" cy="1915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77" name="Picture 7" descr="xu_fig5_activations.png"/>
          <p:cNvPicPr/>
          <p:nvPr/>
        </p:nvPicPr>
        <p:blipFill>
          <a:blip r:embed="rId1"/>
          <a:stretch/>
        </p:blipFill>
        <p:spPr>
          <a:xfrm>
            <a:off x="320040" y="1115640"/>
            <a:ext cx="6308640" cy="1787760"/>
          </a:xfrm>
          <a:prstGeom prst="rect">
            <a:avLst/>
          </a:prstGeom>
          <a:ln w="0">
            <a:noFill/>
          </a:ln>
        </p:spPr>
      </p:pic>
      <p:sp>
        <p:nvSpPr>
          <p:cNvPr id="378" name="TextBox 8"/>
          <p:cNvSpPr/>
          <p:nvPr/>
        </p:nvSpPr>
        <p:spPr>
          <a:xfrm>
            <a:off x="255960" y="2986560"/>
            <a:ext cx="64368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Xu et al., How Neural Networks Extrapolate (ICLR 2021), Fig.5</a:t>
            </a:r>
            <a:endParaRPr b="0" lang="en-US" sz="900" spc="-1" strike="noStrike">
              <a:latin typeface="Noto Sans CJK KR"/>
            </a:endParaRPr>
          </a:p>
        </p:txBody>
      </p:sp>
      <p:pic>
        <p:nvPicPr>
          <p:cNvPr id="379" name="Picture 9" descr="fig_activation_match.png"/>
          <p:cNvPicPr/>
          <p:nvPr/>
        </p:nvPicPr>
        <p:blipFill>
          <a:blip r:embed="rId2"/>
          <a:stretch/>
        </p:blipFill>
        <p:spPr>
          <a:xfrm>
            <a:off x="255960" y="3429000"/>
            <a:ext cx="6308640" cy="2305080"/>
          </a:xfrm>
          <a:prstGeom prst="rect">
            <a:avLst/>
          </a:prstGeom>
          <a:ln w="0">
            <a:noFill/>
          </a:ln>
        </p:spPr>
      </p:pic>
      <p:sp>
        <p:nvSpPr>
          <p:cNvPr id="380" name="Rounded Rectangle 10"/>
          <p:cNvSpPr/>
          <p:nvPr/>
        </p:nvSpPr>
        <p:spPr>
          <a:xfrm>
            <a:off x="6812280" y="1051560"/>
            <a:ext cx="5028480" cy="2331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1" name="Rectangle 11"/>
          <p:cNvSpPr/>
          <p:nvPr/>
        </p:nvSpPr>
        <p:spPr>
          <a:xfrm>
            <a:off x="6812280" y="1051560"/>
            <a:ext cx="54000" cy="23310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TextBox 12"/>
          <p:cNvSpPr/>
          <p:nvPr/>
        </p:nvSpPr>
        <p:spPr>
          <a:xfrm>
            <a:off x="7013520" y="1179720"/>
            <a:ext cx="4681080" cy="11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실험 요지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위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: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논문 원본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φ(activation)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와 타깃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**family**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맞출 때만 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MAPE ↓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cos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타깃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cos φ · tanh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타깃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tanh φ · quad → quad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mismatch → MAPE **100~1000×** (log scale)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메시지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φ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바꾸기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**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최소 개입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** prior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주입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83" name="Rounded Rectangle 13"/>
          <p:cNvSpPr/>
          <p:nvPr/>
        </p:nvSpPr>
        <p:spPr>
          <a:xfrm>
            <a:off x="6812280" y="3520440"/>
            <a:ext cx="5028480" cy="2102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Rectangle 14"/>
          <p:cNvSpPr/>
          <p:nvPr/>
        </p:nvSpPr>
        <p:spPr>
          <a:xfrm>
            <a:off x="6812280" y="3520440"/>
            <a:ext cx="54000" cy="21024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TextBox 15"/>
          <p:cNvSpPr/>
          <p:nvPr/>
        </p:nvSpPr>
        <p:spPr>
          <a:xfrm>
            <a:off x="7013520" y="3648600"/>
            <a:ext cx="4681080" cy="14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예시 — 같은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sin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타깃</a:t>
            </a:r>
            <a:br>
              <a:rPr sz="1200"/>
            </a:b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점선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true sin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음영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train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실선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MLP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(a) ReLU: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=fit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 → 파동 놓침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(b) cos φ: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밖에서도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sin(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파동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유지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φ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선택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"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밖은 이 모양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"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선언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(S13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이어짐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맞으면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extrap OK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틀리면 오차 폭발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검증은 여전히 필요 배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86" name="Rounded Rectangle 16">
            <a:hlinkClick r:id="rId3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387" name="TextBox 17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88" name="TextBox 18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17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389" name="Rounded Rectangle 19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0" name="Rectangle 20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1" name="TextBox 21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함수 모양 가정의 선언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.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가정에는 대가가 있다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3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4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395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(a) — EQL( Equation Learner):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수식을 통째로 배우기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96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7" name="Rounded Rectangle 6"/>
          <p:cNvSpPr/>
          <p:nvPr/>
        </p:nvSpPr>
        <p:spPr>
          <a:xfrm>
            <a:off x="255960" y="1051560"/>
            <a:ext cx="5979600" cy="169488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98" name="Picture 7" descr="eql_fig1_architecture.png"/>
          <p:cNvPicPr/>
          <p:nvPr/>
        </p:nvPicPr>
        <p:blipFill>
          <a:blip r:embed="rId1"/>
          <a:stretch/>
        </p:blipFill>
        <p:spPr>
          <a:xfrm>
            <a:off x="320040" y="1115640"/>
            <a:ext cx="5851440" cy="1567080"/>
          </a:xfrm>
          <a:prstGeom prst="rect">
            <a:avLst/>
          </a:prstGeom>
          <a:ln w="0">
            <a:noFill/>
          </a:ln>
        </p:spPr>
      </p:pic>
      <p:sp>
        <p:nvSpPr>
          <p:cNvPr id="399" name="TextBox 8"/>
          <p:cNvSpPr/>
          <p:nvPr/>
        </p:nvSpPr>
        <p:spPr>
          <a:xfrm>
            <a:off x="255960" y="2765520"/>
            <a:ext cx="59796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Martius &amp; Lampert, Extrapolation and Learning Equations (arXiv 2016), Fig.1</a:t>
            </a:r>
            <a:endParaRPr b="0" lang="en-US" sz="900" spc="-1" strike="noStrike">
              <a:latin typeface="Noto Sans CJK KR"/>
            </a:endParaRPr>
          </a:p>
        </p:txBody>
      </p:sp>
      <p:pic>
        <p:nvPicPr>
          <p:cNvPr id="400" name="Picture 9" descr="fig_eql_example.png"/>
          <p:cNvPicPr/>
          <p:nvPr/>
        </p:nvPicPr>
        <p:blipFill>
          <a:blip r:embed="rId2"/>
          <a:stretch/>
        </p:blipFill>
        <p:spPr>
          <a:xfrm>
            <a:off x="255960" y="3337560"/>
            <a:ext cx="6308640" cy="2056320"/>
          </a:xfrm>
          <a:prstGeom prst="rect">
            <a:avLst/>
          </a:prstGeom>
          <a:ln w="0">
            <a:noFill/>
          </a:ln>
        </p:spPr>
      </p:pic>
      <p:sp>
        <p:nvSpPr>
          <p:cNvPr id="401" name="Rounded Rectangle 10"/>
          <p:cNvSpPr/>
          <p:nvPr/>
        </p:nvSpPr>
        <p:spPr>
          <a:xfrm>
            <a:off x="6812280" y="1051560"/>
            <a:ext cx="5028480" cy="18561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2" name="Rectangle 11"/>
          <p:cNvSpPr/>
          <p:nvPr/>
        </p:nvSpPr>
        <p:spPr>
          <a:xfrm>
            <a:off x="6812280" y="1051560"/>
            <a:ext cx="54000" cy="18561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3" name="TextBox 12"/>
          <p:cNvSpPr/>
          <p:nvPr/>
        </p:nvSpPr>
        <p:spPr>
          <a:xfrm>
            <a:off x="7001640" y="1097640"/>
            <a:ext cx="468108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원리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위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: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논문 구조도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일반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MLP: ReLU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“모양” 뉴런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EQL: sin, cos,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곱하기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(×)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“수학 연산” 뉴런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학습 끝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y ≈ sin(1.01x)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처럼 식 하나로 정리됨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진짜가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sin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계열이면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train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구간 밖에서도 파형 유지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04" name="Rounded Rectangle 13"/>
          <p:cNvSpPr/>
          <p:nvPr/>
        </p:nvSpPr>
        <p:spPr>
          <a:xfrm>
            <a:off x="6812280" y="3249360"/>
            <a:ext cx="5028480" cy="2373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5" name="Rectangle 14"/>
          <p:cNvSpPr/>
          <p:nvPr/>
        </p:nvSpPr>
        <p:spPr>
          <a:xfrm>
            <a:off x="6796080" y="3249360"/>
            <a:ext cx="70560" cy="23734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TextBox 15"/>
          <p:cNvSpPr/>
          <p:nvPr/>
        </p:nvSpPr>
        <p:spPr>
          <a:xfrm>
            <a:off x="6954840" y="3301560"/>
            <a:ext cx="4681080" cy="187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예시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+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대가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초록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EQL: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sin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주황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MLP: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밖은 직선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언제 쓰나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extrap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중요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 “sin·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곱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합” 같은 식 모양을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대략 짐작할 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정확한 공식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유닛 밖 함수 불가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식 단순화 어려움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고차원 약함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family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틀리면 전역 실패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07" name="Rounded Rectangle 16">
            <a:hlinkClick r:id="rId3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08" name="TextBox 17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09" name="TextBox 18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18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10" name="Rounded Rectangle 19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Rectangle 20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TextBox 21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MLP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직선화와 정반대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대가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유닛 밖 함수 표현 불가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희소화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고차원 취약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4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(b) —NAC, NALU: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산술만 하도록 묶기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417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8" name="Rounded Rectangle 6"/>
          <p:cNvSpPr/>
          <p:nvPr/>
        </p:nvSpPr>
        <p:spPr>
          <a:xfrm>
            <a:off x="255960" y="1051560"/>
            <a:ext cx="5796720" cy="206676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19" name="Picture 7" descr="nalu_fig2_architecture.png"/>
          <p:cNvPicPr/>
          <p:nvPr/>
        </p:nvPicPr>
        <p:blipFill>
          <a:blip r:embed="rId1"/>
          <a:stretch/>
        </p:blipFill>
        <p:spPr>
          <a:xfrm>
            <a:off x="397800" y="1106280"/>
            <a:ext cx="5668560" cy="1938600"/>
          </a:xfrm>
          <a:prstGeom prst="rect">
            <a:avLst/>
          </a:prstGeom>
          <a:ln w="0">
            <a:noFill/>
          </a:ln>
        </p:spPr>
      </p:pic>
      <p:sp>
        <p:nvSpPr>
          <p:cNvPr id="420" name="TextBox 8"/>
          <p:cNvSpPr/>
          <p:nvPr/>
        </p:nvSpPr>
        <p:spPr>
          <a:xfrm>
            <a:off x="255960" y="3137040"/>
            <a:ext cx="5796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Trask et al., NALU (NeurIPS 2018), Fig.2 (a) NAC · (b) NALU · arXiv:1808.00508</a:t>
            </a:r>
            <a:endParaRPr b="0" lang="en-US" sz="900" spc="-1" strike="noStrike">
              <a:latin typeface="Noto Sans CJK KR"/>
            </a:endParaRPr>
          </a:p>
        </p:txBody>
      </p:sp>
      <p:pic>
        <p:nvPicPr>
          <p:cNvPr id="421" name="Picture 9" descr="fig_nalu_example.png"/>
          <p:cNvPicPr/>
          <p:nvPr/>
        </p:nvPicPr>
        <p:blipFill>
          <a:blip r:embed="rId2"/>
          <a:stretch/>
        </p:blipFill>
        <p:spPr>
          <a:xfrm>
            <a:off x="255960" y="3657600"/>
            <a:ext cx="6034320" cy="2023200"/>
          </a:xfrm>
          <a:prstGeom prst="rect">
            <a:avLst/>
          </a:prstGeom>
          <a:ln w="0">
            <a:noFill/>
          </a:ln>
        </p:spPr>
      </p:pic>
      <p:sp>
        <p:nvSpPr>
          <p:cNvPr id="422" name="Rounded Rectangle 10"/>
          <p:cNvSpPr/>
          <p:nvPr/>
        </p:nvSpPr>
        <p:spPr>
          <a:xfrm>
            <a:off x="6812280" y="1051560"/>
            <a:ext cx="5028480" cy="4735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3" name="Rectangle 11"/>
          <p:cNvSpPr/>
          <p:nvPr/>
        </p:nvSpPr>
        <p:spPr>
          <a:xfrm>
            <a:off x="6812280" y="1051560"/>
            <a:ext cx="54000" cy="47358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4" name="TextBox 12"/>
          <p:cNvSpPr/>
          <p:nvPr/>
        </p:nvSpPr>
        <p:spPr>
          <a:xfrm>
            <a:off x="6975360" y="1036800"/>
            <a:ext cx="4681080" cy="53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Fig— (a) NAC · (b) NALU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사전지식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(= Method 1)</a:t>
            </a:r>
            <a:br>
              <a:rPr sz="1100"/>
            </a:b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“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답이 산술식이다” — 정확한 식은 몰라도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OK,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연산 종류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(+,×)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는 알떄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NAC —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덧셈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뺄셈 전용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가중치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W = tanh(Ŵ) ⊙ σ(M̂)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tanh → ±1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근처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σ → 0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또는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w ≈ +1: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더하기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/ w ≈ −1: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빼기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/ w ≈ 0: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무시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y = Σ wᵢ xᵢ  →  “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선택적으로 더하고 빼기”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NALU — NAC +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곱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나눗셈 경로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선형 경로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NAC (a ± b ± …)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곱 경로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log → matmul → exp  (log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공간에서 더하기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원래 곱하기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게이트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g = σ(·): g≈1 → +/- , g≈0 → ×/÷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- y = g·(NAC) + (1−g)·(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곱 경로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핵심 아이디어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일반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MLP: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숫자 크기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범위를 “곡선”으로 외움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NALU: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연산 규칙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(+, −, ×, ÷)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을 구조에 고정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작은 범위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(0~10)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에서 규칙만 배우면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큰 범위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(10,000)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도 같은 규칙 적용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extrap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train 0~10 → test 10,000 (a+b)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MLP: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오차 폭발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NALU: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거의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flat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대가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±1·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게이트 수렴 불안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산술 아니면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MLP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급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식 알면 코드가 낫다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</p:txBody>
      </p:sp>
      <p:sp>
        <p:nvSpPr>
          <p:cNvPr id="425" name="Rounded Rectangle 16">
            <a:hlinkClick r:id="rId3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26" name="TextBox 17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27" name="TextBox 18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19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28" name="Rounded Rectangle 19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Rectangle 20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0" name="TextBox 21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,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큰 수 일반화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방법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1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요약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함수 모양 가정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최대 수익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최대 리스크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2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34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(a) —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단순 강제는 표현력을 희생한다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435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6" name="Rounded Rectangle 6"/>
          <p:cNvSpPr/>
          <p:nvPr/>
        </p:nvSpPr>
        <p:spPr>
          <a:xfrm>
            <a:off x="255960" y="1051560"/>
            <a:ext cx="6894000" cy="2002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37" name="Picture 7" descr="runje_fig1_cubic.png"/>
          <p:cNvPicPr/>
          <p:nvPr/>
        </p:nvPicPr>
        <p:blipFill>
          <a:blip r:embed="rId1"/>
          <a:stretch/>
        </p:blipFill>
        <p:spPr>
          <a:xfrm>
            <a:off x="320040" y="1115640"/>
            <a:ext cx="6765840" cy="3178440"/>
          </a:xfrm>
          <a:prstGeom prst="rect">
            <a:avLst/>
          </a:prstGeom>
          <a:ln w="0">
            <a:noFill/>
          </a:ln>
        </p:spPr>
      </p:pic>
      <p:sp>
        <p:nvSpPr>
          <p:cNvPr id="438" name="TextBox 8"/>
          <p:cNvSpPr/>
          <p:nvPr/>
        </p:nvSpPr>
        <p:spPr>
          <a:xfrm>
            <a:off x="255960" y="4292280"/>
            <a:ext cx="68940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Runje &amp; Shankaranarayana, Constrained Monotonic Neural Networks (ICML 2023), Fig.1 · arXiv:2205.11775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39" name="Rounded Rectangle 9"/>
          <p:cNvSpPr/>
          <p:nvPr/>
        </p:nvSpPr>
        <p:spPr>
          <a:xfrm>
            <a:off x="274320" y="4647960"/>
            <a:ext cx="6720120" cy="1020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0" name="Rectangle 10"/>
          <p:cNvSpPr/>
          <p:nvPr/>
        </p:nvSpPr>
        <p:spPr>
          <a:xfrm>
            <a:off x="274320" y="4647960"/>
            <a:ext cx="54000" cy="10206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1" name="TextBox 11"/>
          <p:cNvSpPr/>
          <p:nvPr/>
        </p:nvSpPr>
        <p:spPr>
          <a:xfrm>
            <a:off x="427680" y="4647960"/>
            <a:ext cx="637272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단조 증가 함수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(a)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무제약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NN: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적합은 되나 단조 보장 없음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(b)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가중치 전부 양수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단조는 되나 직선에 가까워짐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x³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실패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(c) CMNN: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비선형 동시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다음 장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42" name="Rounded Rectangle 12"/>
          <p:cNvSpPr/>
          <p:nvPr/>
        </p:nvSpPr>
        <p:spPr>
          <a:xfrm>
            <a:off x="7178040" y="1051560"/>
            <a:ext cx="4662720" cy="4617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Rectangle 13"/>
          <p:cNvSpPr/>
          <p:nvPr/>
        </p:nvSpPr>
        <p:spPr>
          <a:xfrm>
            <a:off x="7178040" y="1051560"/>
            <a:ext cx="54000" cy="46170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TextBox 14"/>
          <p:cNvSpPr/>
          <p:nvPr/>
        </p:nvSpPr>
        <p:spPr>
          <a:xfrm>
            <a:off x="7379280" y="1179720"/>
            <a:ext cx="4315320" cy="44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단조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(monotonic)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가정</a:t>
            </a:r>
            <a:br>
              <a:rPr sz="1200"/>
            </a:br>
            <a:br>
              <a:rPr sz="12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방향만 확실할 때 사용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보험료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전압 수요 등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br>
              <a:rPr sz="300"/>
            </a:b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x ↑ → y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절대 ↓ 안 함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또는 반대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실무에서 자주 아는 수준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“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보험료 ↑”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“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전압 ↑”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, “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수요 ↓” …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정확한 식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(y=x³)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은 몰라도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OK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원리</a:t>
            </a:r>
            <a:br>
              <a:rPr sz="1100"/>
            </a:b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Method : “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올라가기만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/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내려가기만” — 방향만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prior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ReLU MLP +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 강제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보통 가중치 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입력↑일 때 각 층 출력도 ↑ 쪽으로만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y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도 단조↑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이론상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3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문제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(b)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처럼 표현력 ↓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양수 가중치만으론 “구부린”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x³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를 못 그림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단조는 얻지만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shape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는 희생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딜레마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 + x³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곡선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를 동시에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?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naive clipping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만으론 부족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CMNN(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다음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45" name="Rounded Rectangle 15">
            <a:hlinkClick r:id="rId2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46" name="TextBox 16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47" name="TextBox 17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20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48" name="Rounded Rectangle 18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9" name="Rectangle 19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0" name="TextBox 20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: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단조는 얻지만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x³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실패 — 표현력 저하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단조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vs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표현력의 상충 — 해법은 다음 장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3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(b) —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해법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: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구조 자체가 단조이게 만들기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(CMNN)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고쳐야함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455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6" name="Rounded Rectangle 6"/>
          <p:cNvSpPr/>
          <p:nvPr/>
        </p:nvSpPr>
        <p:spPr>
          <a:xfrm>
            <a:off x="255960" y="1051560"/>
            <a:ext cx="5594400" cy="296208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57" name="Picture 7" descr="runje_fig3_mono_unit.png"/>
          <p:cNvPicPr/>
          <p:nvPr/>
        </p:nvPicPr>
        <p:blipFill>
          <a:blip r:embed="rId1"/>
          <a:stretch/>
        </p:blipFill>
        <p:spPr>
          <a:xfrm>
            <a:off x="320040" y="1115640"/>
            <a:ext cx="6232680" cy="2833920"/>
          </a:xfrm>
          <a:prstGeom prst="rect">
            <a:avLst/>
          </a:prstGeom>
          <a:ln w="0">
            <a:noFill/>
          </a:ln>
        </p:spPr>
      </p:pic>
      <p:sp>
        <p:nvSpPr>
          <p:cNvPr id="458" name="TextBox 8"/>
          <p:cNvSpPr/>
          <p:nvPr/>
        </p:nvSpPr>
        <p:spPr>
          <a:xfrm>
            <a:off x="255960" y="4032360"/>
            <a:ext cx="5594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논문</a:t>
            </a:r>
            <a:r>
              <a:rPr b="0" lang="en-US" sz="9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: Runje &amp; Shankaranarayana, Constrained Monotonic Neural Networks (ICML 2023), Fig.3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59" name="Rounded Rectangle 9"/>
          <p:cNvSpPr/>
          <p:nvPr/>
        </p:nvSpPr>
        <p:spPr>
          <a:xfrm>
            <a:off x="274320" y="4480560"/>
            <a:ext cx="6308640" cy="1188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0" name="Rectangle 10"/>
          <p:cNvSpPr/>
          <p:nvPr/>
        </p:nvSpPr>
        <p:spPr>
          <a:xfrm>
            <a:off x="274320" y="4480560"/>
            <a:ext cx="54000" cy="11880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1" name="TextBox 11"/>
          <p:cNvSpPr/>
          <p:nvPr/>
        </p:nvSpPr>
        <p:spPr>
          <a:xfrm>
            <a:off x="475560" y="4608720"/>
            <a:ext cx="59612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충전량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(SOC)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(OCV)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곡선을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CMNN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으로 학습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훈련에 없던 고충전 조건 예측에도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전압 급락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은 구조상 불가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보장 하나로 제어기 안전 인증이 가능해진다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62" name="Rounded Rectangle 12"/>
          <p:cNvSpPr/>
          <p:nvPr/>
        </p:nvSpPr>
        <p:spPr>
          <a:xfrm>
            <a:off x="6903720" y="1051560"/>
            <a:ext cx="4937040" cy="2605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3" name="Rectangle 13"/>
          <p:cNvSpPr/>
          <p:nvPr/>
        </p:nvSpPr>
        <p:spPr>
          <a:xfrm>
            <a:off x="6903720" y="1051560"/>
            <a:ext cx="54000" cy="260532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4" name="TextBox 14"/>
          <p:cNvSpPr/>
          <p:nvPr/>
        </p:nvSpPr>
        <p:spPr>
          <a:xfrm>
            <a:off x="7104960" y="1179720"/>
            <a:ext cx="4589640" cy="15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Fig.3 —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한 층 흐름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 → |W|_t·x+b → split(s) → concat → W_out → ŷ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입력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feature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마다 단조 방향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(+1 / −1 / 0)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+1 → x_j↑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일 때 출력↑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SOC↑ → OCV↑)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 → x_j↑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일 때 출력↓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그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feature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는 단조 제약 없음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|W|_t: t=±1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일 때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w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부호만 고정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|W|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아님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65" name="Rounded Rectangle 15"/>
          <p:cNvSpPr/>
          <p:nvPr/>
        </p:nvSpPr>
        <p:spPr>
          <a:xfrm>
            <a:off x="6903720" y="3794760"/>
            <a:ext cx="4937040" cy="1828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Rectangle 16"/>
          <p:cNvSpPr/>
          <p:nvPr/>
        </p:nvSpPr>
        <p:spPr>
          <a:xfrm>
            <a:off x="6903720" y="3794760"/>
            <a:ext cx="54000" cy="182808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TextBox 17"/>
          <p:cNvSpPr/>
          <p:nvPr/>
        </p:nvSpPr>
        <p:spPr>
          <a:xfrm>
            <a:off x="7104960" y="3922920"/>
            <a:ext cx="4589640" cy="15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s —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활성화 배치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곡선 모양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s = 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볼록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ρ̊,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오목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ρ̂,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포화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ρ̃) —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합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hidden m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ρ̊: h&gt;0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구간에서 증가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(ReLU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계열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ρ̂: h&lt;0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구간에서 증가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거울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ReLU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계열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ρ̃: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아래 평평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(x³·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배터리는 보통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m=10, s=(4,4,0) → ρ̊ 4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 ρ̂ 4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개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뉴런 번호로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φ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고정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+/−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냐로 바뀌지 않음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68" name="Rounded Rectangle 18">
            <a:hlinkClick r:id="rId2"/>
          </p:cNvPr>
          <p:cNvSpPr/>
          <p:nvPr/>
        </p:nvSpPr>
        <p:spPr>
          <a:xfrm>
            <a:off x="104241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69" name="TextBox 19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70" name="TextBox 20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21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71" name="Rounded Rectangle 21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2" name="Rectangle 22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3" name="TextBox 23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②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CMNN —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방향을 구조로 고정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다음 ③ —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Feature · Physics loss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5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6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77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③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외삽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Physics-ML —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방향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(② CMNN)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보다 더 아는 경우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478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79" name="Picture 6" descr="fig_physics_loss_example.png"/>
          <p:cNvPicPr/>
          <p:nvPr/>
        </p:nvPicPr>
        <p:blipFill>
          <a:blip r:embed="rId1"/>
          <a:stretch/>
        </p:blipFill>
        <p:spPr>
          <a:xfrm>
            <a:off x="164520" y="951120"/>
            <a:ext cx="6656040" cy="4790880"/>
          </a:xfrm>
          <a:prstGeom prst="rect">
            <a:avLst/>
          </a:prstGeom>
          <a:ln w="0">
            <a:noFill/>
          </a:ln>
        </p:spPr>
      </p:pic>
      <p:sp>
        <p:nvSpPr>
          <p:cNvPr id="480" name="Rounded Rectangle 7"/>
          <p:cNvSpPr/>
          <p:nvPr/>
        </p:nvSpPr>
        <p:spPr>
          <a:xfrm>
            <a:off x="6876360" y="951120"/>
            <a:ext cx="4955400" cy="1663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1" name="Rectangle 8"/>
          <p:cNvSpPr/>
          <p:nvPr/>
        </p:nvSpPr>
        <p:spPr>
          <a:xfrm>
            <a:off x="6876360" y="951120"/>
            <a:ext cx="54000" cy="16635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2" name="TextBox 9"/>
          <p:cNvSpPr/>
          <p:nvPr/>
        </p:nvSpPr>
        <p:spPr>
          <a:xfrm>
            <a:off x="7077600" y="1078920"/>
            <a:ext cx="4608000" cy="10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외삽 문제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 선택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그림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a)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고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DoD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학습 → 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DoD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시험 —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(cycle↑→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용량↓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 →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법칙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열화 지표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③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순수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외삽은 비선형 실제와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물리 법칙은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OOD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에서도 성립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83" name="Rounded Rectangle 10"/>
          <p:cNvSpPr/>
          <p:nvPr/>
        </p:nvSpPr>
        <p:spPr>
          <a:xfrm>
            <a:off x="6876360" y="2688480"/>
            <a:ext cx="4955400" cy="1572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4" name="Rectangle 11"/>
          <p:cNvSpPr/>
          <p:nvPr/>
        </p:nvSpPr>
        <p:spPr>
          <a:xfrm>
            <a:off x="6876360" y="2688480"/>
            <a:ext cx="54000" cy="157212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5" name="TextBox 12"/>
          <p:cNvSpPr/>
          <p:nvPr/>
        </p:nvSpPr>
        <p:spPr>
          <a:xfrm>
            <a:off x="7077600" y="2816280"/>
            <a:ext cx="460800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③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-A Feature —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입력에 물리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그림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b · Li)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충방전 곡선에서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열화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peak(dQ/dV)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뽑을 수 있을 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Q(V) →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회귀 —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loss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아님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DoD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바뀌어도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peak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유효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OOD MAPE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86" name="Rounded Rectangle 13"/>
          <p:cNvSpPr/>
          <p:nvPr/>
        </p:nvSpPr>
        <p:spPr>
          <a:xfrm>
            <a:off x="6876360" y="4334400"/>
            <a:ext cx="4955400" cy="1572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7" name="Rectangle 14"/>
          <p:cNvSpPr/>
          <p:nvPr/>
        </p:nvSpPr>
        <p:spPr>
          <a:xfrm>
            <a:off x="6876360" y="4334400"/>
            <a:ext cx="54000" cy="157212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8" name="TextBox 15"/>
          <p:cNvSpPr/>
          <p:nvPr/>
        </p:nvSpPr>
        <p:spPr>
          <a:xfrm>
            <a:off x="7077600" y="4462200"/>
            <a:ext cx="460800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③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-B Loss —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학습에 법칙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그림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c · Aykol)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CMNN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으로 충분 —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loss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불필요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Arrhenius·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열역학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L = L_data +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89" name="Rounded Rectangle 16">
            <a:hlinkClick r:id="rId2"/>
          </p:cNvPr>
          <p:cNvSpPr/>
          <p:nvPr/>
        </p:nvSpPr>
        <p:spPr>
          <a:xfrm>
            <a:off x="873252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90" name="Rounded Rectangle 17">
            <a:hlinkClick r:id="rId3"/>
          </p:cNvPr>
          <p:cNvSpPr/>
          <p:nvPr/>
        </p:nvSpPr>
        <p:spPr>
          <a:xfrm>
            <a:off x="101955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491" name="TextBox 18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92" name="TextBox 19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22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493" name="Rounded Rectangle 20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4" name="Rectangle 21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5" name="TextBox 22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방향만 →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CMNN(②) 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더 알면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Physics-ML(③)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밖 구간 시험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7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8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4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499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UQ(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경보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 +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기권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예측 안 함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500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1" name="Rounded Rectangle 6"/>
          <p:cNvSpPr/>
          <p:nvPr/>
        </p:nvSpPr>
        <p:spPr>
          <a:xfrm>
            <a:off x="274320" y="1042560"/>
            <a:ext cx="5668560" cy="278820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02" name="Picture 7" descr="fig_uq_aleatoric_epistemic.png"/>
          <p:cNvPicPr/>
          <p:nvPr/>
        </p:nvPicPr>
        <p:blipFill>
          <a:blip r:embed="rId1"/>
          <a:stretch/>
        </p:blipFill>
        <p:spPr>
          <a:xfrm>
            <a:off x="347400" y="1115640"/>
            <a:ext cx="5531400" cy="1991520"/>
          </a:xfrm>
          <a:prstGeom prst="rect">
            <a:avLst/>
          </a:prstGeom>
          <a:ln w="0">
            <a:noFill/>
          </a:ln>
        </p:spPr>
      </p:pic>
      <p:sp>
        <p:nvSpPr>
          <p:cNvPr id="503" name="Rounded Rectangle 8">
            <a:hlinkClick r:id="rId2"/>
          </p:cNvPr>
          <p:cNvSpPr/>
          <p:nvPr/>
        </p:nvSpPr>
        <p:spPr>
          <a:xfrm>
            <a:off x="873252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504" name="Rounded Rectangle 9">
            <a:hlinkClick r:id="rId3"/>
          </p:cNvPr>
          <p:cNvSpPr/>
          <p:nvPr/>
        </p:nvSpPr>
        <p:spPr>
          <a:xfrm>
            <a:off x="1019556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505" name="Rounded Rectangle 10"/>
          <p:cNvSpPr/>
          <p:nvPr/>
        </p:nvSpPr>
        <p:spPr>
          <a:xfrm>
            <a:off x="292680" y="3913560"/>
            <a:ext cx="5650200" cy="1233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6" name="Rectangle 11"/>
          <p:cNvSpPr/>
          <p:nvPr/>
        </p:nvSpPr>
        <p:spPr>
          <a:xfrm>
            <a:off x="292680" y="3913560"/>
            <a:ext cx="54000" cy="123372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7" name="TextBox 12"/>
          <p:cNvSpPr/>
          <p:nvPr/>
        </p:nvSpPr>
        <p:spPr>
          <a:xfrm>
            <a:off x="493920" y="4041720"/>
            <a:ext cx="53028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UQ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그림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 → 불확실성 띠 벌어짐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예측값은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08" name="Rounded Rectangle 13"/>
          <p:cNvSpPr/>
          <p:nvPr/>
        </p:nvSpPr>
        <p:spPr>
          <a:xfrm>
            <a:off x="292680" y="5230440"/>
            <a:ext cx="5650200" cy="1169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9" name="Rectangle 14"/>
          <p:cNvSpPr/>
          <p:nvPr/>
        </p:nvSpPr>
        <p:spPr>
          <a:xfrm>
            <a:off x="292680" y="5230440"/>
            <a:ext cx="54000" cy="116964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0" name="TextBox 15"/>
          <p:cNvSpPr/>
          <p:nvPr/>
        </p:nvSpPr>
        <p:spPr>
          <a:xfrm>
            <a:off x="493920" y="5358240"/>
            <a:ext cx="53028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개 → 품질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학습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센서 각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0~10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추론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센서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UQ: '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품질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5.2 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불확실↑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)'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'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재측정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'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11" name="Rounded Rectangle 16"/>
          <p:cNvSpPr/>
          <p:nvPr/>
        </p:nvSpPr>
        <p:spPr>
          <a:xfrm>
            <a:off x="6080760" y="1042560"/>
            <a:ext cx="5805720" cy="13251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2" name="Rectangle 17"/>
          <p:cNvSpPr/>
          <p:nvPr/>
        </p:nvSpPr>
        <p:spPr>
          <a:xfrm>
            <a:off x="6080760" y="1042560"/>
            <a:ext cx="54000" cy="13251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3" name="TextBox 18"/>
          <p:cNvSpPr/>
          <p:nvPr/>
        </p:nvSpPr>
        <p:spPr>
          <a:xfrm>
            <a:off x="6282000" y="1170360"/>
            <a:ext cx="545832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UQ —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경보등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+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불확실성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띠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분산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/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낯선 입력 → 불확실성↑ —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앙상블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5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개 갈리면 경보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GP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는 멀수록 띠↑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14" name="Rounded Rectangle 19"/>
          <p:cNvSpPr/>
          <p:nvPr/>
        </p:nvSpPr>
        <p:spPr>
          <a:xfrm>
            <a:off x="6080760" y="2450520"/>
            <a:ext cx="5805720" cy="1416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5" name="Rectangle 20"/>
          <p:cNvSpPr/>
          <p:nvPr/>
        </p:nvSpPr>
        <p:spPr>
          <a:xfrm>
            <a:off x="6080760" y="2450520"/>
            <a:ext cx="54000" cy="141660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6" name="TextBox 21"/>
          <p:cNvSpPr/>
          <p:nvPr/>
        </p:nvSpPr>
        <p:spPr>
          <a:xfrm>
            <a:off x="6282000" y="2578680"/>
            <a:ext cx="545832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신뢰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불확실성이 임계 미만 →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규칙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if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센서∉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[0,10]: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거부 도 동일 철학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성능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정확도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× coverage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문헌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17" name="Rounded Rectangle 22"/>
          <p:cNvSpPr/>
          <p:nvPr/>
        </p:nvSpPr>
        <p:spPr>
          <a:xfrm>
            <a:off x="6080760" y="3950280"/>
            <a:ext cx="5805720" cy="1233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8" name="Rectangle 23"/>
          <p:cNvSpPr/>
          <p:nvPr/>
        </p:nvSpPr>
        <p:spPr>
          <a:xfrm>
            <a:off x="6080760" y="3950280"/>
            <a:ext cx="54000" cy="123372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9" name="TextBox 24"/>
          <p:cNvSpPr/>
          <p:nvPr/>
        </p:nvSpPr>
        <p:spPr>
          <a:xfrm>
            <a:off x="6282000" y="4078080"/>
            <a:ext cx="545832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UQ vs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기권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경보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숫자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O) ·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차단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숫자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X)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불확실 작음 → 사용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큼 → 경보 또는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고위험 영역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: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틀린 숫자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번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&gt;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1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번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20" name="Rounded Rectangle 25"/>
          <p:cNvSpPr/>
          <p:nvPr/>
        </p:nvSpPr>
        <p:spPr>
          <a:xfrm>
            <a:off x="6080760" y="5230440"/>
            <a:ext cx="5805720" cy="1169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1" name="Rectangle 26"/>
          <p:cNvSpPr/>
          <p:nvPr/>
        </p:nvSpPr>
        <p:spPr>
          <a:xfrm>
            <a:off x="6080760" y="5230440"/>
            <a:ext cx="54000" cy="116964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2" name="TextBox 27"/>
          <p:cNvSpPr/>
          <p:nvPr/>
        </p:nvSpPr>
        <p:spPr>
          <a:xfrm>
            <a:off x="6282000" y="5358240"/>
            <a:ext cx="545832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부록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PDE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extrap +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 —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센서→품질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위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기권으로 충분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23" name="TextBox 28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524" name="TextBox 29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23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525" name="Rounded Rectangle 30"/>
          <p:cNvSpPr/>
          <p:nvPr/>
        </p:nvSpPr>
        <p:spPr>
          <a:xfrm>
            <a:off x="365760" y="583380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6" name="Rectangle 31"/>
          <p:cNvSpPr/>
          <p:nvPr/>
        </p:nvSpPr>
        <p:spPr>
          <a:xfrm>
            <a:off x="365760" y="583380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7" name="TextBox 32"/>
          <p:cNvSpPr/>
          <p:nvPr/>
        </p:nvSpPr>
        <p:spPr>
          <a:xfrm>
            <a:off x="567000" y="587952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UQ=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경보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숫자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O) 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기권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=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차단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숫자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X)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(20) →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재측정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DeepONet=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부록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9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0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종합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31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hull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 시험 분리 → 가정 후보 →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MAPE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로 선택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532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3" name="Rounded Rectangle 6"/>
          <p:cNvSpPr/>
          <p:nvPr/>
        </p:nvSpPr>
        <p:spPr>
          <a:xfrm>
            <a:off x="320040" y="1005840"/>
            <a:ext cx="11548080" cy="223956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34" name="Picture 7" descr="fig_method_cases.png"/>
          <p:cNvPicPr/>
          <p:nvPr/>
        </p:nvPicPr>
        <p:blipFill>
          <a:blip r:embed="rId1"/>
          <a:stretch/>
        </p:blipFill>
        <p:spPr>
          <a:xfrm>
            <a:off x="320040" y="1005840"/>
            <a:ext cx="11548080" cy="2252880"/>
          </a:xfrm>
          <a:prstGeom prst="rect">
            <a:avLst/>
          </a:prstGeom>
          <a:ln w="0">
            <a:noFill/>
          </a:ln>
        </p:spPr>
      </p:pic>
      <p:sp>
        <p:nvSpPr>
          <p:cNvPr id="535" name="Rounded Rectangle 8"/>
          <p:cNvSpPr/>
          <p:nvPr/>
        </p:nvSpPr>
        <p:spPr>
          <a:xfrm>
            <a:off x="320040" y="3355920"/>
            <a:ext cx="2760840" cy="1206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6" name="Rectangle 9"/>
          <p:cNvSpPr/>
          <p:nvPr/>
        </p:nvSpPr>
        <p:spPr>
          <a:xfrm>
            <a:off x="320040" y="3355920"/>
            <a:ext cx="54000" cy="12063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7" name="TextBox 10"/>
          <p:cNvSpPr/>
          <p:nvPr/>
        </p:nvSpPr>
        <p:spPr>
          <a:xfrm>
            <a:off x="521280" y="3483720"/>
            <a:ext cx="2413440" cy="13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①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hull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밖 분리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Conv(X_train) —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수학적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훈련 범위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시험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actual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hull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학습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min–max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로는 부족 —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이 밖일 수 있음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38" name="Rounded Rectangle 11"/>
          <p:cNvSpPr/>
          <p:nvPr/>
        </p:nvSpPr>
        <p:spPr>
          <a:xfrm>
            <a:off x="3218760" y="3355920"/>
            <a:ext cx="2760840" cy="1206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9" name="Rectangle 12"/>
          <p:cNvSpPr/>
          <p:nvPr/>
        </p:nvSpPr>
        <p:spPr>
          <a:xfrm>
            <a:off x="3218760" y="3355920"/>
            <a:ext cx="54000" cy="12063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0" name="TextBox 13"/>
          <p:cNvSpPr/>
          <p:nvPr/>
        </p:nvSpPr>
        <p:spPr>
          <a:xfrm>
            <a:off x="3420000" y="3483720"/>
            <a:ext cx="2413440" cy="12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②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가정 후보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지식 우선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후보를 먼저 고름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함수→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EQL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방향→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CMNN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물리→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모름→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후보마다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train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학습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41" name="Rounded Rectangle 14"/>
          <p:cNvSpPr/>
          <p:nvPr/>
        </p:nvSpPr>
        <p:spPr>
          <a:xfrm>
            <a:off x="6117480" y="3355920"/>
            <a:ext cx="2760840" cy="1206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2" name="Rectangle 15"/>
          <p:cNvSpPr/>
          <p:nvPr/>
        </p:nvSpPr>
        <p:spPr>
          <a:xfrm>
            <a:off x="6117480" y="3355920"/>
            <a:ext cx="54000" cy="120636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3" name="TextBox 16"/>
          <p:cNvSpPr/>
          <p:nvPr/>
        </p:nvSpPr>
        <p:spPr>
          <a:xfrm>
            <a:off x="6318360" y="3483720"/>
            <a:ext cx="2413440" cy="12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③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밖 시험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MAPE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같은 밖 시험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actual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에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MAPE/RMSE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train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동일 →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에서만 예측이 갈라짐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baseline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튜닝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 동일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44" name="Rounded Rectangle 17"/>
          <p:cNvSpPr/>
          <p:nvPr/>
        </p:nvSpPr>
        <p:spPr>
          <a:xfrm>
            <a:off x="9015840" y="3355920"/>
            <a:ext cx="2760840" cy="1206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5" name="Rectangle 18"/>
          <p:cNvSpPr/>
          <p:nvPr/>
        </p:nvSpPr>
        <p:spPr>
          <a:xfrm>
            <a:off x="9015840" y="3355920"/>
            <a:ext cx="54000" cy="120636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6" name="TextBox 19"/>
          <p:cNvSpPr/>
          <p:nvPr/>
        </p:nvSpPr>
        <p:spPr>
          <a:xfrm>
            <a:off x="9217080" y="3483720"/>
            <a:ext cx="2413440" cy="12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④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채택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시험에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가장 가까운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가정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방법 선택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성능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MAPE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포함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Li: EQL vs MLP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시험 없음 →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UQ+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47" name="Rounded Rectangle 20"/>
          <p:cNvSpPr/>
          <p:nvPr/>
        </p:nvSpPr>
        <p:spPr>
          <a:xfrm>
            <a:off x="320040" y="4654440"/>
            <a:ext cx="11548080" cy="47484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8" name="TextBox 21"/>
          <p:cNvSpPr/>
          <p:nvPr/>
        </p:nvSpPr>
        <p:spPr>
          <a:xfrm>
            <a:off x="484560" y="4745880"/>
            <a:ext cx="11219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주의 — ① 지식 먼저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밖 시험은 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판정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용  ② 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시험한 밖 구간까지만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더 먼 밖→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UQ/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기권  ③ 시험 없으면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MAPE 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불가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549" name="Rounded Rectangle 22">
            <a:hlinkClick r:id="rId2"/>
          </p:cNvPr>
          <p:cNvSpPr/>
          <p:nvPr/>
        </p:nvSpPr>
        <p:spPr>
          <a:xfrm>
            <a:off x="8732520" y="255960"/>
            <a:ext cx="1416600" cy="310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550" name="TextBox 23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551" name="TextBox 24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24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552" name="Rounded Rectangle 25"/>
          <p:cNvSpPr/>
          <p:nvPr/>
        </p:nvSpPr>
        <p:spPr>
          <a:xfrm>
            <a:off x="365760" y="518472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3" name="Rectangle 26"/>
          <p:cNvSpPr/>
          <p:nvPr/>
        </p:nvSpPr>
        <p:spPr>
          <a:xfrm>
            <a:off x="365760" y="518472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4" name="TextBox 27"/>
          <p:cNvSpPr/>
          <p:nvPr/>
        </p:nvSpPr>
        <p:spPr>
          <a:xfrm>
            <a:off x="567000" y="523044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hull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 시험 → 후보별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MAPE →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최적 가정 선택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시험 범위 밖 </a:t>
            </a: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시험 없음 → </a:t>
            </a:r>
            <a:r>
              <a:rPr b="1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UQ/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기권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6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7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부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실무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58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현장에 쓰려면 — 네 단계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559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0" name="Rounded Rectangle 6"/>
          <p:cNvSpPr/>
          <p:nvPr/>
        </p:nvSpPr>
        <p:spPr>
          <a:xfrm>
            <a:off x="320040" y="1005840"/>
            <a:ext cx="11548080" cy="233100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61" name="Picture 7" descr="fig_closing_practical.png"/>
          <p:cNvPicPr/>
          <p:nvPr/>
        </p:nvPicPr>
        <p:blipFill>
          <a:blip r:embed="rId1"/>
          <a:stretch/>
        </p:blipFill>
        <p:spPr>
          <a:xfrm>
            <a:off x="320040" y="1005840"/>
            <a:ext cx="11548080" cy="2423880"/>
          </a:xfrm>
          <a:prstGeom prst="rect">
            <a:avLst/>
          </a:prstGeom>
          <a:ln w="0">
            <a:noFill/>
          </a:ln>
        </p:spPr>
      </p:pic>
      <p:sp>
        <p:nvSpPr>
          <p:cNvPr id="562" name="Rounded Rectangle 8"/>
          <p:cNvSpPr/>
          <p:nvPr/>
        </p:nvSpPr>
        <p:spPr>
          <a:xfrm>
            <a:off x="320040" y="3483720"/>
            <a:ext cx="2760840" cy="1169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3" name="Rectangle 9"/>
          <p:cNvSpPr/>
          <p:nvPr/>
        </p:nvSpPr>
        <p:spPr>
          <a:xfrm>
            <a:off x="320040" y="3483720"/>
            <a:ext cx="54000" cy="116964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4" name="TextBox 10"/>
          <p:cNvSpPr/>
          <p:nvPr/>
        </p:nvSpPr>
        <p:spPr>
          <a:xfrm>
            <a:off x="521280" y="3611880"/>
            <a:ext cx="241344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①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범위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학습 범위와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현장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운영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범위 비교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시험 데이터 — 학습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65" name="Rounded Rectangle 11"/>
          <p:cNvSpPr/>
          <p:nvPr/>
        </p:nvSpPr>
        <p:spPr>
          <a:xfrm>
            <a:off x="3246120" y="3483720"/>
            <a:ext cx="2760840" cy="1169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6" name="Rectangle 12"/>
          <p:cNvSpPr/>
          <p:nvPr/>
        </p:nvSpPr>
        <p:spPr>
          <a:xfrm>
            <a:off x="3246120" y="3483720"/>
            <a:ext cx="54000" cy="116964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7" name="TextBox 13"/>
          <p:cNvSpPr/>
          <p:nvPr/>
        </p:nvSpPr>
        <p:spPr>
          <a:xfrm>
            <a:off x="3447360" y="3611880"/>
            <a:ext cx="241344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②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가정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방법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도메인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지식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으로 후보 선택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함수→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EQL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방향→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CMNN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물리→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Physics-ML ·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모름→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68" name="Rounded Rectangle 14"/>
          <p:cNvSpPr/>
          <p:nvPr/>
        </p:nvSpPr>
        <p:spPr>
          <a:xfrm>
            <a:off x="6172200" y="3483720"/>
            <a:ext cx="2760840" cy="1169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9" name="Rectangle 15"/>
          <p:cNvSpPr/>
          <p:nvPr/>
        </p:nvSpPr>
        <p:spPr>
          <a:xfrm>
            <a:off x="6172200" y="3483720"/>
            <a:ext cx="54000" cy="116964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0" name="TextBox 16"/>
          <p:cNvSpPr/>
          <p:nvPr/>
        </p:nvSpPr>
        <p:spPr>
          <a:xfrm>
            <a:off x="6373440" y="3611880"/>
            <a:ext cx="241344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③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성능 검증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시험에서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MAPE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 후보별 비교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baseline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동일 조건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1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로 과신 확인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71" name="Rounded Rectangle 17"/>
          <p:cNvSpPr/>
          <p:nvPr/>
        </p:nvSpPr>
        <p:spPr>
          <a:xfrm>
            <a:off x="9098280" y="3483720"/>
            <a:ext cx="2760840" cy="1169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2" name="Rectangle 18"/>
          <p:cNvSpPr/>
          <p:nvPr/>
        </p:nvSpPr>
        <p:spPr>
          <a:xfrm>
            <a:off x="9098280" y="3483720"/>
            <a:ext cx="54000" cy="116964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3" name="TextBox 19"/>
          <p:cNvSpPr/>
          <p:nvPr/>
        </p:nvSpPr>
        <p:spPr>
          <a:xfrm>
            <a:off x="9299520" y="3611880"/>
            <a:ext cx="241344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④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배포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오차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불확실성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OK →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배포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아니면 해당 구간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(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74" name="TextBox 20"/>
          <p:cNvSpPr/>
          <p:nvPr/>
        </p:nvSpPr>
        <p:spPr>
          <a:xfrm>
            <a:off x="3190320" y="6473880"/>
            <a:ext cx="3676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</a:t>
            </a:r>
            <a:r>
              <a:rPr b="0" lang="ko-KR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부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575" name="TextBox 21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25 / 27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576" name="Rounded Rectangle 22"/>
          <p:cNvSpPr/>
          <p:nvPr/>
        </p:nvSpPr>
        <p:spPr>
          <a:xfrm>
            <a:off x="365760" y="4745880"/>
            <a:ext cx="11429280" cy="511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7" name="Rectangle 23"/>
          <p:cNvSpPr/>
          <p:nvPr/>
        </p:nvSpPr>
        <p:spPr>
          <a:xfrm>
            <a:off x="365760" y="4745880"/>
            <a:ext cx="63360" cy="511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8" name="TextBox 24"/>
          <p:cNvSpPr/>
          <p:nvPr/>
        </p:nvSpPr>
        <p:spPr>
          <a:xfrm>
            <a:off x="567000" y="4791600"/>
            <a:ext cx="11063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범위 확인 → 방법 선택 → 밖에서 검증 → 배포 또는 기권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시험 데이터 없으면 </a:t>
            </a:r>
            <a:r>
              <a:rPr b="1" lang="ko-KR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예측하지 않음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0" name="Rectangle 2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1" name="TextBox 3"/>
          <p:cNvSpPr/>
          <p:nvPr/>
        </p:nvSpPr>
        <p:spPr>
          <a:xfrm>
            <a:off x="384120" y="237600"/>
            <a:ext cx="9600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마무리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82" name="TextBox 4"/>
          <p:cNvSpPr/>
          <p:nvPr/>
        </p:nvSpPr>
        <p:spPr>
          <a:xfrm>
            <a:off x="384120" y="475560"/>
            <a:ext cx="1097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회귀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extrap —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오늘 정리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583" name="Rectangle 5"/>
          <p:cNvSpPr/>
          <p:nvPr/>
        </p:nvSpPr>
        <p:spPr>
          <a:xfrm>
            <a:off x="384120" y="987480"/>
            <a:ext cx="11429640" cy="1224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4" name="Rounded Rectangle 6"/>
          <p:cNvSpPr/>
          <p:nvPr/>
        </p:nvSpPr>
        <p:spPr>
          <a:xfrm>
            <a:off x="411480" y="1024200"/>
            <a:ext cx="11365560" cy="621360"/>
          </a:xfrm>
          <a:prstGeom prst="roundRect">
            <a:avLst>
              <a:gd name="adj" fmla="val 5000"/>
            </a:avLst>
          </a:prstGeom>
          <a:solidFill>
            <a:srgbClr val="0c121a"/>
          </a:solidFill>
          <a:ln>
            <a:solidFill>
              <a:srgbClr val="3dd6c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5" name="TextBox 7"/>
          <p:cNvSpPr/>
          <p:nvPr/>
        </p:nvSpPr>
        <p:spPr>
          <a:xfrm>
            <a:off x="594360" y="1078920"/>
            <a:ext cx="1097244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train </a:t>
            </a:r>
            <a:r>
              <a:rPr b="1" lang="ko-KR" sz="2000" spc="-1" strike="noStrike">
                <a:solidFill>
                  <a:srgbClr val="ffffff"/>
                </a:solidFill>
                <a:latin typeface="Apple SD Gothic Neo"/>
                <a:ea typeface="Apple SD Gothic Neo"/>
              </a:rPr>
              <a:t>밖은 데이터가 아니라 가정이 지탱한다</a:t>
            </a:r>
            <a:endParaRPr b="0" lang="en-US" sz="20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“</a:t>
            </a:r>
            <a:r>
              <a:rPr b="0" lang="ko-KR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외삽 되나</a:t>
            </a:r>
            <a:r>
              <a:rPr b="0" lang="en-US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?” → </a:t>
            </a:r>
            <a:r>
              <a:rPr b="1" lang="ko-KR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가정</a:t>
            </a:r>
            <a:r>
              <a:rPr b="0" lang="en-US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 맞음 </a:t>
            </a:r>
            <a:r>
              <a:rPr b="0" lang="en-US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밖 </a:t>
            </a:r>
            <a:r>
              <a:rPr b="1" lang="en-US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holdout</a:t>
            </a:r>
            <a:r>
              <a:rPr b="0" lang="en-US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 </a:t>
            </a:r>
            <a:r>
              <a:rPr b="0" lang="ko-KR" sz="12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시험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586" name="Rounded Rectangle 8"/>
          <p:cNvSpPr/>
          <p:nvPr/>
        </p:nvSpPr>
        <p:spPr>
          <a:xfrm>
            <a:off x="411480" y="1755720"/>
            <a:ext cx="2761200" cy="840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7" name="Rectangle 9"/>
          <p:cNvSpPr/>
          <p:nvPr/>
        </p:nvSpPr>
        <p:spPr>
          <a:xfrm>
            <a:off x="411480" y="1755720"/>
            <a:ext cx="54360" cy="8409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8" name="TextBox 10"/>
          <p:cNvSpPr/>
          <p:nvPr/>
        </p:nvSpPr>
        <p:spPr>
          <a:xfrm>
            <a:off x="612720" y="1883520"/>
            <a:ext cx="24138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①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정의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=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89" name="TextBox 11"/>
          <p:cNvSpPr/>
          <p:nvPr/>
        </p:nvSpPr>
        <p:spPr>
          <a:xfrm>
            <a:off x="3182040" y="2084760"/>
            <a:ext cx="91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›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590" name="Rounded Rectangle 12"/>
          <p:cNvSpPr/>
          <p:nvPr/>
        </p:nvSpPr>
        <p:spPr>
          <a:xfrm>
            <a:off x="0" y="1755720"/>
            <a:ext cx="2761200" cy="840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1" name="Rectangle 13"/>
          <p:cNvSpPr/>
          <p:nvPr/>
        </p:nvSpPr>
        <p:spPr>
          <a:xfrm>
            <a:off x="0" y="1755720"/>
            <a:ext cx="54360" cy="84096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2" name="TextBox 14"/>
          <p:cNvSpPr/>
          <p:nvPr/>
        </p:nvSpPr>
        <p:spPr>
          <a:xfrm>
            <a:off x="0" y="1883520"/>
            <a:ext cx="24138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②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실패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데이터만으론 밖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모양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불가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93" name="TextBox 15"/>
          <p:cNvSpPr/>
          <p:nvPr/>
        </p:nvSpPr>
        <p:spPr>
          <a:xfrm>
            <a:off x="0" y="2084760"/>
            <a:ext cx="91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›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594" name="Rounded Rectangle 16"/>
          <p:cNvSpPr/>
          <p:nvPr/>
        </p:nvSpPr>
        <p:spPr>
          <a:xfrm>
            <a:off x="0" y="1755720"/>
            <a:ext cx="2761200" cy="840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5" name="Rectangle 17"/>
          <p:cNvSpPr/>
          <p:nvPr/>
        </p:nvSpPr>
        <p:spPr>
          <a:xfrm>
            <a:off x="0" y="1755720"/>
            <a:ext cx="54360" cy="8409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6" name="TextBox 18"/>
          <p:cNvSpPr/>
          <p:nvPr/>
        </p:nvSpPr>
        <p:spPr>
          <a:xfrm>
            <a:off x="0" y="1883520"/>
            <a:ext cx="24138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③ </a:t>
            </a: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대응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 — 식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방향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·UQ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597" name="TextBox 19"/>
          <p:cNvSpPr/>
          <p:nvPr/>
        </p:nvSpPr>
        <p:spPr>
          <a:xfrm>
            <a:off x="0" y="2084760"/>
            <a:ext cx="91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›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598" name="Rounded Rectangle 20"/>
          <p:cNvSpPr/>
          <p:nvPr/>
        </p:nvSpPr>
        <p:spPr>
          <a:xfrm>
            <a:off x="0" y="1755720"/>
            <a:ext cx="2761200" cy="840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9" name="Rectangle 21"/>
          <p:cNvSpPr/>
          <p:nvPr/>
        </p:nvSpPr>
        <p:spPr>
          <a:xfrm>
            <a:off x="0" y="1755720"/>
            <a:ext cx="54360" cy="84096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0" name="TextBox 22"/>
          <p:cNvSpPr/>
          <p:nvPr/>
        </p:nvSpPr>
        <p:spPr>
          <a:xfrm>
            <a:off x="0" y="1883520"/>
            <a:ext cx="24138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④ </a:t>
            </a: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검증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시험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601" name="TextBox 23"/>
          <p:cNvSpPr/>
          <p:nvPr/>
        </p:nvSpPr>
        <p:spPr>
          <a:xfrm>
            <a:off x="411480" y="276156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필독 </a:t>
            </a: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편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602" name="Rounded Rectangle 24"/>
          <p:cNvSpPr/>
          <p:nvPr/>
        </p:nvSpPr>
        <p:spPr>
          <a:xfrm>
            <a:off x="411480" y="2999160"/>
            <a:ext cx="3684600" cy="1078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3" name="Rectangle 25"/>
          <p:cNvSpPr/>
          <p:nvPr/>
        </p:nvSpPr>
        <p:spPr>
          <a:xfrm>
            <a:off x="411480" y="2999160"/>
            <a:ext cx="54360" cy="1078560"/>
          </a:xfrm>
          <a:prstGeom prst="rect">
            <a:avLst/>
          </a:prstGeom>
          <a:solidFill>
            <a:srgbClr val="e89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4" name="TextBox 26"/>
          <p:cNvSpPr/>
          <p:nvPr/>
        </p:nvSpPr>
        <p:spPr>
          <a:xfrm>
            <a:off x="612720" y="3127320"/>
            <a:ext cx="33372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진단 </a:t>
            </a:r>
            <a:r>
              <a:rPr b="1" lang="en-US" sz="12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· Xu 2021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ReLU·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직선화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605" name="Rounded Rectangle 27">
            <a:hlinkClick r:id="rId1"/>
          </p:cNvPr>
          <p:cNvSpPr/>
          <p:nvPr/>
        </p:nvSpPr>
        <p:spPr>
          <a:xfrm>
            <a:off x="1833480" y="3749040"/>
            <a:ext cx="840960" cy="2556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06" name="Rounded Rectangle 28"/>
          <p:cNvSpPr/>
          <p:nvPr/>
        </p:nvSpPr>
        <p:spPr>
          <a:xfrm>
            <a:off x="0" y="2999160"/>
            <a:ext cx="3684600" cy="1078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7" name="Rectangle 29"/>
          <p:cNvSpPr/>
          <p:nvPr/>
        </p:nvSpPr>
        <p:spPr>
          <a:xfrm>
            <a:off x="0" y="2999160"/>
            <a:ext cx="54360" cy="10785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8" name="TextBox 30"/>
          <p:cNvSpPr/>
          <p:nvPr/>
        </p:nvSpPr>
        <p:spPr>
          <a:xfrm>
            <a:off x="0" y="3127320"/>
            <a:ext cx="33372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처방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Runje 2023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CMNN·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방향 가정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609" name="Rounded Rectangle 31">
            <a:hlinkClick r:id="rId2"/>
          </p:cNvPr>
          <p:cNvSpPr/>
          <p:nvPr/>
        </p:nvSpPr>
        <p:spPr>
          <a:xfrm>
            <a:off x="0" y="3749040"/>
            <a:ext cx="840960" cy="2556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10" name="Rounded Rectangle 32"/>
          <p:cNvSpPr/>
          <p:nvPr/>
        </p:nvSpPr>
        <p:spPr>
          <a:xfrm>
            <a:off x="0" y="2999160"/>
            <a:ext cx="3684600" cy="1078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1" name="Rectangle 33"/>
          <p:cNvSpPr/>
          <p:nvPr/>
        </p:nvSpPr>
        <p:spPr>
          <a:xfrm>
            <a:off x="0" y="2999160"/>
            <a:ext cx="54360" cy="107856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2" name="TextBox 34"/>
          <p:cNvSpPr/>
          <p:nvPr/>
        </p:nvSpPr>
        <p:spPr>
          <a:xfrm>
            <a:off x="0" y="3127320"/>
            <a:ext cx="33372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검증 </a:t>
            </a:r>
            <a:r>
              <a:rPr b="1" lang="en-US" sz="12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· Bartley 2019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b="0" lang="en-US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hull·</a:t>
            </a:r>
            <a:r>
              <a:rPr b="0" lang="ko-KR" sz="1100" spc="-1" strike="noStrike">
                <a:solidFill>
                  <a:srgbClr val="a0adbc"/>
                </a:solidFill>
                <a:latin typeface="Apple SD Gothic Neo"/>
                <a:ea typeface="Apple SD Gothic Neo"/>
              </a:rPr>
              <a:t>밖 판정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613" name="Rounded Rectangle 35">
            <a:hlinkClick r:id="rId3"/>
          </p:cNvPr>
          <p:cNvSpPr/>
          <p:nvPr/>
        </p:nvSpPr>
        <p:spPr>
          <a:xfrm>
            <a:off x="0" y="3749040"/>
            <a:ext cx="840960" cy="2556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14" name="TextBox 36"/>
          <p:cNvSpPr/>
          <p:nvPr/>
        </p:nvSpPr>
        <p:spPr>
          <a:xfrm>
            <a:off x="3371040" y="6473880"/>
            <a:ext cx="3315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615" name="TextBox 37"/>
          <p:cNvSpPr/>
          <p:nvPr/>
        </p:nvSpPr>
        <p:spPr>
          <a:xfrm>
            <a:off x="10954440" y="6473880"/>
            <a:ext cx="5850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25 / 31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616" name="Rounded Rectangle 38"/>
          <p:cNvSpPr/>
          <p:nvPr/>
        </p:nvSpPr>
        <p:spPr>
          <a:xfrm>
            <a:off x="365760" y="5779080"/>
            <a:ext cx="11429640" cy="475200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>
            <a:solidFill>
              <a:srgbClr val="2c3848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7" name="Rectangle 39"/>
          <p:cNvSpPr/>
          <p:nvPr/>
        </p:nvSpPr>
        <p:spPr>
          <a:xfrm>
            <a:off x="365760" y="5779080"/>
            <a:ext cx="63720" cy="47520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8" name="TextBox 40"/>
          <p:cNvSpPr/>
          <p:nvPr/>
        </p:nvSpPr>
        <p:spPr>
          <a:xfrm>
            <a:off x="567000" y="5824800"/>
            <a:ext cx="110638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가정 맞추기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밖에서 시험 </a:t>
            </a:r>
            <a:r>
              <a:rPr b="1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UQ/</a:t>
            </a:r>
            <a:r>
              <a:rPr b="1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기권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1000" spc="-1" strike="noStrike">
                <a:solidFill>
                  <a:srgbClr val="b8c4d0"/>
                </a:solidFill>
                <a:latin typeface="Apple SD Gothic Neo"/>
                <a:ea typeface="Apple SD Gothic Neo"/>
              </a:rPr>
              <a:t>Xu · Runje · Bartley</a:t>
            </a:r>
            <a:endParaRPr b="0" lang="en-US" sz="1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0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1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Q&amp;A 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참고문헌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622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회귀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extrap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본문 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분류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DG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는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INDEX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623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4" name="Rounded Rectangle 6">
            <a:hlinkClick r:id="rId1"/>
          </p:cNvPr>
          <p:cNvSpPr/>
          <p:nvPr/>
        </p:nvSpPr>
        <p:spPr>
          <a:xfrm>
            <a:off x="411480" y="1325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25" name="TextBox 7"/>
          <p:cNvSpPr/>
          <p:nvPr/>
        </p:nvSpPr>
        <p:spPr>
          <a:xfrm>
            <a:off x="1874520" y="1380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26" name="Rounded Rectangle 8">
            <a:hlinkClick r:id="rId2"/>
          </p:cNvPr>
          <p:cNvSpPr/>
          <p:nvPr/>
        </p:nvSpPr>
        <p:spPr>
          <a:xfrm>
            <a:off x="411480" y="1892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27" name="TextBox 9"/>
          <p:cNvSpPr/>
          <p:nvPr/>
        </p:nvSpPr>
        <p:spPr>
          <a:xfrm>
            <a:off x="1874520" y="1947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함수 못 정함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(2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28" name="Rounded Rectangle 10">
            <a:hlinkClick r:id="rId3"/>
          </p:cNvPr>
          <p:cNvSpPr/>
          <p:nvPr/>
        </p:nvSpPr>
        <p:spPr>
          <a:xfrm>
            <a:off x="411480" y="2459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29" name="TextBox 11"/>
          <p:cNvSpPr/>
          <p:nvPr/>
        </p:nvSpPr>
        <p:spPr>
          <a:xfrm>
            <a:off x="1874520" y="2514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고차원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 범위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(1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·2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30" name="Rounded Rectangle 12">
            <a:hlinkClick r:id="rId4"/>
          </p:cNvPr>
          <p:cNvSpPr/>
          <p:nvPr/>
        </p:nvSpPr>
        <p:spPr>
          <a:xfrm>
            <a:off x="411480" y="3026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31" name="TextBox 13"/>
          <p:cNvSpPr/>
          <p:nvPr/>
        </p:nvSpPr>
        <p:spPr>
          <a:xfrm>
            <a:off x="1874520" y="3081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32" name="Rounded Rectangle 14">
            <a:hlinkClick r:id="rId5"/>
          </p:cNvPr>
          <p:cNvSpPr/>
          <p:nvPr/>
        </p:nvSpPr>
        <p:spPr>
          <a:xfrm>
            <a:off x="411480" y="3593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33" name="TextBox 15"/>
          <p:cNvSpPr/>
          <p:nvPr/>
        </p:nvSpPr>
        <p:spPr>
          <a:xfrm>
            <a:off x="1874520" y="3648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34" name="Rounded Rectangle 16">
            <a:hlinkClick r:id="rId6"/>
          </p:cNvPr>
          <p:cNvSpPr/>
          <p:nvPr/>
        </p:nvSpPr>
        <p:spPr>
          <a:xfrm>
            <a:off x="411480" y="4160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35" name="TextBox 17"/>
          <p:cNvSpPr/>
          <p:nvPr/>
        </p:nvSpPr>
        <p:spPr>
          <a:xfrm>
            <a:off x="1874520" y="421524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36" name="Rounded Rectangle 18">
            <a:hlinkClick r:id="rId7"/>
          </p:cNvPr>
          <p:cNvSpPr/>
          <p:nvPr/>
        </p:nvSpPr>
        <p:spPr>
          <a:xfrm>
            <a:off x="6172200" y="1325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37" name="TextBox 19"/>
          <p:cNvSpPr/>
          <p:nvPr/>
        </p:nvSpPr>
        <p:spPr>
          <a:xfrm>
            <a:off x="7635240" y="1380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38" name="Rounded Rectangle 20">
            <a:hlinkClick r:id="rId8"/>
          </p:cNvPr>
          <p:cNvSpPr/>
          <p:nvPr/>
        </p:nvSpPr>
        <p:spPr>
          <a:xfrm>
            <a:off x="6172200" y="1892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39" name="TextBox 21"/>
          <p:cNvSpPr/>
          <p:nvPr/>
        </p:nvSpPr>
        <p:spPr>
          <a:xfrm>
            <a:off x="7635240" y="1947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40" name="Rounded Rectangle 22">
            <a:hlinkClick r:id="rId9"/>
          </p:cNvPr>
          <p:cNvSpPr/>
          <p:nvPr/>
        </p:nvSpPr>
        <p:spPr>
          <a:xfrm>
            <a:off x="6172200" y="2459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41" name="TextBox 23"/>
          <p:cNvSpPr/>
          <p:nvPr/>
        </p:nvSpPr>
        <p:spPr>
          <a:xfrm>
            <a:off x="7635240" y="2514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부록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42" name="Rounded Rectangle 24">
            <a:hlinkClick r:id="rId10"/>
          </p:cNvPr>
          <p:cNvSpPr/>
          <p:nvPr/>
        </p:nvSpPr>
        <p:spPr>
          <a:xfrm>
            <a:off x="6172200" y="3026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43" name="TextBox 25"/>
          <p:cNvSpPr/>
          <p:nvPr/>
        </p:nvSpPr>
        <p:spPr>
          <a:xfrm>
            <a:off x="7635240" y="3081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반례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44" name="Rounded Rectangle 26">
            <a:hlinkClick r:id="rId11"/>
          </p:cNvPr>
          <p:cNvSpPr/>
          <p:nvPr/>
        </p:nvSpPr>
        <p:spPr>
          <a:xfrm>
            <a:off x="6172200" y="3593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45" name="TextBox 27"/>
          <p:cNvSpPr/>
          <p:nvPr/>
        </p:nvSpPr>
        <p:spPr>
          <a:xfrm>
            <a:off x="7635240" y="3648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46" name="Rounded Rectangle 28">
            <a:hlinkClick r:id="rId12"/>
          </p:cNvPr>
          <p:cNvSpPr/>
          <p:nvPr/>
        </p:nvSpPr>
        <p:spPr>
          <a:xfrm>
            <a:off x="6172200" y="4160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47" name="TextBox 29"/>
          <p:cNvSpPr/>
          <p:nvPr/>
        </p:nvSpPr>
        <p:spPr>
          <a:xfrm>
            <a:off x="7635240" y="421524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Zhu 2022 —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기권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48" name="Rounded Rectangle 30">
            <a:hlinkClick r:id="rId13"/>
          </p:cNvPr>
          <p:cNvSpPr/>
          <p:nvPr/>
        </p:nvSpPr>
        <p:spPr>
          <a:xfrm>
            <a:off x="6172200" y="4727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49" name="TextBox 31"/>
          <p:cNvSpPr/>
          <p:nvPr/>
        </p:nvSpPr>
        <p:spPr>
          <a:xfrm>
            <a:off x="7635240" y="478224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학습노트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PDF (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전체 정리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50" name="TextBox 32"/>
          <p:cNvSpPr/>
          <p:nvPr/>
        </p:nvSpPr>
        <p:spPr>
          <a:xfrm>
            <a:off x="3334320" y="6473880"/>
            <a:ext cx="3388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651" name="TextBox 33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  <a:endParaRPr b="0" lang="en-US" sz="9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3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4" name="TextBox 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Q&amp;A · </a:t>
            </a: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참고문헌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655" name="TextBox 4"/>
          <p:cNvSpPr/>
          <p:nvPr/>
        </p:nvSpPr>
        <p:spPr>
          <a:xfrm>
            <a:off x="384120" y="475560"/>
            <a:ext cx="1097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회귀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extrap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본문 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 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분류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DG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는 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INDEX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656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7" name="Rounded Rectangle 6">
            <a:hlinkClick r:id="rId1"/>
          </p:cNvPr>
          <p:cNvSpPr/>
          <p:nvPr/>
        </p:nvSpPr>
        <p:spPr>
          <a:xfrm>
            <a:off x="411480" y="1325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58" name="TextBox 7"/>
          <p:cNvSpPr/>
          <p:nvPr/>
        </p:nvSpPr>
        <p:spPr>
          <a:xfrm>
            <a:off x="1874520" y="1380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59" name="Rounded Rectangle 8">
            <a:hlinkClick r:id="rId2"/>
          </p:cNvPr>
          <p:cNvSpPr/>
          <p:nvPr/>
        </p:nvSpPr>
        <p:spPr>
          <a:xfrm>
            <a:off x="411480" y="1892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60" name="TextBox 9"/>
          <p:cNvSpPr/>
          <p:nvPr/>
        </p:nvSpPr>
        <p:spPr>
          <a:xfrm>
            <a:off x="1874520" y="1947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함수 못 정함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(2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61" name="Rounded Rectangle 10">
            <a:hlinkClick r:id="rId3"/>
          </p:cNvPr>
          <p:cNvSpPr/>
          <p:nvPr/>
        </p:nvSpPr>
        <p:spPr>
          <a:xfrm>
            <a:off x="411480" y="2459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62" name="TextBox 11"/>
          <p:cNvSpPr/>
          <p:nvPr/>
        </p:nvSpPr>
        <p:spPr>
          <a:xfrm>
            <a:off x="1874520" y="2514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고차원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훈련 범위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(1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·2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63" name="Rounded Rectangle 12">
            <a:hlinkClick r:id="rId4"/>
          </p:cNvPr>
          <p:cNvSpPr/>
          <p:nvPr/>
        </p:nvSpPr>
        <p:spPr>
          <a:xfrm>
            <a:off x="411480" y="3026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64" name="TextBox 13"/>
          <p:cNvSpPr/>
          <p:nvPr/>
        </p:nvSpPr>
        <p:spPr>
          <a:xfrm>
            <a:off x="1874520" y="3081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65" name="Rounded Rectangle 14">
            <a:hlinkClick r:id="rId5"/>
          </p:cNvPr>
          <p:cNvSpPr/>
          <p:nvPr/>
        </p:nvSpPr>
        <p:spPr>
          <a:xfrm>
            <a:off x="411480" y="3593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66" name="TextBox 15"/>
          <p:cNvSpPr/>
          <p:nvPr/>
        </p:nvSpPr>
        <p:spPr>
          <a:xfrm>
            <a:off x="1874520" y="364860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67" name="Rounded Rectangle 16">
            <a:hlinkClick r:id="rId6"/>
          </p:cNvPr>
          <p:cNvSpPr/>
          <p:nvPr/>
        </p:nvSpPr>
        <p:spPr>
          <a:xfrm>
            <a:off x="411480" y="4160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68" name="TextBox 17"/>
          <p:cNvSpPr/>
          <p:nvPr/>
        </p:nvSpPr>
        <p:spPr>
          <a:xfrm>
            <a:off x="1874520" y="4215240"/>
            <a:ext cx="4022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69" name="Rounded Rectangle 18">
            <a:hlinkClick r:id="rId7"/>
          </p:cNvPr>
          <p:cNvSpPr/>
          <p:nvPr/>
        </p:nvSpPr>
        <p:spPr>
          <a:xfrm>
            <a:off x="6172200" y="1325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70" name="TextBox 19"/>
          <p:cNvSpPr/>
          <p:nvPr/>
        </p:nvSpPr>
        <p:spPr>
          <a:xfrm>
            <a:off x="7635240" y="1380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71" name="Rounded Rectangle 20">
            <a:hlinkClick r:id="rId8"/>
          </p:cNvPr>
          <p:cNvSpPr/>
          <p:nvPr/>
        </p:nvSpPr>
        <p:spPr>
          <a:xfrm>
            <a:off x="6172200" y="1892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72" name="TextBox 21"/>
          <p:cNvSpPr/>
          <p:nvPr/>
        </p:nvSpPr>
        <p:spPr>
          <a:xfrm>
            <a:off x="7635240" y="1947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73" name="Rounded Rectangle 22">
            <a:hlinkClick r:id="rId9"/>
          </p:cNvPr>
          <p:cNvSpPr/>
          <p:nvPr/>
        </p:nvSpPr>
        <p:spPr>
          <a:xfrm>
            <a:off x="6172200" y="245988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74" name="TextBox 23"/>
          <p:cNvSpPr/>
          <p:nvPr/>
        </p:nvSpPr>
        <p:spPr>
          <a:xfrm>
            <a:off x="7635240" y="2514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부록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75" name="Rounded Rectangle 24">
            <a:hlinkClick r:id="rId10"/>
          </p:cNvPr>
          <p:cNvSpPr/>
          <p:nvPr/>
        </p:nvSpPr>
        <p:spPr>
          <a:xfrm>
            <a:off x="6172200" y="3026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76" name="TextBox 25"/>
          <p:cNvSpPr/>
          <p:nvPr/>
        </p:nvSpPr>
        <p:spPr>
          <a:xfrm>
            <a:off x="7635240" y="3081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반례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77" name="Rounded Rectangle 26">
            <a:hlinkClick r:id="rId11"/>
          </p:cNvPr>
          <p:cNvSpPr/>
          <p:nvPr/>
        </p:nvSpPr>
        <p:spPr>
          <a:xfrm>
            <a:off x="6172200" y="3593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78" name="TextBox 27"/>
          <p:cNvSpPr/>
          <p:nvPr/>
        </p:nvSpPr>
        <p:spPr>
          <a:xfrm>
            <a:off x="7635240" y="364860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79" name="Rounded Rectangle 28">
            <a:hlinkClick r:id="rId12"/>
          </p:cNvPr>
          <p:cNvSpPr/>
          <p:nvPr/>
        </p:nvSpPr>
        <p:spPr>
          <a:xfrm>
            <a:off x="6172200" y="4160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80" name="TextBox 29"/>
          <p:cNvSpPr/>
          <p:nvPr/>
        </p:nvSpPr>
        <p:spPr>
          <a:xfrm>
            <a:off x="7635240" y="421524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Zhu 2022 — 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기권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(3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부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81" name="Rounded Rectangle 30">
            <a:hlinkClick r:id="rId13"/>
          </p:cNvPr>
          <p:cNvSpPr/>
          <p:nvPr/>
        </p:nvSpPr>
        <p:spPr>
          <a:xfrm>
            <a:off x="6172200" y="4727520"/>
            <a:ext cx="1325160" cy="38340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682" name="TextBox 31"/>
          <p:cNvSpPr/>
          <p:nvPr/>
        </p:nvSpPr>
        <p:spPr>
          <a:xfrm>
            <a:off x="7635240" y="4782240"/>
            <a:ext cx="411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학습노트 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PDF (</a:t>
            </a:r>
            <a:r>
              <a:rPr b="0" lang="ko-KR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전체 정리</a:t>
            </a:r>
            <a:r>
              <a:rPr b="0" lang="en-US" sz="1200" spc="-1" strike="noStrike">
                <a:solidFill>
                  <a:srgbClr val="ecf1f7"/>
                </a:solidFill>
                <a:latin typeface="Apple SD Gothic Neo"/>
                <a:ea typeface="Apple SD Gothic Neo"/>
              </a:rPr>
              <a:t>)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683" name="TextBox 32"/>
          <p:cNvSpPr/>
          <p:nvPr/>
        </p:nvSpPr>
        <p:spPr>
          <a:xfrm>
            <a:off x="3334320" y="6473880"/>
            <a:ext cx="3388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684" name="TextBox 33"/>
          <p:cNvSpPr/>
          <p:nvPr/>
        </p:nvSpPr>
        <p:spPr>
          <a:xfrm>
            <a:off x="10954440" y="6473880"/>
            <a:ext cx="584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  <a:endParaRPr b="0" lang="en-US" sz="9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6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7" name="AutoShape 12"/>
          <p:cNvSpPr/>
          <p:nvPr/>
        </p:nvSpPr>
        <p:spPr>
          <a:xfrm>
            <a:off x="1450800" y="79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8" name="직사각형 74"/>
          <p:cNvSpPr/>
          <p:nvPr/>
        </p:nvSpPr>
        <p:spPr>
          <a:xfrm>
            <a:off x="458280" y="1066680"/>
            <a:ext cx="9812880" cy="22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1. NND</a:t>
            </a:r>
            <a:r>
              <a:rPr b="1" lang="ko-KR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과제 목적 및 구조 설명</a:t>
            </a:r>
            <a:endParaRPr b="0" lang="en-US" sz="160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b="1" lang="en-US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 </a:t>
            </a:r>
            <a:r>
              <a:rPr b="1" lang="ko-KR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목적 </a:t>
            </a:r>
            <a:r>
              <a:rPr b="1" lang="en-US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: NND Dryer </a:t>
            </a:r>
            <a:r>
              <a:rPr b="1" lang="ko-KR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재가동 시 </a:t>
            </a:r>
            <a:r>
              <a:rPr b="1" lang="en-US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OUT Zone </a:t>
            </a:r>
            <a:r>
              <a:rPr b="1" lang="ko-KR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건조로 온도 </a:t>
            </a:r>
            <a:r>
              <a:rPr b="1" lang="en-US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Target </a:t>
            </a:r>
            <a:r>
              <a:rPr b="1" lang="ko-KR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값 도달을 위한 건조 출력 최적화를 통해 목표온도 도달 비율을 높이고자 함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b="1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  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1)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부동 후 재가동시 전극의 표면 온도 관리를 위한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DX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모형 개발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,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타겟시점은 주행 </a:t>
            </a:r>
            <a:r>
              <a:rPr b="0" lang="ko-KR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시작 후 </a:t>
            </a:r>
            <a:r>
              <a:rPr b="0" lang="en-US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20</a:t>
            </a:r>
            <a:r>
              <a:rPr b="0" lang="ko-KR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초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,  OUT Zone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관리 온도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±10°C</a:t>
            </a:r>
            <a:r>
              <a:rPr b="0" lang="en-US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(</a:t>
            </a:r>
            <a:r>
              <a:rPr b="0" lang="ko-KR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경알람</a:t>
            </a:r>
            <a:r>
              <a:rPr b="0" lang="en-US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).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관리온도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+20°C</a:t>
            </a:r>
            <a:r>
              <a:rPr b="0" lang="en-US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(</a:t>
            </a:r>
            <a:r>
              <a:rPr b="0" lang="ko-KR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중알람</a:t>
            </a:r>
            <a:r>
              <a:rPr b="0" lang="en-US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, PD </a:t>
            </a:r>
            <a:r>
              <a:rPr b="0" lang="ko-KR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발생</a:t>
            </a:r>
            <a:r>
              <a:rPr b="0" lang="en-US" sz="8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)</a:t>
            </a:r>
            <a:endParaRPr b="0" lang="en-US" sz="80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b="1" lang="en-US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   </a:t>
            </a:r>
            <a:r>
              <a:rPr b="1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2)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기존에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PLC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로직 사용 시 타겟 온도 및 타겟시간 변경 시 매번 새로운 조건을 찾아야함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(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약 한달 소요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b="0" lang="en-US" sz="120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b="0" lang="en-US" sz="120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b="0" lang="en-US" sz="1200" spc="-1" strike="noStrike">
              <a:latin typeface="Noto Sans CJK KR"/>
            </a:endParaRPr>
          </a:p>
        </p:txBody>
      </p:sp>
      <p:sp>
        <p:nvSpPr>
          <p:cNvPr id="689" name="직선 연결선 113"/>
          <p:cNvSpPr/>
          <p:nvPr/>
        </p:nvSpPr>
        <p:spPr>
          <a:xfrm>
            <a:off x="550080" y="2333160"/>
            <a:ext cx="9445680" cy="360"/>
          </a:xfrm>
          <a:prstGeom prst="line">
            <a:avLst/>
          </a:prstGeom>
          <a:ln>
            <a:solidFill>
              <a:srgbClr val="80808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690" name="그룹 3"/>
          <p:cNvGrpSpPr/>
          <p:nvPr/>
        </p:nvGrpSpPr>
        <p:grpSpPr>
          <a:xfrm>
            <a:off x="601200" y="2637000"/>
            <a:ext cx="4519080" cy="3625560"/>
            <a:chOff x="601200" y="2637000"/>
            <a:chExt cx="4519080" cy="3625560"/>
          </a:xfrm>
        </p:grpSpPr>
        <p:grpSp>
          <p:nvGrpSpPr>
            <p:cNvPr id="691" name="그룹 168"/>
            <p:cNvGrpSpPr/>
            <p:nvPr/>
          </p:nvGrpSpPr>
          <p:grpSpPr>
            <a:xfrm>
              <a:off x="1618200" y="2895840"/>
              <a:ext cx="3502080" cy="3366720"/>
              <a:chOff x="1618200" y="2895840"/>
              <a:chExt cx="3502080" cy="3366720"/>
            </a:xfrm>
          </p:grpSpPr>
          <p:pic>
            <p:nvPicPr>
              <p:cNvPr id="692" name="그림 169" descr=""/>
              <p:cNvPicPr/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1618200" y="3018960"/>
                <a:ext cx="3472560" cy="3243600"/>
              </a:xfrm>
              <a:prstGeom prst="rect">
                <a:avLst/>
              </a:prstGeom>
              <a:ln w="0">
                <a:noFill/>
              </a:ln>
              <a:effectLst>
                <a:outerShdw algn="ctr" blurRad="50760" dir="5400000" dist="50760" rotWithShape="0">
                  <a:srgbClr val="000000">
                    <a:alpha val="0"/>
                  </a:srgbClr>
                </a:outerShdw>
              </a:effectLst>
            </p:spPr>
          </p:pic>
          <p:sp>
            <p:nvSpPr>
              <p:cNvPr id="693" name="직선 화살표 연결선 170"/>
              <p:cNvSpPr/>
              <p:nvPr/>
            </p:nvSpPr>
            <p:spPr>
              <a:xfrm>
                <a:off x="1736640" y="5585760"/>
                <a:ext cx="84636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57150">
                <a:solidFill>
                  <a:srgbClr val="64748b"/>
                </a:solidFill>
                <a:round/>
                <a:tailEnd len="med" type="triangle" w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4" name="직선 화살표 연결선 171"/>
              <p:cNvSpPr/>
              <p:nvPr/>
            </p:nvSpPr>
            <p:spPr>
              <a:xfrm flipH="1" flipV="1">
                <a:off x="2588040" y="3848040"/>
                <a:ext cx="360" cy="1737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57150">
                <a:solidFill>
                  <a:srgbClr val="64748b"/>
                </a:solidFill>
                <a:round/>
                <a:tailEnd len="med" type="triangle" w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5" name="직선 화살표 연결선 172"/>
              <p:cNvSpPr/>
              <p:nvPr/>
            </p:nvSpPr>
            <p:spPr>
              <a:xfrm>
                <a:off x="2589480" y="3859920"/>
                <a:ext cx="154080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57150">
                <a:solidFill>
                  <a:srgbClr val="64748b"/>
                </a:solidFill>
                <a:round/>
                <a:tailEnd len="med" type="triangle" w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6" name="직선 화살표 연결선 173"/>
              <p:cNvSpPr/>
              <p:nvPr/>
            </p:nvSpPr>
            <p:spPr>
              <a:xfrm flipH="1">
                <a:off x="4133160" y="3872880"/>
                <a:ext cx="360" cy="1737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57150">
                <a:solidFill>
                  <a:srgbClr val="64748b"/>
                </a:solidFill>
                <a:round/>
                <a:tailEnd len="med" type="triangle" w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7" name="직선 화살표 연결선 174"/>
              <p:cNvSpPr/>
              <p:nvPr/>
            </p:nvSpPr>
            <p:spPr>
              <a:xfrm>
                <a:off x="4134600" y="5602320"/>
                <a:ext cx="84636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57150">
                <a:solidFill>
                  <a:srgbClr val="64748b"/>
                </a:solidFill>
                <a:round/>
                <a:tailEnd len="med" type="triangle" w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8" name="직사각형 175"/>
              <p:cNvSpPr/>
              <p:nvPr/>
            </p:nvSpPr>
            <p:spPr>
              <a:xfrm>
                <a:off x="2278800" y="4091400"/>
                <a:ext cx="473760" cy="1297080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9" name="직사각형 176"/>
              <p:cNvSpPr/>
              <p:nvPr/>
            </p:nvSpPr>
            <p:spPr>
              <a:xfrm>
                <a:off x="3973320" y="4077720"/>
                <a:ext cx="439920" cy="1297080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0" name="직사각형 177"/>
              <p:cNvSpPr/>
              <p:nvPr/>
            </p:nvSpPr>
            <p:spPr>
              <a:xfrm>
                <a:off x="2855160" y="3453840"/>
                <a:ext cx="1015920" cy="6231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ko-KR" sz="1200" spc="-1" strike="noStrike">
                    <a:solidFill>
                      <a:srgbClr val="e2e8f0"/>
                    </a:solidFill>
                    <a:latin typeface="Arial Narrow"/>
                    <a:ea typeface="LG스마트체 Regular"/>
                  </a:rPr>
                  <a:t>미사용</a:t>
                </a:r>
                <a:endParaRPr b="0" lang="en-US" sz="1200" spc="-1" strike="noStrike">
                  <a:latin typeface="Noto Sans CJK KR"/>
                </a:endParaRPr>
              </a:p>
            </p:txBody>
          </p:sp>
          <p:sp>
            <p:nvSpPr>
              <p:cNvPr id="701" name="타원 178"/>
              <p:cNvSpPr/>
              <p:nvPr/>
            </p:nvSpPr>
            <p:spPr>
              <a:xfrm rot="-11063400">
                <a:off x="3926880" y="3768120"/>
                <a:ext cx="50040" cy="6876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  <a:round/>
              </a:ln>
              <a:scene3d>
                <a:camera prst="orthographicFront">
                  <a:rot lat="19200000" lon="21000000" rev="600000"/>
                </a:camera>
                <a:lightRig dir="t" rig="brightRoom"/>
              </a:scene3d>
              <a:sp3d extrusionH="127000" prstMaterial="metal">
                <a:bevelT prst="slope" w="38100" h="63500"/>
                <a:bevelB prst="artDeco" w="63500" h="127000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2" name="타원 179"/>
              <p:cNvSpPr/>
              <p:nvPr/>
            </p:nvSpPr>
            <p:spPr>
              <a:xfrm rot="-263400">
                <a:off x="3925800" y="3890160"/>
                <a:ext cx="50040" cy="6876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  <a:round/>
              </a:ln>
              <a:scene3d>
                <a:camera prst="orthographicFront">
                  <a:rot lat="19200000" lon="21000000" rev="600000"/>
                </a:camera>
                <a:lightRig dir="t" rig="brightRoom"/>
              </a:scene3d>
              <a:sp3d extrusionH="127000" prstMaterial="metal">
                <a:bevelT prst="slope" w="38100" h="63500"/>
                <a:bevelB prst="artDeco" w="63500" h="127000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3" name="타원 180"/>
              <p:cNvSpPr/>
              <p:nvPr/>
            </p:nvSpPr>
            <p:spPr>
              <a:xfrm rot="-5663400">
                <a:off x="4148280" y="5430600"/>
                <a:ext cx="68760" cy="5004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  <a:round/>
              </a:ln>
              <a:scene3d>
                <a:camera prst="orthographicFront">
                  <a:rot lat="19200000" lon="21000000" rev="600000"/>
                </a:camera>
                <a:lightRig dir="t" rig="brightRoom"/>
              </a:scene3d>
              <a:sp3d extrusionH="127000" prstMaterial="metal">
                <a:bevelT prst="slope" w="38100" h="63500"/>
                <a:bevelB prst="artDeco" w="63500" h="127000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4" name="타원 181"/>
              <p:cNvSpPr/>
              <p:nvPr/>
            </p:nvSpPr>
            <p:spPr>
              <a:xfrm rot="-16463400">
                <a:off x="4047120" y="5430240"/>
                <a:ext cx="68760" cy="5004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  <a:round/>
              </a:ln>
              <a:scene3d>
                <a:camera prst="orthographicFront">
                  <a:rot lat="19200000" lon="21000000" rev="600000"/>
                </a:camera>
                <a:lightRig dir="t" rig="brightRoom"/>
              </a:scene3d>
              <a:sp3d extrusionH="127000" prstMaterial="metal">
                <a:bevelT prst="slope" w="38100" h="63500"/>
                <a:bevelB prst="artDeco" w="63500" h="127000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5" name="타원 182"/>
              <p:cNvSpPr/>
              <p:nvPr/>
            </p:nvSpPr>
            <p:spPr>
              <a:xfrm rot="-5663400">
                <a:off x="2605680" y="3991320"/>
                <a:ext cx="68760" cy="5004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  <a:round/>
              </a:ln>
              <a:scene3d>
                <a:camera prst="orthographicFront">
                  <a:rot lat="19200000" lon="21000000" rev="600000"/>
                </a:camera>
                <a:lightRig dir="t" rig="brightRoom"/>
              </a:scene3d>
              <a:sp3d extrusionH="127000" prstMaterial="metal">
                <a:bevelT prst="slope" w="38100" h="63500"/>
                <a:bevelB prst="artDeco" w="63500" h="127000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6" name="타원 183"/>
              <p:cNvSpPr/>
              <p:nvPr/>
            </p:nvSpPr>
            <p:spPr>
              <a:xfrm rot="-16463400">
                <a:off x="2508840" y="3993480"/>
                <a:ext cx="68760" cy="5004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  <a:round/>
              </a:ln>
              <a:scene3d>
                <a:camera prst="orthographicFront">
                  <a:rot lat="19200000" lon="21000000" rev="600000"/>
                </a:camera>
                <a:lightRig dir="t" rig="brightRoom"/>
              </a:scene3d>
              <a:sp3d extrusionH="127000" prstMaterial="metal">
                <a:bevelT prst="slope" w="38100" h="63500"/>
                <a:bevelB prst="artDeco" w="63500" h="127000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7" name="직사각형 184"/>
              <p:cNvSpPr/>
              <p:nvPr/>
            </p:nvSpPr>
            <p:spPr>
              <a:xfrm>
                <a:off x="2845080" y="4983480"/>
                <a:ext cx="561240" cy="4597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en-US" sz="800" spc="-1" strike="noStrike">
                    <a:solidFill>
                      <a:srgbClr val="000000"/>
                    </a:solidFill>
                    <a:latin typeface="Arial Narrow"/>
                    <a:ea typeface="LG스마트체 Regular"/>
                  </a:rPr>
                  <a:t>IN</a:t>
                </a:r>
                <a:endParaRPr b="0" lang="en-US" sz="800" spc="-1" strike="noStrike">
                  <a:latin typeface="Noto Sans CJK KR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1" lang="en-US" sz="800" spc="-1" strike="noStrike">
                    <a:solidFill>
                      <a:srgbClr val="000000"/>
                    </a:solidFill>
                    <a:latin typeface="Arial Narrow"/>
                    <a:ea typeface="LG스마트체 Regular"/>
                  </a:rPr>
                  <a:t>Zone</a:t>
                </a:r>
                <a:endParaRPr b="0" lang="en-US" sz="800" spc="-1" strike="noStrike">
                  <a:latin typeface="Noto Sans CJK KR"/>
                </a:endParaRPr>
              </a:p>
            </p:txBody>
          </p:sp>
          <p:sp>
            <p:nvSpPr>
              <p:cNvPr id="708" name="직사각형 185"/>
              <p:cNvSpPr/>
              <p:nvPr/>
            </p:nvSpPr>
            <p:spPr>
              <a:xfrm>
                <a:off x="3074040" y="2895840"/>
                <a:ext cx="561240" cy="4597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en-US" sz="800" spc="-1" strike="noStrike">
                    <a:solidFill>
                      <a:srgbClr val="000000"/>
                    </a:solidFill>
                    <a:latin typeface="Arial Narrow"/>
                    <a:ea typeface="LG스마트체 Regular"/>
                  </a:rPr>
                  <a:t>MID</a:t>
                </a:r>
                <a:endParaRPr b="0" lang="en-US" sz="800" spc="-1" strike="noStrike">
                  <a:latin typeface="Noto Sans CJK KR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1" lang="en-US" sz="800" spc="-1" strike="noStrike">
                    <a:solidFill>
                      <a:srgbClr val="000000"/>
                    </a:solidFill>
                    <a:latin typeface="Arial Narrow"/>
                    <a:ea typeface="LG스마트체 Regular"/>
                  </a:rPr>
                  <a:t>Zone</a:t>
                </a:r>
                <a:endParaRPr b="0" lang="en-US" sz="800" spc="-1" strike="noStrike">
                  <a:latin typeface="Noto Sans CJK KR"/>
                </a:endParaRPr>
              </a:p>
            </p:txBody>
          </p:sp>
          <p:sp>
            <p:nvSpPr>
              <p:cNvPr id="709" name="직사각형 186"/>
              <p:cNvSpPr/>
              <p:nvPr/>
            </p:nvSpPr>
            <p:spPr>
              <a:xfrm>
                <a:off x="4559040" y="4983480"/>
                <a:ext cx="561240" cy="4597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en-US" sz="800" spc="-1" strike="noStrike">
                    <a:solidFill>
                      <a:srgbClr val="e2e8f0"/>
                    </a:solidFill>
                    <a:latin typeface="Arial Narrow"/>
                    <a:ea typeface="LG스마트체 Regular"/>
                  </a:rPr>
                  <a:t>OUT</a:t>
                </a:r>
                <a:endParaRPr b="0" lang="en-US" sz="800" spc="-1" strike="noStrike">
                  <a:latin typeface="Noto Sans CJK KR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b="1" lang="en-US" sz="800" spc="-1" strike="noStrike">
                    <a:solidFill>
                      <a:srgbClr val="e2e8f0"/>
                    </a:solidFill>
                    <a:latin typeface="Arial Narrow"/>
                    <a:ea typeface="LG스마트체 Regular"/>
                  </a:rPr>
                  <a:t>Zone</a:t>
                </a:r>
                <a:endParaRPr b="0" lang="en-US" sz="800" spc="-1" strike="noStrike">
                  <a:latin typeface="Noto Sans CJK KR"/>
                </a:endParaRPr>
              </a:p>
            </p:txBody>
          </p:sp>
        </p:grpSp>
        <p:sp>
          <p:nvSpPr>
            <p:cNvPr id="710" name="직사각형 187"/>
            <p:cNvSpPr/>
            <p:nvPr/>
          </p:nvSpPr>
          <p:spPr>
            <a:xfrm>
              <a:off x="601200" y="5239440"/>
              <a:ext cx="1295640" cy="626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ko-KR" sz="1000" spc="-1" strike="noStrike">
                  <a:solidFill>
                    <a:srgbClr val="e2e8f0"/>
                  </a:solidFill>
                  <a:latin typeface="Arial Narrow"/>
                  <a:ea typeface="LG스마트체 Regular"/>
                </a:rPr>
                <a:t>전극 진행 방향</a:t>
              </a:r>
              <a:endParaRPr b="0" lang="en-US" sz="1000" spc="-1" strike="noStrike">
                <a:latin typeface="Noto Sans CJK KR"/>
              </a:endParaRPr>
            </a:p>
          </p:txBody>
        </p:sp>
        <p:sp>
          <p:nvSpPr>
            <p:cNvPr id="711" name="직선 연결선 188"/>
            <p:cNvSpPr/>
            <p:nvPr/>
          </p:nvSpPr>
          <p:spPr>
            <a:xfrm flipH="1" flipV="1">
              <a:off x="1715760" y="4053960"/>
              <a:ext cx="547560" cy="350640"/>
            </a:xfrm>
            <a:prstGeom prst="line">
              <a:avLst/>
            </a:prstGeom>
            <a:ln>
              <a:solidFill>
                <a:srgbClr val="ff0000"/>
              </a:solidFill>
              <a:round/>
              <a:head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2" name="직사각형 189"/>
            <p:cNvSpPr/>
            <p:nvPr/>
          </p:nvSpPr>
          <p:spPr>
            <a:xfrm>
              <a:off x="1017000" y="3574440"/>
              <a:ext cx="811800" cy="6260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900" spc="-1" strike="noStrike">
                  <a:solidFill>
                    <a:srgbClr val="e2e8f0"/>
                  </a:solidFill>
                  <a:latin typeface="Arial Narrow"/>
                  <a:ea typeface="LG스마트체 Regular"/>
                </a:rPr>
                <a:t>IR(</a:t>
              </a:r>
              <a:r>
                <a:rPr b="0" lang="ko-KR" sz="900" spc="-1" strike="noStrike">
                  <a:solidFill>
                    <a:srgbClr val="e2e8f0"/>
                  </a:solidFill>
                  <a:latin typeface="Arial Narrow"/>
                  <a:ea typeface="LG스마트체 Regular"/>
                </a:rPr>
                <a:t>적외선</a:t>
              </a:r>
              <a:r>
                <a:rPr b="0" lang="en-US" sz="900" spc="-1" strike="noStrike">
                  <a:solidFill>
                    <a:srgbClr val="e2e8f0"/>
                  </a:solidFill>
                  <a:latin typeface="Arial Narrow"/>
                  <a:ea typeface="LG스마트체 Regular"/>
                </a:rPr>
                <a:t>) Lamp</a:t>
              </a:r>
              <a:endParaRPr b="0" lang="en-US" sz="900" spc="-1" strike="noStrike">
                <a:latin typeface="Noto Sans CJK KR"/>
              </a:endParaRPr>
            </a:p>
          </p:txBody>
        </p:sp>
        <p:sp>
          <p:nvSpPr>
            <p:cNvPr id="713" name="TextBox 190"/>
            <p:cNvSpPr/>
            <p:nvPr/>
          </p:nvSpPr>
          <p:spPr>
            <a:xfrm>
              <a:off x="2114280" y="2637000"/>
              <a:ext cx="24192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900" spc="-1" strike="noStrike">
                  <a:solidFill>
                    <a:srgbClr val="e2e8f0"/>
                  </a:solidFill>
                  <a:latin typeface="Arial Narrow"/>
                  <a:ea typeface="LG스마트체 Regular"/>
                </a:rPr>
                <a:t>&lt;NND Dryer </a:t>
              </a:r>
              <a:r>
                <a:rPr b="0" lang="ko-KR" sz="900" spc="-1" strike="noStrike">
                  <a:solidFill>
                    <a:srgbClr val="e2e8f0"/>
                  </a:solidFill>
                  <a:latin typeface="Arial Narrow"/>
                  <a:ea typeface="LG스마트체 Regular"/>
                </a:rPr>
                <a:t>설비 구조도</a:t>
              </a:r>
              <a:r>
                <a:rPr b="0" lang="en-US" sz="900" spc="-1" strike="noStrike">
                  <a:solidFill>
                    <a:srgbClr val="e2e8f0"/>
                  </a:solidFill>
                  <a:latin typeface="Arial Narrow"/>
                  <a:ea typeface="LG스마트체 Regular"/>
                </a:rPr>
                <a:t>&gt; </a:t>
              </a:r>
              <a:endParaRPr b="0" lang="en-US" sz="900" spc="-1" strike="noStrike">
                <a:latin typeface="Noto Sans CJK KR"/>
              </a:endParaRPr>
            </a:p>
          </p:txBody>
        </p:sp>
      </p:grpSp>
      <p:sp>
        <p:nvSpPr>
          <p:cNvPr id="714" name="직사각형 194"/>
          <p:cNvSpPr/>
          <p:nvPr/>
        </p:nvSpPr>
        <p:spPr>
          <a:xfrm>
            <a:off x="6046920" y="1987920"/>
            <a:ext cx="31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7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건조로에 외부 전극이 건조로 내부에 투입 후 밖으로 나오는데 소요된 시간</a:t>
            </a:r>
            <a:endParaRPr b="0" lang="en-US" sz="700" spc="-1" strike="noStrike">
              <a:latin typeface="Noto Sans CJK KR"/>
            </a:endParaRPr>
          </a:p>
        </p:txBody>
      </p:sp>
      <p:sp>
        <p:nvSpPr>
          <p:cNvPr id="715" name="TextBox 60"/>
          <p:cNvSpPr/>
          <p:nvPr/>
        </p:nvSpPr>
        <p:spPr>
          <a:xfrm>
            <a:off x="287640" y="498960"/>
            <a:ext cx="758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NND Dryer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전극표면 온도관모형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(physics-informed Model)</a:t>
            </a:r>
            <a:endParaRPr b="0" lang="en-US" sz="2400" spc="-1" strike="noStrike">
              <a:latin typeface="Noto Sans CJK KR"/>
            </a:endParaRPr>
          </a:p>
        </p:txBody>
      </p:sp>
      <p:grpSp>
        <p:nvGrpSpPr>
          <p:cNvPr id="716" name="그룹 9"/>
          <p:cNvGrpSpPr/>
          <p:nvPr/>
        </p:nvGrpSpPr>
        <p:grpSpPr>
          <a:xfrm>
            <a:off x="5692320" y="2745000"/>
            <a:ext cx="4302720" cy="3445560"/>
            <a:chOff x="5692320" y="2745000"/>
            <a:chExt cx="4302720" cy="3445560"/>
          </a:xfrm>
        </p:grpSpPr>
        <p:sp>
          <p:nvSpPr>
            <p:cNvPr id="717" name="직사각형 117"/>
            <p:cNvSpPr/>
            <p:nvPr/>
          </p:nvSpPr>
          <p:spPr>
            <a:xfrm>
              <a:off x="5692320" y="2745000"/>
              <a:ext cx="111024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900" spc="-1" strike="noStrike" u="sng">
                  <a:solidFill>
                    <a:srgbClr val="e2e8f0"/>
                  </a:solidFill>
                  <a:uFillTx/>
                  <a:latin typeface="LG스마트체 Regular"/>
                  <a:ea typeface="LG스마트체 Regular"/>
                </a:rPr>
                <a:t>DX </a:t>
              </a:r>
              <a:r>
                <a:rPr b="0" lang="ko-KR" sz="900" spc="-1" strike="noStrike" u="sng">
                  <a:solidFill>
                    <a:srgbClr val="e2e8f0"/>
                  </a:solidFill>
                  <a:uFillTx/>
                  <a:latin typeface="LG스마트체 Regular"/>
                  <a:ea typeface="LG스마트체 Regular"/>
                </a:rPr>
                <a:t>적용 전 현 수준</a:t>
              </a:r>
              <a:endParaRPr b="0" lang="en-US" sz="900" spc="-1" strike="noStrike">
                <a:latin typeface="Noto Sans CJK KR"/>
              </a:endParaRPr>
            </a:p>
          </p:txBody>
        </p:sp>
        <p:sp>
          <p:nvSpPr>
            <p:cNvPr id="718" name="화살표: 오른쪽 4"/>
            <p:cNvSpPr/>
            <p:nvPr/>
          </p:nvSpPr>
          <p:spPr>
            <a:xfrm>
              <a:off x="8995320" y="4151520"/>
              <a:ext cx="770040" cy="5828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9" name="직사각형 5"/>
            <p:cNvSpPr/>
            <p:nvPr/>
          </p:nvSpPr>
          <p:spPr>
            <a:xfrm>
              <a:off x="8891640" y="4819680"/>
              <a:ext cx="101268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50000"/>
                </a:lnSpc>
                <a:buNone/>
              </a:pPr>
              <a:r>
                <a:rPr b="0" lang="ko-KR" sz="9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전극 이동에 따른 </a:t>
              </a:r>
              <a:endParaRPr b="0" lang="en-US" sz="900" spc="-1" strike="noStrike">
                <a:latin typeface="Noto Sans CJK KR"/>
              </a:endParaRPr>
            </a:p>
            <a:p>
              <a:pPr algn="ctr">
                <a:lnSpc>
                  <a:spcPct val="150000"/>
                </a:lnSpc>
                <a:buNone/>
              </a:pPr>
              <a:r>
                <a:rPr b="0" lang="ko-KR" sz="9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온도 변화</a:t>
              </a:r>
              <a:endParaRPr b="0" lang="en-US" sz="900" spc="-1" strike="noStrike">
                <a:latin typeface="Noto Sans CJK KR"/>
              </a:endParaRPr>
            </a:p>
          </p:txBody>
        </p:sp>
        <p:pic>
          <p:nvPicPr>
            <p:cNvPr id="720" name="그림 2" descr=""/>
            <p:cNvPicPr/>
            <p:nvPr/>
          </p:nvPicPr>
          <p:blipFill>
            <a:blip r:embed="rId3"/>
            <a:stretch/>
          </p:blipFill>
          <p:spPr>
            <a:xfrm>
              <a:off x="5811480" y="3039840"/>
              <a:ext cx="4183560" cy="3150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21" name="TextBox 63"/>
            <p:cNvSpPr/>
            <p:nvPr/>
          </p:nvSpPr>
          <p:spPr>
            <a:xfrm>
              <a:off x="6360840" y="3690360"/>
              <a:ext cx="436320" cy="18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6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100</a:t>
              </a:r>
              <a:endParaRPr b="0" lang="en-US" sz="600" spc="-1" strike="noStrike">
                <a:latin typeface="Noto Sans CJK KR"/>
              </a:endParaRPr>
            </a:p>
          </p:txBody>
        </p:sp>
        <p:sp>
          <p:nvSpPr>
            <p:cNvPr id="722" name="TextBox 65"/>
            <p:cNvSpPr/>
            <p:nvPr/>
          </p:nvSpPr>
          <p:spPr>
            <a:xfrm>
              <a:off x="6360840" y="3403080"/>
              <a:ext cx="1412280" cy="18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ko-KR" sz="6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타겟온도 </a:t>
              </a:r>
              <a:r>
                <a:rPr b="0" lang="en-US" sz="6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: 110</a:t>
              </a:r>
              <a:endParaRPr b="0" lang="en-US" sz="600" spc="-1" strike="noStrike">
                <a:latin typeface="Noto Sans CJK KR"/>
              </a:endParaRPr>
            </a:p>
          </p:txBody>
        </p:sp>
        <p:sp>
          <p:nvSpPr>
            <p:cNvPr id="723" name="직사각형 66"/>
            <p:cNvSpPr/>
            <p:nvPr/>
          </p:nvSpPr>
          <p:spPr>
            <a:xfrm>
              <a:off x="7476120" y="3132360"/>
              <a:ext cx="2460600" cy="2672280"/>
            </a:xfrm>
            <a:prstGeom prst="rect">
              <a:avLst/>
            </a:prstGeom>
            <a:solidFill>
              <a:srgbClr val="009c3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4" name="직사각형 103"/>
            <p:cNvSpPr/>
            <p:nvPr/>
          </p:nvSpPr>
          <p:spPr>
            <a:xfrm>
              <a:off x="8314920" y="3886560"/>
              <a:ext cx="1292400" cy="211320"/>
            </a:xfrm>
            <a:prstGeom prst="rect">
              <a:avLst/>
            </a:prstGeom>
            <a:solidFill>
              <a:srgbClr val="000c4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ko-KR" sz="8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목표 온도 타겟 지점</a:t>
              </a:r>
              <a:endParaRPr b="0" lang="en-US" sz="800" spc="-1" strike="noStrike">
                <a:latin typeface="Noto Sans CJK KR"/>
              </a:endParaRPr>
            </a:p>
          </p:txBody>
        </p:sp>
        <p:sp>
          <p:nvSpPr>
            <p:cNvPr id="725" name="직선 연결선 7"/>
            <p:cNvSpPr/>
            <p:nvPr/>
          </p:nvSpPr>
          <p:spPr>
            <a:xfrm flipV="1">
              <a:off x="8282160" y="3132000"/>
              <a:ext cx="360" cy="2681640"/>
            </a:xfrm>
            <a:prstGeom prst="line">
              <a:avLst/>
            </a:prstGeom>
            <a:ln>
              <a:solidFill>
                <a:srgbClr val="64748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6" name="TextBox 70"/>
            <p:cNvSpPr/>
            <p:nvPr/>
          </p:nvSpPr>
          <p:spPr>
            <a:xfrm>
              <a:off x="7511760" y="4548240"/>
              <a:ext cx="90108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ko-KR" sz="8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가속 후 </a:t>
              </a:r>
              <a:r>
                <a:rPr b="0" lang="en-US" sz="800" spc="-1" strike="noStrike">
                  <a:solidFill>
                    <a:srgbClr val="e2e8f0"/>
                  </a:solidFill>
                  <a:latin typeface="LG스마트체 Regular"/>
                  <a:ea typeface="LG스마트체 Regular"/>
                </a:rPr>
                <a:t>20s</a:t>
              </a:r>
              <a:endParaRPr b="0" lang="en-US" sz="800" spc="-1" strike="noStrike">
                <a:latin typeface="Noto Sans CJK KR"/>
              </a:endParaRPr>
            </a:p>
          </p:txBody>
        </p:sp>
      </p:grpSp>
      <p:sp>
        <p:nvSpPr>
          <p:cNvPr id="727" name="TextBox 72"/>
          <p:cNvSpPr/>
          <p:nvPr/>
        </p:nvSpPr>
        <p:spPr>
          <a:xfrm>
            <a:off x="6245640" y="4058280"/>
            <a:ext cx="401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120</a:t>
            </a:r>
            <a:endParaRPr b="0" lang="en-US" sz="600" spc="-1" strike="noStrike">
              <a:latin typeface="Noto Sans CJK KR"/>
            </a:endParaRPr>
          </a:p>
        </p:txBody>
      </p:sp>
      <p:pic>
        <p:nvPicPr>
          <p:cNvPr id="728" name="그림 1" descr=""/>
          <p:cNvPicPr/>
          <p:nvPr/>
        </p:nvPicPr>
        <p:blipFill>
          <a:blip r:embed="rId4"/>
          <a:stretch/>
        </p:blipFill>
        <p:spPr>
          <a:xfrm>
            <a:off x="1143000" y="6436440"/>
            <a:ext cx="9905400" cy="420840"/>
          </a:xfrm>
          <a:prstGeom prst="rect">
            <a:avLst/>
          </a:prstGeom>
          <a:ln w="0">
            <a:noFill/>
          </a:ln>
        </p:spPr>
      </p:pic>
      <p:sp>
        <p:nvSpPr>
          <p:cNvPr id="729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0" name="TextBox 12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b="0" lang="en-US" sz="11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2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733" name="표 16"/>
          <p:cNvGraphicFramePr/>
          <p:nvPr/>
        </p:nvGraphicFramePr>
        <p:xfrm>
          <a:off x="690120" y="4783320"/>
          <a:ext cx="9071640" cy="1927080"/>
        </p:xfrm>
        <a:graphic>
          <a:graphicData uri="http://schemas.openxmlformats.org/drawingml/2006/table">
            <a:tbl>
              <a:tblPr/>
              <a:tblGrid>
                <a:gridCol w="720000"/>
                <a:gridCol w="2088000"/>
                <a:gridCol w="2088000"/>
                <a:gridCol w="2088000"/>
                <a:gridCol w="2088000"/>
              </a:tblGrid>
              <a:tr h="387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평가 지표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2.0 Regular"/>
                          <a:ea typeface="LG스마트체2.0 Regular"/>
                        </a:rPr>
                        <a:t>Multivariate Linear Regression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LSTM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LSTM_With_Attention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LSTM_With_Transformer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</a:tr>
              <a:tr h="1539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제어</a:t>
                      </a:r>
                      <a:endParaRPr b="0" lang="en-US" sz="1000" spc="-1" strike="noStrike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방샹성 </a:t>
                      </a:r>
                      <a:endParaRPr b="0" lang="en-US" sz="1000" spc="-1" strike="noStrike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시뮬레이션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34" name="직사각형 3"/>
          <p:cNvSpPr/>
          <p:nvPr/>
        </p:nvSpPr>
        <p:spPr>
          <a:xfrm>
            <a:off x="343800" y="1028160"/>
            <a:ext cx="9790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2. </a:t>
            </a:r>
            <a:r>
              <a:rPr b="1" lang="ko-KR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각 모형 별 테스트 결과</a:t>
            </a:r>
            <a:endParaRPr b="0" lang="en-US" sz="1600" spc="-1" strike="noStrike">
              <a:latin typeface="Noto Sans CJK KR"/>
            </a:endParaRPr>
          </a:p>
        </p:txBody>
      </p:sp>
      <p:graphicFrame>
        <p:nvGraphicFramePr>
          <p:cNvPr id="735" name="표 8"/>
          <p:cNvGraphicFramePr/>
          <p:nvPr/>
        </p:nvGraphicFramePr>
        <p:xfrm>
          <a:off x="690120" y="2500560"/>
          <a:ext cx="7029360" cy="1848600"/>
        </p:xfrm>
        <a:graphic>
          <a:graphicData uri="http://schemas.openxmlformats.org/drawingml/2006/table">
            <a:tbl>
              <a:tblPr/>
              <a:tblGrid>
                <a:gridCol w="570960"/>
                <a:gridCol w="837000"/>
                <a:gridCol w="1357920"/>
                <a:gridCol w="1155600"/>
                <a:gridCol w="1487520"/>
                <a:gridCol w="1620720"/>
              </a:tblGrid>
              <a:tr h="396360">
                <a:tc grid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평가 지표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2.0 Regular"/>
                          <a:ea typeface="LG스마트체2.0 Regular"/>
                        </a:rPr>
                        <a:t>Multivariate Linear Regression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LSTM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LSTM_With_Attention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LSTM_With_Transformer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</a:tr>
              <a:tr h="244080">
                <a:tc rowSpan="3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MAPE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IN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2.27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0.24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0.24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0.40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24408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OUT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4.12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0.22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0.31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0.48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24408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SUM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6.84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0.46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0.55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0.88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96360">
                <a:tc grid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제어 방향 시뮬레이션</a:t>
                      </a:r>
                      <a:endParaRPr b="0" lang="en-US" sz="1000" spc="-1" strike="noStrike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상관계수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음의 상관관계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음의 상관관계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양의 상관관계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양의 상관관계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24000">
                <a:tc grid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목표온도 달성률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미적용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미적용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30.22%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52.43%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36" name="직사각형 6"/>
          <p:cNvSpPr/>
          <p:nvPr/>
        </p:nvSpPr>
        <p:spPr>
          <a:xfrm>
            <a:off x="531360" y="1391040"/>
            <a:ext cx="963360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ko-KR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데이터 셋 구성 </a:t>
            </a:r>
            <a:endParaRPr b="0" lang="en-US" sz="120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: GM1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음극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1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호기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24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년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3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월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19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일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~ 5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월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13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일 까지 수집 된 총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1250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개의 재가동 케이스를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Train(60%), Validation(20%)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및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Test(20%)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나누어 학습 및 테스트 진행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737" name="직사각형 15"/>
          <p:cNvSpPr/>
          <p:nvPr/>
        </p:nvSpPr>
        <p:spPr>
          <a:xfrm>
            <a:off x="482400" y="2223000"/>
            <a:ext cx="8784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※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모형 테스트 결과</a:t>
            </a:r>
            <a:r>
              <a:rPr b="0" lang="en-US" sz="9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(</a:t>
            </a:r>
            <a:r>
              <a:rPr b="0" lang="ko-KR" sz="9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성능이 좋았던 </a:t>
            </a:r>
            <a:r>
              <a:rPr b="0" lang="en-US" sz="9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4</a:t>
            </a:r>
            <a:r>
              <a:rPr b="0" lang="ko-KR" sz="9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가지 순위만 표기함</a:t>
            </a:r>
            <a:r>
              <a:rPr b="0" lang="en-US" sz="9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/ </a:t>
            </a:r>
            <a:r>
              <a:rPr b="0" lang="ko-KR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모두 </a:t>
            </a:r>
            <a:r>
              <a:rPr b="0" lang="en-US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Standard Scaler </a:t>
            </a:r>
            <a:r>
              <a:rPr b="0" lang="ko-KR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사용 시 성능이 가장 좋았음 </a:t>
            </a:r>
            <a:r>
              <a:rPr b="0" lang="en-US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/ Optuna</a:t>
            </a:r>
            <a:r>
              <a:rPr b="0" lang="ko-KR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를 통한 하이퍼 파라미터 최적화 진행 </a:t>
            </a:r>
            <a:r>
              <a:rPr b="0" lang="en-US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/ </a:t>
            </a:r>
            <a:r>
              <a:rPr b="0" lang="ko-KR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추론 시간 </a:t>
            </a:r>
            <a:r>
              <a:rPr b="0" lang="en-US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1s</a:t>
            </a:r>
            <a:r>
              <a:rPr b="0" lang="ko-KR" sz="9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이내</a:t>
            </a:r>
            <a:r>
              <a:rPr b="0" lang="en-US" sz="9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)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738" name="직사각형 17"/>
          <p:cNvSpPr/>
          <p:nvPr/>
        </p:nvSpPr>
        <p:spPr>
          <a:xfrm>
            <a:off x="610200" y="4483800"/>
            <a:ext cx="15127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※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제어 시뮬레이션 결과</a:t>
            </a:r>
            <a:endParaRPr b="0" lang="en-US" sz="1050" spc="-1" strike="noStrike">
              <a:latin typeface="Noto Sans CJK KR"/>
            </a:endParaRPr>
          </a:p>
        </p:txBody>
      </p:sp>
      <p:sp>
        <p:nvSpPr>
          <p:cNvPr id="739" name="직사각형 12"/>
          <p:cNvSpPr/>
          <p:nvPr/>
        </p:nvSpPr>
        <p:spPr>
          <a:xfrm>
            <a:off x="4016520" y="2467080"/>
            <a:ext cx="677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000" spc="-1" strike="noStrike">
                <a:solidFill>
                  <a:srgbClr val="c00000"/>
                </a:solidFill>
                <a:latin typeface="LG스마트체 Regular"/>
                <a:ea typeface="LG스마트체 Regular"/>
              </a:rPr>
              <a:t>최고 우위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740" name="직사각형 29"/>
          <p:cNvSpPr/>
          <p:nvPr/>
        </p:nvSpPr>
        <p:spPr>
          <a:xfrm>
            <a:off x="4613760" y="2499480"/>
            <a:ext cx="1477080" cy="1523160"/>
          </a:xfrm>
          <a:prstGeom prst="rect">
            <a:avLst/>
          </a:prstGeom>
          <a:solidFill>
            <a:srgbClr val="ac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41" name="그림 33" descr=""/>
          <p:cNvPicPr/>
          <p:nvPr/>
        </p:nvPicPr>
        <p:blipFill>
          <a:blip r:embed="rId1"/>
          <a:stretch/>
        </p:blipFill>
        <p:spPr>
          <a:xfrm>
            <a:off x="7702200" y="5052600"/>
            <a:ext cx="2017800" cy="1463400"/>
          </a:xfrm>
          <a:prstGeom prst="rect">
            <a:avLst/>
          </a:prstGeom>
          <a:ln w="0">
            <a:noFill/>
          </a:ln>
        </p:spPr>
      </p:pic>
      <p:pic>
        <p:nvPicPr>
          <p:cNvPr id="742" name="그림 34" descr=""/>
          <p:cNvPicPr/>
          <p:nvPr/>
        </p:nvPicPr>
        <p:blipFill>
          <a:blip r:embed="rId2"/>
          <a:stretch/>
        </p:blipFill>
        <p:spPr>
          <a:xfrm>
            <a:off x="5587200" y="5063040"/>
            <a:ext cx="2017800" cy="1384560"/>
          </a:xfrm>
          <a:prstGeom prst="rect">
            <a:avLst/>
          </a:prstGeom>
          <a:ln w="0">
            <a:noFill/>
          </a:ln>
        </p:spPr>
      </p:pic>
      <p:pic>
        <p:nvPicPr>
          <p:cNvPr id="743" name="그림 26" descr=""/>
          <p:cNvPicPr/>
          <p:nvPr/>
        </p:nvPicPr>
        <p:blipFill>
          <a:blip r:embed="rId3"/>
          <a:stretch/>
        </p:blipFill>
        <p:spPr>
          <a:xfrm>
            <a:off x="3543480" y="5052600"/>
            <a:ext cx="2017800" cy="1384560"/>
          </a:xfrm>
          <a:prstGeom prst="rect">
            <a:avLst/>
          </a:prstGeom>
          <a:ln w="0">
            <a:noFill/>
          </a:ln>
        </p:spPr>
      </p:pic>
      <p:pic>
        <p:nvPicPr>
          <p:cNvPr id="744" name="그림 35" descr=""/>
          <p:cNvPicPr/>
          <p:nvPr/>
        </p:nvPicPr>
        <p:blipFill>
          <a:blip r:embed="rId4"/>
          <a:stretch/>
        </p:blipFill>
        <p:spPr>
          <a:xfrm>
            <a:off x="1413720" y="5085720"/>
            <a:ext cx="2032560" cy="1391400"/>
          </a:xfrm>
          <a:prstGeom prst="rect">
            <a:avLst/>
          </a:prstGeom>
          <a:ln w="0">
            <a:noFill/>
          </a:ln>
        </p:spPr>
      </p:pic>
      <p:sp>
        <p:nvSpPr>
          <p:cNvPr id="745" name="직사각형 7"/>
          <p:cNvSpPr/>
          <p:nvPr/>
        </p:nvSpPr>
        <p:spPr>
          <a:xfrm>
            <a:off x="4613760" y="4018680"/>
            <a:ext cx="3087720" cy="324360"/>
          </a:xfrm>
          <a:prstGeom prst="rect">
            <a:avLst/>
          </a:prstGeom>
          <a:noFill/>
          <a:ln w="28575">
            <a:solidFill>
              <a:srgbClr val="ffff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6" name="직사각형 11"/>
          <p:cNvSpPr/>
          <p:nvPr/>
        </p:nvSpPr>
        <p:spPr>
          <a:xfrm>
            <a:off x="4627800" y="4391280"/>
            <a:ext cx="534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평가지표 </a:t>
            </a:r>
            <a:r>
              <a:rPr b="0" lang="en-US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MAPE</a:t>
            </a:r>
            <a:r>
              <a:rPr b="0" lang="ko-KR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와 실제 목표온도 달성률 불일치</a:t>
            </a:r>
            <a:r>
              <a:rPr b="0" lang="en-US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, </a:t>
            </a:r>
            <a:r>
              <a:rPr b="0" lang="ko-KR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외삽을 고려하지 못한 내삽 평가지표</a:t>
            </a:r>
            <a:r>
              <a:rPr b="0" lang="en-US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(</a:t>
            </a:r>
            <a:r>
              <a:rPr b="0" lang="ko-KR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랜덤 스플릿</a:t>
            </a:r>
            <a:r>
              <a:rPr b="0" lang="en-US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)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747" name="TextBox 9"/>
          <p:cNvSpPr/>
          <p:nvPr/>
        </p:nvSpPr>
        <p:spPr>
          <a:xfrm>
            <a:off x="287640" y="498960"/>
            <a:ext cx="758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NND Dryer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전극표면 온도관모형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(physics-informed Model)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748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9" name="TextBox 14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b="0" lang="en-US" sz="11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Rectangle 1"/>
          <p:cNvSpPr/>
          <p:nvPr/>
        </p:nvSpPr>
        <p:spPr>
          <a:xfrm>
            <a:off x="-50760" y="-4896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1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2" name="직사각형 19"/>
          <p:cNvSpPr/>
          <p:nvPr/>
        </p:nvSpPr>
        <p:spPr>
          <a:xfrm>
            <a:off x="469800" y="1488600"/>
            <a:ext cx="1133748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- </a:t>
            </a:r>
            <a:r>
              <a:rPr b="1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학습 방법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: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출력 예측모형과 온도 예측모형을 교차 학습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,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수집된 데이터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Loss,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제어 방향성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Loss,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시뮬레이션 결과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Loss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등을 각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Step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에 따라 반영하여 모든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Loss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가 수렴하도록 학습을 유도함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. </a:t>
            </a:r>
            <a:endParaRPr b="0" lang="en-US" sz="1050" spc="-1" strike="noStrike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                    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total Loss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대신 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Loss term-wise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역전파 출력 예측모형 과 온도 예측모형이 학습이 완료되면</a:t>
            </a: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,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최적 제어값을 추론할 때는 출력 예측모형만을 사용해서 추론 진행</a:t>
            </a:r>
            <a:endParaRPr b="0" lang="en-US" sz="1050" spc="-1" strike="noStrike">
              <a:latin typeface="Noto Sans CJK KR"/>
            </a:endParaRPr>
          </a:p>
        </p:txBody>
      </p:sp>
      <p:sp>
        <p:nvSpPr>
          <p:cNvPr id="753" name="직사각형 7"/>
          <p:cNvSpPr/>
          <p:nvPr/>
        </p:nvSpPr>
        <p:spPr>
          <a:xfrm>
            <a:off x="384120" y="1231200"/>
            <a:ext cx="94554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5680">
              <a:lnSpc>
                <a:spcPct val="150000"/>
              </a:lnSpc>
              <a:buNone/>
            </a:pP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- 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학습 과정에서 기존 데이터 학습 셋 및 외삽을 가정한 데이터를 생성하고 온도예측모형에서 검증을 하며 학습이 이루어지는 모형으로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754" name="직사각형 8"/>
          <p:cNvSpPr/>
          <p:nvPr/>
        </p:nvSpPr>
        <p:spPr>
          <a:xfrm>
            <a:off x="172800" y="902880"/>
            <a:ext cx="2583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85680"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3. </a:t>
            </a:r>
            <a:r>
              <a:rPr b="1" lang="ko-KR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온도제어 모델 관련 설명</a:t>
            </a:r>
            <a:endParaRPr b="0" lang="en-US" sz="1600" spc="-1" strike="noStrike">
              <a:latin typeface="Noto Sans CJK KR"/>
            </a:endParaRPr>
          </a:p>
        </p:txBody>
      </p:sp>
      <p:pic>
        <p:nvPicPr>
          <p:cNvPr id="755" name="그림 2" descr=""/>
          <p:cNvPicPr/>
          <p:nvPr/>
        </p:nvPicPr>
        <p:blipFill>
          <a:blip r:embed="rId1"/>
          <a:stretch/>
        </p:blipFill>
        <p:spPr>
          <a:xfrm>
            <a:off x="1143000" y="5792400"/>
            <a:ext cx="9905400" cy="1064880"/>
          </a:xfrm>
          <a:prstGeom prst="rect">
            <a:avLst/>
          </a:prstGeom>
          <a:ln w="0">
            <a:noFill/>
          </a:ln>
        </p:spPr>
      </p:pic>
      <p:pic>
        <p:nvPicPr>
          <p:cNvPr id="756" name="그림 9" descr=""/>
          <p:cNvPicPr/>
          <p:nvPr/>
        </p:nvPicPr>
        <p:blipFill>
          <a:blip r:embed="rId2"/>
          <a:stretch/>
        </p:blipFill>
        <p:spPr>
          <a:xfrm>
            <a:off x="518760" y="2031840"/>
            <a:ext cx="9477000" cy="4789800"/>
          </a:xfrm>
          <a:prstGeom prst="rect">
            <a:avLst/>
          </a:prstGeom>
          <a:ln w="0">
            <a:noFill/>
          </a:ln>
        </p:spPr>
      </p:pic>
      <p:sp>
        <p:nvSpPr>
          <p:cNvPr id="757" name="TextBox 11"/>
          <p:cNvSpPr/>
          <p:nvPr/>
        </p:nvSpPr>
        <p:spPr>
          <a:xfrm>
            <a:off x="2563200" y="4393440"/>
            <a:ext cx="4993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00"/>
                </a:solidFill>
                <a:latin typeface="Noto Sans CJK KR"/>
                <a:ea typeface="DejaVu Sans"/>
              </a:rPr>
              <a:t>counterfactual </a:t>
            </a:r>
            <a:endParaRPr b="0" lang="en-US" sz="900" spc="-1" strike="noStrike">
              <a:latin typeface="Noto Sans CJK KR"/>
            </a:endParaRPr>
          </a:p>
        </p:txBody>
      </p:sp>
      <p:sp>
        <p:nvSpPr>
          <p:cNvPr id="758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9" name="TextBox 10"/>
          <p:cNvSpPr/>
          <p:nvPr/>
        </p:nvSpPr>
        <p:spPr>
          <a:xfrm>
            <a:off x="287640" y="498960"/>
            <a:ext cx="758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NND Dryer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전극표면 온도관모형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(physics-informed Model)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760" name="TextBox 13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b="0" lang="en-US" sz="11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10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2" name="Rectangle 2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3dd6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3" name="직사각형 3"/>
          <p:cNvSpPr/>
          <p:nvPr/>
        </p:nvSpPr>
        <p:spPr>
          <a:xfrm>
            <a:off x="289080" y="951840"/>
            <a:ext cx="9790200" cy="9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</a:t>
            </a:r>
            <a:r>
              <a:rPr b="1" lang="en-US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4. </a:t>
            </a:r>
            <a:r>
              <a:rPr b="1" lang="ko-KR" sz="16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개발 모형 현장적용 결과</a:t>
            </a:r>
            <a:endParaRPr b="0" lang="en-US" sz="1600" spc="-1" strike="noStrike">
              <a:latin typeface="Noto Sans CJK KR"/>
            </a:endParaRPr>
          </a:p>
          <a:p>
            <a:pPr marL="85680" indent="-216000">
              <a:lnSpc>
                <a:spcPct val="150000"/>
              </a:lnSpc>
              <a:buClr>
                <a:srgbClr val="e2e8f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</a:t>
            </a:r>
            <a:r>
              <a:rPr b="1" lang="ko-KR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신규모형</a:t>
            </a:r>
            <a:r>
              <a:rPr b="1" lang="en-US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(GCLN)</a:t>
            </a:r>
            <a:r>
              <a:rPr b="1" lang="ko-KR" sz="12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적용 결과</a:t>
            </a:r>
            <a:endParaRPr b="0" lang="en-US" sz="1200" spc="-1" strike="noStrike">
              <a:latin typeface="Noto Sans CJK KR"/>
            </a:endParaRPr>
          </a:p>
          <a:p>
            <a:pPr marL="85680">
              <a:lnSpc>
                <a:spcPct val="150000"/>
              </a:lnSpc>
              <a:buNone/>
            </a:pPr>
            <a:r>
              <a:rPr b="1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 </a:t>
            </a:r>
            <a:r>
              <a:rPr b="1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- </a:t>
            </a:r>
            <a:r>
              <a:rPr b="1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기존 상용 알고리즘과 동일한 데이터 셋으로 학습 진행 후</a:t>
            </a:r>
            <a:r>
              <a:rPr b="1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, </a:t>
            </a:r>
            <a:r>
              <a:rPr b="1" lang="en-US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GM1 </a:t>
            </a:r>
            <a:r>
              <a:rPr b="1" lang="ko-KR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음극 </a:t>
            </a:r>
            <a:r>
              <a:rPr b="1" lang="en-US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1</a:t>
            </a:r>
            <a:r>
              <a:rPr b="1" lang="ko-KR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호기에 적용한 결과</a:t>
            </a:r>
            <a:r>
              <a:rPr b="1" lang="en-US" sz="10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(</a:t>
            </a:r>
            <a:r>
              <a:rPr b="1" lang="ko-KR" sz="10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약 </a:t>
            </a:r>
            <a:r>
              <a:rPr b="1" lang="en-US" sz="10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50</a:t>
            </a:r>
            <a:r>
              <a:rPr b="1" lang="ko-KR" sz="10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일</a:t>
            </a:r>
            <a:r>
              <a:rPr b="1" lang="en-US" sz="10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) </a:t>
            </a:r>
            <a:r>
              <a:rPr b="1" lang="ko-KR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목표 온도 달성률 </a:t>
            </a:r>
            <a:r>
              <a:rPr b="1" lang="en-US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99.3% </a:t>
            </a:r>
            <a:r>
              <a:rPr b="1" lang="ko-KR" sz="1100" spc="-1" strike="noStrike" u="sng">
                <a:solidFill>
                  <a:srgbClr val="e2e8f0"/>
                </a:solidFill>
                <a:uFillTx/>
                <a:latin typeface="LG스마트체 Regular"/>
                <a:ea typeface="LG스마트체 Regular"/>
              </a:rPr>
              <a:t>수준 확보함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764" name="직사각형 13"/>
          <p:cNvSpPr/>
          <p:nvPr/>
        </p:nvSpPr>
        <p:spPr>
          <a:xfrm>
            <a:off x="9928440" y="1095840"/>
            <a:ext cx="1468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※</a:t>
            </a:r>
            <a:r>
              <a:rPr b="0" lang="ko-KR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목표온도 달성률 </a:t>
            </a:r>
            <a:r>
              <a:rPr b="0" lang="en-US" sz="110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= </a:t>
            </a:r>
            <a:endParaRPr b="0" lang="en-US" sz="1100" spc="-1" strike="noStrike">
              <a:latin typeface="Noto Sans CJK KR"/>
            </a:endParaRPr>
          </a:p>
        </p:txBody>
      </p:sp>
      <p:graphicFrame>
        <p:nvGraphicFramePr>
          <p:cNvPr id="765" name="표 24"/>
          <p:cNvGraphicFramePr/>
          <p:nvPr/>
        </p:nvGraphicFramePr>
        <p:xfrm>
          <a:off x="618840" y="2316960"/>
          <a:ext cx="3099600" cy="1848600"/>
        </p:xfrm>
        <a:graphic>
          <a:graphicData uri="http://schemas.openxmlformats.org/drawingml/2006/table">
            <a:tbl>
              <a:tblPr/>
              <a:tblGrid>
                <a:gridCol w="570960"/>
                <a:gridCol w="837000"/>
                <a:gridCol w="1692000"/>
              </a:tblGrid>
              <a:tr h="396360">
                <a:tc grid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평가 지표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2.0 Regular"/>
                          <a:ea typeface="LG스마트체2.0 Regular"/>
                        </a:rPr>
                        <a:t>GCLN</a:t>
                      </a:r>
                      <a:endParaRPr b="0" lang="en-US" sz="1000" spc="-1" strike="noStrike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2.0 Regular"/>
                          <a:ea typeface="LG스마트체2.0 Regular"/>
                        </a:rPr>
                        <a:t>(8/30~10/16, 572</a:t>
                      </a: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2.0 Regular"/>
                          <a:ea typeface="LG스마트체2.0 Regular"/>
                        </a:rPr>
                        <a:t>회</a:t>
                      </a: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2.0 Regular"/>
                          <a:ea typeface="LG스마트체2.0 Regular"/>
                        </a:rPr>
                        <a:t>)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20aebb"/>
                    </a:solidFill>
                  </a:tcPr>
                </a:tc>
              </a:tr>
              <a:tr h="244080">
                <a:tc rowSpan="3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MAEP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IN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0.94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24408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OUT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1.13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24408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SUM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2.07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96360">
                <a:tc grid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제어 방향 시뮬레이션</a:t>
                      </a:r>
                      <a:endParaRPr b="0" lang="en-US" sz="1000" spc="-1" strike="noStrike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상관계수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양의 상관관계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24000">
                <a:tc grid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ko-KR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목표온도 달성률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e2e8f0"/>
                          </a:solidFill>
                          <a:latin typeface="LG스마트체 Regular"/>
                          <a:ea typeface="LG스마트체 Regular"/>
                        </a:rPr>
                        <a:t>99.3%</a:t>
                      </a:r>
                      <a:endParaRPr b="0" lang="en-US" sz="1000" spc="-1" strike="noStrike"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9d9"/>
                      </a:solidFill>
                    </a:lnL>
                    <a:lnR w="12240">
                      <a:solidFill>
                        <a:srgbClr val="d9d9d9"/>
                      </a:solidFill>
                    </a:lnR>
                    <a:lnT w="12240">
                      <a:solidFill>
                        <a:srgbClr val="d9d9d9"/>
                      </a:solidFill>
                    </a:lnT>
                    <a:lnB w="12240">
                      <a:solidFill>
                        <a:srgbClr val="d9d9d9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66" name="직사각형 29"/>
          <p:cNvSpPr/>
          <p:nvPr/>
        </p:nvSpPr>
        <p:spPr>
          <a:xfrm>
            <a:off x="539640" y="2063160"/>
            <a:ext cx="154836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※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학습 및 현장적용 결과</a:t>
            </a:r>
            <a:endParaRPr b="0" lang="en-US" sz="1050" spc="-1" strike="noStrike">
              <a:latin typeface="Noto Sans CJK KR"/>
            </a:endParaRPr>
          </a:p>
        </p:txBody>
      </p:sp>
      <p:sp>
        <p:nvSpPr>
          <p:cNvPr id="767" name="직사각형 41"/>
          <p:cNvSpPr/>
          <p:nvPr/>
        </p:nvSpPr>
        <p:spPr>
          <a:xfrm>
            <a:off x="4048560" y="1971360"/>
            <a:ext cx="1877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※ </a:t>
            </a:r>
            <a:r>
              <a:rPr b="0" lang="ko-KR" sz="1050" spc="-1" strike="noStrike">
                <a:solidFill>
                  <a:srgbClr val="e2e8f0"/>
                </a:solidFill>
                <a:latin typeface="LG스마트체 Regular"/>
                <a:ea typeface="LG스마트체 Regular"/>
              </a:rPr>
              <a:t>제어방향성 시뮬레이션 결과</a:t>
            </a:r>
            <a:endParaRPr b="0" lang="en-US" sz="1050" spc="-1" strike="noStrike">
              <a:latin typeface="Noto Sans CJK KR"/>
            </a:endParaRPr>
          </a:p>
        </p:txBody>
      </p:sp>
      <p:pic>
        <p:nvPicPr>
          <p:cNvPr id="768" name="그림 42" descr=""/>
          <p:cNvPicPr/>
          <p:nvPr/>
        </p:nvPicPr>
        <p:blipFill>
          <a:blip r:embed="rId1"/>
          <a:stretch/>
        </p:blipFill>
        <p:spPr>
          <a:xfrm>
            <a:off x="4141080" y="2225160"/>
            <a:ext cx="3139200" cy="19393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769" name="직사각형 1"/>
          <p:cNvSpPr/>
          <p:nvPr/>
        </p:nvSpPr>
        <p:spPr>
          <a:xfrm>
            <a:off x="1210320" y="3201120"/>
            <a:ext cx="2508120" cy="963360"/>
          </a:xfrm>
          <a:prstGeom prst="rect">
            <a:avLst/>
          </a:prstGeom>
          <a:noFill/>
          <a:ln w="28575">
            <a:solidFill>
              <a:srgbClr val="ffff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0" name="직사각형 2"/>
          <p:cNvSpPr/>
          <p:nvPr/>
        </p:nvSpPr>
        <p:spPr>
          <a:xfrm>
            <a:off x="1249200" y="4278960"/>
            <a:ext cx="343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내삽에 대한 성능은 떨어지지만</a:t>
            </a:r>
            <a:r>
              <a:rPr b="0" lang="en-US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, </a:t>
            </a:r>
            <a:r>
              <a:rPr b="0" lang="ko-KR" sz="1000" spc="-1" strike="noStrike">
                <a:solidFill>
                  <a:srgbClr val="ffff00"/>
                </a:solidFill>
                <a:latin typeface="LG스마트체 Regular"/>
                <a:ea typeface="LG스마트체 Regular"/>
              </a:rPr>
              <a:t>실제 외삽에서 성능이 잘나옴  </a:t>
            </a:r>
            <a:endParaRPr b="0" lang="en-US" sz="1000" spc="-1" strike="noStrike">
              <a:latin typeface="Noto Sans CJK KR"/>
            </a:endParaRPr>
          </a:p>
        </p:txBody>
      </p:sp>
      <p:pic>
        <p:nvPicPr>
          <p:cNvPr id="771" name="그림 16" descr=""/>
          <p:cNvPicPr/>
          <p:nvPr/>
        </p:nvPicPr>
        <p:blipFill>
          <a:blip r:embed="rId2"/>
          <a:stretch/>
        </p:blipFill>
        <p:spPr>
          <a:xfrm>
            <a:off x="1143000" y="6436440"/>
            <a:ext cx="9905400" cy="420840"/>
          </a:xfrm>
          <a:prstGeom prst="rect">
            <a:avLst/>
          </a:prstGeom>
          <a:ln w="0">
            <a:noFill/>
          </a:ln>
        </p:spPr>
      </p:pic>
      <p:sp>
        <p:nvSpPr>
          <p:cNvPr id="772" name="Rectangle 5"/>
          <p:cNvSpPr/>
          <p:nvPr/>
        </p:nvSpPr>
        <p:spPr>
          <a:xfrm>
            <a:off x="384120" y="987480"/>
            <a:ext cx="11429280" cy="11880"/>
          </a:xfrm>
          <a:prstGeom prst="rect">
            <a:avLst/>
          </a:prstGeom>
          <a:solidFill>
            <a:srgbClr val="2c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3" name="TextBox 7"/>
          <p:cNvSpPr/>
          <p:nvPr/>
        </p:nvSpPr>
        <p:spPr>
          <a:xfrm>
            <a:off x="287640" y="498960"/>
            <a:ext cx="758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NND Dryer </a:t>
            </a:r>
            <a:r>
              <a:rPr b="1" lang="ko-KR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전극표면 온도관모형</a:t>
            </a:r>
            <a:r>
              <a:rPr b="1" lang="en-US" sz="2400" spc="-1" strike="noStrike">
                <a:solidFill>
                  <a:srgbClr val="ecf1f7"/>
                </a:solidFill>
                <a:latin typeface="Apple SD Gothic Neo"/>
                <a:ea typeface="DejaVu Sans"/>
              </a:rPr>
              <a:t>(physics-informed Model)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774" name="TextBox 8"/>
          <p:cNvSpPr/>
          <p:nvPr/>
        </p:nvSpPr>
        <p:spPr>
          <a:xfrm>
            <a:off x="384120" y="237600"/>
            <a:ext cx="960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100" spc="-1" strike="noStrike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b="0" lang="en-US" sz="11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</TotalTime>
  <Application>LibreOffice/7.3.7.2$Linux_X86_64 LibreOffice_project/30$Build-2</Application>
  <AppVersion>15.0000</AppVersion>
  <Words>8425</Words>
  <Paragraphs>794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박진서(JINSEO PARK)[pjs1207]</dc:creator>
  <dc:description>generated using python-pptx</dc:description>
  <dc:language>ko-KR</dc:language>
  <cp:lastModifiedBy>박진서(JINSEO PARK)[pjs1207]/선임/AI/빅데이터2.Multimodal AI팀</cp:lastModifiedBy>
  <dcterms:modified xsi:type="dcterms:W3CDTF">2026-08-01T07:05:21Z</dcterms:modified>
  <cp:revision>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27</vt:r8>
  </property>
  <property fmtid="{D5CDD505-2E9C-101B-9397-08002B2CF9AE}" pid="3" name="PresentationFormat">
    <vt:lpwstr>와이드스크린</vt:lpwstr>
  </property>
  <property fmtid="{D5CDD505-2E9C-101B-9397-08002B2CF9AE}" pid="4" name="Slides">
    <vt:r8>31</vt:r8>
  </property>
</Properties>
</file>