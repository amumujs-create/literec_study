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147482007" r:id="rId28"/>
    <p:sldId id="2147481982" r:id="rId29"/>
    <p:sldId id="2147481992" r:id="rId30"/>
    <p:sldId id="2147481994" r:id="rId31"/>
    <p:sldId id="214748200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32" y="7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1928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[30초]</a:t>
            </a:r>
          </a:p>
          <a:p>
            <a:r>
              <a:t>대본: 오늘은 **회귀 외삽** — 연속값 y, 센서→품질 같은 tabular·시계열. 분류·domain generalization(OOD)은 범위 밖. 네 파트: 정의, 실패 원인, 대응법, 성능 검증. 결론 미리 — 밖을 지탱하는 건 데이터가 아니라 **가정**.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위 세 상자가 목차입니다. 1부 — **외삽 정의**(보간 vs 외삽, 훈련 범위). 2부 — **외삽 실패 원인** 네 가지(데이터·차원·불확실성·ReLU). 3부 — **외삽 대응법**(가정 넣기)과 **외삽 성능 검증**(주장이 맞는지 확인). 다음 장에서 핵심 용어 '가정'을 정의합니다.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 ★ 용어 장 — 반드시 천천히.</a:t>
            </a:r>
          </a:p>
          <a:p>
            <a:r>
              <a:t>대본: '가정'이 오늘 키워드입니다. 왼쪽 그림 — 훈련점(●)은 전부 같습니다. 가정 A(선형)·B(지수)·C(비선형)만 바꾸면 x&gt;2 밖에서 곡선이 완전히 달라집니다. 오른쪽 ① 정의, ② 왜 필요(Pfister), ③ 주입 위치. 아래 ④ 그림 해석. 이후 '가정을 넣는다'는 이 뜻으로만 쓰겠습니다.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[20초]</a:t>
            </a:r>
          </a:p>
          <a:p>
            <a:r>
              <a:t>대본: 1부입니다. 먼저 OOD와 외삽 — 헷갈리기 쉬운 두 단어. 이 발표는 **외삽** 좌표계에 집중합니다. 그다음 보간/외삽, hull, 사례. 5분입니다.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1부 시작 — OOD와 외삽부터. **왼쪽 그림 (a)** — OOD. train과 test **분포**가 다릅니다. 오른쪽 꼬리 query는 train이 본 적 없는 영역 — OOD. **오른쪽 그림 (b)** — 외삽. 훈련 점들의 convex hull 안/밖으로 판별. ★ 표시는 hull **밖** extrap — 오늘의 좌표. 보라 ■는 hull **안**인데 concept shift — OOD지만 extrap 판별은 안 됩니다. extrap은 종종 OOD 안쪽이지만, OOD 전체가 extrap은 아닙니다. 오늘 50분은 **회귀 외삽** — hull·연속 y·가정. IRM·DomainBed는 **분류 DG** 쪽 — 오늘 범위 밖. 다음 장 보간/외삽.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정의부터. 외삽은 '훈련 범위 밖에서의 예측'입니다. 왼쪽 그림 — 같은 모델인데 **예측할 입력**이 훈련 범위 안이면 보간, 밖이면 외삽입니다. 그래서 '모델이 외삽되나?'가 아니라 '**지금 넣는 입력이 범위 밖인가?**'가 먼저입니다. 적용 예 — 키 160~180으로 학습한 몸무게 모델에 175를 물으면 보간, 195를 물으면 외삽입니다. 여름 데이터로 겨울 수요를 예측하는 것도 외삽입니다 — 시간축도 똑같습니다. 약속 하나: 오늘 모든 그림에서 음영이 훈련 범위, 그 밖이 외삽 영역입니다.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오른쪽 네 단계입니다. ① 개념 — 훈련 row(●)들을 고무줄로 감싼 영역, 외곽+안. ② 수식 — Conv(X_train) = Σ α_i x_i, α_i ≥ 0, Σ α_i = 1. ③ 의미 — hull 안=보간, 밖=외삽. Σ=1은 섞기 100%라 고무줄 안만. ④ 왜 정의? — '범위 밖'을 느낌이 아니라 수학으로 판정해야 3부 검증이 됩니다. min/max나 '비슷해 보여'로는 부족합니다. 왼쪽 함정 — 변수별로는 범위 안인데 조합은 hull 밖일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밖에서 무슨 일이 생기는지 대표 사례입니다. 4차 다항식이 훈련 구간 안에서는 사실상 완벽합니다 — 오차가 0에 가깝습니다. 그런데 경계를 넘는 순간 폭발합니다. 차수를 높이면 안은 더 잘 맞는데 밖은 더 크게 터집니다. 여기서 교훈 하나만 새기고 2부로 갑니다: '안에서 잘 맞는다'와 '밖에서 맞는다'는 서로 다른 질문이다. 왜 다른 질문일 수밖에 없는지 — 그게 2부입니다.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[20초]</a:t>
            </a:r>
          </a:p>
          <a:p>
            <a:r>
              <a:t>대본: 2부, **외삽 실패 원인**입니다. '한계'가 아니라 — 밖에서 왜 틀리는지 네 가지. 식별 불가(데이터만으론 못 고름), 고차원에서 범위 밖, 밖에서 불확실성 폭발, ReLU 직선. 하나씩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 ★ 발표 전체에서 가장 중요한 장.</a:t>
            </a:r>
          </a:p>
          <a:p>
            <a:r>
              <a:t>대본: 첫 번째 이유이자 오늘의 심장입니다. 그림 — 직선 가설과 지수 가설, 훈련 구간(OBSERVED) 안에서는 둘 다 ●를 통과합니다. 구분이 안 됩니다. 밖(UNIDENTIFIED)으로 나가는 순간 전부 다른 답을 냅니다. 아무 함수나 맞는 게 아니라, 훈련점을 지나는 가설이 (원칙적으로) 무한히 많다는 뜻입니다. 그럼 데이터를 더 모으면 되지 않나? — 훈련 범위 안에서만 늘어나면 소용없습니다. Pfister 2024: 범위 밖 추론은 추가 가정 없이는 원리적으로 불가능. 배터리 예 — 100사이클까지 선형·지수 열화 둘 다 완벽 적합, 500사이클 수명은 2배 차이. 데이터는 어느 쪽인지 말해주지 않습니다. 밖을 지탱하는 것은 데이터가 아니라 가정입니다.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두 번째 이유 — 규모의 문제입니다. '데이터가 충분히 많으니 테스트는 범위 안이겠지'라고 생각하기 쉽습니다. 2차원에서는 맞는 직관입니다, 왼쪽 그림처럼 훈련 범위가 꽤 넓거든요. 그런데 오른쪽 곡선 — 차원이 올라가면 **새 입력**이 훈련 범위 안일 확률이 지수적으로 0에 수렴합니다. 100차원이면 사실상 0입니다. 체감 예시 — 센서 20채널에서 채널별로 95% 확률로 범위 안이라 해도, 20개 조합이 전부 안일 확률은 0.95의 20제곱, 36%입니다. 실제 훈련 범위는 그보다 훨씬 좁으니 대부분이 이미 밖입니다. 이미지, 다채널 센서 시계열 — 전부 고차원입니다. 결론: 외삽은 예외 상황이 아니라 기본값입니다.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밖에서 왜 불확실해지는지 — 오차를 세 덩어리로 쪼개 봅니다. 왜 쪼개나? 원인마다 대처가 다르기 때문입니다. 잡음 — 측정·센서·환경, 본질적 랜덤, 과녁 비유로 손 떨림, 줄일 수 없습니다. 편향 — 모델 가정·구조가 틀린 체계적 오차, 조준 틀림, 가정을 고치면 줄입니다. 모름 — 데이터가 없어서 예측이 흔들리는 것, 과녁 위치를 모르는 것, 그 구간에 데이터를 모으면 줄일 수 있습니다. 그림 — 음영 안에서는 total error가 작고, 밖으로 가면 주황 '모름'이 폭발합니다. 훈련 범위 밖은 정의상 데이터가 없으니 '모름'만 구조적으로 못 줄입니다. 분해 목적 — 어디서 왜 틀리는지 진단하는 것, 3부 UQ에서 이 신호를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[2.5분] ★ 2부 클라이맥스.</a:t>
            </a:r>
          </a:p>
          <a:p>
            <a:r>
              <a:t>대본: 위 Fig.1부터 — φ는 활성화 함수(activation)입니다. 파란 부분이 훈련 구간, 안에서는 복잡한 타깃을 ReLU MLP가 잘 맞춥니다. 바깥 회색 격자면을 보세요 — 3D 세 장 모두 밖으로 나가면 평평한 plane으로 이어집니다. 타깃 함수만 다르고 밖 거동은 같습니다. 맨 오른쪽 2D는 단면 — sin을 배워도 밖은 직선. 아래 큰 그림도 같은 메시지. Xu 정리 1: ReLU MLP는 멀어지면 방향마다 직선. 외삽 불능이 아니라 '밖은 직선' 가정. Q ReLU만? tanh는 포화, sin/cos는 주기, φ=밖 모양 선언. φ 맞춰도 S09 한계·검증 필요 — S16. 가정을 어차피 하고 있다면, 내가 아는 것으로 골라 넣자.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[20초]</a:t>
            </a:r>
          </a:p>
          <a:p>
            <a:r>
              <a:t>대본: 3부 전반 — **대응법**입니다. 방법 지도 → 입구(활성화) → EQL·NALU → CMNN → Physics-ML → UQ·기권 → 종합. 검증은 방법을 다 본 뒤 **별도 구간**에서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3부 지도입니다. 가로축 = **내가 아는 사전 지식의 강도**입니다. 왼쪽 끝 — 타깃 함수의 형태를 안다: EQL과 NALU. 올바르면 전 영역에서 유효하고, 가정이 틀리면 전역 실패입니다. 두 번째 — 방향성만 안다: 단조 신경망. 실무에서 가장 흔한 지식 수준입니다. 세 번째 — **물리 지식**: 회귀면 **Physics-ML** (Aykol·Li — feature / physics loss). **PDE+장** u(x,t)만 Raissi **PDE-ML** (부록). 센서→품질 = physics **feature·soft loss** 또는 CMNN·UQ. 오른쪽 끝 — 사전 지식이 없다: 이때는 불확실성(UQ)과 기권(예측 안 함)으로 유보합니다. 순서가 중요합니다. 방법을 먼저 고르는 것이 아니라, 가용 지식이 먼저이고 방법이 뒤따릅니다.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본격적인 방법 전에, 가장 단순한 가정 주입부터 봅니다 — 활성화 함수 교체입니다. Xu의 Fig.5: 타깃이 주기함수일 때 활성화를 cos으로 바꾸면 외삽이 됩니다. tanh 타깃엔 tanh가 됩니다. 반대로 짝이 틀리면 오차가 백 배, 천 배로 뜁니다. 즉 활성화 선택이 곧 '밖은 이런 모양일 것'이라는 선언입니다. 가정에는 대가가 있다 — 이 원리를 들고 방법 1로 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방법 1 — 타깃이 '닫힌 수식'이라는 확신이 있는 경우입니다. EQL은 sin, cos, 곱셈 같은 수식 유닛을 뉴런 자리에 심습니다. 학습이 끝나면 네트워크 자체가 하나의 식이 됩니다. 배운 식이 참 식과 같은 족이면, 훈련 구간이 아니라 정의역 '전체'에서 유효합니다 — 아까 MLP가 직선이 되던 것과 정반대입니다. 대가: 유닛 목록에 없는 함수는 아예 표현 못 하고, 희소화 조절이 까다롭고, 고차원·잡음에 약합니다.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Fig.2 두 장입니다. (a) NAC — +/− 부품. 아래 W 공장에서 W = tanh(Ŵ)⊙σ(M̂)로 w를 ±1,0에 가깝게 만들고, 위에서 y = W·x로 덧셈·뺄셈만 합니다. ×는 선형합으로 불가합니다. (b) NALU — NAC에 log-exp 곱셈 경로(보라)와 게이트 g(빨강)를 더한 완성입니다. y = g·(덧셈)+(1−g)·(곱셈). a+b만이면 (a)로 충분, a×b면 (b)가 필요합니다. 0~10으로 a+b 학습 후 10,000까지 테스트하면 MLP는 오차가 폭발하고 NALU는 평탄합니다. 단, ±1·0 수렴은 목표이지 보장은 아니고, 게이트 불안정·비산술 타깃이면 MLP로 붕괴합니다. 식 전체를 알면 NALU 없이 코드 한 줄이 낫습니다. 방법 1 요약: 함수 모양 가정은 수익도 최대, 리스크도 최대입니다.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방법 2 — 현실적으로 가장 중요한 방법입니다. 수식까진 몰라도 '가격이 오르면 수요는 준다', '충전량이 늘면 전압은 오른다' 같은 방향은 아는 경우가 대부분이죠. 그런데 방향을 강제하는 순진한 방법 — 가중치를 전부 양수로 자르는 것 — 은 그림 (b)처럼 표현력을 죽입니다. 단조는 얻었는데 사실상 직선이 돼서 x³조차 못 맞춥니다. 단조성과 표현력이 상충하는 것처럼 보입니다. 이걸 푸는 게 다음 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 ★ 구조 내장 단조.</a:t>
            </a:r>
          </a:p>
          <a:p>
            <a:r>
              <a:t>대본: Fig.3 한 층. t는 입력 feature마다 +1, −1, 0 중 하나입니다. +1이면 그 입력이 올라갈 때 출력도 올라가야 하고, −1이면 반대, 0이면 그 feature는 단조 제약 없습니다. 배터리 예는 SOC에 +1 — 충전량 올라가면 전압도 올라가야 합니다. |W|_t는 t=±1일 때 가중치 부호만 고정하는 것이지, 가중치 전체 절댓값이 아닙니다. s는 hidden m개를 볼록 ρ̊, 오목 ρ̂, 포화 ρ̃에 나누는 인원표입니다. 예 (4,4,0)이면 볼록 4개, 오목 4개 — x³나 OCV 곡선처럼 양쪽으로 휘는 단조 함수에 씁니다. ReLU만 쓰면 clip+ReLU와 같아서 x³ 왼쪽이 깨집니다. 몇 번째 뉴런이냐로 φ가 정해지지, x 부호로 바뀌지 않습니다. 앞 장 Fig.1 (c)가 이 구조의 결과입니다 — (b) clip+ReLU는 x³ 실패, CMNN은 t+s로 둘 다 잡습니다. 외삽 보장은 t 쪽 **방향**뿐 — 값·곡선은 틀릴 수 있습니다. 다음 장 ③ — CMNN보다 physics **한 단계 더**: dQ/dV feature, thermo/단조 **loss**. 같은 ‘밖에서 이상한 예측’ 문제지만 **넣는 지식·방식**이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[2.5분]</a:t>
            </a:r>
          </a:p>
          <a:p>
            <a:r>
              <a:t>Q: 방향만 알면 CMNN 아닌가? — 맞다. ②가 그 경우.</a:t>
            </a:r>
          </a:p>
          <a:p>
            <a:r>
              <a:t>③ Physics-ML은 방향보다 더 안다 — 열화 peak(Li) 또는 법칙 형태(Aykol).</a:t>
            </a:r>
          </a:p>
          <a:p>
            <a:r>
              <a:t>Li: 고 DoD 학습 → 저 DoD 시험. ML 외삽 실패 → dQ/dV peak를 입력에.</a:t>
            </a:r>
          </a:p>
          <a:p>
            <a:r>
              <a:t>Aykol loss: 단조는 CMNN이 더 적합. Arrhenius·열역학 등 형태를 알 때 loss.</a:t>
            </a:r>
          </a:p>
          <a:p>
            <a:r>
              <a:t>Fesser: soft constraint — OOD 밖 구간에서 재검증 필수.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[1분]</a:t>
            </a:r>
          </a:p>
          <a:p>
            <a:r>
              <a:t>대본: S22 물리 모를 때 — UQ는 경보(숫자+띠), 기권은 차단(예측 없음). 센서 0~10 학습·20 입력 → UQ '5.2 불확실' vs 기권 '예측 안 함'. 고위험: 틀린 숫자 &gt; 기권. Zhu·DeepONet=부록. 다음 — 종합.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핵심 절차 4단계:</a:t>
            </a:r>
          </a:p>
          <a:p>
            <a:r>
              <a:t>① hull 밖 시험 actual 학습 전 분리 (Bartley).</a:t>
            </a:r>
          </a:p>
          <a:p>
            <a:r>
              <a:t>② 지식으로 가정 후보 → 각각 같은 train으로 학습.</a:t>
            </a:r>
          </a:p>
          <a:p>
            <a:r>
              <a:t>③ 같은 밖 시험에 MAPE — train만으론 구분 불가.</a:t>
            </a:r>
          </a:p>
          <a:p>
            <a:r>
              <a:t>④ 제일 잘 맞는 가정·방법 채택 (성능 포함).</a:t>
            </a:r>
          </a:p>
          <a:p>
            <a:r>
              <a:t>주의: 지식 먼저 · 시험 범위 한정 · 시험 없으면 UQ+기권.</a:t>
            </a:r>
          </a:p>
          <a:p>
            <a:r>
              <a:t>위 그림=진단(같은 train·다른 밖). 다음 S25=실무 4단계.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S24 절차를 현장 언어로.</a:t>
            </a:r>
          </a:p>
          <a:p>
            <a:r>
              <a:t>① 범위 ② 가정·방법 ③ 밖 시험 MAPE+UQ ④ 배포/기권.</a:t>
            </a:r>
          </a:p>
          <a:p>
            <a:r>
              <a:t>시험 데이터 없으면 숫자 판단 불가 → UQ+기권.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관통 문장(hero) → 2×2 스토리(①~④) → 필독 3편.</a:t>
            </a:r>
          </a:p>
          <a:p>
            <a:r>
              <a:t>더 읽기: Pfister·Fesser·Zhu·Li. Q&amp;A로.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[Q&amp;A]</a:t>
            </a:r>
          </a:p>
          <a:p>
            <a:r>
              <a:t>예상 질문 대비:</a:t>
            </a:r>
          </a:p>
          <a:p>
            <a:r>
              <a:t>Q. '데이터를 엄청 키우면 (foundation model) 해결 안 되나?' → 범위가 커질 뿐 범위 밖은 여전히 존재. 함수를 못 정하는 건 데이터 양이 아니라 범위의 문제.</a:t>
            </a:r>
          </a:p>
          <a:p>
            <a:r>
              <a:t>Q. 'ReLU 말고 다른 활성화면?' → Xu Fig.5 — 밖의 모양이 바뀔 뿐 '가정이 생긴다'는 구조는 동일.</a:t>
            </a:r>
          </a:p>
          <a:p>
            <a:r>
              <a:t>Q. '단조 가정이 틀린 데이터면?' → 방법 1과 같은 리스크. 그래서 검증 + 민감도 확인이 필수.</a:t>
            </a:r>
          </a:p>
          <a:p>
            <a:r>
              <a:t>Q. 'IRM·DomainBed는?' → **분류 domain generalization**. 회귀 extrap 본문 **범위 밖**. baseline 공정 비교 **교훈만** 차용.</a:t>
            </a:r>
          </a:p>
          <a:p>
            <a:r>
              <a:t>Q. '분류 extrap은?' → reject/OOD — **별도** 주제 (INDEX 참고).</a:t>
            </a:r>
          </a:p>
          <a:p>
            <a:r>
              <a:t>Q. 'Physics-ML/PDE-ML 실패는 해결됐나?' → 완화책은 있으나 '검증 별도' 원칙은 유지.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[Q&amp;A]</a:t>
            </a:r>
          </a:p>
          <a:p>
            <a:r>
              <a:t>예상 질문 대비:</a:t>
            </a:r>
          </a:p>
          <a:p>
            <a:r>
              <a:t>Q. '데이터를 엄청 키우면 (foundation model) 해결 안 되나?' → 범위가 커질 뿐 범위 밖은 여전히 존재. 함수를 못 정하는 건 데이터 양이 아니라 범위의 문제.</a:t>
            </a:r>
          </a:p>
          <a:p>
            <a:r>
              <a:t>Q. 'ReLU 말고 다른 활성화면?' → Xu Fig.5 — 밖의 모양이 바뀔 뿐 '가정이 생긴다'는 구조는 동일.</a:t>
            </a:r>
          </a:p>
          <a:p>
            <a:r>
              <a:t>Q. '단조 가정이 틀린 데이터면?' → 방법 1과 같은 리스크. 그래서 검증 + 민감도 확인이 필수.</a:t>
            </a:r>
          </a:p>
          <a:p>
            <a:r>
              <a:t>Q. 'IRM·DomainBed는?' → **분류 domain generalization**. 회귀 extrap 본문 **범위 밖**. baseline 공정 비교 **교훈만** 차용.</a:t>
            </a:r>
          </a:p>
          <a:p>
            <a:r>
              <a:t>Q. '분류 extrap은?' → reject/OOD — **별도** 주제 (INDEX 참고).</a:t>
            </a:r>
          </a:p>
          <a:p>
            <a:r>
              <a:t>Q. 'Physics-ML/PDE-ML 실패는 해결됐나?' → 완화책은 있으나 '검증 별도' 원칙은 유지.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0336184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A075C7E8-4B71-0F55-EA89-51AE69A86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0" t="5694" r="659" b="1036"/>
          <a:stretch/>
        </p:blipFill>
        <p:spPr>
          <a:xfrm>
            <a:off x="-1" y="6502400"/>
            <a:ext cx="12192001" cy="355600"/>
          </a:xfrm>
          <a:prstGeom prst="rect">
            <a:avLst/>
          </a:prstGeom>
        </p:spPr>
      </p:pic>
      <p:sp>
        <p:nvSpPr>
          <p:cNvPr id="4" name="제목 개체 틀 1">
            <a:extLst>
              <a:ext uri="{FF2B5EF4-FFF2-40B4-BE49-F238E27FC236}">
                <a16:creationId xmlns:a16="http://schemas.microsoft.com/office/drawing/2014/main" id="{A68430DE-0FB8-4C3F-A853-78BCFFFD9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27" y="329566"/>
            <a:ext cx="10680774" cy="554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A4B6BFEE-3E50-4AA0-908F-D9FCB6782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027" y="912499"/>
            <a:ext cx="10680774" cy="5264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5E0451-681E-43E3-BD3B-7EC363B8E744}"/>
              </a:ext>
            </a:extLst>
          </p:cNvPr>
          <p:cNvSpPr txBox="1"/>
          <p:nvPr userDrawn="1"/>
        </p:nvSpPr>
        <p:spPr>
          <a:xfrm>
            <a:off x="18152" y="6575901"/>
            <a:ext cx="993412" cy="25917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</a:rPr>
              <a:t>Confidential</a:t>
            </a:r>
            <a:endParaRPr kumimoji="0" lang="ko-KR" altLang="en-US" sz="1000" b="1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368F41-ACB2-45C7-BA39-F99350C042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90133" y="6619281"/>
            <a:ext cx="2658864" cy="190240"/>
          </a:xfrm>
          <a:prstGeom prst="rect">
            <a:avLst/>
          </a:prstGeom>
          <a:noFill/>
          <a:ln w="12700" algn="ctr">
            <a:noFill/>
            <a:round/>
            <a:headEnd/>
            <a:tailEnd/>
          </a:ln>
        </p:spPr>
        <p:txBody>
          <a:bodyPr wrap="none" lIns="18000" tIns="18000" rIns="18000" bIns="1800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Ⓒ</a:t>
            </a:r>
            <a:r>
              <a:rPr kumimoji="1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2024 LG Energy Solution, Ltd. </a:t>
            </a:r>
            <a:r>
              <a:rPr kumimoji="1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All rights reserved.</a:t>
            </a:r>
            <a:endParaRPr kumimoji="1" lang="ko-KR" altLang="ko-KR" sz="1000" b="1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BA72A0BE-859C-4A98-8977-3485E0E4570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32923" y="504000"/>
            <a:ext cx="11918769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sz="18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2273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hyperlink" Target="paper_pdfs/Liu2023_OOD_Generalization_Survey.pdf" TargetMode="External"/><Relationship Id="rId5" Type="http://schemas.openxmlformats.org/officeDocument/2006/relationships/hyperlink" Target="paper_pdfs/Bartley2019_Characterizing_Extrapolation_Multivariate.pdf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hyperlink" Target="paper_pdfs/Bartley2019_Characterizing_Extrapolation_Multivariate.pdf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paper_pdfs/Pfister2024_Extrapolation-Aware_Nonparametric_Inference.pdf" TargetMode="External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hyperlink" Target="paper_pdfs/Bartley2019_Characterizing_Extrapolation_Multivariate.pdf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hyperlink" Target="paper_pdfs/Xu2021_How_Neural_Networks_Extrapolate.pdf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hyperlink" Target="paper_pdfs/Xu2021_How_Neural_Networks_Extrapolate.pdf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hyperlink" Target="paper_pdfs/Martius2016_Extrapolation_Learning_Equations_EQL.pdf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hyperlink" Target="paper_pdfs/Trask2018_Neural_Arithmetic_Logic_Units_NALU.pdf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hyperlink" Target="paper_pdfs/Runje2023_Constrained_Monotonic_NN.pdf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hyperlink" Target="paper_pdfs/Runje2023_Constrained_Monotonic_NN.pdf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hyperlink" Target="paper_pdfs/Li2023_Predicting_Battery_Lifetime_Varying_Conditions.pdf" TargetMode="External"/><Relationship Id="rId5" Type="http://schemas.openxmlformats.org/officeDocument/2006/relationships/hyperlink" Target="paper_pdfs/Aykol2021_Physics_ML_Battery_Lifetime.pdf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hyperlink" Target="paper_pdfs/Ghahramani2013_Bayesian_Nonparametrics.pdf" TargetMode="External"/><Relationship Id="rId5" Type="http://schemas.openxmlformats.org/officeDocument/2006/relationships/hyperlink" Target="paper_pdfs/Zhu2022_Reliable_Extrapolation_DeepONet.pdf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Relationship Id="rId4" Type="http://schemas.openxmlformats.org/officeDocument/2006/relationships/hyperlink" Target="paper_pdfs/Bartley2019_Characterizing_Extrapolation_Multivariate.pdf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hyperlink" Target="paper_pdfs/Xu2021_How_Neural_Networks_Extrapolate.pdf" TargetMode="External"/><Relationship Id="rId4" Type="http://schemas.openxmlformats.org/officeDocument/2006/relationships/hyperlink" Target="paper_pdfs/Runje2023_Constrained_Monotonic_NN.pdf" TargetMode="External"/><Relationship Id="rId5" Type="http://schemas.openxmlformats.org/officeDocument/2006/relationships/hyperlink" Target="paper_pdfs/Bartley2019_Characterizing_Extrapolation_Multivariate.pdf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hyperlink" Target="paper_pdfs/Xu2021_How_Neural_Networks_Extrapolate.pdf" TargetMode="External"/><Relationship Id="rId4" Type="http://schemas.openxmlformats.org/officeDocument/2006/relationships/hyperlink" Target="paper_pdfs/Pfister2024_Extrapolation-Aware_Nonparametric_Inference.pdf" TargetMode="External"/><Relationship Id="rId5" Type="http://schemas.openxmlformats.org/officeDocument/2006/relationships/hyperlink" Target="paper_pdfs/Bartley2019_Characterizing_Extrapolation_Multivariate.pdf" TargetMode="External"/><Relationship Id="rId6" Type="http://schemas.openxmlformats.org/officeDocument/2006/relationships/hyperlink" Target="paper_pdfs/Martius2016_Extrapolation_Learning_Equations_EQL.pdf" TargetMode="External"/><Relationship Id="rId7" Type="http://schemas.openxmlformats.org/officeDocument/2006/relationships/hyperlink" Target="paper_pdfs/Trask2018_Neural_Arithmetic_Logic_Units_NALU.pdf" TargetMode="External"/><Relationship Id="rId8" Type="http://schemas.openxmlformats.org/officeDocument/2006/relationships/hyperlink" Target="paper_pdfs/Runje2023_Constrained_Monotonic_NN.pdf" TargetMode="External"/><Relationship Id="rId9" Type="http://schemas.openxmlformats.org/officeDocument/2006/relationships/hyperlink" Target="paper_pdfs/Aykol2021_Physics_ML_Battery_Lifetime.pdf" TargetMode="External"/><Relationship Id="rId10" Type="http://schemas.openxmlformats.org/officeDocument/2006/relationships/hyperlink" Target="paper_pdfs/Li2023_Predicting_Battery_Lifetime_Varying_Conditions.pdf" TargetMode="External"/><Relationship Id="rId11" Type="http://schemas.openxmlformats.org/officeDocument/2006/relationships/hyperlink" Target="paper_pdfs/Raissi2019_Physics_Informed_Neural_Networks.pdf" TargetMode="External"/><Relationship Id="rId12" Type="http://schemas.openxmlformats.org/officeDocument/2006/relationships/hyperlink" Target="paper_pdfs/Fesser2023_Extrapolation_Failures_PINNs.pdf" TargetMode="External"/><Relationship Id="rId13" Type="http://schemas.openxmlformats.org/officeDocument/2006/relationships/hyperlink" Target="paper_pdfs/Ghahramani2013_Bayesian_Nonparametrics.pdf" TargetMode="External"/><Relationship Id="rId14" Type="http://schemas.openxmlformats.org/officeDocument/2006/relationships/hyperlink" Target="paper_pdfs/Zhu2022_Reliable_Extrapolation_DeepONet.pdf" TargetMode="External"/><Relationship Id="rId15" Type="http://schemas.openxmlformats.org/officeDocument/2006/relationships/hyperlink" Target="paper_pdfs/&#50808;&#49341;_&#50756;&#51204;&#51221;&#48373;_&#54617;&#49845;&#45432;&#53944;.pdf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hyperlink" Target="paper_pdfs/Xu2021_How_Neural_Networks_Extrapolate.pdf" TargetMode="External"/><Relationship Id="rId4" Type="http://schemas.openxmlformats.org/officeDocument/2006/relationships/hyperlink" Target="paper_pdfs/Pfister2024_Extrapolation-Aware_Nonparametric_Inference.pdf" TargetMode="External"/><Relationship Id="rId5" Type="http://schemas.openxmlformats.org/officeDocument/2006/relationships/hyperlink" Target="paper_pdfs/Bartley2019_Characterizing_Extrapolation_Multivariate.pdf" TargetMode="External"/><Relationship Id="rId6" Type="http://schemas.openxmlformats.org/officeDocument/2006/relationships/hyperlink" Target="paper_pdfs/Martius2016_Extrapolation_Learning_Equations_EQL.pdf" TargetMode="External"/><Relationship Id="rId7" Type="http://schemas.openxmlformats.org/officeDocument/2006/relationships/hyperlink" Target="paper_pdfs/Trask2018_Neural_Arithmetic_Logic_Units_NALU.pdf" TargetMode="External"/><Relationship Id="rId8" Type="http://schemas.openxmlformats.org/officeDocument/2006/relationships/hyperlink" Target="paper_pdfs/Runje2023_Constrained_Monotonic_NN.pdf" TargetMode="External"/><Relationship Id="rId9" Type="http://schemas.openxmlformats.org/officeDocument/2006/relationships/hyperlink" Target="paper_pdfs/Aykol2021_Physics_ML_Battery_Lifetime.pdf" TargetMode="External"/><Relationship Id="rId10" Type="http://schemas.openxmlformats.org/officeDocument/2006/relationships/hyperlink" Target="paper_pdfs/Li2023_Predicting_Battery_Lifetime_Varying_Conditions.pdf" TargetMode="External"/><Relationship Id="rId11" Type="http://schemas.openxmlformats.org/officeDocument/2006/relationships/hyperlink" Target="paper_pdfs/Raissi2019_Physics_Informed_Neural_Networks.pdf" TargetMode="External"/><Relationship Id="rId12" Type="http://schemas.openxmlformats.org/officeDocument/2006/relationships/hyperlink" Target="paper_pdfs/Fesser2023_Extrapolation_Failures_PINNs.pdf" TargetMode="External"/><Relationship Id="rId13" Type="http://schemas.openxmlformats.org/officeDocument/2006/relationships/hyperlink" Target="paper_pdfs/Ghahramani2013_Bayesian_Nonparametrics.pdf" TargetMode="External"/><Relationship Id="rId14" Type="http://schemas.openxmlformats.org/officeDocument/2006/relationships/hyperlink" Target="paper_pdfs/Zhu2022_Reliable_Extrapolation_DeepONet.pdf" TargetMode="External"/><Relationship Id="rId15" Type="http://schemas.openxmlformats.org/officeDocument/2006/relationships/hyperlink" Target="paper_pdfs/&#50808;&#49341;_&#50756;&#51204;&#51221;&#48373;_&#54617;&#49845;&#45432;&#53944;.pdf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6.png"/><Relationship Id="rId3" Type="http://schemas.microsoft.com/office/2007/relationships/hdphoto" Target="../media/hdphoto1.wdp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8.png"/><Relationship Id="rId3" Type="http://schemas.openxmlformats.org/officeDocument/2006/relationships/image" Target="../media/image3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21808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논문 기반 세미나  ·  50분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ple SD Gothic Neo"/>
                <a:ea typeface="Apple SD Gothic Neo"/>
              </a:rPr>
              <a:t>회귀 외삽 (Regression Extrapolation)
훈련 범위 밖 연속값 예측 — 정의 · 실패 원인 · 대응법 · 성능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8C4D0"/>
                </a:solidFill>
                <a:latin typeface="Apple SD Gothic Neo"/>
                <a:ea typeface="Apple SD Gothic Neo"/>
              </a:rPr>
              <a:t>범위: tabular·시계열 </a:t>
            </a:r>
            <a:r>
              <a:rPr sz="1600" b="1">
                <a:solidFill>
                  <a:srgbClr val="B8C4D0"/>
                </a:solidFill>
                <a:latin typeface="Apple SD Gothic Neo"/>
                <a:ea typeface="Apple SD Gothic Neo"/>
              </a:rPr>
              <a:t>회귀</a:t>
            </a:r>
            <a:r>
              <a:rPr sz="1600" b="0">
                <a:solidFill>
                  <a:srgbClr val="B8C4D0"/>
                </a:solidFill>
                <a:latin typeface="Apple SD Gothic Neo"/>
                <a:ea typeface="Apple SD Gothic Neo"/>
              </a:rPr>
              <a:t>  ·  분류·DG(OOD)는 본 세미나 </a:t>
            </a:r>
            <a:r>
              <a:rPr sz="1600" b="1">
                <a:solidFill>
                  <a:srgbClr val="B8C4D0"/>
                </a:solidFill>
                <a:latin typeface="Apple SD Gothic Neo"/>
                <a:ea typeface="Apple SD Gothic Neo"/>
              </a:rPr>
              <a:t>범위 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E7C8C"/>
                </a:solidFill>
                <a:latin typeface="Apple SD Gothic Neo"/>
                <a:ea typeface="Apple SD Gothic Neo"/>
              </a:rPr>
              <a:t>1부 정의  ·  2부 실패  ·  3부 대응 → 종합 → 검증 → </a:t>
            </a:r>
            <a:r>
              <a:rPr sz="1500" b="1">
                <a:solidFill>
                  <a:srgbClr val="6E7C8C"/>
                </a:solidFill>
                <a:latin typeface="Apple SD Gothic Neo"/>
                <a:ea typeface="Apple SD Gothic Neo"/>
              </a:rPr>
              <a:t>실무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Kookmin Univ. IE Lab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extrapolation-papers ·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발표 구조 — 회귀 외삽 · 정의 · 실패 · 대응 ·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three_ques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8992"/>
            <a:ext cx="11155680" cy="249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3913632"/>
            <a:ext cx="370332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3913632"/>
            <a:ext cx="54864" cy="18288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4041648"/>
            <a:ext cx="3355848" cy="131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1부 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외삽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정의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OOD vs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—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금번 세미나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1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에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초점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보간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vs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— 새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입력이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범위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안/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밖인지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훈련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범위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= convex hull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내부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적합도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≠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성능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논문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Bartley 2019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913632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06240" y="3913632"/>
            <a:ext cx="54864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07408" y="4041648"/>
            <a:ext cx="353872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2부  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실패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원인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 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①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데이터만으론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못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고름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— Pfister 2024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②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데이터 분포는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훈련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범위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밖 — Bartley 2019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③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밖에선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불확실성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↑ — Ghahramani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④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ReLU→직선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— Xu 2021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913632"/>
            <a:ext cx="370332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3913632"/>
            <a:ext cx="54864" cy="18288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4041648"/>
            <a:ext cx="3630168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3부 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대응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·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검증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·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실무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  <a:r>
              <a:rPr lang="ko-KR" altLang="en-US"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사례</a:t>
            </a:r>
            <a:endParaRPr sz="12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대응법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—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지식별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가정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4종 (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EQL·CMNN·Physics-ML·UQ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종합·검증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— 밖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시험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· MAPE ·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정의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·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실패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·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대응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·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검증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·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실무</a:t>
            </a:r>
            <a:endParaRPr sz="1200" b="1" dirty="0">
              <a:solidFill>
                <a:srgbClr val="ECF1F7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 dirty="0" err="1">
                <a:solidFill>
                  <a:srgbClr val="B8C4D0"/>
                </a:solidFill>
                <a:latin typeface="Apple SD Gothic Neo"/>
                <a:ea typeface="Apple SD Gothic Neo"/>
              </a:rPr>
              <a:t>핵심</a:t>
            </a:r>
            <a:r>
              <a:rPr sz="1000" b="0" dirty="0">
                <a:solidFill>
                  <a:srgbClr val="B8C4D0"/>
                </a:solidFill>
                <a:latin typeface="Apple SD Gothic Neo"/>
                <a:ea typeface="Apple SD Gothic Neo"/>
              </a:rPr>
              <a:t>: 밖 </a:t>
            </a:r>
            <a:r>
              <a:rPr sz="1000" b="0" dirty="0" err="1">
                <a:solidFill>
                  <a:srgbClr val="B8C4D0"/>
                </a:solidFill>
                <a:latin typeface="Apple SD Gothic Neo"/>
                <a:ea typeface="Apple SD Gothic Neo"/>
              </a:rPr>
              <a:t>예측을</a:t>
            </a:r>
            <a:r>
              <a:rPr sz="1000" b="0" dirty="0">
                <a:solidFill>
                  <a:srgbClr val="B8C4D0"/>
                </a:solidFill>
                <a:latin typeface="Apple SD Gothic Neo"/>
                <a:ea typeface="Apple SD Gothic Neo"/>
              </a:rPr>
              <a:t> </a:t>
            </a:r>
            <a:r>
              <a:rPr sz="1000" b="0" dirty="0" err="1">
                <a:solidFill>
                  <a:srgbClr val="B8C4D0"/>
                </a:solidFill>
                <a:latin typeface="Apple SD Gothic Neo"/>
                <a:ea typeface="Apple SD Gothic Neo"/>
              </a:rPr>
              <a:t>정당화하는</a:t>
            </a:r>
            <a:r>
              <a:rPr sz="1000" b="0" dirty="0">
                <a:solidFill>
                  <a:srgbClr val="B8C4D0"/>
                </a:solidFill>
                <a:latin typeface="Apple SD Gothic Neo"/>
                <a:ea typeface="Apple SD Gothic Neo"/>
              </a:rPr>
              <a:t> 건 </a:t>
            </a:r>
            <a:r>
              <a:rPr sz="1000" b="0" dirty="0" err="1">
                <a:solidFill>
                  <a:srgbClr val="B8C4D0"/>
                </a:solidFill>
                <a:latin typeface="Apple SD Gothic Neo"/>
                <a:ea typeface="Apple SD Gothic Neo"/>
              </a:rPr>
              <a:t>데이터가</a:t>
            </a:r>
            <a:r>
              <a:rPr sz="1000" b="0" dirty="0">
                <a:solidFill>
                  <a:srgbClr val="B8C4D0"/>
                </a:solidFill>
                <a:latin typeface="Apple SD Gothic Neo"/>
                <a:ea typeface="Apple SD Gothic Neo"/>
              </a:rPr>
              <a:t> </a:t>
            </a:r>
            <a:r>
              <a:rPr sz="1000" b="0" dirty="0" err="1">
                <a:solidFill>
                  <a:srgbClr val="B8C4D0"/>
                </a:solidFill>
                <a:latin typeface="Apple SD Gothic Neo"/>
                <a:ea typeface="Apple SD Gothic Neo"/>
              </a:rPr>
              <a:t>아니라</a:t>
            </a:r>
            <a:r>
              <a:rPr sz="1000" b="0" dirty="0">
                <a:solidFill>
                  <a:srgbClr val="B8C4D0"/>
                </a:solidFill>
                <a:latin typeface="Apple SD Gothic Neo"/>
                <a:ea typeface="Apple SD Gothic Neo"/>
              </a:rPr>
              <a:t> </a:t>
            </a:r>
            <a:r>
              <a:rPr sz="1000" b="0" dirty="0" err="1">
                <a:solidFill>
                  <a:srgbClr val="B8C4D0"/>
                </a:solidFill>
                <a:latin typeface="Apple SD Gothic Neo"/>
                <a:ea typeface="Apple SD Gothic Neo"/>
              </a:rPr>
              <a:t>가정</a:t>
            </a:r>
            <a:endParaRPr sz="1000" b="0" dirty="0">
              <a:solidFill>
                <a:srgbClr val="B8C4D0"/>
              </a:solidFill>
              <a:latin typeface="Apple SD Gothic Neo"/>
              <a:ea typeface="Apple SD Gothic Ne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용어 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가정(Assumption) — 오늘 발표의 중심 개념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60920" y="1024128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60920" y="1024128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62088" y="1152144"/>
            <a:ext cx="4178808" cy="65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①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가정이란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훈련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범위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밖에서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함수가어떻게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거동할지에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대한</a:t>
            </a:r>
            <a:br>
              <a:rPr lang="en-US" sz="1100" dirty="0">
                <a:solidFill>
                  <a:srgbClr val="A0ADBC"/>
                </a:solidFill>
                <a:latin typeface="Apple SD Gothic Neo"/>
                <a:ea typeface="Apple SD Gothic Neo"/>
              </a:rPr>
            </a:br>
            <a:r>
              <a:rPr lang="en-US" sz="1100" dirty="0">
                <a:solidFill>
                  <a:srgbClr val="A0ADBC"/>
                </a:solidFill>
                <a:latin typeface="Apple SD Gothic Neo"/>
                <a:ea typeface="Apple SD Gothic Neo"/>
              </a:rPr>
              <a:t> 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사전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제약·구조적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지식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60920" y="2578608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60920" y="2578608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62088" y="2706624"/>
            <a:ext cx="4178808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② 왜 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필요한가</a:t>
            </a:r>
            <a:endParaRPr sz="1200" b="1" dirty="0">
              <a:solidFill>
                <a:srgbClr val="E89A5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데이터만으로는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밖을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정할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수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없음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(Pfister 2024)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가정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없이는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어려움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60920" y="4133087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60920" y="4133087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62088" y="4261103"/>
            <a:ext cx="4178808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③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어디에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넣나</a:t>
            </a:r>
            <a:endParaRPr sz="12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활성화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φ →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함수족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가정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단조·PDE·UQ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/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기권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방향·물리·유보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20040" y="4160520"/>
            <a:ext cx="6812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4160520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" y="4288536"/>
            <a:ext cx="6464808" cy="561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④ 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그림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해석</a:t>
            </a:r>
            <a:endParaRPr lang="en-US" sz="1200" b="1" dirty="0">
              <a:solidFill>
                <a:srgbClr val="E89A5C"/>
              </a:solidFill>
              <a:latin typeface="Apple SD Gothic Neo"/>
              <a:ea typeface="Apple SD Gothic Neo"/>
            </a:endParaRPr>
          </a:p>
          <a:p>
            <a:pPr algn="l"/>
            <a:endParaRPr sz="500" b="1" dirty="0">
              <a:solidFill>
                <a:srgbClr val="E89A5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sz="1100" dirty="0" err="1">
                <a:solidFill>
                  <a:schemeClr val="bg1"/>
                </a:solidFill>
              </a:rPr>
              <a:t>훈련</a:t>
            </a:r>
            <a:r>
              <a:rPr sz="1100" dirty="0">
                <a:solidFill>
                  <a:schemeClr val="bg1"/>
                </a:solidFill>
              </a:rPr>
              <a:t> — </a:t>
            </a:r>
            <a:r>
              <a:rPr sz="1100" dirty="0" err="1">
                <a:solidFill>
                  <a:schemeClr val="bg1"/>
                </a:solidFill>
              </a:rPr>
              <a:t>하나로</a:t>
            </a:r>
            <a:r>
              <a:rPr sz="1100" dirty="0">
                <a:solidFill>
                  <a:schemeClr val="bg1"/>
                </a:solidFill>
              </a:rPr>
              <a:t> </a:t>
            </a:r>
            <a:r>
              <a:rPr sz="1100" dirty="0" err="1">
                <a:solidFill>
                  <a:schemeClr val="bg1"/>
                </a:solidFill>
              </a:rPr>
              <a:t>보임</a:t>
            </a:r>
            <a:r>
              <a:rPr sz="1100" dirty="0">
                <a:solidFill>
                  <a:schemeClr val="bg1"/>
                </a:solidFill>
              </a:rPr>
              <a:t> (</a:t>
            </a:r>
            <a:r>
              <a:rPr sz="1100" dirty="0" err="1">
                <a:solidFill>
                  <a:schemeClr val="bg1"/>
                </a:solidFill>
              </a:rPr>
              <a:t>가정</a:t>
            </a:r>
            <a:r>
              <a:rPr sz="1100" dirty="0">
                <a:solidFill>
                  <a:schemeClr val="bg1"/>
                </a:solidFill>
              </a:rPr>
              <a:t> </a:t>
            </a:r>
            <a:r>
              <a:rPr sz="1100" dirty="0" err="1">
                <a:solidFill>
                  <a:schemeClr val="bg1"/>
                </a:solidFill>
              </a:rPr>
              <a:t>구분</a:t>
            </a:r>
            <a:r>
              <a:rPr sz="1100" dirty="0">
                <a:solidFill>
                  <a:schemeClr val="bg1"/>
                </a:solidFill>
              </a:rPr>
              <a:t> </a:t>
            </a:r>
            <a:r>
              <a:rPr sz="1100" dirty="0" err="1">
                <a:solidFill>
                  <a:schemeClr val="bg1"/>
                </a:solidFill>
              </a:rPr>
              <a:t>불가</a:t>
            </a:r>
            <a:r>
              <a:rPr sz="1100" dirty="0">
                <a:solidFill>
                  <a:schemeClr val="bg1"/>
                </a:solidFill>
              </a:rPr>
              <a:t>)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sz="1100" dirty="0">
                <a:solidFill>
                  <a:schemeClr val="bg1"/>
                </a:solidFill>
              </a:rPr>
              <a:t>x&gt;2 밖 — </a:t>
            </a:r>
            <a:r>
              <a:rPr sz="1100" dirty="0" err="1">
                <a:solidFill>
                  <a:schemeClr val="bg1"/>
                </a:solidFill>
              </a:rPr>
              <a:t>가정</a:t>
            </a:r>
            <a:r>
              <a:rPr sz="1100" dirty="0">
                <a:solidFill>
                  <a:schemeClr val="bg1"/>
                </a:solidFill>
              </a:rPr>
              <a:t> </a:t>
            </a:r>
            <a:r>
              <a:rPr sz="1100" dirty="0" err="1">
                <a:solidFill>
                  <a:schemeClr val="bg1"/>
                </a:solidFill>
              </a:rPr>
              <a:t>연장마다</a:t>
            </a:r>
            <a:r>
              <a:rPr sz="1100" dirty="0">
                <a:solidFill>
                  <a:schemeClr val="bg1"/>
                </a:solidFill>
              </a:rPr>
              <a:t> </a:t>
            </a:r>
            <a:r>
              <a:rPr sz="1100" dirty="0" err="1">
                <a:solidFill>
                  <a:schemeClr val="bg1"/>
                </a:solidFill>
              </a:rPr>
              <a:t>예측</a:t>
            </a:r>
            <a:r>
              <a:rPr sz="1100" dirty="0">
                <a:solidFill>
                  <a:schemeClr val="bg1"/>
                </a:solidFill>
              </a:rPr>
              <a:t> </a:t>
            </a:r>
            <a:r>
              <a:rPr sz="1100" dirty="0" err="1">
                <a:solidFill>
                  <a:schemeClr val="bg1"/>
                </a:solidFill>
              </a:rPr>
              <a:t>다름</a:t>
            </a:r>
            <a:endParaRPr sz="1100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 / 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43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가정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=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밖에서의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함수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거동을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미리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제약하는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사전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지식</a:t>
            </a:r>
            <a:endParaRPr sz="1200" b="1" dirty="0">
              <a:solidFill>
                <a:srgbClr val="ECF1F7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 dirty="0" err="1">
                <a:solidFill>
                  <a:srgbClr val="B8C4D0"/>
                </a:solidFill>
                <a:latin typeface="Apple SD Gothic Neo"/>
                <a:ea typeface="Apple SD Gothic Neo"/>
              </a:rPr>
              <a:t>같은</a:t>
            </a:r>
            <a:r>
              <a:rPr sz="1000" b="0" dirty="0">
                <a:solidFill>
                  <a:srgbClr val="B8C4D0"/>
                </a:solidFill>
                <a:latin typeface="Apple SD Gothic Neo"/>
                <a:ea typeface="Apple SD Gothic Neo"/>
              </a:rPr>
              <a:t> </a:t>
            </a:r>
            <a:r>
              <a:rPr sz="1000" b="0" dirty="0" err="1">
                <a:solidFill>
                  <a:srgbClr val="B8C4D0"/>
                </a:solidFill>
                <a:latin typeface="Apple SD Gothic Neo"/>
                <a:ea typeface="Apple SD Gothic Neo"/>
              </a:rPr>
              <a:t>훈련</a:t>
            </a:r>
            <a:r>
              <a:rPr sz="1000" b="0" dirty="0">
                <a:solidFill>
                  <a:srgbClr val="B8C4D0"/>
                </a:solidFill>
                <a:latin typeface="Apple SD Gothic Neo"/>
                <a:ea typeface="Apple SD Gothic Neo"/>
              </a:rPr>
              <a:t> </a:t>
            </a:r>
            <a:r>
              <a:rPr sz="1000" b="0" dirty="0" err="1">
                <a:solidFill>
                  <a:srgbClr val="B8C4D0"/>
                </a:solidFill>
                <a:latin typeface="Apple SD Gothic Neo"/>
                <a:ea typeface="Apple SD Gothic Neo"/>
              </a:rPr>
              <a:t>데이터</a:t>
            </a:r>
            <a:r>
              <a:rPr sz="1000" b="0" dirty="0">
                <a:solidFill>
                  <a:srgbClr val="B8C4D0"/>
                </a:solidFill>
                <a:latin typeface="Apple SD Gothic Neo"/>
                <a:ea typeface="Apple SD Gothic Neo"/>
              </a:rPr>
              <a:t>, </a:t>
            </a:r>
            <a:r>
              <a:rPr sz="1000" b="0" dirty="0" err="1">
                <a:solidFill>
                  <a:srgbClr val="B8C4D0"/>
                </a:solidFill>
                <a:latin typeface="Apple SD Gothic Neo"/>
                <a:ea typeface="Apple SD Gothic Neo"/>
              </a:rPr>
              <a:t>다른</a:t>
            </a:r>
            <a:r>
              <a:rPr sz="1000" b="0" dirty="0">
                <a:solidFill>
                  <a:srgbClr val="B8C4D0"/>
                </a:solidFill>
                <a:latin typeface="Apple SD Gothic Neo"/>
                <a:ea typeface="Apple SD Gothic Neo"/>
              </a:rPr>
              <a:t> </a:t>
            </a:r>
            <a:r>
              <a:rPr sz="1000" b="0" dirty="0" err="1">
                <a:solidFill>
                  <a:srgbClr val="B8C4D0"/>
                </a:solidFill>
                <a:latin typeface="Apple SD Gothic Neo"/>
                <a:ea typeface="Apple SD Gothic Neo"/>
              </a:rPr>
              <a:t>가정</a:t>
            </a:r>
            <a:r>
              <a:rPr sz="1000" b="0" dirty="0">
                <a:solidFill>
                  <a:srgbClr val="B8C4D0"/>
                </a:solidFill>
                <a:latin typeface="Apple SD Gothic Neo"/>
                <a:ea typeface="Apple SD Gothic Neo"/>
              </a:rPr>
              <a:t> → </a:t>
            </a:r>
            <a:r>
              <a:rPr sz="1000" b="0" dirty="0" err="1">
                <a:solidFill>
                  <a:srgbClr val="B8C4D0"/>
                </a:solidFill>
                <a:latin typeface="Apple SD Gothic Neo"/>
                <a:ea typeface="Apple SD Gothic Neo"/>
              </a:rPr>
              <a:t>다른</a:t>
            </a:r>
            <a:r>
              <a:rPr sz="1000" b="0" dirty="0">
                <a:solidFill>
                  <a:srgbClr val="B8C4D0"/>
                </a:solidFill>
                <a:latin typeface="Apple SD Gothic Neo"/>
                <a:ea typeface="Apple SD Gothic Neo"/>
              </a:rPr>
              <a:t> </a:t>
            </a:r>
            <a:r>
              <a:rPr sz="1000" b="0" dirty="0" err="1">
                <a:solidFill>
                  <a:srgbClr val="B8C4D0"/>
                </a:solidFill>
                <a:latin typeface="Apple SD Gothic Neo"/>
                <a:ea typeface="Apple SD Gothic Neo"/>
              </a:rPr>
              <a:t>외삽</a:t>
            </a:r>
            <a:r>
              <a:rPr lang="en-US" sz="1000" b="0" dirty="0">
                <a:solidFill>
                  <a:srgbClr val="B8C4D0"/>
                </a:solidFill>
                <a:latin typeface="Apple SD Gothic Neo"/>
                <a:ea typeface="Apple SD Gothic Neo"/>
              </a:rPr>
              <a:t> </a:t>
            </a:r>
            <a:r>
              <a:rPr lang="ko-KR" altLang="en-US" sz="1000" b="0" dirty="0">
                <a:solidFill>
                  <a:srgbClr val="B8C4D0"/>
                </a:solidFill>
                <a:latin typeface="Apple SD Gothic Neo"/>
                <a:ea typeface="Apple SD Gothic Neo"/>
              </a:rPr>
              <a:t>결과</a:t>
            </a:r>
            <a:endParaRPr sz="1000" b="0" dirty="0">
              <a:solidFill>
                <a:srgbClr val="B8C4D0"/>
              </a:solidFill>
              <a:latin typeface="Apple SD Gothic Neo"/>
              <a:ea typeface="Apple SD Gothic Neo"/>
            </a:endParaRPr>
          </a:p>
        </p:txBody>
      </p:sp>
      <p:pic>
        <p:nvPicPr>
          <p:cNvPr id="25" name="Picture 24" descr="fig_assumption_def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24128"/>
            <a:ext cx="6480048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5" y="4572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1  ·  5분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1부 · 외삽이란 무엇인가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64276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874004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OOD vs 외삽 — 용어 구분, 오늘은 </a:t>
            </a: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외삽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764276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3874004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보간 vs 외삽: 입력이 훈련 범위 안/밖인지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364476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5474204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훈련 범위의 정확한 정의 = convex hull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5364476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5474204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4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대표 사례: 내부 적합과 외부 발산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OOD vs 외삽 — 오늘은 외삽을 다룹니다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7360920" cy="443484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ood_vs_ex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7223760" cy="42924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8120" y="1051560"/>
            <a:ext cx="40690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19288" y="1179576"/>
            <a:ext cx="3721608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그림 관련 내용</a:t>
            </a:r>
            <a:endParaRPr sz="12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(a) OOD —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train과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test </a:t>
            </a:r>
            <a:r>
              <a:rPr sz="1100" b="1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분포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가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다름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(b)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— </a:t>
            </a:r>
            <a:r>
              <a:rPr sz="1100" b="1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입력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이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hull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⊂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OOD인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경우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1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많음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·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동일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개념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아님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818120" y="2578608"/>
            <a:ext cx="40690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18120" y="2578608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9288" y="2706624"/>
            <a:ext cx="3721608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질문이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다름</a:t>
            </a:r>
            <a:endParaRPr sz="1200" b="1" dirty="0">
              <a:solidFill>
                <a:srgbClr val="E89A5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OOD — '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분포가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다른가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?’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— '</a:t>
            </a:r>
            <a:r>
              <a:rPr sz="1100" b="1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입력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이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훈련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범위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밖인가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?’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concept shift →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hull로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1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판별</a:t>
            </a:r>
            <a:r>
              <a:rPr sz="1100" b="1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1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불가</a:t>
            </a:r>
            <a:endParaRPr sz="1100" b="1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818120" y="4096512"/>
            <a:ext cx="4069080" cy="138988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18120" y="4096512"/>
            <a:ext cx="54864" cy="138988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19288" y="4224528"/>
            <a:ext cx="3721608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오늘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발표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범위</a:t>
            </a:r>
            <a:endParaRPr sz="12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회귀</a:t>
            </a:r>
            <a:r>
              <a:rPr sz="1100" b="1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1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— hull 밖 + </a:t>
            </a:r>
            <a:r>
              <a:rPr sz="1100" b="1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연속</a:t>
            </a:r>
            <a:r>
              <a:rPr sz="1100" b="1" dirty="0">
                <a:solidFill>
                  <a:srgbClr val="A0ADBC"/>
                </a:solidFill>
                <a:latin typeface="Apple SD Gothic Neo"/>
                <a:ea typeface="Apple SD Gothic Neo"/>
              </a:rPr>
              <a:t> y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분류·DG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· IRM/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DomainBed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sz="1100" b="1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다른</a:t>
            </a:r>
            <a:r>
              <a:rPr sz="1100" b="1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1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문제</a:t>
            </a:r>
            <a:endParaRPr sz="1100" b="1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다음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—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보간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/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1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구체화</a:t>
            </a:r>
            <a:endParaRPr sz="1100" b="1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8" name="Rounded Rectangle 17">
            <a:hlinkClick r:id="rId4"/>
          </p:cNvPr>
          <p:cNvSpPr/>
          <p:nvPr/>
        </p:nvSpPr>
        <p:spPr>
          <a:xfrm>
            <a:off x="891540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OOD survey</a:t>
            </a:r>
          </a:p>
        </p:txBody>
      </p:sp>
      <p:sp>
        <p:nvSpPr>
          <p:cNvPr id="19" name="Rounded Rectangle 18">
            <a:hlinkClick r:id="rId5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외삽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= 훈련 범위(hull) 밖에서의 예측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interp_ex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7406640" cy="26279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251960"/>
            <a:ext cx="736092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25196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379976"/>
            <a:ext cx="701344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적용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키 160~180cm로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학습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→ 175cm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예측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=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보간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(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안전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같은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모델에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195cm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예측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=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(본 적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없음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여름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데이터로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학습한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전력수요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모델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겨울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예측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=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(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시간축도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마찬가지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097280"/>
            <a:ext cx="3977639" cy="2377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63840" y="1097280"/>
            <a:ext cx="54864" cy="2377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65008" y="1225296"/>
            <a:ext cx="3630167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판별 기준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 x가 훈련 범위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안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보간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 x가 훈련 범위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외삽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같은 모델도 입력마다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보간·외삽 동시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먼저 확인: '이 입력, 범위 밖?'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피할 말: '모델이 외삽?' (입력 기준)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611880"/>
            <a:ext cx="3977639" cy="2011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0" y="3611880"/>
            <a:ext cx="54864" cy="20116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65008" y="3739896"/>
            <a:ext cx="3630167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그림·기호 약속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= 훈련 범위 (hull)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밖 = 외삽 구간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이후 모든 장표에서 동일 좌표계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논문: Bartley 2019 (훈련 범위 정의)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6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입력이 훈련 범위 안 — 보간 · 밖 — 외삽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같은 모델도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입력이 범위 안/밖</a:t>
            </a: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에 따라 달라짐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외삽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'훈련 범위'를 수학적으로 — convex hull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convex_h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6217920" cy="32722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754880"/>
            <a:ext cx="6720840" cy="914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754880"/>
            <a:ext cx="54864" cy="914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882896"/>
            <a:ext cx="63733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조합의 함정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20~30°C·습도 40~60%로 학습 → (35°C, 50%) 예측 =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함정: (22도, 59%)처럼 '변수별로는 범위 안'이어도 조합이 훈련 범위 밖일 수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097280"/>
            <a:ext cx="4572000" cy="2560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69480" y="1097280"/>
            <a:ext cx="54864" cy="2560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70648" y="1225296"/>
            <a:ext cx="434340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convex hull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  <a:br>
              <a:rPr lang="en-US"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</a:br>
            <a:br>
              <a:rPr lang="en-US" sz="300" b="1" dirty="0">
                <a:solidFill>
                  <a:srgbClr val="3DD6C6"/>
                </a:solidFill>
                <a:latin typeface="Apple SD Gothic Neo"/>
                <a:ea typeface="Apple SD Gothic Neo"/>
              </a:rPr>
            </a:b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>
                <a:solidFill>
                  <a:srgbClr val="3DD6C6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① </a:t>
            </a:r>
            <a:r>
              <a:rPr sz="1200" b="1" dirty="0" err="1">
                <a:solidFill>
                  <a:srgbClr val="3DD6C6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개념</a:t>
            </a:r>
            <a:r>
              <a:rPr sz="1200" b="1" dirty="0">
                <a:solidFill>
                  <a:srgbClr val="3DD6C6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</a:t>
            </a:r>
            <a:br>
              <a:rPr lang="en-US" sz="1200" b="1" dirty="0">
                <a:solidFill>
                  <a:srgbClr val="3DD6C6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endParaRPr sz="500" b="1" dirty="0">
              <a:solidFill>
                <a:srgbClr val="3DD6C6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 </a:t>
            </a:r>
            <a:r>
              <a:rPr lang="en-US" altLang="ko-KR"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–</a:t>
            </a:r>
            <a:r>
              <a:rPr lang="en-US" sz="110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훈련</a:t>
            </a:r>
            <a:r>
              <a:rPr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row(●)</a:t>
            </a:r>
            <a:r>
              <a:rPr sz="1100" b="0" dirty="0" err="1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들을</a:t>
            </a:r>
            <a:r>
              <a:rPr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고무줄로</a:t>
            </a:r>
            <a:r>
              <a:rPr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감싼</a:t>
            </a:r>
            <a:r>
              <a:rPr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영역</a:t>
            </a:r>
            <a:endParaRPr lang="en-US" sz="1100" b="0" dirty="0">
              <a:solidFill>
                <a:srgbClr val="A0ADBC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en-US" sz="1100" dirty="0">
              <a:solidFill>
                <a:srgbClr val="A0ADBC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3DD6C6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② 수식</a:t>
            </a:r>
            <a:br>
              <a:rPr lang="en-US"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br>
              <a:rPr lang="en-US" sz="50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sz="110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</a:t>
            </a:r>
            <a:r>
              <a:rPr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수식</a:t>
            </a:r>
            <a:r>
              <a:rPr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— Conv(</a:t>
            </a:r>
            <a:r>
              <a:rPr sz="1100" b="0" dirty="0" err="1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X_train</a:t>
            </a:r>
            <a:r>
              <a:rPr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 = { x = Σ α_</a:t>
            </a:r>
            <a:r>
              <a:rPr sz="1100" b="0" dirty="0" err="1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i</a:t>
            </a:r>
            <a:r>
              <a:rPr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x_i</a:t>
            </a:r>
            <a:r>
              <a:rPr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|</a:t>
            </a:r>
            <a:r>
              <a:rPr sz="1100" b="0" dirty="0" err="1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x_i</a:t>
            </a:r>
            <a:r>
              <a:rPr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= row (</a:t>
            </a:r>
            <a:r>
              <a:rPr sz="1100" b="0" dirty="0" err="1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모든</a:t>
            </a:r>
            <a:r>
              <a:rPr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컬럼</a:t>
            </a:r>
            <a:r>
              <a:rPr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),  </a:t>
            </a:r>
            <a:r>
              <a:rPr lang="en-US"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</a:t>
            </a:r>
            <a:br>
              <a:rPr lang="en-US"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                                          </a:t>
            </a:r>
            <a:r>
              <a:rPr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α_</a:t>
            </a:r>
            <a:r>
              <a:rPr sz="1100" b="0" dirty="0" err="1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i</a:t>
            </a:r>
            <a:r>
              <a:rPr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≥ 0,  Σ α_</a:t>
            </a:r>
            <a:r>
              <a:rPr sz="1100" b="0" dirty="0" err="1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i</a:t>
            </a:r>
            <a:r>
              <a:rPr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= 1 }</a:t>
            </a:r>
            <a:endParaRPr lang="en-US" sz="1100" b="0" dirty="0">
              <a:solidFill>
                <a:srgbClr val="A0ADBC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en-US" sz="300" dirty="0">
              <a:solidFill>
                <a:srgbClr val="A0ADBC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1" i="0" dirty="0"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</a:t>
            </a:r>
            <a:r>
              <a:rPr lang="en-US" altLang="ko-KR" sz="110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sz="1100" b="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– </a:t>
            </a:r>
            <a:r>
              <a:rPr lang="ko-KR" altLang="en-US" sz="110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“훈련 </a:t>
            </a:r>
            <a:r>
              <a:rPr lang="en-US" altLang="ko-KR" sz="110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row</a:t>
            </a:r>
            <a:r>
              <a:rPr lang="ko-KR" altLang="en-US" sz="110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들을 </a:t>
            </a:r>
            <a:r>
              <a:rPr lang="en-US" altLang="ko-KR" sz="110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nonnegative </a:t>
            </a:r>
            <a:r>
              <a:rPr lang="ko-KR" altLang="en-US" sz="110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비율로 </a:t>
            </a:r>
            <a:r>
              <a:rPr lang="en-US" altLang="ko-KR" sz="110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100% </a:t>
            </a:r>
            <a:r>
              <a:rPr lang="ko-KR" altLang="en-US" sz="110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섞어서 만들 수 있는     </a:t>
            </a:r>
            <a:endParaRPr lang="en-US" altLang="ko-KR" sz="1100" dirty="0">
              <a:solidFill>
                <a:srgbClr val="A0ADBC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    x</a:t>
            </a:r>
            <a:r>
              <a:rPr lang="ko-KR" altLang="en-US" sz="110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의 집합 </a:t>
            </a:r>
            <a:r>
              <a:rPr lang="en-US" altLang="ko-KR" sz="110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= </a:t>
            </a:r>
            <a:r>
              <a:rPr lang="ko-KR" altLang="en-US" sz="110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훈련 범위</a:t>
            </a:r>
            <a:r>
              <a:rPr lang="en-US" altLang="ko-KR" sz="1100" dirty="0">
                <a:solidFill>
                  <a:srgbClr val="A0ADB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(hull).”</a:t>
            </a:r>
            <a:endParaRPr sz="1100" dirty="0">
              <a:solidFill>
                <a:srgbClr val="A0ADBC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269480" y="3749039"/>
            <a:ext cx="4572000" cy="20299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69480" y="3749039"/>
            <a:ext cx="54864" cy="202996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70648" y="3877055"/>
            <a:ext cx="4224528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③ 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의미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 </a:t>
            </a:r>
            <a:br>
              <a:rPr lang="en-US"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</a:br>
            <a:br>
              <a:rPr lang="en-US" sz="500" b="1" dirty="0">
                <a:solidFill>
                  <a:srgbClr val="E89A5C"/>
                </a:solidFill>
                <a:latin typeface="Apple SD Gothic Neo"/>
                <a:ea typeface="Apple SD Gothic Neo"/>
              </a:rPr>
            </a:br>
            <a:r>
              <a:rPr lang="en-US"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   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hull 안 (x ∈) →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보간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—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훈련점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섞기로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만들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수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있음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 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hull 밖 (x ∉) →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— 본 적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없는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입력·조합</a:t>
            </a:r>
            <a:b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</a:b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>
              <a:spcBef>
                <a:spcPts val="300"/>
              </a:spcBef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lang="ko-KR" altLang="en-US" sz="11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④ 왜 정의</a:t>
            </a:r>
            <a:r>
              <a:rPr lang="en-US" altLang="ko-KR" sz="11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  – '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범위 밖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'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을 감으로 말하지 않는다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     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min/max·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축별 범위 대신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hull →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재현 가능한 판정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7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3482" y="6020268"/>
            <a:ext cx="11064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훈련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범위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= convex hull —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안이면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보간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,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밖이면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외삽</a:t>
            </a:r>
            <a:endParaRPr sz="1200" b="1" dirty="0">
              <a:solidFill>
                <a:srgbClr val="ECF1F7"/>
              </a:solidFill>
              <a:latin typeface="Apple SD Gothic Neo"/>
              <a:ea typeface="Apple SD Gothic Ne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대표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훈련구간 적합도는 외삽 성능을 보증하지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poly_ex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6675120" cy="30916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709160"/>
            <a:ext cx="7178040" cy="960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709160"/>
            <a:ext cx="54864" cy="960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837176"/>
            <a:ext cx="68305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숫자로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설비 열화 곡선 100일치에 고차 다항식 적합: 훈련 오차 0.1% (완벽해 보임)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130일째 예측: 물리적으로 불가능한 음수 출력 — 안의 성적표는 밖을 모른다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097280"/>
            <a:ext cx="416052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80960" y="1097280"/>
            <a:ext cx="54864" cy="25146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2128" y="1225296"/>
            <a:ext cx="3813048" cy="1161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현상</a:t>
            </a:r>
            <a:endParaRPr lang="en-US" altLang="ko-KR" sz="1200" b="1" dirty="0">
              <a:solidFill>
                <a:srgbClr val="E89A5C"/>
              </a:solidFill>
              <a:latin typeface="Apple SD Gothic Neo"/>
              <a:ea typeface="Apple SD Gothic Neo"/>
            </a:endParaRPr>
          </a:p>
          <a:p>
            <a:pPr algn="l"/>
            <a:endParaRPr lang="en-US" sz="300" b="1" dirty="0">
              <a:solidFill>
                <a:srgbClr val="E89A5C"/>
              </a:solidFill>
              <a:latin typeface="Apple SD Gothic Neo"/>
              <a:ea typeface="Apple SD Gothic Neo"/>
            </a:endParaRPr>
          </a:p>
          <a:p>
            <a:pPr algn="l"/>
            <a:endParaRPr sz="300" b="1" dirty="0">
              <a:solidFill>
                <a:srgbClr val="E89A5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예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다항식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·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훈련구간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오차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≈ 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훈련 범위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경계를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넘으면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lang="ko-KR" altLang="en-US" sz="1100" dirty="0">
                <a:solidFill>
                  <a:srgbClr val="A0ADBC"/>
                </a:solidFill>
                <a:latin typeface="Apple SD Gothic Neo"/>
                <a:ea typeface="Apple SD Gothic Neo"/>
              </a:rPr>
              <a:t>정담에서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급격히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벗어남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</a:t>
            </a: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lang="ko-KR" altLang="en-US" sz="1100" dirty="0">
                <a:solidFill>
                  <a:srgbClr val="A0ADBC"/>
                </a:solidFill>
                <a:latin typeface="Apple SD Gothic Neo"/>
                <a:ea typeface="Apple SD Gothic Neo"/>
              </a:rPr>
              <a:t>같은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훈련 데이터에 대해 </a:t>
            </a:r>
            <a:r>
              <a:rPr lang="ko-KR" altLang="en-US" sz="1100" dirty="0">
                <a:solidFill>
                  <a:srgbClr val="A0ADBC"/>
                </a:solidFill>
                <a:latin typeface="Apple SD Gothic Neo"/>
                <a:ea typeface="Apple SD Gothic Neo"/>
              </a:rPr>
              <a:t>다항식 차수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lang="ko-KR" altLang="en-US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올릴수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록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훈련     </a:t>
            </a:r>
            <a:b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</a:b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    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범위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밖은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오차가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더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커진다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680960" y="3749039"/>
            <a:ext cx="416052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3749039"/>
            <a:ext cx="54864" cy="1874519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2128" y="3877055"/>
            <a:ext cx="3813048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핵심 </a:t>
            </a:r>
            <a:r>
              <a:rPr lang="en-US" altLang="ko-KR"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takeaway</a:t>
            </a:r>
            <a:br>
              <a:rPr lang="en-US" altLang="ko-KR"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</a:br>
            <a:br>
              <a:rPr lang="en-US" altLang="ko-KR" sz="300" b="1" dirty="0">
                <a:solidFill>
                  <a:srgbClr val="3DD6C6"/>
                </a:solidFill>
                <a:latin typeface="Apple SD Gothic Neo"/>
                <a:ea typeface="Apple SD Gothic Neo"/>
              </a:rPr>
            </a:br>
            <a:endParaRPr lang="ko-KR" altLang="en-US" sz="3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–  '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안에서 잘 맞는다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’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 '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밖에서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맞는다'는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다른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질문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8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5205" y="5961653"/>
            <a:ext cx="11064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훈련구간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오차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≈ 0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이어도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경계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밖에서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즉시</a:t>
            </a:r>
            <a:r>
              <a:rPr sz="12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발산</a:t>
            </a:r>
            <a:endParaRPr sz="1200" b="1" dirty="0">
              <a:solidFill>
                <a:srgbClr val="ECF1F7"/>
              </a:solidFill>
              <a:latin typeface="Apple SD Gothic Neo"/>
              <a:ea typeface="Apple SD Gothic Ne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2  ·  15분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2부 · 외삽 실패 원인 (4)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훈련 범위 밖에서 예측이 깨지는 이유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이유 1·2: 데이터가 함수를 못 정하고, 고차원에선 거의 전부가 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이유 3: 범위 밖에선 '모름'(불확실성)이 커진다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이유 4: 신경망도 밖에서는 직선이 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데이터가 함수를 정해 주지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0040" y="4709160"/>
            <a:ext cx="7178040" cy="960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709160"/>
            <a:ext cx="54864" cy="960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837176"/>
            <a:ext cx="68305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배터리 수명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100사이클까지의 용량 데이터: '선형 열화'와 '지수 열화' 둘 다 완벽 적합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500사이클 수명 예측은 두 가설이 2배 차이 — 데이터는 어느 쪽인지 말해주지 않는다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097280"/>
            <a:ext cx="416052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80960" y="1097280"/>
            <a:ext cx="54864" cy="25146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2128" y="1225296"/>
            <a:ext cx="4005072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같은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 점, 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다른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함수</a:t>
            </a:r>
            <a:endParaRPr lang="en-US" sz="1200" b="1" dirty="0">
              <a:solidFill>
                <a:srgbClr val="E89A5C"/>
              </a:solidFill>
              <a:latin typeface="Apple SD Gothic Neo"/>
              <a:ea typeface="Apple SD Gothic Neo"/>
            </a:endParaRPr>
          </a:p>
          <a:p>
            <a:pPr algn="l"/>
            <a:endParaRPr sz="300" b="1" dirty="0">
              <a:solidFill>
                <a:srgbClr val="E89A5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훈련점을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지나는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함수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가설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)는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무한히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많다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그림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,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직선·지수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훈련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구간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(OBSERVED)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안에서는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둘 다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통과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lang="ko-KR" altLang="en-US" sz="110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외삽영역으로</a:t>
            </a:r>
            <a:r>
              <a:rPr lang="ko-KR" altLang="en-US" sz="110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으로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가면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갈라진다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데이터를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더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모아도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(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안에서만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늘면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구별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불가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680960" y="3749039"/>
            <a:ext cx="416052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3749039"/>
            <a:ext cx="54864" cy="1874519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2128" y="3877055"/>
            <a:ext cx="3813048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핵심 </a:t>
            </a:r>
            <a:r>
              <a:rPr lang="en-US" altLang="ko-KR"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takeaway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  <a:endParaRPr lang="en-US" sz="12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  <a:p>
            <a:pPr algn="l"/>
            <a:endParaRPr sz="3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밖을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지탱하는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것은</a:t>
            </a:r>
            <a:r>
              <a:rPr lang="en-US" sz="110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데이터가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아니라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가정이다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가정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= 밖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거동에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대한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사전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제약</a:t>
            </a: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(prior)</a:t>
            </a:r>
            <a:r>
              <a:rPr lang="en-US" sz="110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br>
              <a:rPr lang="en-US" sz="1100" dirty="0">
                <a:solidFill>
                  <a:srgbClr val="A0ADBC"/>
                </a:solidFill>
                <a:latin typeface="Apple SD Gothic Neo"/>
                <a:ea typeface="Apple SD Gothic Neo"/>
              </a:rPr>
            </a:br>
            <a:r>
              <a:rPr lang="en-US" sz="1100" dirty="0">
                <a:solidFill>
                  <a:srgbClr val="A0ADBC"/>
                </a:solidFill>
                <a:latin typeface="Apple SD Gothic Neo"/>
                <a:ea typeface="Apple SD Gothic Neo"/>
              </a:rPr>
              <a:t>    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→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어느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가정으로 연장할지 선택해야 함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Pfister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10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 구간 안에서는 맞춰지지만 밖에서 갈라짐 — 데이터만으로는 선택 불가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밖을 지탱하는 것은 데이터가 아니라 가정이다 (핵심 문장)</a:t>
            </a:r>
          </a:p>
        </p:txBody>
      </p:sp>
      <p:pic>
        <p:nvPicPr>
          <p:cNvPr id="23" name="Picture 6" descr="fig_poly_extrap.png">
            <a:extLst>
              <a:ext uri="{FF2B5EF4-FFF2-40B4-BE49-F238E27FC236}">
                <a16:creationId xmlns:a16="http://schemas.microsoft.com/office/drawing/2014/main" id="{923A02D2-A6B2-2B1B-70F4-8CEDAF2B5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97280"/>
            <a:ext cx="7178040" cy="31729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고차원에선 새 데이터가 거의 전부 범위 밖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hull_dimen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7589520" cy="27974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069080"/>
            <a:ext cx="754380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069080"/>
            <a:ext cx="54864" cy="16002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197096"/>
            <a:ext cx="719632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센서 20채널이면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각 채널이 훈련 범위 안에 있을 확률 95%라 해도, 20채널 '조합'이 전부 안일 확률 ≈ 0.95²⁰ ≈ 36%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실제 훈련 범위는 축 정렬 상자보다 훨씬 좁다 → 조합 기준으로는 대부분이 이미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이미지(수만 차원)·다변량 시계열 — 여러분이 다루는 데이터가 정확히 이 영역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79476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097280"/>
            <a:ext cx="54864" cy="25146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225296"/>
            <a:ext cx="3447288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차원의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저주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(Bartley 2019)</a:t>
            </a:r>
            <a:endParaRPr lang="en-US" sz="12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  <a:p>
            <a:pPr algn="l"/>
            <a:endParaRPr sz="3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2차원(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왼쪽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):</a:t>
            </a: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hull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범위가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커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보인다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차원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↑ → 새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입력이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훈련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범위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안에</a:t>
            </a:r>
            <a:r>
              <a:rPr lang="en-US" sz="110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있을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확률이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지</a:t>
            </a: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  </a:t>
            </a:r>
            <a:b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</a:b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  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수적으로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0으로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49039"/>
            <a:ext cx="379476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3749039"/>
            <a:ext cx="54864" cy="1874519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3877055"/>
            <a:ext cx="344728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핵심 </a:t>
            </a:r>
            <a:r>
              <a:rPr lang="en-US" altLang="ko-KR"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takeaway</a:t>
            </a:r>
          </a:p>
          <a:p>
            <a:pPr algn="l"/>
            <a:endParaRPr lang="ko-KR" altLang="en-US" sz="300" b="1" dirty="0">
              <a:solidFill>
                <a:srgbClr val="E89A5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-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차원이 크면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,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새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test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입력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x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가 훈련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hull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안에 들어올    </a:t>
            </a:r>
            <a:endParaRPr lang="en-US" altLang="ko-KR"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dirty="0">
                <a:solidFill>
                  <a:srgbClr val="A0ADBC"/>
                </a:solidFill>
                <a:latin typeface="Apple SD Gothic Neo"/>
                <a:ea typeface="Apple SD Gothic Neo"/>
              </a:rPr>
              <a:t>  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확률은 급격히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0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에 가깝다 </a:t>
            </a:r>
            <a:b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</a:br>
            <a:b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</a:b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→ “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test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는 대부분 </a:t>
            </a:r>
            <a:r>
              <a:rPr lang="ko-KR" altLang="en-US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안이겠지”라고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가정하기 어렵고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,    </a:t>
            </a:r>
            <a:b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</a:b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    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입력 </a:t>
            </a:r>
            <a:r>
              <a:rPr lang="ko-KR" altLang="en-US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외삽을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예외가 아니라 기본 시나리오로 두고 </a:t>
            </a:r>
            <a:br>
              <a:rPr lang="en-US" altLang="ko-KR" sz="1100" b="0">
                <a:solidFill>
                  <a:srgbClr val="A0ADBC"/>
                </a:solidFill>
                <a:latin typeface="Apple SD Gothic Neo"/>
                <a:ea typeface="Apple SD Gothic Neo"/>
              </a:rPr>
            </a:br>
            <a:r>
              <a:rPr lang="en-US" altLang="ko-KR" sz="1100" b="0">
                <a:solidFill>
                  <a:srgbClr val="A0ADBC"/>
                </a:solidFill>
                <a:latin typeface="Apple SD Gothic Neo"/>
                <a:ea typeface="Apple SD Gothic Neo"/>
              </a:rPr>
              <a:t>        </a:t>
            </a:r>
            <a:r>
              <a:rPr lang="ko-KR" altLang="en-US" sz="1100" b="0">
                <a:solidFill>
                  <a:srgbClr val="A0ADBC"/>
                </a:solidFill>
                <a:latin typeface="Apple SD Gothic Neo"/>
                <a:ea typeface="Apple SD Gothic Neo"/>
              </a:rPr>
              <a:t>검증해야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한다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.</a:t>
            </a:r>
            <a:endParaRPr lang="ko-KR" altLang="en-US"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11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차원이 올라가면 새 입력이 훈련 범위 안일 확률 → 0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외삽은 예외가 아니라 기본값이다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범위 밖에선 '모름'(불확실성)이 커진다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error_deco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24127"/>
            <a:ext cx="7086600" cy="301751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133087"/>
            <a:ext cx="7040880" cy="15361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133087"/>
            <a:ext cx="54864" cy="153619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261103"/>
            <a:ext cx="6693408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그림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  <a:r>
              <a:rPr lang="ko-KR" altLang="en-US"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내용</a:t>
            </a:r>
            <a:endParaRPr lang="en-US" sz="12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  <a:p>
            <a:pPr algn="l"/>
            <a:endParaRPr sz="3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음영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훈련 범위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(hull) 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안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total error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작음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(a)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세 색 쌓임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= (b)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펼친 곡선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—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같은 분해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, Err ≈ Bias² + Variance(epistemic) + Noise(aleatoric)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개념도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밖에서 주황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(epistemic·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모름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이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total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을 가장 급격히 끌어올림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파랑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(bias):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그림에선 완만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가정 틀리면 밖에서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bias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도 ↑</a:t>
            </a:r>
            <a:endParaRPr lang="en-US" altLang="ko-KR"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회색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잡음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안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밖 </a:t>
            </a:r>
            <a:r>
              <a:rPr lang="ko-KR" altLang="en-US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비슷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측정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센서 한계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35240" y="1024128"/>
            <a:ext cx="4206240" cy="213055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1024128"/>
            <a:ext cx="54864" cy="21305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42624" y="976299"/>
            <a:ext cx="4251960" cy="223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왜 세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가지로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쪼개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보나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?</a:t>
            </a:r>
            <a:endParaRPr lang="en-US" sz="12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  <a:p>
            <a:pPr algn="l"/>
            <a:endParaRPr sz="3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원인마다 처방이 다름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—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한 번에 “모델 </a:t>
            </a:r>
            <a:r>
              <a:rPr lang="ko-KR" altLang="en-US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탓”으로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끝내기 어려움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ko-KR" altLang="en-US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잡음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(aleatoric):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측정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센서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환경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—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본질적 랜덤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→ 안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밖 </a:t>
            </a:r>
            <a:r>
              <a:rPr lang="ko-KR" altLang="en-US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비슷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거의 못 줄임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ko-KR" altLang="en-US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편향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(bias):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가정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구조가 틀린 체계적 오차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prior·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모델 형태 문제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— 3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부에서 가정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구조로 ↓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ko-KR" altLang="en-US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모름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(epistemic):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데이터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+prior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기준 불확실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prior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약하면 ↑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prior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강하면 ↓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대신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bias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위험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→ hull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안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해당 구간 데이터로 ↓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train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만으론 ↓ 불가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635240" y="3319273"/>
            <a:ext cx="4206240" cy="2441447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44384" y="3319273"/>
            <a:ext cx="45719" cy="2441447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6408" y="3290392"/>
            <a:ext cx="4206240" cy="248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범위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 밖 · 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분해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목적</a:t>
            </a:r>
            <a:endParaRPr sz="1200" b="1" dirty="0">
              <a:solidFill>
                <a:srgbClr val="E89A5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hull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밖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그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x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에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train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데이터 없음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정의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en-US" altLang="ko-KR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밖에서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total ↑ — epistemic(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모름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이 구조적으로 키움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(prior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강하면 작아 보일 수 있음 → 틀리면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bias)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en-US" altLang="ko-KR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잡음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편향만으로 “밖에서만 </a:t>
            </a:r>
            <a:r>
              <a:rPr lang="ko-KR" altLang="en-US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터짐”을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다 설명하긴 어려움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ko-KR" altLang="en-US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분해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진단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어디서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왜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편향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? →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가정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구조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(3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부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모름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? →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데이터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·prior (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UQ·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기권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잡음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? →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측정 한계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ko-KR" altLang="en-US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3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부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UQ: epistemic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을 경보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기권 신호로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숫자만 믿지 않기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lang="ko-KR" altLang="en-US"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12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 범위 밖 — '모름'(epistemic)이 커짐 · 데이터로는 못 줄임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이 약점을 신호로 활용하는 방법이 3부 끝(UQ)에 나온다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446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ReLU NN — 밖에서는 직선 (Xu 2021)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6894576" cy="1622414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xu_fig1_relu_ex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43000"/>
            <a:ext cx="6766560" cy="14943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719694"/>
            <a:ext cx="68945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Xu et al., How Neural Networks Extrapolate: From Feedforward to Graph Neural Networks (ICLR 2021), Fig.1</a:t>
            </a:r>
          </a:p>
        </p:txBody>
      </p:sp>
      <p:pic>
        <p:nvPicPr>
          <p:cNvPr id="10" name="Picture 9" descr="fig_xu_sin_tang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780398"/>
            <a:ext cx="6766560" cy="217635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2670048"/>
            <a:ext cx="6720840" cy="900246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2670048"/>
            <a:ext cx="54864" cy="872606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762" y="2692557"/>
            <a:ext cx="6373368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Fig.1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읽기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— φ =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활성화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함수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(activation)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dirty="0">
                <a:solidFill>
                  <a:srgbClr val="A0ADBC"/>
                </a:solidFill>
                <a:latin typeface="Apple SD Gothic Neo"/>
                <a:ea typeface="Apple SD Gothic Neo"/>
              </a:rPr>
              <a:t>-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파란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= train 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검은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= true g 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회색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= MLP f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dirty="0">
                <a:solidFill>
                  <a:srgbClr val="A0ADBC"/>
                </a:solidFill>
                <a:latin typeface="Apple SD Gothic Neo"/>
                <a:ea typeface="Apple SD Gothic Neo"/>
              </a:rPr>
              <a:t>-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안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lang="en-US" altLang="ko-KR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f≈g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lang="en-US" altLang="ko-KR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f≠g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(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회색이 검은에서 갈라짐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dirty="0">
                <a:solidFill>
                  <a:srgbClr val="A0ADBC"/>
                </a:solidFill>
                <a:latin typeface="Apple SD Gothic Neo"/>
                <a:ea typeface="Apple SD Gothic Neo"/>
              </a:rPr>
              <a:t>-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3D: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타깃만 다름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2D: sin(g) vs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직선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(f)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269480" y="1078992"/>
            <a:ext cx="4572000" cy="15361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69480" y="1078992"/>
            <a:ext cx="54864" cy="153619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70648" y="1207008"/>
            <a:ext cx="4224528" cy="111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Xu의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정리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 1 (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ReLU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)</a:t>
            </a:r>
            <a:endParaRPr lang="en-US" sz="1200" b="1" dirty="0">
              <a:solidFill>
                <a:srgbClr val="E89A5C"/>
              </a:solidFill>
              <a:latin typeface="Apple SD Gothic Neo"/>
              <a:ea typeface="Apple SD Gothic Neo"/>
            </a:endParaRPr>
          </a:p>
          <a:p>
            <a:pPr algn="l"/>
            <a:endParaRPr lang="ko-KR" altLang="en-US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en-US" altLang="ko-KR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ReLU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MLP: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입력이 멀어지면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방향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v)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밖 거동 → 직선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(affine)</a:t>
            </a:r>
            <a:b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</a:br>
            <a:endParaRPr lang="en-US" altLang="ko-KR" sz="2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깊이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너비 ↑ 해도 동일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—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증명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(Thm.1), capacity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로 해결 안 됨</a:t>
            </a:r>
            <a:endParaRPr lang="en-US" altLang="ko-KR"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ko-KR" altLang="en-US" sz="2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대상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L-layer </a:t>
            </a:r>
            <a:r>
              <a:rPr lang="en-US" altLang="ko-KR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ReLU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lang="ko-KR" altLang="en-US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피드포워드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—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실무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baseline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정식화</a:t>
            </a:r>
            <a:endParaRPr lang="en-US" altLang="ko-KR"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ko-KR" altLang="en-US" sz="2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269480" y="2743200"/>
            <a:ext cx="4572000" cy="3026664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51192" y="2781300"/>
            <a:ext cx="73152" cy="29885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0648" y="2800377"/>
            <a:ext cx="4224528" cy="2946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예시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해석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· Q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다른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활성화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φ?</a:t>
            </a:r>
            <a:br>
              <a:rPr lang="en-US"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</a:br>
            <a:endParaRPr sz="3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sin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예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안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=fit 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=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직선 →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true f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와 어긋남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ko-KR" altLang="en-US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오해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"NN </a:t>
            </a:r>
            <a:r>
              <a:rPr lang="en-US" altLang="ko-KR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extrap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불가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"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실제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밖에서도 예측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= prior(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가정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로 연장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lang="en-US" altLang="ko-KR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ReLU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MLP prior ≈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직선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(Thm.1)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en-US" altLang="ko-KR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범위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Thm.1 = </a:t>
            </a:r>
            <a:r>
              <a:rPr lang="en-US" altLang="ko-KR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ReLU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MLP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Transformer/GNN =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별도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prior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en-US" altLang="ko-KR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Q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다른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φ? tanh→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포화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sin/cos→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주기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(Fig.5)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Q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다른 구조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GNN — task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와 맞으면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(alignment)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밖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OK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Transformer —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직선 결론 그대로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X · hull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밖 검증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ko-KR" altLang="en-US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φ·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구조 맞춰도 검증 필요 →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S16·3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부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20" name="Rounded Rectangle 19">
            <a:hlinkClick r:id="rId5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13 / 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ReLU NN — 밖에서 직선 (Xu Thm.1) · 활성화마다 밖 가정이 다름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NN은 외삽 불능이 아니라 '직선'이라는 가정을 이미 하고 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3  ·  18분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3부 · 회귀 외삽 대응법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아는 지식만큼 가정을 넣는다 — 지식 우선, 방법 후행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방법 지도 — 사전 지식 4단계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① 함수(EQL·NALU)  ② 방향(CMNN)  ③ 물리  ④ UQ·기권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종합 — 같은 데이터, 다른 가정 · 선택 가이드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15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대응법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방법 지도 — 회귀 외삽 · 사전 지식별 가정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assumption_spectr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024128"/>
            <a:ext cx="7884587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069080"/>
            <a:ext cx="278892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069080"/>
            <a:ext cx="54864" cy="16002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197096"/>
            <a:ext cx="244144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① 함수족 (강)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EQL: 수식 유닛 내장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NALU: 산술로 가중치 제약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전역 유효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가정이 틀릴 때 전역 실패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160520"/>
            <a:ext cx="278892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4160520"/>
            <a:ext cx="54864" cy="15087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47288" y="4288536"/>
            <a:ext cx="244144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방향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CMNN: 단조를 구조로 강제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 지식의 대부분 수준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밖에서도 방향 보장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구조 설계 비용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160520"/>
            <a:ext cx="278892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4160520"/>
            <a:ext cx="54864" cy="15087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4288536"/>
            <a:ext cx="244144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물리 (회귀)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Physics-ML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: Aykol · Li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L = L_data + λ·L_constraint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센서→품질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해당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(PDE-ML ✗)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soft loss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 구간 시험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필수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4160520"/>
            <a:ext cx="274320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98280" y="4160520"/>
            <a:ext cx="54864" cy="15087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99448" y="4288536"/>
            <a:ext cx="239572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④ 무가정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'모름'을 경보로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기권: 신뢰 낮으면 예측 안 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과신 오답 방지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답변율 감소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16 / 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지식 우선, 방법 후행 — 가용 사전 지식이 방법을 정한다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다음 — ①~④ 방법 · 종합 · (이후) 검증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입구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최소 개입의 가정 주입 — 활성화 함수를 타깃에 맞추기 (Xu Fig.5)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6437376" cy="191660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xu_fig5_activ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5568"/>
            <a:ext cx="6309360" cy="17885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986454"/>
            <a:ext cx="6437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Xu et al., How Neural Networks Extrapolate (ICLR 2021), Fig.5</a:t>
            </a:r>
          </a:p>
        </p:txBody>
      </p:sp>
      <p:pic>
        <p:nvPicPr>
          <p:cNvPr id="10" name="Picture 9" descr="fig_activation_m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429000"/>
            <a:ext cx="6309360" cy="230584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051560"/>
            <a:ext cx="5029200" cy="2331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12280" y="1051560"/>
            <a:ext cx="54864" cy="2331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13448" y="1179576"/>
            <a:ext cx="4681728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실험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요지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(위: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논문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원본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)</a:t>
            </a:r>
            <a:endParaRPr lang="en-US" sz="12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  <a:p>
            <a:pPr algn="l"/>
            <a:endParaRPr lang="ko-KR" altLang="en-US" sz="3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φ(activation)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와 타깃 **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family**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맞출 때만 밖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MAPE ↓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cos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타깃 →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cos φ · tanh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타깃 →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tanh φ · quad → quad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짝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mismatch → MAPE **100~1000×** (log scale)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메시지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φ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바꾸기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= **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최소 개입**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prior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주입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520440"/>
            <a:ext cx="5029200" cy="2103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12280" y="3520440"/>
            <a:ext cx="54864" cy="2103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13448" y="3648456"/>
            <a:ext cx="4681728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예시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 — 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같은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 sin 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타깃</a:t>
            </a:r>
            <a:br>
              <a:rPr lang="en-US"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</a:br>
            <a:endParaRPr sz="300" b="1" dirty="0">
              <a:solidFill>
                <a:srgbClr val="E89A5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점선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= true sin 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음영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= train 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실선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= MLP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예측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(a) </a:t>
            </a:r>
            <a:r>
              <a:rPr lang="en-US" altLang="ko-KR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ReLU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안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=fit 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=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직선 → 파동 놓침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(b) cos φ: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밖에서도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sin(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파동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유지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φ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선택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= "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밖은 이 모양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"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선언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(S13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이어짐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맞으면 </a:t>
            </a:r>
            <a:r>
              <a:rPr lang="en-US" altLang="ko-KR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extrap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OK 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틀리면 오차 폭발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검증은 여전히 필요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배</a:t>
            </a:r>
          </a:p>
        </p:txBody>
      </p:sp>
      <p:sp>
        <p:nvSpPr>
          <p:cNvPr id="17" name="Rounded Rectangle 16">
            <a:hlinkClick r:id="rId5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17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활성화와 타깃이 같은 족일 때만 외삽 성립 — 틀린 짝은 오차 수백 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활성화 선택 = 함수 모양 가정의 선언. 가정에는 대가가 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함수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모양을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안다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(a) — </a:t>
            </a:r>
            <a:r>
              <a:rPr sz="2400" b="1" dirty="0">
                <a:solidFill>
                  <a:srgbClr val="ECF1F7"/>
                </a:solidFill>
                <a:latin typeface="Apple SD Gothic Neo"/>
              </a:rPr>
              <a:t>EQL</a:t>
            </a:r>
            <a:r>
              <a:rPr lang="en-US" sz="2400" b="1" dirty="0">
                <a:solidFill>
                  <a:srgbClr val="ECF1F7"/>
                </a:solidFill>
                <a:latin typeface="Apple SD Gothic Neo"/>
              </a:rPr>
              <a:t>(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 Equation Learner</a:t>
            </a:r>
            <a:r>
              <a:rPr lang="en-US" sz="2400" b="1" dirty="0">
                <a:solidFill>
                  <a:srgbClr val="ECF1F7"/>
                </a:solidFill>
                <a:latin typeface="Apple SD Gothic Neo"/>
              </a:rPr>
              <a:t>)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: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수식을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통째로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배우기</a:t>
            </a:r>
            <a:endParaRPr sz="2400" b="1" dirty="0">
              <a:solidFill>
                <a:srgbClr val="ECF1F7"/>
              </a:solidFill>
              <a:latin typeface="Apple SD Gothic Neo"/>
              <a:ea typeface="Apple SD Gothic Neo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5980176" cy="1695732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ql_fig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5568"/>
            <a:ext cx="5852160" cy="15677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765580"/>
            <a:ext cx="59801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Martius &amp; Lampert, Extrapolation and Learning Equations (arXiv 2016), Fig.1</a:t>
            </a:r>
          </a:p>
        </p:txBody>
      </p:sp>
      <p:pic>
        <p:nvPicPr>
          <p:cNvPr id="10" name="Picture 9" descr="fig_eql_ex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337560"/>
            <a:ext cx="6309360" cy="205694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051560"/>
            <a:ext cx="5029200" cy="185670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12280" y="1051560"/>
            <a:ext cx="54864" cy="185670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01725" y="1097515"/>
            <a:ext cx="468172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원리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(위: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논문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구조도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일반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MLP: </a:t>
            </a:r>
            <a:r>
              <a:rPr lang="en-US" altLang="ko-KR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ReLU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같은 “모양” 뉴런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EQL: sin, cos,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곱하기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(×)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같은 “수학 연산” 뉴런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학습 끝 →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y ≈ sin(1.01x)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처럼 식 하나로 정리됨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진짜가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sin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계열이면 →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train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구간 밖에서도 파형 유지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12280" y="3249246"/>
            <a:ext cx="5029200" cy="2374314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95915" y="3249246"/>
            <a:ext cx="71229" cy="2374314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54833" y="3301444"/>
            <a:ext cx="4681728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예시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 + 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대가</a:t>
            </a:r>
            <a:endParaRPr sz="1200" b="1" dirty="0">
              <a:solidFill>
                <a:srgbClr val="E89A5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초록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EQL: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밖도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sin 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주황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MLP: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밖은 직선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ko-KR" altLang="en-US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언제 쓰나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→ 밖 </a:t>
            </a:r>
            <a:r>
              <a:rPr lang="en-US" altLang="ko-KR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extrap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중요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+ “sin·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곱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합” 같은 식 모양을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  대략 짐작할 때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정확한 공식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X)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en-US" altLang="ko-KR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대가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→ 유닛 밖 함수 불가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식 단순화 어려움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고차원 약함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family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틀리면 전역 실패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7" name="Rounded Rectangle 16">
            <a:hlinkClick r:id="rId5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EQL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18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배운 식이 참 식과 같은 족이면 전 영역 유효 — MLP 직선화와 정반대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대가: 유닛 밖 함수 표현 불가 · 희소화 · 고차원 취약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함수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모양을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안다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(b) —</a:t>
            </a:r>
            <a:r>
              <a:rPr lang="en-US"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NAC,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NALU: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산술만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하도록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묶기</a:t>
            </a:r>
            <a:endParaRPr sz="2400" b="1" dirty="0">
              <a:solidFill>
                <a:srgbClr val="ECF1F7"/>
              </a:solidFill>
              <a:latin typeface="Apple SD Gothic Neo"/>
              <a:ea typeface="Apple SD Gothic Neo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5797296" cy="20673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nalu_fig2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" y="1106424"/>
            <a:ext cx="5669280" cy="1939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3137168"/>
            <a:ext cx="57972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Trask et al., NALU (NeurIPS 2018), Fig.2 (a) NAC · (b) NALU · arXiv:1808.00508</a:t>
            </a:r>
          </a:p>
        </p:txBody>
      </p:sp>
      <p:pic>
        <p:nvPicPr>
          <p:cNvPr id="10" name="Picture 9" descr="fig_nalu_ex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657600"/>
            <a:ext cx="6035040" cy="20240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051560"/>
            <a:ext cx="5029200" cy="47365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12280" y="1051560"/>
            <a:ext cx="54864" cy="473659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75348" y="1036701"/>
            <a:ext cx="4681728" cy="527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Fig— (a) NAC · (b) NALU</a:t>
            </a:r>
            <a:endParaRPr lang="en-US" sz="12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  <a:p>
            <a:pPr algn="l"/>
            <a:endParaRPr lang="en-US" altLang="ko-KR" sz="3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사전지식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(= Method 1)</a:t>
            </a:r>
            <a:b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</a:br>
            <a:endParaRPr lang="ko-KR" altLang="en-US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“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답이 산술식이다”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—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정확한 식은 몰라도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OK,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연산 종류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(+,×)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는 </a:t>
            </a:r>
            <a:r>
              <a:rPr lang="ko-KR" altLang="en-US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알</a:t>
            </a:r>
            <a:r>
              <a:rPr lang="ko-KR" altLang="en-US" sz="110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떄</a:t>
            </a:r>
            <a:endParaRPr lang="ko-KR" altLang="en-US"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/>
            <a:endParaRPr lang="en-US" altLang="ko-KR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NAC —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덧셈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뺄셈 전용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-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가중치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W = tanh(Ŵ) ⊙ σ(M̂)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- tanh → ±1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근처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, σ → 0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또는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- w ≈ +1: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더하기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/ w ≈ −1: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빼기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/ w ≈ 0: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무시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- y = Σ wᵢ xᵢ  →  “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선택적으로 더하고 빼기”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ko-KR" altLang="en-US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NALU — NAC +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곱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나눗셈 경로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-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선형 경로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NAC (a ± b ± …)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-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곱 경로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log → </a:t>
            </a:r>
            <a:r>
              <a:rPr lang="en-US" altLang="ko-KR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matmul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→ exp  (log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공간에서 더하기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원래 곱하기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-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게이트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g = σ(·): g≈1 → +/- , g≈0 → ×/÷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- y = g·(NAC) + (1−g)·(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곱 경로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en-US" altLang="ko-KR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핵심 아이디어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ko-KR" altLang="en-US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일반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MLP: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숫자 크기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범위를 “</a:t>
            </a:r>
            <a:r>
              <a:rPr lang="ko-KR" altLang="en-US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곡선”으로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외움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NALU: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연산 규칙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(+, −, ×, ÷)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을 구조에 고정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→ 작은 범위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(0~10)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에서 규칙만 배우면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→ 큰 범위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(10,000)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도 같은 규칙 적용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lang="en-US" altLang="ko-KR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extrap</a:t>
            </a:r>
            <a:endParaRPr lang="en-US" altLang="ko-KR"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en-US" altLang="ko-KR" sz="110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train 0~10 → test 10,000 (</a:t>
            </a:r>
            <a:r>
              <a:rPr lang="en-US" altLang="ko-KR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a+b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MLP: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오차 폭발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NALU: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거의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flat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en-US" altLang="ko-KR"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대가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±1·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게이트 수렴 불안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산술 아니면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MLP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급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식 알면 코드가 낫다</a:t>
            </a:r>
            <a:endParaRPr lang="en-US" altLang="ko-KR"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en-US" altLang="ko-KR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7" name="Rounded Rectangle 16">
            <a:hlinkClick r:id="rId5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NALU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19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가중치를 산술로 묶기 → 작은 수 훈련, 큰 수 일반화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방법 1 요약: 함수 모양 가정 = 최대 수익 · 최대 리스크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방향만 안다 (a) — 단순 강제는 표현력을 희생한다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6894576" cy="2003182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unje_fig1_cub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5568"/>
            <a:ext cx="6766560" cy="31793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4292222"/>
            <a:ext cx="68945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 err="1">
                <a:solidFill>
                  <a:srgbClr val="B8C4D0"/>
                </a:solidFill>
                <a:latin typeface="Apple SD Gothic Neo"/>
                <a:ea typeface="Apple SD Gothic Neo"/>
              </a:rPr>
              <a:t>논문</a:t>
            </a:r>
            <a:r>
              <a:rPr sz="900" b="0" dirty="0">
                <a:solidFill>
                  <a:srgbClr val="B8C4D0"/>
                </a:solidFill>
                <a:latin typeface="Apple SD Gothic Neo"/>
                <a:ea typeface="Apple SD Gothic Neo"/>
              </a:rPr>
              <a:t>: </a:t>
            </a:r>
            <a:r>
              <a:rPr sz="900" b="0" dirty="0" err="1">
                <a:solidFill>
                  <a:srgbClr val="B8C4D0"/>
                </a:solidFill>
                <a:latin typeface="Apple SD Gothic Neo"/>
                <a:ea typeface="Apple SD Gothic Neo"/>
              </a:rPr>
              <a:t>Runje</a:t>
            </a:r>
            <a:r>
              <a:rPr sz="900" b="0" dirty="0">
                <a:solidFill>
                  <a:srgbClr val="B8C4D0"/>
                </a:solidFill>
                <a:latin typeface="Apple SD Gothic Neo"/>
                <a:ea typeface="Apple SD Gothic Neo"/>
              </a:rPr>
              <a:t> &amp; </a:t>
            </a:r>
            <a:r>
              <a:rPr sz="900" b="0" dirty="0" err="1">
                <a:solidFill>
                  <a:srgbClr val="B8C4D0"/>
                </a:solidFill>
                <a:latin typeface="Apple SD Gothic Neo"/>
                <a:ea typeface="Apple SD Gothic Neo"/>
              </a:rPr>
              <a:t>Shankaranarayana</a:t>
            </a:r>
            <a:r>
              <a:rPr sz="900" b="0" dirty="0">
                <a:solidFill>
                  <a:srgbClr val="B8C4D0"/>
                </a:solidFill>
                <a:latin typeface="Apple SD Gothic Neo"/>
                <a:ea typeface="Apple SD Gothic Neo"/>
              </a:rPr>
              <a:t>, Constrained Monotonic Neural Networks (ICML 2023), Fig.1 · arXiv:2205.11775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647980"/>
            <a:ext cx="6720840" cy="10213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4647980"/>
            <a:ext cx="54864" cy="10213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622" y="4647980"/>
            <a:ext cx="6373368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Fig.1 — y = x³ (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단조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증가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함수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(a)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무제약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NN: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적합은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되나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단조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보장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없음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(b)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가중치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전부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양수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단조는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되나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직선에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가까워짐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— x³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실패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(c) CMNN: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단조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+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비선형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동시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(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다음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장)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051560"/>
            <a:ext cx="4663440" cy="4617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78040" y="1051560"/>
            <a:ext cx="54864" cy="4617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79208" y="1179576"/>
            <a:ext cx="4315968" cy="4439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단조</a:t>
            </a:r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(monotonic)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가정</a:t>
            </a:r>
            <a:br>
              <a:rPr lang="en-US"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</a:br>
            <a:br>
              <a:rPr lang="en-US"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</a:br>
            <a:r>
              <a:rPr lang="en-US" altLang="ko-KR" sz="1100" dirty="0">
                <a:solidFill>
                  <a:srgbClr val="A0ADBC"/>
                </a:solidFill>
                <a:latin typeface="Apple SD Gothic Neo"/>
              </a:rPr>
              <a:t>:</a:t>
            </a:r>
            <a:r>
              <a:rPr lang="ko-KR" altLang="en-US" sz="1100" dirty="0">
                <a:solidFill>
                  <a:srgbClr val="A0ADBC"/>
                </a:solidFill>
                <a:latin typeface="Apple SD Gothic Neo"/>
              </a:rPr>
              <a:t>방향만 확실할 때 사용</a:t>
            </a:r>
            <a:r>
              <a:rPr lang="en-US" altLang="ko-KR" sz="1100" dirty="0">
                <a:solidFill>
                  <a:srgbClr val="A0ADBC"/>
                </a:solidFill>
                <a:latin typeface="Apple SD Gothic Neo"/>
              </a:rPr>
              <a:t>(</a:t>
            </a:r>
            <a:r>
              <a:rPr lang="ko-KR" altLang="en-US" sz="1100" dirty="0">
                <a:solidFill>
                  <a:srgbClr val="A0ADBC"/>
                </a:solidFill>
                <a:latin typeface="Apple SD Gothic Neo"/>
              </a:rPr>
              <a:t>보험료</a:t>
            </a:r>
            <a:r>
              <a:rPr lang="en-US" altLang="ko-KR" sz="1100" dirty="0">
                <a:solidFill>
                  <a:srgbClr val="A0ADBC"/>
                </a:solidFill>
                <a:latin typeface="Apple SD Gothic Neo"/>
              </a:rPr>
              <a:t>, </a:t>
            </a:r>
            <a:r>
              <a:rPr lang="ko-KR" altLang="en-US" sz="1100" dirty="0">
                <a:solidFill>
                  <a:srgbClr val="A0ADBC"/>
                </a:solidFill>
                <a:latin typeface="Apple SD Gothic Neo"/>
              </a:rPr>
              <a:t>전압 수요 등</a:t>
            </a:r>
            <a:r>
              <a:rPr lang="en-US" altLang="ko-KR" sz="1100" dirty="0">
                <a:solidFill>
                  <a:srgbClr val="A0ADBC"/>
                </a:solidFill>
                <a:latin typeface="Apple SD Gothic Neo"/>
              </a:rPr>
              <a:t>)</a:t>
            </a:r>
            <a:endParaRPr lang="ko-KR" altLang="en-US" sz="1100" dirty="0">
              <a:solidFill>
                <a:srgbClr val="A0ADBC"/>
              </a:solidFill>
              <a:latin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br>
              <a:rPr lang="en-US" altLang="ko-KR" sz="300" b="0" dirty="0">
                <a:solidFill>
                  <a:srgbClr val="A0ADBC"/>
                </a:solidFill>
                <a:latin typeface="Apple SD Gothic Neo"/>
                <a:ea typeface="Apple SD Gothic Neo"/>
              </a:rPr>
            </a:b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단조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x ↑ → y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절대 ↓ 안 함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또는 반대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실무에서 자주 아는 수준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→ “보험료 ↑”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, “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전압 ↑”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, “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수요 ↓”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…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정확한 식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(y=x³)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은 몰라도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OK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en-US" altLang="ko-KR" sz="110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>
              <a:spcBef>
                <a:spcPts val="300"/>
              </a:spcBef>
            </a:pPr>
            <a:r>
              <a:rPr lang="ko-KR" altLang="en-US" sz="11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원리</a:t>
            </a:r>
            <a:br>
              <a:rPr lang="en-US" altLang="ko-KR" sz="300" b="1" dirty="0">
                <a:solidFill>
                  <a:srgbClr val="3DD6C6"/>
                </a:solidFill>
                <a:latin typeface="Apple SD Gothic Neo"/>
                <a:ea typeface="Apple SD Gothic Neo"/>
              </a:rPr>
            </a:br>
            <a:endParaRPr lang="en-US" altLang="ko-KR" sz="30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Method : “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올라가기만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/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내려가기만”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—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방향만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prior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en-US" altLang="ko-KR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en-US" altLang="ko-KR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ReLU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MLP +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단조 강제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보통 가중치 ≥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lang="ko-KR" altLang="en-US"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입력↑일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때 각 층 출력도 ↑ 쪽으로만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→ 전체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y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도 단조↑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이론상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en-US" altLang="ko-KR" sz="3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문제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(b)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처럼 표현력 ↓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→ 양수 가중치만으론 “구부린”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x³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를 못 그림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→ 단조는 얻지만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shape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는 희생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lang="ko-KR" altLang="en-US"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딜레마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→ 단조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O + x³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같은 곡선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O 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를 동시에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 → naive clipping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만으론 부족 → 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CMNN(</a:t>
            </a:r>
            <a:r>
              <a:rPr lang="ko-KR" alt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다음</a:t>
            </a:r>
            <a:r>
              <a:rPr lang="en-US" altLang="ko-KR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lang="ko-KR" altLang="en-US"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6" name="Rounded Rectangle 15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20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가중치 자르기: 단조는 얻지만 x³ 실패 — 표현력 저하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단조 vs 표현력의 상충 — 해법은 다음 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방향만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안다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(b) —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해법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: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구조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자체가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단조이게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만들기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(CMNN)</a:t>
            </a:r>
            <a:r>
              <a:rPr lang="ko-KR" altLang="en-US"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고쳐야함</a:t>
            </a:r>
            <a:endParaRPr sz="2400" b="1" dirty="0">
              <a:solidFill>
                <a:srgbClr val="ECF1F7"/>
              </a:solidFill>
              <a:latin typeface="Apple SD Gothic Neo"/>
              <a:ea typeface="Apple SD Gothic Neo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5595165" cy="296265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unje_fig3_mono_un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5568"/>
            <a:ext cx="6233465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4032504"/>
            <a:ext cx="559516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Runje &amp; Shankaranarayana, Constrained Monotonic Neural Networks (ICML 2023), Fig.3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480560"/>
            <a:ext cx="6309360" cy="1188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4480560"/>
            <a:ext cx="54864" cy="1188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4608576"/>
            <a:ext cx="596188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실무 예시 — 배터리 제어기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충전량(SOC) → 전압(OCV) 곡선을 CMNN으로 학습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훈련에 없던 고충전 조건 예측에도 '전압 급락'은 구조상 불가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이 보장 하나로 제어기 안전 인증이 가능해진다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051560"/>
            <a:ext cx="4937760" cy="2606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03720" y="1051560"/>
            <a:ext cx="54864" cy="26060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04888" y="1179576"/>
            <a:ext cx="4590288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Fig.3 — 한 층 </a:t>
            </a:r>
            <a:r>
              <a:rPr sz="12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흐름</a:t>
            </a:r>
            <a:endParaRPr sz="12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x → |W|_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t·x+b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→ split(s) →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concat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W_out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→ ŷ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t: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입력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feature마다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단조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방향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(+1 / −1 / 0)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  +1 →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x_j↑일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때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출력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↑ (예: SOC↑ → OCV↑)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  −1 →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x_j↑일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때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출력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↓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  0 → 그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feature는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단조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제약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없음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  |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W|_t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: t=±1일 때 w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부호만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고정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(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전체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|W|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아님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794760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03720" y="3794760"/>
            <a:ext cx="54864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04888" y="3922776"/>
            <a:ext cx="4590288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s — 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활성화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배치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 (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곡선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 </a:t>
            </a:r>
            <a:r>
              <a:rPr sz="1200" b="1" dirty="0" err="1">
                <a:solidFill>
                  <a:srgbClr val="E89A5C"/>
                </a:solidFill>
                <a:latin typeface="Apple SD Gothic Neo"/>
                <a:ea typeface="Apple SD Gothic Neo"/>
              </a:rPr>
              <a:t>모양</a:t>
            </a:r>
            <a:r>
              <a:rPr sz="1200" b="1" dirty="0">
                <a:solidFill>
                  <a:srgbClr val="E89A5C"/>
                </a:solidFill>
                <a:latin typeface="Apple SD Gothic Neo"/>
                <a:ea typeface="Apple SD Gothic Neo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s = (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볼록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ρ̊,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오목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ρ̂,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포화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ρ̃) — 합 = hidden m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  ρ̊: h&gt;0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구간에서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증가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(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ReLU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계열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  ρ̂: h&lt;0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구간에서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증가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(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거울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ReLU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계열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  ρ̃: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위·아래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평평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(x³·배터리는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보통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0)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예 m=10, s=(4,4,0) → ρ̊ 4개 + ρ̂ 4개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lang="en-US"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뉴런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번호로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φ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고정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—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x가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+/−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냐로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바뀌지</a:t>
            </a:r>
            <a:r>
              <a:rPr sz="1100" b="0" dirty="0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A0ADBC"/>
                </a:solidFill>
                <a:latin typeface="Apple SD Gothic Neo"/>
                <a:ea typeface="Apple SD Gothic Neo"/>
              </a:rPr>
              <a:t>않음</a:t>
            </a:r>
            <a:endParaRPr sz="1100" b="0" dirty="0">
              <a:solidFill>
                <a:srgbClr val="A0ADBC"/>
              </a:solidFill>
              <a:latin typeface="Apple SD Gothic Neo"/>
              <a:ea typeface="Apple SD Gothic Neo"/>
            </a:endParaRPr>
          </a:p>
        </p:txBody>
      </p:sp>
      <p:sp>
        <p:nvSpPr>
          <p:cNvPr id="19" name="Rounded Rectangle 18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21 / 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② CMNN — 방향을 구조로 고정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다음 ③ — Feature · Physics loss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③ 외삽 · Physics-ML — 방향(② CMNN)보다 더 아는 경우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physics_loss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50976"/>
            <a:ext cx="6656832" cy="47914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76288" y="950976"/>
            <a:ext cx="4956048" cy="16642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76288" y="950976"/>
            <a:ext cx="54864" cy="166420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77456" y="1078992"/>
            <a:ext cx="460857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외삽 문제 · 방법 선택 (그림 a)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 DoD 학습 → 저 DoD 시험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훈련 범위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방향만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(cycle↑→용량↓)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② CMNN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법칙·열화 지표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③ Physics-ML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순수 ML 외삽은 비선형 실제와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괴리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물리 법칙은 OOD에서도 성립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2688336"/>
            <a:ext cx="4956048" cy="15727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76288" y="2688336"/>
            <a:ext cx="54864" cy="157276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77456" y="2816352"/>
            <a:ext cx="46085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③-A Feature — 입력에 물리 (그림 b · Li)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충방전 곡선에서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열화 peak(dQ/dV)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뽑을 수 있을 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Q(V)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dQ/dV peak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회귀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loss 아님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DoD 바뀌어도 peak 유효 · OOD MAPE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~22%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76288" y="4334256"/>
            <a:ext cx="4956048" cy="15727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76288" y="4334256"/>
            <a:ext cx="54864" cy="157276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77456" y="4462272"/>
            <a:ext cx="46085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③-B Loss — 학습에 법칙 (그림 c · Aykol)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단조만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이면 CMNN으로 충분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loss 불필요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Arrhenius·열역학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등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관계 형태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를 알 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L = L_data +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λ·L_physics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· soft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 구간 시험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필수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873252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Li</a:t>
            </a:r>
          </a:p>
        </p:txBody>
      </p:sp>
      <p:sp>
        <p:nvSpPr>
          <p:cNvPr id="18" name="Rounded Rectangle 17">
            <a:hlinkClick r:id="rId5"/>
          </p:cNvPr>
          <p:cNvSpPr/>
          <p:nvPr/>
        </p:nvSpPr>
        <p:spPr>
          <a:xfrm>
            <a:off x="101955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Aykol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22 / 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방향만 → CMNN(②) · 더 알면 Physics-ML(③)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Feature(Li) · Loss(Aykol) ·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밖 구간 시험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사전 지식 없음 — UQ(경보) + 기권(예측 안 함)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042415"/>
            <a:ext cx="5669280" cy="27889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uq_aleatoric_episte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5532120" cy="1992126"/>
          </a:xfrm>
          <a:prstGeom prst="rect">
            <a:avLst/>
          </a:prstGeom>
        </p:spPr>
      </p:pic>
      <p:sp>
        <p:nvSpPr>
          <p:cNvPr id="9" name="Rounded Rectangle 8">
            <a:hlinkClick r:id="rId4"/>
          </p:cNvPr>
          <p:cNvSpPr/>
          <p:nvPr/>
        </p:nvSpPr>
        <p:spPr>
          <a:xfrm>
            <a:off x="873252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Ghahramani</a:t>
            </a:r>
          </a:p>
        </p:txBody>
      </p:sp>
      <p:sp>
        <p:nvSpPr>
          <p:cNvPr id="10" name="Rounded Rectangle 9">
            <a:hlinkClick r:id="rId5"/>
          </p:cNvPr>
          <p:cNvSpPr/>
          <p:nvPr/>
        </p:nvSpPr>
        <p:spPr>
          <a:xfrm>
            <a:off x="101955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Zhu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" y="3913632"/>
            <a:ext cx="5650992" cy="1234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2608" y="3913632"/>
            <a:ext cx="54864" cy="1234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" y="4041648"/>
            <a:ext cx="530352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UQ 그림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밖 → 불확실성 띠 벌어짐 =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경보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예측값은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나옴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‘믿지 말 것’ 신호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" y="5230368"/>
            <a:ext cx="5650992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2608" y="5230368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" y="5358384"/>
            <a:ext cx="53035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실무 예 — 센서 3개 → 품질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학습: 센서 각 0~10 · 추론: 센서=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20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범위 밖(외삽)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'품질 5.2 (불확실↑)' · 기권: '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예측 안 함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재측정'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042415"/>
            <a:ext cx="5806440" cy="13258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1042415"/>
            <a:ext cx="54864" cy="13258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8" y="1170431"/>
            <a:ext cx="545896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UQ — 경보등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예측값 + 불확실성(띠·분산)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둘 다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출력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밖/낯선 입력 → 불확실성↑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숫자는 나옴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예: 앙상블 5개 갈리면 경보 · GP는 멀수록 띠↑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2450592"/>
            <a:ext cx="580644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80760" y="2450592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81928" y="2578608"/>
            <a:ext cx="545896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기권 — 답변 거부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신뢰·불확실성이 임계 미만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예측값 자체 안 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규칙: if 센서∉[0,10]: 거부 도 동일 철학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성능: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정확도 × coverage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Zhu (operator 문헌)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950208"/>
            <a:ext cx="5806440" cy="1234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80760" y="3950208"/>
            <a:ext cx="54864" cy="1234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81928" y="4078224"/>
            <a:ext cx="5458968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UQ vs 기권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UQ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= 경보 (숫자 O)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기권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= 차단 (숫자 X)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불확실 작음 → 사용 · 큼 → 경보 또는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거부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고위험 영역: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틀린 숫자 1번 &gt; 기권 1번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5230368"/>
            <a:ext cx="5806440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80760" y="5230368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81928" y="5358384"/>
            <a:ext cx="545896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DeepONet(Zhu) — 부록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PDE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연산자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extrap + 기권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이 장 그림 아님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센서→품질 =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표 회귀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위 UQ·기권으로 충분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23 / 27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UQ=경보(숫자 O) · 기권=차단(숫자 X)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센서 범위 밖(20) → 재측정 · DeepONet=부록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hull 밖 시험 분리 → 가정 후보 → MAPE로 선택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005840"/>
            <a:ext cx="11548872" cy="224028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method_c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05840"/>
            <a:ext cx="11548872" cy="225358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0040" y="3355848"/>
            <a:ext cx="2761488" cy="12070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3355848"/>
            <a:ext cx="54864" cy="120700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" y="3483864"/>
            <a:ext cx="24140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hull 밖 분리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Conv(X_train)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수학적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훈련 범위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 시험 actual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hull 밖 · 학습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전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분리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min–max로는 부족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조합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이 밖일 수 있음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18688" y="3355848"/>
            <a:ext cx="2761488" cy="12070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18688" y="3355848"/>
            <a:ext cx="54864" cy="120700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19856" y="3483864"/>
            <a:ext cx="24140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가정 후보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지식 우선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후보를 먼저 고름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함수→EQL · 방향→CMNN · 물리→Physics-ML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모름→UQ · 후보마다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같은 train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학습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3355848"/>
            <a:ext cx="2761488" cy="12070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17336" y="3355848"/>
            <a:ext cx="54864" cy="120700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18504" y="3483864"/>
            <a:ext cx="24140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밖 시험 MAPE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같은 밖 시험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actual에 MAPE/RMSE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train 동일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에서만 예측이 갈라짐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baseline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튜닝·데이터 동일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3355848"/>
            <a:ext cx="2761488" cy="12070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15984" y="3355848"/>
            <a:ext cx="54864" cy="120700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17152" y="3483864"/>
            <a:ext cx="24140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④ 채택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 시험에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가장 가까운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가정·방법 선택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성능 MAPE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포함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Li: EQL vs MLP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시험 없음 → UQ+기권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654296"/>
            <a:ext cx="11548872" cy="47548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" y="4745736"/>
            <a:ext cx="11219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주의 — ① 지식 먼저 · 밖 시험은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판정</a:t>
            </a: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용  ②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시험한 밖 구간까지만</a:t>
            </a: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 · 더 먼 밖→UQ/기권  ③ 시험 없으면 MAPE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불가</a:t>
            </a:r>
          </a:p>
        </p:txBody>
      </p:sp>
      <p:sp>
        <p:nvSpPr>
          <p:cNvPr id="23" name="Rounded Rectangle 22">
            <a:hlinkClick r:id="rId4"/>
          </p:cNvPr>
          <p:cNvSpPr/>
          <p:nvPr/>
        </p:nvSpPr>
        <p:spPr>
          <a:xfrm>
            <a:off x="873252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24 / 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184648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5184648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523036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hull 밖 시험 → 후보별 MAPE → 최적 가정 선택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시험 범위 밖 · 시험 없음 →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UQ/기권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실무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현장에 쓰려면 — 네 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005840"/>
            <a:ext cx="11548872" cy="23317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closing_pract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05840"/>
            <a:ext cx="11548872" cy="242442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0040" y="3483864"/>
            <a:ext cx="2761488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3483864"/>
            <a:ext cx="54864" cy="117043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" y="3611880"/>
            <a:ext cx="241401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범위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 범위와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현장(운영)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범위 비교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hull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시험 데이터 — 학습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전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분리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3483864"/>
            <a:ext cx="2761488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3483864"/>
            <a:ext cx="54864" cy="117043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47288" y="3611880"/>
            <a:ext cx="241401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가정·방법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도메인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지식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으로 후보 선택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함수→EQL · 방향→CMNN · 물리→Physics-ML · 모름→UQ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83864"/>
            <a:ext cx="2761488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3483864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3611880"/>
            <a:ext cx="241401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성능 검증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 시험에서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MAPE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로 후보별 비교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baseline 동일 조건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UQ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로 과신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3483864"/>
            <a:ext cx="2761488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3483864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9448" y="3611880"/>
            <a:ext cx="241401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④ 배포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오차·불확실성 OK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배포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아니면 해당 구간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예측 안 함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(기권)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25 / 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745736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4745736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4791456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범위 확인 → 방법 선택 → 밖에서 검증 → 배포 또는 기권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시험 데이터 없으면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예측하지 않음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 extrap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— 오늘 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11365992" cy="749808"/>
          </a:xfrm>
          <a:prstGeom prst="roundRect">
            <a:avLst>
              <a:gd name="adj" fmla="val 5000"/>
            </a:avLst>
          </a:prstGeom>
          <a:solidFill>
            <a:srgbClr val="0C121A"/>
          </a:solidFill>
          <a:ln w="9525">
            <a:solidFill>
              <a:srgbClr val="3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155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</a:rPr>
              <a:t>train </a:t>
            </a: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</a:rPr>
              <a:t>밖</a:t>
            </a: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</a:rPr>
              <a:t>은 </a:t>
            </a: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</a:rPr>
              <a:t>데이터</a:t>
            </a: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</a:rPr>
              <a:t>가 아니라 </a:t>
            </a: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</a:rPr>
              <a:t>가정</a:t>
            </a: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</a:rPr>
              <a:t>이 지탱한다</a:t>
            </a:r>
          </a:p>
          <a:p>
            <a:pPr algn="ctr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B8C4D0"/>
                </a:solidFill>
                <a:latin typeface="Apple SD Gothic Neo"/>
                <a:ea typeface="Apple SD Gothic Neo"/>
              </a:rPr>
              <a:t>“외삽 되나?” → </a:t>
            </a:r>
            <a:r>
              <a:rPr sz="1300" b="1">
                <a:solidFill>
                  <a:srgbClr val="B8C4D0"/>
                </a:solidFill>
                <a:latin typeface="Apple SD Gothic Neo"/>
                <a:ea typeface="Apple SD Gothic Neo"/>
              </a:rPr>
              <a:t>가정</a:t>
            </a:r>
            <a:r>
              <a:rPr sz="1300" b="0">
                <a:solidFill>
                  <a:srgbClr val="B8C4D0"/>
                </a:solidFill>
                <a:latin typeface="Apple SD Gothic Neo"/>
                <a:ea typeface="Apple SD Gothic Neo"/>
              </a:rPr>
              <a:t>이 맞고 · </a:t>
            </a:r>
            <a:r>
              <a:rPr sz="1300" b="1">
                <a:solidFill>
                  <a:srgbClr val="B8C4D0"/>
                </a:solidFill>
                <a:latin typeface="Apple SD Gothic Neo"/>
                <a:ea typeface="Apple SD Gothic Neo"/>
              </a:rPr>
              <a:t>밖에서 시험</a:t>
            </a:r>
            <a:r>
              <a:rPr sz="1300" b="0">
                <a:solidFill>
                  <a:srgbClr val="B8C4D0"/>
                </a:solidFill>
                <a:latin typeface="Apple SD Gothic Neo"/>
                <a:ea typeface="Apple SD Gothic Neo"/>
              </a:rPr>
              <a:t>했는가?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38528"/>
            <a:ext cx="5559552" cy="10789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938528"/>
            <a:ext cx="54864" cy="107899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066544"/>
            <a:ext cx="52120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1부 · 정의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= hull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예측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연속 회귀 · 분류 DG와 다름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00712590680" y="1938528"/>
            <a:ext cx="5559552" cy="10789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0712590680" y="1938528"/>
            <a:ext cx="54864" cy="107899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0712791848" y="2066544"/>
            <a:ext cx="52120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② 2부 ·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데이터만으론 밖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모양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못 정함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NN도 밖에선 직선 · 불확실성↑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127248"/>
            <a:ext cx="5559552" cy="10789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127248"/>
            <a:ext cx="54864" cy="107899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255264"/>
            <a:ext cx="52120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③ 3부 · 대응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아는 만큼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가정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을 넣는다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식 · 방향 · 물리 · 모르면 UQ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0712590680" y="3127248"/>
            <a:ext cx="5559552" cy="10789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00712590680" y="3127248"/>
            <a:ext cx="54864" cy="107899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0712791848" y="3255264"/>
            <a:ext cx="52120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④ 실무 · 검증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 holdout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으로 확인 후 배포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못 믿으면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예측 안 함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(기권)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31596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필독 3편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590288"/>
            <a:ext cx="3639312" cy="98755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590288"/>
            <a:ext cx="54864" cy="98755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718304"/>
            <a:ext cx="3291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진단 · Xu 2021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ReLU·직선화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왜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밖에서 깨지나</a:t>
            </a:r>
          </a:p>
        </p:txBody>
      </p:sp>
      <p:sp>
        <p:nvSpPr>
          <p:cNvPr id="25" name="Rounded Rectangle 24">
            <a:hlinkClick r:id="rId3"/>
          </p:cNvPr>
          <p:cNvSpPr/>
          <p:nvPr/>
        </p:nvSpPr>
        <p:spPr>
          <a:xfrm>
            <a:off x="3063240" y="5248656"/>
            <a:ext cx="841248" cy="274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44845134680" y="4590288"/>
            <a:ext cx="3639312" cy="98755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44845134680" y="4590288"/>
            <a:ext cx="54864" cy="9875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44845335848" y="4718304"/>
            <a:ext cx="3291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처방 · Runje 2023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CMNN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방향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가정을 구조에</a:t>
            </a:r>
          </a:p>
        </p:txBody>
      </p:sp>
      <p:sp>
        <p:nvSpPr>
          <p:cNvPr id="29" name="Rounded Rectangle 28">
            <a:hlinkClick r:id="rId4"/>
          </p:cNvPr>
          <p:cNvSpPr/>
          <p:nvPr/>
        </p:nvSpPr>
        <p:spPr>
          <a:xfrm>
            <a:off x="3444847786440" y="5248656"/>
            <a:ext cx="841248" cy="274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89689857880" y="4590288"/>
            <a:ext cx="3639312" cy="98755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89689857880" y="4590288"/>
            <a:ext cx="54864" cy="9875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9690059048" y="4718304"/>
            <a:ext cx="3291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검증 · Bartley 2019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hull·고차원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인지 판정</a:t>
            </a:r>
          </a:p>
        </p:txBody>
      </p:sp>
      <p:sp>
        <p:nvSpPr>
          <p:cNvPr id="33" name="Rounded Rectangle 32">
            <a:hlinkClick r:id="rId5"/>
          </p:cNvPr>
          <p:cNvSpPr/>
          <p:nvPr/>
        </p:nvSpPr>
        <p:spPr>
          <a:xfrm>
            <a:off x="6889692509640" y="5248656"/>
            <a:ext cx="841248" cy="274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25 / 31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5742432"/>
            <a:ext cx="11430000" cy="47548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5742432"/>
            <a:ext cx="64008" cy="47548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5788152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가정 맞추기 · </a:t>
            </a:r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밖에서 시험</a:t>
            </a:r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 · UQ/기권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Xu · Runje · Bartley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Q&amp;A · </a:t>
            </a:r>
            <a:r>
              <a:rPr sz="11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참고문헌</a:t>
            </a:r>
            <a:endParaRPr sz="11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 extrap 본문  ·  분류 DG는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411480" y="132588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38074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Xu 2021 — NN Extrapolate (2부·3부)</a:t>
            </a:r>
          </a:p>
        </p:txBody>
      </p:sp>
      <p:sp>
        <p:nvSpPr>
          <p:cNvPr id="9" name="Rounded Rectangle 8">
            <a:hlinkClick r:id="rId4"/>
          </p:cNvPr>
          <p:cNvSpPr/>
          <p:nvPr/>
        </p:nvSpPr>
        <p:spPr>
          <a:xfrm>
            <a:off x="411480" y="1892807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94767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Pfister 2024 — 함수 못 정함 (2부)</a:t>
            </a:r>
          </a:p>
        </p:txBody>
      </p:sp>
      <p:sp>
        <p:nvSpPr>
          <p:cNvPr id="11" name="Rounded Rectangle 10">
            <a:hlinkClick r:id="rId5"/>
          </p:cNvPr>
          <p:cNvSpPr/>
          <p:nvPr/>
        </p:nvSpPr>
        <p:spPr>
          <a:xfrm>
            <a:off x="411480" y="2459736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5146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Bartley 2019 — 고차원·훈련 범위 (1부·2부)</a:t>
            </a:r>
          </a:p>
        </p:txBody>
      </p:sp>
      <p:sp>
        <p:nvSpPr>
          <p:cNvPr id="13" name="Rounded Rectangle 12">
            <a:hlinkClick r:id="rId6"/>
          </p:cNvPr>
          <p:cNvSpPr/>
          <p:nvPr/>
        </p:nvSpPr>
        <p:spPr>
          <a:xfrm>
            <a:off x="411480" y="3026663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081527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Martius 2016 — EQL (3부)</a:t>
            </a:r>
          </a:p>
        </p:txBody>
      </p:sp>
      <p:sp>
        <p:nvSpPr>
          <p:cNvPr id="15" name="Rounded Rectangle 14">
            <a:hlinkClick r:id="rId7"/>
          </p:cNvPr>
          <p:cNvSpPr/>
          <p:nvPr/>
        </p:nvSpPr>
        <p:spPr>
          <a:xfrm>
            <a:off x="411480" y="3593591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48455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Trask 2018 — NALU (3부)</a:t>
            </a:r>
          </a:p>
        </p:txBody>
      </p:sp>
      <p:sp>
        <p:nvSpPr>
          <p:cNvPr id="17" name="Rounded Rectangle 16">
            <a:hlinkClick r:id="rId8"/>
          </p:cNvPr>
          <p:cNvSpPr/>
          <p:nvPr/>
        </p:nvSpPr>
        <p:spPr>
          <a:xfrm>
            <a:off x="411480" y="416052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21538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Runje 2023 — CMNN (3부)</a:t>
            </a:r>
          </a:p>
        </p:txBody>
      </p:sp>
      <p:sp>
        <p:nvSpPr>
          <p:cNvPr id="19" name="Rounded Rectangle 18">
            <a:hlinkClick r:id="rId9"/>
          </p:cNvPr>
          <p:cNvSpPr/>
          <p:nvPr/>
        </p:nvSpPr>
        <p:spPr>
          <a:xfrm>
            <a:off x="6172200" y="132588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3807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Aykol 2021 — Physics-ML (3부)</a:t>
            </a:r>
          </a:p>
        </p:txBody>
      </p:sp>
      <p:sp>
        <p:nvSpPr>
          <p:cNvPr id="21" name="Rounded Rectangle 20">
            <a:hlinkClick r:id="rId10"/>
          </p:cNvPr>
          <p:cNvSpPr/>
          <p:nvPr/>
        </p:nvSpPr>
        <p:spPr>
          <a:xfrm>
            <a:off x="6172200" y="1892807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94767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Li 2023 — Physics RUL (3부)</a:t>
            </a:r>
          </a:p>
        </p:txBody>
      </p:sp>
      <p:sp>
        <p:nvSpPr>
          <p:cNvPr id="23" name="Rounded Rectangle 22">
            <a:hlinkClick r:id="rId11"/>
          </p:cNvPr>
          <p:cNvSpPr/>
          <p:nvPr/>
        </p:nvSpPr>
        <p:spPr>
          <a:xfrm>
            <a:off x="6172200" y="2459736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514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Raissi 2019 — PDE-ML (부록)</a:t>
            </a:r>
          </a:p>
        </p:txBody>
      </p:sp>
      <p:sp>
        <p:nvSpPr>
          <p:cNvPr id="25" name="Rounded Rectangle 24">
            <a:hlinkClick r:id="rId12"/>
          </p:cNvPr>
          <p:cNvSpPr/>
          <p:nvPr/>
        </p:nvSpPr>
        <p:spPr>
          <a:xfrm>
            <a:off x="6172200" y="3026663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08152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Fesser 2023 — Physics soft loss 반례 (3부)</a:t>
            </a:r>
          </a:p>
        </p:txBody>
      </p:sp>
      <p:sp>
        <p:nvSpPr>
          <p:cNvPr id="27" name="Rounded Rectangle 26">
            <a:hlinkClick r:id="rId13"/>
          </p:cNvPr>
          <p:cNvSpPr/>
          <p:nvPr/>
        </p:nvSpPr>
        <p:spPr>
          <a:xfrm>
            <a:off x="6172200" y="3593591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64845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Ghahramani 2013 — UQ (3부)</a:t>
            </a:r>
          </a:p>
        </p:txBody>
      </p:sp>
      <p:sp>
        <p:nvSpPr>
          <p:cNvPr id="29" name="Rounded Rectangle 28">
            <a:hlinkClick r:id="rId14"/>
          </p:cNvPr>
          <p:cNvSpPr/>
          <p:nvPr/>
        </p:nvSpPr>
        <p:spPr>
          <a:xfrm>
            <a:off x="6172200" y="416052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2153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Zhu 2022 — 기권 (3부)</a:t>
            </a:r>
          </a:p>
        </p:txBody>
      </p:sp>
      <p:sp>
        <p:nvSpPr>
          <p:cNvPr id="31" name="Rounded Rectangle 30">
            <a:hlinkClick r:id="rId15"/>
          </p:cNvPr>
          <p:cNvSpPr/>
          <p:nvPr/>
        </p:nvSpPr>
        <p:spPr>
          <a:xfrm>
            <a:off x="6172200" y="4727448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782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학습노트 PDF (전체 정리)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27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Q&amp;A · 참고문헌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회귀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extrap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본문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 · 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분류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DG는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411480" y="132588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38074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Xu 2021 — NN Extrapolate (2부·3부)</a:t>
            </a:r>
          </a:p>
        </p:txBody>
      </p:sp>
      <p:sp>
        <p:nvSpPr>
          <p:cNvPr id="9" name="Rounded Rectangle 8">
            <a:hlinkClick r:id="rId4"/>
          </p:cNvPr>
          <p:cNvSpPr/>
          <p:nvPr/>
        </p:nvSpPr>
        <p:spPr>
          <a:xfrm>
            <a:off x="411480" y="1892807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94767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Pfister 2024 — 함수 못 정함 (2부)</a:t>
            </a:r>
          </a:p>
        </p:txBody>
      </p:sp>
      <p:sp>
        <p:nvSpPr>
          <p:cNvPr id="11" name="Rounded Rectangle 10">
            <a:hlinkClick r:id="rId5"/>
          </p:cNvPr>
          <p:cNvSpPr/>
          <p:nvPr/>
        </p:nvSpPr>
        <p:spPr>
          <a:xfrm>
            <a:off x="411480" y="2459736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5146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Bartley 2019 — 고차원·훈련 범위 (1부·2부)</a:t>
            </a:r>
          </a:p>
        </p:txBody>
      </p:sp>
      <p:sp>
        <p:nvSpPr>
          <p:cNvPr id="13" name="Rounded Rectangle 12">
            <a:hlinkClick r:id="rId6"/>
          </p:cNvPr>
          <p:cNvSpPr/>
          <p:nvPr/>
        </p:nvSpPr>
        <p:spPr>
          <a:xfrm>
            <a:off x="411480" y="3026663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081527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Martius 2016 — EQL (3부)</a:t>
            </a:r>
          </a:p>
        </p:txBody>
      </p:sp>
      <p:sp>
        <p:nvSpPr>
          <p:cNvPr id="15" name="Rounded Rectangle 14">
            <a:hlinkClick r:id="rId7"/>
          </p:cNvPr>
          <p:cNvSpPr/>
          <p:nvPr/>
        </p:nvSpPr>
        <p:spPr>
          <a:xfrm>
            <a:off x="411480" y="3593591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48455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Trask 2018 — NALU (3부)</a:t>
            </a:r>
          </a:p>
        </p:txBody>
      </p:sp>
      <p:sp>
        <p:nvSpPr>
          <p:cNvPr id="17" name="Rounded Rectangle 16">
            <a:hlinkClick r:id="rId8"/>
          </p:cNvPr>
          <p:cNvSpPr/>
          <p:nvPr/>
        </p:nvSpPr>
        <p:spPr>
          <a:xfrm>
            <a:off x="411480" y="416052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21538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Runje 2023 — CMNN (3부)</a:t>
            </a:r>
          </a:p>
        </p:txBody>
      </p:sp>
      <p:sp>
        <p:nvSpPr>
          <p:cNvPr id="19" name="Rounded Rectangle 18">
            <a:hlinkClick r:id="rId9"/>
          </p:cNvPr>
          <p:cNvSpPr/>
          <p:nvPr/>
        </p:nvSpPr>
        <p:spPr>
          <a:xfrm>
            <a:off x="6172200" y="132588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3807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Aykol</a:t>
            </a:r>
            <a:r>
              <a:rPr sz="1200" b="0" dirty="0">
                <a:solidFill>
                  <a:srgbClr val="ECF1F7"/>
                </a:solidFill>
                <a:latin typeface="Apple SD Gothic Neo"/>
                <a:ea typeface="Apple SD Gothic Neo"/>
              </a:rPr>
              <a:t> 2021 — Physics-ML (3부)</a:t>
            </a:r>
          </a:p>
        </p:txBody>
      </p:sp>
      <p:sp>
        <p:nvSpPr>
          <p:cNvPr id="21" name="Rounded Rectangle 20">
            <a:hlinkClick r:id="rId10"/>
          </p:cNvPr>
          <p:cNvSpPr/>
          <p:nvPr/>
        </p:nvSpPr>
        <p:spPr>
          <a:xfrm>
            <a:off x="6172200" y="1892807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94767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ECF1F7"/>
                </a:solidFill>
                <a:latin typeface="Apple SD Gothic Neo"/>
                <a:ea typeface="Apple SD Gothic Neo"/>
              </a:rPr>
              <a:t>Li 2023 — Physics RUL (3부)</a:t>
            </a:r>
          </a:p>
        </p:txBody>
      </p:sp>
      <p:sp>
        <p:nvSpPr>
          <p:cNvPr id="23" name="Rounded Rectangle 22">
            <a:hlinkClick r:id="rId11"/>
          </p:cNvPr>
          <p:cNvSpPr/>
          <p:nvPr/>
        </p:nvSpPr>
        <p:spPr>
          <a:xfrm>
            <a:off x="6172200" y="2459736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514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Raissi 2019 — PDE-ML (부록)</a:t>
            </a:r>
          </a:p>
        </p:txBody>
      </p:sp>
      <p:sp>
        <p:nvSpPr>
          <p:cNvPr id="25" name="Rounded Rectangle 24">
            <a:hlinkClick r:id="rId12"/>
          </p:cNvPr>
          <p:cNvSpPr/>
          <p:nvPr/>
        </p:nvSpPr>
        <p:spPr>
          <a:xfrm>
            <a:off x="6172200" y="3026663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08152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Fesser 2023 — Physics soft loss 반례 (3부)</a:t>
            </a:r>
          </a:p>
        </p:txBody>
      </p:sp>
      <p:sp>
        <p:nvSpPr>
          <p:cNvPr id="27" name="Rounded Rectangle 26">
            <a:hlinkClick r:id="rId13"/>
          </p:cNvPr>
          <p:cNvSpPr/>
          <p:nvPr/>
        </p:nvSpPr>
        <p:spPr>
          <a:xfrm>
            <a:off x="6172200" y="3593591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64845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Ghahramani 2013 — UQ (3부)</a:t>
            </a:r>
          </a:p>
        </p:txBody>
      </p:sp>
      <p:sp>
        <p:nvSpPr>
          <p:cNvPr id="29" name="Rounded Rectangle 28">
            <a:hlinkClick r:id="rId14"/>
          </p:cNvPr>
          <p:cNvSpPr/>
          <p:nvPr/>
        </p:nvSpPr>
        <p:spPr>
          <a:xfrm>
            <a:off x="6172200" y="416052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2153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Zhu 2022 — 기권 (3부)</a:t>
            </a:r>
          </a:p>
        </p:txBody>
      </p:sp>
      <p:sp>
        <p:nvSpPr>
          <p:cNvPr id="31" name="Rounded Rectangle 30">
            <a:hlinkClick r:id="rId15"/>
          </p:cNvPr>
          <p:cNvSpPr/>
          <p:nvPr/>
        </p:nvSpPr>
        <p:spPr>
          <a:xfrm>
            <a:off x="6172200" y="4727448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782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학습노트 PDF (전체 정리)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27 / 27</a:t>
            </a:r>
          </a:p>
        </p:txBody>
      </p:sp>
    </p:spTree>
    <p:extLst>
      <p:ext uri="{BB962C8B-B14F-4D97-AF65-F5344CB8AC3E}">
        <p14:creationId xmlns:p14="http://schemas.microsoft.com/office/powerpoint/2010/main" val="4032176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B0D7EDF7-25E3-69D0-6D91-F73D799D61D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DF6B235-317B-61C0-DF69-064B244D423B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utoShape 12" descr="sdc_bar_plot.png (260×183)">
            <a:extLst>
              <a:ext uri="{FF2B5EF4-FFF2-40B4-BE49-F238E27FC236}">
                <a16:creationId xmlns:a16="http://schemas.microsoft.com/office/drawing/2014/main" id="{9D91FA3A-7C15-42D2-BC9E-36F103FAF2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50975" y="7938"/>
            <a:ext cx="304800" cy="30480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EBE5910-2EEF-4E20-8725-85FC5C9A49A2}"/>
              </a:ext>
            </a:extLst>
          </p:cNvPr>
          <p:cNvSpPr/>
          <p:nvPr/>
        </p:nvSpPr>
        <p:spPr>
          <a:xfrm>
            <a:off x="458276" y="1066637"/>
            <a:ext cx="9813721" cy="2116670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NND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과제 목적 및 구조 설명</a:t>
            </a:r>
            <a:endParaRPr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목적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NND Dryer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건조로 온도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 도달을 위한 건조 출력 최적화를 통해 목표온도 도달 비율을 높이고자 함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부동 후 재가동시 전극의 표면 온도 관리를 위한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DX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개발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타겟시점은 주행 </a:t>
            </a:r>
            <a:r>
              <a:rPr lang="ko-KR" altLang="en-US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시작 후 </a:t>
            </a:r>
            <a:r>
              <a:rPr lang="en-US" altLang="ko-KR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</a:t>
            </a:r>
            <a:r>
              <a:rPr lang="ko-KR" altLang="en-US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 OUT Zone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 온도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±10°C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경알람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).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관리온도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+20°C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중알람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PD </a:t>
            </a:r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발생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기존에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PLC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로직 사용 시 타겟 온도 및 </a:t>
            </a:r>
            <a:r>
              <a:rPr lang="ko-KR" altLang="en-US" sz="1100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타겟시간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변경 시 매번 새로운 조건을 </a:t>
            </a:r>
            <a:r>
              <a:rPr lang="ko-KR" altLang="en-US" sz="1100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찾아야함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약 한달 소요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1074A5B3-ED14-43F1-8A5F-7AF1DF9CA75F}"/>
              </a:ext>
            </a:extLst>
          </p:cNvPr>
          <p:cNvCxnSpPr>
            <a:cxnSpLocks/>
          </p:cNvCxnSpPr>
          <p:nvPr/>
        </p:nvCxnSpPr>
        <p:spPr>
          <a:xfrm flipV="1">
            <a:off x="550361" y="2333513"/>
            <a:ext cx="9445410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B4EF9F1A-D9DC-44C3-B5B1-371E8DBE646C}"/>
              </a:ext>
            </a:extLst>
          </p:cNvPr>
          <p:cNvGrpSpPr/>
          <p:nvPr/>
        </p:nvGrpSpPr>
        <p:grpSpPr>
          <a:xfrm>
            <a:off x="601241" y="2637145"/>
            <a:ext cx="4519537" cy="3626075"/>
            <a:chOff x="458441" y="2223551"/>
            <a:chExt cx="3474891" cy="1843220"/>
          </a:xfrm>
        </p:grpSpPr>
        <p:grpSp>
          <p:nvGrpSpPr>
            <p:cNvPr id="169" name="그룹 168">
              <a:extLst>
                <a:ext uri="{FF2B5EF4-FFF2-40B4-BE49-F238E27FC236}">
                  <a16:creationId xmlns:a16="http://schemas.microsoft.com/office/drawing/2014/main" id="{566C033B-CAFE-47C9-B803-880C2687AD5C}"/>
                </a:ext>
              </a:extLst>
            </p:cNvPr>
            <p:cNvGrpSpPr/>
            <p:nvPr/>
          </p:nvGrpSpPr>
          <p:grpSpPr>
            <a:xfrm>
              <a:off x="1240276" y="2355046"/>
              <a:ext cx="2693056" cy="1711725"/>
              <a:chOff x="832955" y="2106650"/>
              <a:chExt cx="5155582" cy="4260089"/>
            </a:xfrm>
          </p:grpSpPr>
          <p:pic>
            <p:nvPicPr>
              <p:cNvPr id="170" name="그림 169">
                <a:extLst>
                  <a:ext uri="{FF2B5EF4-FFF2-40B4-BE49-F238E27FC236}">
                    <a16:creationId xmlns:a16="http://schemas.microsoft.com/office/drawing/2014/main" id="{3D7A87D4-7909-4AA3-956D-176E4B63D5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32955" y="2262283"/>
                <a:ext cx="5112567" cy="4104456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p:spPr>
          </p:pic>
          <p:cxnSp>
            <p:nvCxnSpPr>
              <p:cNvPr id="171" name="직선 화살표 연결선 170">
                <a:extLst>
                  <a:ext uri="{FF2B5EF4-FFF2-40B4-BE49-F238E27FC236}">
                    <a16:creationId xmlns:a16="http://schemas.microsoft.com/office/drawing/2014/main" id="{94FEF667-8497-4779-8C31-64FF49FFA206}"/>
                  </a:ext>
                </a:extLst>
              </p:cNvPr>
              <p:cNvCxnSpPr/>
              <p:nvPr/>
            </p:nvCxnSpPr>
            <p:spPr>
              <a:xfrm>
                <a:off x="1007531" y="5509764"/>
                <a:ext cx="1246829" cy="0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화살표 연결선 171">
                <a:extLst>
                  <a:ext uri="{FF2B5EF4-FFF2-40B4-BE49-F238E27FC236}">
                    <a16:creationId xmlns:a16="http://schemas.microsoft.com/office/drawing/2014/main" id="{22FEDACA-3B23-4CFE-85C0-719AA71BECA5}"/>
                  </a:ext>
                </a:extLst>
              </p:cNvPr>
              <p:cNvCxnSpPr/>
              <p:nvPr/>
            </p:nvCxnSpPr>
            <p:spPr>
              <a:xfrm flipH="1" flipV="1">
                <a:off x="2262552" y="3312170"/>
                <a:ext cx="0" cy="2198571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화살표 연결선 172">
                <a:extLst>
                  <a:ext uri="{FF2B5EF4-FFF2-40B4-BE49-F238E27FC236}">
                    <a16:creationId xmlns:a16="http://schemas.microsoft.com/office/drawing/2014/main" id="{8A4EAE47-EFFC-4C48-9CB4-483433F7B68A}"/>
                  </a:ext>
                </a:extLst>
              </p:cNvPr>
              <p:cNvCxnSpPr/>
              <p:nvPr/>
            </p:nvCxnSpPr>
            <p:spPr>
              <a:xfrm>
                <a:off x="2262552" y="3326217"/>
                <a:ext cx="2269229" cy="0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화살표 연결선 173">
                <a:extLst>
                  <a:ext uri="{FF2B5EF4-FFF2-40B4-BE49-F238E27FC236}">
                    <a16:creationId xmlns:a16="http://schemas.microsoft.com/office/drawing/2014/main" id="{5D890D9A-192F-464D-B1EA-E0C80F747F3E}"/>
                  </a:ext>
                </a:extLst>
              </p:cNvPr>
              <p:cNvCxnSpPr/>
              <p:nvPr/>
            </p:nvCxnSpPr>
            <p:spPr>
              <a:xfrm flipH="1">
                <a:off x="4536970" y="3342709"/>
                <a:ext cx="0" cy="2198571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화살표 연결선 174">
                <a:extLst>
                  <a:ext uri="{FF2B5EF4-FFF2-40B4-BE49-F238E27FC236}">
                    <a16:creationId xmlns:a16="http://schemas.microsoft.com/office/drawing/2014/main" id="{803DA022-2D1C-4044-970A-F7670E4FF64D}"/>
                  </a:ext>
                </a:extLst>
              </p:cNvPr>
              <p:cNvCxnSpPr/>
              <p:nvPr/>
            </p:nvCxnSpPr>
            <p:spPr>
              <a:xfrm>
                <a:off x="4536970" y="5530771"/>
                <a:ext cx="1246829" cy="0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직사각형 175">
                <a:extLst>
                  <a:ext uri="{FF2B5EF4-FFF2-40B4-BE49-F238E27FC236}">
                    <a16:creationId xmlns:a16="http://schemas.microsoft.com/office/drawing/2014/main" id="{7D256A14-E578-48B8-B21A-EB39937735CD}"/>
                  </a:ext>
                </a:extLst>
              </p:cNvPr>
              <p:cNvSpPr/>
              <p:nvPr/>
            </p:nvSpPr>
            <p:spPr>
              <a:xfrm>
                <a:off x="1805591" y="3619394"/>
                <a:ext cx="698302" cy="1641782"/>
              </a:xfrm>
              <a:prstGeom prst="rect">
                <a:avLst/>
              </a:prstGeom>
              <a:solidFill>
                <a:srgbClr val="EB0000">
                  <a:alpha val="2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77" name="직사각형 176">
                <a:extLst>
                  <a:ext uri="{FF2B5EF4-FFF2-40B4-BE49-F238E27FC236}">
                    <a16:creationId xmlns:a16="http://schemas.microsoft.com/office/drawing/2014/main" id="{96F8839A-7687-4E1D-9B59-61301001A9D2}"/>
                  </a:ext>
                </a:extLst>
              </p:cNvPr>
              <p:cNvSpPr/>
              <p:nvPr/>
            </p:nvSpPr>
            <p:spPr>
              <a:xfrm>
                <a:off x="4299525" y="3601660"/>
                <a:ext cx="648424" cy="1641782"/>
              </a:xfrm>
              <a:prstGeom prst="rect">
                <a:avLst/>
              </a:prstGeom>
              <a:solidFill>
                <a:srgbClr val="EB0000">
                  <a:alpha val="2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78" name="직사각형 177">
                <a:extLst>
                  <a:ext uri="{FF2B5EF4-FFF2-40B4-BE49-F238E27FC236}">
                    <a16:creationId xmlns:a16="http://schemas.microsoft.com/office/drawing/2014/main" id="{E292856F-34A9-4E2C-B667-CA3ED38A4B27}"/>
                  </a:ext>
                </a:extLst>
              </p:cNvPr>
              <p:cNvSpPr/>
              <p:nvPr/>
            </p:nvSpPr>
            <p:spPr>
              <a:xfrm>
                <a:off x="2653528" y="2812550"/>
                <a:ext cx="1496362" cy="78911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r>
                  <a:rPr lang="ko-KR" altLang="en-US" sz="1200" dirty="0">
                    <a:solidFill>
                      <a:srgbClr val="E2E8F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미사용</a:t>
                </a:r>
              </a:p>
            </p:txBody>
          </p:sp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E143A565-74A1-4E5F-8935-CC56583875A1}"/>
                  </a:ext>
                </a:extLst>
              </p:cNvPr>
              <p:cNvSpPr/>
              <p:nvPr/>
            </p:nvSpPr>
            <p:spPr>
              <a:xfrm rot="10536781">
                <a:off x="4230370" y="3209351"/>
                <a:ext cx="74810" cy="87943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8C35AA90-6079-4A10-8428-96383365344D}"/>
                  </a:ext>
                </a:extLst>
              </p:cNvPr>
              <p:cNvSpPr/>
              <p:nvPr/>
            </p:nvSpPr>
            <p:spPr>
              <a:xfrm rot="21336781">
                <a:off x="4230369" y="3365171"/>
                <a:ext cx="74810" cy="87943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DE1993E6-71A1-45A5-A735-7F1C6208A370}"/>
                  </a:ext>
                </a:extLst>
              </p:cNvPr>
              <p:cNvSpPr/>
              <p:nvPr/>
            </p:nvSpPr>
            <p:spPr>
              <a:xfrm rot="15936781">
                <a:off x="4564549" y="5307883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35B45CCB-3A2A-4F8A-8D2E-7DFC59F4B9D1}"/>
                  </a:ext>
                </a:extLst>
              </p:cNvPr>
              <p:cNvSpPr/>
              <p:nvPr/>
            </p:nvSpPr>
            <p:spPr>
              <a:xfrm rot="5136781">
                <a:off x="4414913" y="5307883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3" name="타원 182">
                <a:extLst>
                  <a:ext uri="{FF2B5EF4-FFF2-40B4-BE49-F238E27FC236}">
                    <a16:creationId xmlns:a16="http://schemas.microsoft.com/office/drawing/2014/main" id="{A4D89D3B-3615-4342-BD4E-B1F0BB6441AC}"/>
                  </a:ext>
                </a:extLst>
              </p:cNvPr>
              <p:cNvSpPr/>
              <p:nvPr/>
            </p:nvSpPr>
            <p:spPr>
              <a:xfrm rot="15936781">
                <a:off x="2294284" y="3487209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4" name="타원 183">
                <a:extLst>
                  <a:ext uri="{FF2B5EF4-FFF2-40B4-BE49-F238E27FC236}">
                    <a16:creationId xmlns:a16="http://schemas.microsoft.com/office/drawing/2014/main" id="{C786AAA3-4590-4906-95E6-AB0EF3D68BA9}"/>
                  </a:ext>
                </a:extLst>
              </p:cNvPr>
              <p:cNvSpPr/>
              <p:nvPr/>
            </p:nvSpPr>
            <p:spPr>
              <a:xfrm rot="5136781">
                <a:off x="2150828" y="3490195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5" name="직사각형 184">
                <a:extLst>
                  <a:ext uri="{FF2B5EF4-FFF2-40B4-BE49-F238E27FC236}">
                    <a16:creationId xmlns:a16="http://schemas.microsoft.com/office/drawing/2014/main" id="{B2F5FFF2-669E-45FA-95A8-66E2D014CC6C}"/>
                  </a:ext>
                </a:extLst>
              </p:cNvPr>
              <p:cNvSpPr/>
              <p:nvPr/>
            </p:nvSpPr>
            <p:spPr>
              <a:xfrm>
                <a:off x="2639188" y="4747521"/>
                <a:ext cx="827020" cy="582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IN</a:t>
                </a:r>
              </a:p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Zone</a:t>
                </a:r>
                <a:endParaRPr lang="ko-KR" altLang="en-US" sz="8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6" name="직사각형 185">
                <a:extLst>
                  <a:ext uri="{FF2B5EF4-FFF2-40B4-BE49-F238E27FC236}">
                    <a16:creationId xmlns:a16="http://schemas.microsoft.com/office/drawing/2014/main" id="{DF746F6C-F8F6-4C6C-8F8B-582DAAB47517}"/>
                  </a:ext>
                </a:extLst>
              </p:cNvPr>
              <p:cNvSpPr/>
              <p:nvPr/>
            </p:nvSpPr>
            <p:spPr>
              <a:xfrm>
                <a:off x="2975728" y="2106650"/>
                <a:ext cx="827020" cy="582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MID</a:t>
                </a:r>
              </a:p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Zone</a:t>
                </a:r>
                <a:endParaRPr lang="ko-KR" altLang="en-US" sz="8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7" name="직사각형 186">
                <a:extLst>
                  <a:ext uri="{FF2B5EF4-FFF2-40B4-BE49-F238E27FC236}">
                    <a16:creationId xmlns:a16="http://schemas.microsoft.com/office/drawing/2014/main" id="{333BDF75-92CD-4D83-9E4A-C8CD9ADC8B8A}"/>
                  </a:ext>
                </a:extLst>
              </p:cNvPr>
              <p:cNvSpPr/>
              <p:nvPr/>
            </p:nvSpPr>
            <p:spPr>
              <a:xfrm>
                <a:off x="5161517" y="4747521"/>
                <a:ext cx="827020" cy="582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rgbClr val="E2E8F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OUT</a:t>
                </a:r>
              </a:p>
              <a:p>
                <a:pPr algn="ctr"/>
                <a:r>
                  <a:rPr lang="en-US" altLang="ko-KR" sz="800" b="1" dirty="0">
                    <a:solidFill>
                      <a:srgbClr val="E2E8F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Zone</a:t>
                </a:r>
                <a:endParaRPr lang="ko-KR" altLang="en-US" sz="8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6E392953-AD63-4DBA-A28D-1EFFFE89493D}"/>
                </a:ext>
              </a:extLst>
            </p:cNvPr>
            <p:cNvSpPr/>
            <p:nvPr/>
          </p:nvSpPr>
          <p:spPr>
            <a:xfrm>
              <a:off x="458441" y="3546444"/>
              <a:ext cx="996581" cy="31852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전극 진행 방향</a:t>
              </a:r>
            </a:p>
          </p:txBody>
        </p:sp>
        <p:cxnSp>
          <p:nvCxnSpPr>
            <p:cNvPr id="189" name="직선 연결선 188">
              <a:extLst>
                <a:ext uri="{FF2B5EF4-FFF2-40B4-BE49-F238E27FC236}">
                  <a16:creationId xmlns:a16="http://schemas.microsoft.com/office/drawing/2014/main" id="{A28C32EC-E128-4730-8442-05933270DE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15553" y="2943902"/>
              <a:ext cx="421018" cy="178180"/>
            </a:xfrm>
            <a:prstGeom prst="line">
              <a:avLst/>
            </a:prstGeom>
            <a:ln>
              <a:solidFill>
                <a:srgbClr val="FF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425B4BF7-83D2-44EE-AC6E-F5CF7C465020}"/>
                </a:ext>
              </a:extLst>
            </p:cNvPr>
            <p:cNvSpPr/>
            <p:nvPr/>
          </p:nvSpPr>
          <p:spPr>
            <a:xfrm>
              <a:off x="778209" y="2700019"/>
              <a:ext cx="624824" cy="3185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IR(</a:t>
              </a:r>
              <a:r>
                <a:rPr lang="ko-KR" altLang="en-US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적외선</a:t>
              </a:r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 Lamp</a:t>
              </a:r>
              <a:endPara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49994321-0247-4203-9CEB-AA1A1DAD5890}"/>
                </a:ext>
              </a:extLst>
            </p:cNvPr>
            <p:cNvSpPr txBox="1"/>
            <p:nvPr/>
          </p:nvSpPr>
          <p:spPr>
            <a:xfrm>
              <a:off x="1621765" y="2223551"/>
              <a:ext cx="1860687" cy="135914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&lt;NND</a:t>
              </a:r>
              <a:r>
                <a:rPr lang="ko-KR" altLang="en-US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Dryer</a:t>
              </a:r>
              <a:r>
                <a:rPr lang="ko-KR" altLang="en-US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설비 구조도</a:t>
              </a:r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&gt;</a:t>
              </a:r>
              <a:r>
                <a:rPr lang="ko-KR" altLang="en-US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</a:p>
          </p:txBody>
        </p:sp>
      </p:grp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BB4F85FD-13A7-4306-90C7-F5B074426AA2}"/>
              </a:ext>
            </a:extLst>
          </p:cNvPr>
          <p:cNvSpPr/>
          <p:nvPr/>
        </p:nvSpPr>
        <p:spPr>
          <a:xfrm>
            <a:off x="6047040" y="1987804"/>
            <a:ext cx="3144367" cy="200055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ko-KR" altLang="en-US" sz="7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건조로에 외부 전극이 건조로 내부에 투입 후 밖으로 나오는데 소요된 시간</a:t>
            </a:r>
            <a:endParaRPr lang="en-US" altLang="ko-KR" sz="700" b="1" dirty="0">
              <a:solidFill>
                <a:schemeClr val="accent6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C28B47-F025-437A-97E8-1BD899E29BD0}"/>
              </a:ext>
            </a:extLst>
          </p:cNvPr>
          <p:cNvSpPr txBox="1"/>
          <p:nvPr/>
        </p:nvSpPr>
        <p:spPr>
          <a:xfrm>
            <a:off x="287526" y="499082"/>
            <a:ext cx="7588035" cy="461665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NND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Dryer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전극표면 온도관모형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(physics-informed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Model)</a:t>
            </a:r>
            <a:endParaRPr lang="ko-KR" altLang="en-US" sz="2400" b="1" dirty="0">
              <a:solidFill>
                <a:srgbClr val="ECF1F7"/>
              </a:solidFill>
              <a:latin typeface="Apple SD Gothic Neo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E4FCF87-2D55-40FC-89CB-B9FE48EE3188}"/>
              </a:ext>
            </a:extLst>
          </p:cNvPr>
          <p:cNvGrpSpPr/>
          <p:nvPr/>
        </p:nvGrpSpPr>
        <p:grpSpPr>
          <a:xfrm>
            <a:off x="5660327" y="2745149"/>
            <a:ext cx="4335443" cy="3446099"/>
            <a:chOff x="4833267" y="2413619"/>
            <a:chExt cx="3430907" cy="1951784"/>
          </a:xfrm>
        </p:grpSpPr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07ACD3DE-9DAF-4361-95FC-A272F15AC854}"/>
                </a:ext>
              </a:extLst>
            </p:cNvPr>
            <p:cNvSpPr/>
            <p:nvPr/>
          </p:nvSpPr>
          <p:spPr>
            <a:xfrm>
              <a:off x="4833267" y="2413619"/>
              <a:ext cx="930257" cy="145084"/>
            </a:xfrm>
            <a:prstGeom prst="rect">
              <a:avLst/>
            </a:prstGeom>
            <a:ln/>
          </p:spPr>
          <p:txBody>
            <a:bodyPr wrap="none">
              <a:spAutoFit/>
            </a:bodyPr>
            <a:lstStyle/>
            <a:p>
              <a:r>
                <a:rPr lang="en-US" altLang="ko-KR" sz="900" u="sng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DX</a:t>
              </a:r>
              <a:r>
                <a:rPr lang="ko-KR" altLang="en-US" sz="900" u="sng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적용 전 현 수준</a:t>
              </a:r>
              <a:endParaRPr lang="ko-KR" altLang="en-US" sz="900" u="sng" dirty="0"/>
            </a:p>
          </p:txBody>
        </p:sp>
        <p:sp>
          <p:nvSpPr>
            <p:cNvPr id="5" name="화살표: 오른쪽 4">
              <a:extLst>
                <a:ext uri="{FF2B5EF4-FFF2-40B4-BE49-F238E27FC236}">
                  <a16:creationId xmlns:a16="http://schemas.microsoft.com/office/drawing/2014/main" id="{A5CF2B63-C1C6-4AE0-87CE-271B9AC61232}"/>
                </a:ext>
              </a:extLst>
            </p:cNvPr>
            <p:cNvSpPr/>
            <p:nvPr/>
          </p:nvSpPr>
          <p:spPr>
            <a:xfrm>
              <a:off x="7472519" y="3210234"/>
              <a:ext cx="609999" cy="330497"/>
            </a:xfrm>
            <a:prstGeom prst="right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A760966-DEE7-41C9-9D7B-EFEAF756861D}"/>
                </a:ext>
              </a:extLst>
            </p:cNvPr>
            <p:cNvSpPr/>
            <p:nvPr/>
          </p:nvSpPr>
          <p:spPr>
            <a:xfrm>
              <a:off x="7361550" y="3588519"/>
              <a:ext cx="859886" cy="305000"/>
            </a:xfrm>
            <a:prstGeom prst="rect">
              <a:avLst/>
            </a:prstGeom>
            <a:ln/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전극 이동에 따른 </a:t>
              </a:r>
              <a:endParaRPr lang="en-US" altLang="ko-KR" sz="900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9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온도 변화</a:t>
              </a:r>
              <a:endParaRPr lang="en-US" altLang="ko-KR" sz="900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948C143-66E0-4FE9-814D-E8ED2A90F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0" y="2580606"/>
              <a:ext cx="3311174" cy="1784797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7977178-CFC8-477A-826F-5767A9377F6D}"/>
                </a:ext>
              </a:extLst>
            </p:cNvPr>
            <p:cNvSpPr txBox="1"/>
            <p:nvPr/>
          </p:nvSpPr>
          <p:spPr>
            <a:xfrm>
              <a:off x="5387500" y="2948932"/>
              <a:ext cx="345734" cy="116068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100</a:t>
              </a:r>
              <a:endParaRPr lang="ko-KR" altLang="en-US" sz="6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001C0F4-595C-4E57-984D-E7D5B550CD09}"/>
                </a:ext>
              </a:extLst>
            </p:cNvPr>
            <p:cNvSpPr txBox="1"/>
            <p:nvPr/>
          </p:nvSpPr>
          <p:spPr>
            <a:xfrm>
              <a:off x="5387499" y="2786311"/>
              <a:ext cx="1118297" cy="116068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타겟온도 </a:t>
              </a:r>
              <a:r>
                <a:rPr lang="en-US" altLang="ko-KR" sz="6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 110</a:t>
              </a:r>
              <a:endParaRPr lang="ko-KR" altLang="en-US" sz="6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80DB52D3-AD3F-4381-9A84-0CF892B0C78E}"/>
                </a:ext>
              </a:extLst>
            </p:cNvPr>
            <p:cNvSpPr/>
            <p:nvPr/>
          </p:nvSpPr>
          <p:spPr>
            <a:xfrm>
              <a:off x="6270270" y="2632918"/>
              <a:ext cx="1947870" cy="1513959"/>
            </a:xfrm>
            <a:prstGeom prst="rect">
              <a:avLst/>
            </a:prstGeom>
            <a:solidFill>
              <a:srgbClr val="009C3C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03EC3E89-9EA0-425F-B421-BF053CADC75F}"/>
                </a:ext>
              </a:extLst>
            </p:cNvPr>
            <p:cNvSpPr/>
            <p:nvPr/>
          </p:nvSpPr>
          <p:spPr>
            <a:xfrm>
              <a:off x="6934076" y="3060012"/>
              <a:ext cx="1023255" cy="135412"/>
            </a:xfrm>
            <a:prstGeom prst="rect">
              <a:avLst/>
            </a:prstGeom>
            <a:solidFill>
              <a:srgbClr val="000C4C"/>
            </a:solidFill>
            <a:ln/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목표 온도 타겟 지점</a:t>
              </a:r>
              <a:endParaRPr lang="ko-KR" altLang="en-US" sz="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E78FF7ED-770C-4D77-9BAB-CF8AB5437431}"/>
                </a:ext>
              </a:extLst>
            </p:cNvPr>
            <p:cNvCxnSpPr/>
            <p:nvPr/>
          </p:nvCxnSpPr>
          <p:spPr>
            <a:xfrm flipV="1">
              <a:off x="6908149" y="2632918"/>
              <a:ext cx="0" cy="1518689"/>
            </a:xfrm>
            <a:prstGeom prst="line">
              <a:avLst/>
            </a:prstGeom>
            <a:ln>
              <a:solidFill>
                <a:srgbClr val="6474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EBBF3C9-8F42-4192-9D1B-14E2E08BDEEE}"/>
                </a:ext>
              </a:extLst>
            </p:cNvPr>
            <p:cNvSpPr txBox="1"/>
            <p:nvPr/>
          </p:nvSpPr>
          <p:spPr>
            <a:xfrm>
              <a:off x="6298360" y="3434797"/>
              <a:ext cx="713651" cy="135412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가속 후 </a:t>
              </a:r>
              <a:r>
                <a:rPr lang="en-US" altLang="ko-KR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20s</a:t>
              </a:r>
              <a:endParaRPr lang="ko-KR" altLang="en-US" sz="800" dirty="0">
                <a:solidFill>
                  <a:schemeClr val="accent4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4EA0A3B7-7535-41EE-AD73-A30B682D75EF}"/>
              </a:ext>
            </a:extLst>
          </p:cNvPr>
          <p:cNvSpPr txBox="1"/>
          <p:nvPr/>
        </p:nvSpPr>
        <p:spPr>
          <a:xfrm>
            <a:off x="6245617" y="4058171"/>
            <a:ext cx="401664" cy="184666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120</a:t>
            </a:r>
            <a:endParaRPr lang="ko-KR" altLang="en-US" sz="6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3A6A51-1D3F-CC17-A41D-6A268545AC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6436473"/>
            <a:ext cx="9906000" cy="421527"/>
          </a:xfrm>
          <a:prstGeom prst="rect">
            <a:avLst/>
          </a:prstGeom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06621B11-3CB5-F184-28BF-1D1381C8B3EE}"/>
              </a:ext>
            </a:extLst>
          </p:cNvPr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D2EF5B-1681-DC13-A443-B9C98AD49083}"/>
              </a:ext>
            </a:extLst>
          </p:cNvPr>
          <p:cNvSpPr txBox="1"/>
          <p:nvPr/>
        </p:nvSpPr>
        <p:spPr>
          <a:xfrm>
            <a:off x="384048" y="237744"/>
            <a:ext cx="9601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적용 사례</a:t>
            </a:r>
            <a:endParaRPr sz="11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32761954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68080A-A0FC-2CE2-F742-4F622000A4B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B987F4-EE9D-6C44-F9DC-BCB2C14D12C2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8AC2A19-893A-4724-839E-2F721EAF9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751280"/>
              </p:ext>
            </p:extLst>
          </p:nvPr>
        </p:nvGraphicFramePr>
        <p:xfrm>
          <a:off x="690005" y="4783439"/>
          <a:ext cx="9072000" cy="1783773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642744956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943457052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99932252"/>
                    </a:ext>
                  </a:extLst>
                </a:gridCol>
              </a:tblGrid>
              <a:tr h="2267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Multivariate Linear Regression</a:t>
                      </a:r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LSTM_With_Attention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LSTM_With_Transformer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153993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방샹성 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시뮬레이션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82758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343620" y="1028012"/>
            <a:ext cx="9790981" cy="421526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모형 별 테스트 결과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372FD4E-A31C-4969-9940-624F00DC4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47627"/>
              </p:ext>
            </p:extLst>
          </p:nvPr>
        </p:nvGraphicFramePr>
        <p:xfrm>
          <a:off x="690006" y="2500679"/>
          <a:ext cx="7030013" cy="1848000"/>
        </p:xfrm>
        <a:graphic>
          <a:graphicData uri="http://schemas.openxmlformats.org/drawingml/2006/table">
            <a:tbl>
              <a:tblPr/>
              <a:tblGrid>
                <a:gridCol w="571086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837295">
                  <a:extLst>
                    <a:ext uri="{9D8B030D-6E8A-4147-A177-3AD203B41FA5}">
                      <a16:colId xmlns:a16="http://schemas.microsoft.com/office/drawing/2014/main" val="2092513496"/>
                    </a:ext>
                  </a:extLst>
                </a:gridCol>
                <a:gridCol w="135802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  <a:gridCol w="1155892">
                  <a:extLst>
                    <a:ext uri="{9D8B030D-6E8A-4147-A177-3AD203B41FA5}">
                      <a16:colId xmlns:a16="http://schemas.microsoft.com/office/drawing/2014/main" val="642744956"/>
                    </a:ext>
                  </a:extLst>
                </a:gridCol>
                <a:gridCol w="1487720">
                  <a:extLst>
                    <a:ext uri="{9D8B030D-6E8A-4147-A177-3AD203B41FA5}">
                      <a16:colId xmlns:a16="http://schemas.microsoft.com/office/drawing/2014/main" val="94345705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99932252"/>
                    </a:ext>
                  </a:extLst>
                </a:gridCol>
              </a:tblGrid>
              <a:tr h="251798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Multivariate Linear Regression</a:t>
                      </a:r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LSTM_With_Attention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LSTM_With_Transformer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121920">
                <a:tc rowSpan="3"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82758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184228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697679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 방향 시뮬레이션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상관계수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8724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목표온도 달성률</a:t>
                      </a:r>
                      <a:endParaRPr lang="en-US" altLang="ko-KR" sz="10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미적용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미적용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30.22%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52.43%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989813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3E31FFE-BB26-4DD4-8DCE-EB62F9520588}"/>
              </a:ext>
            </a:extLst>
          </p:cNvPr>
          <p:cNvSpPr/>
          <p:nvPr/>
        </p:nvSpPr>
        <p:spPr>
          <a:xfrm>
            <a:off x="531320" y="1391204"/>
            <a:ext cx="9634209" cy="595676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 셋 구성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: GM1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호기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24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19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~ 5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13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까지 수집 된 총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1250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개의 재가동 케이스를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Train(60%), Validation(20%)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Test(20%)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나누어 학습 및 테스트 진행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9B894D4-3835-40F6-A09F-EDF07FA7BB2A}"/>
              </a:ext>
            </a:extLst>
          </p:cNvPr>
          <p:cNvSpPr/>
          <p:nvPr/>
        </p:nvSpPr>
        <p:spPr>
          <a:xfrm>
            <a:off x="626967" y="2223179"/>
            <a:ext cx="8494633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테스트 결과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성능이 좋았던 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r>
              <a:rPr lang="ko-KR" altLang="en-US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가지 순위만 표기함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모두 </a:t>
            </a:r>
            <a:r>
              <a:rPr lang="en-US" altLang="ko-KR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Standard Scaler </a:t>
            </a:r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시 성능이 가장 좋았음 </a:t>
            </a:r>
            <a:r>
              <a:rPr lang="en-US" altLang="ko-KR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Optuna</a:t>
            </a:r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통한 하이퍼 파라미터 최적화 진행 </a:t>
            </a:r>
            <a:r>
              <a:rPr lang="en-US" altLang="ko-KR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추론 시간 </a:t>
            </a:r>
            <a:r>
              <a:rPr lang="en-US" altLang="ko-KR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1s</a:t>
            </a:r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이내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82080BD-92B0-40EE-B9E1-62EAE934F6A6}"/>
              </a:ext>
            </a:extLst>
          </p:cNvPr>
          <p:cNvSpPr/>
          <p:nvPr/>
        </p:nvSpPr>
        <p:spPr>
          <a:xfrm>
            <a:off x="595073" y="4483857"/>
            <a:ext cx="1544012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 시뮬레이션 결과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BC5C5D4-DFFB-414D-9286-EA13570DB9CF}"/>
              </a:ext>
            </a:extLst>
          </p:cNvPr>
          <p:cNvSpPr/>
          <p:nvPr/>
        </p:nvSpPr>
        <p:spPr>
          <a:xfrm>
            <a:off x="4018090" y="2467174"/>
            <a:ext cx="675185" cy="246221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최고 우위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C2BB758-7A97-4BDB-AA87-260459B0F699}"/>
              </a:ext>
            </a:extLst>
          </p:cNvPr>
          <p:cNvSpPr/>
          <p:nvPr/>
        </p:nvSpPr>
        <p:spPr>
          <a:xfrm>
            <a:off x="4613585" y="2499455"/>
            <a:ext cx="1477663" cy="1524000"/>
          </a:xfrm>
          <a:prstGeom prst="rect">
            <a:avLst/>
          </a:prstGeom>
          <a:solidFill>
            <a:srgbClr val="AC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6319F089-B44C-429C-A121-B3CBDF7EF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2143" y="5052538"/>
            <a:ext cx="2018445" cy="1464076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09092D30-4615-4967-ACEF-7F196C2CC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184" y="5062945"/>
            <a:ext cx="2018445" cy="138540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1C5758E4-0E8B-4B7D-B94B-600390D6F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489" y="5052538"/>
            <a:ext cx="2018445" cy="1385408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4804C072-5F72-4E4C-B0B1-84E12A19D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3600" y="5085785"/>
            <a:ext cx="2033375" cy="139201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974C957-C31A-9639-442C-C0AFEA35CE12}"/>
              </a:ext>
            </a:extLst>
          </p:cNvPr>
          <p:cNvSpPr/>
          <p:nvPr/>
        </p:nvSpPr>
        <p:spPr>
          <a:xfrm>
            <a:off x="4613584" y="4018662"/>
            <a:ext cx="3088558" cy="32508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E280B4-33D9-82C8-2BF3-F4948E2B0898}"/>
              </a:ext>
            </a:extLst>
          </p:cNvPr>
          <p:cNvSpPr/>
          <p:nvPr/>
        </p:nvSpPr>
        <p:spPr>
          <a:xfrm>
            <a:off x="4697284" y="4391275"/>
            <a:ext cx="5205271" cy="246221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평가지표 </a:t>
            </a:r>
            <a:r>
              <a:rPr lang="en-US" altLang="ko-KR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MAPE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실제 목표온도 </a:t>
            </a:r>
            <a:r>
              <a:rPr lang="ko-KR" altLang="en-US" sz="1000" dirty="0" err="1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달성률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불일치</a:t>
            </a:r>
            <a:r>
              <a:rPr lang="en-US" altLang="ko-KR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 err="1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외삽을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고려하지 못한 </a:t>
            </a:r>
            <a:r>
              <a:rPr lang="ko-KR" altLang="en-US" sz="1000" dirty="0" err="1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내삽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평가지표</a:t>
            </a:r>
            <a:r>
              <a:rPr lang="en-US" altLang="ko-KR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랜덤 스플릿</a:t>
            </a:r>
            <a:r>
              <a:rPr lang="en-US" altLang="ko-KR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000" dirty="0">
              <a:solidFill>
                <a:srgbClr val="FFFF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0FB52F-C43E-A767-A8E2-55E2CF03942B}"/>
              </a:ext>
            </a:extLst>
          </p:cNvPr>
          <p:cNvSpPr txBox="1"/>
          <p:nvPr/>
        </p:nvSpPr>
        <p:spPr>
          <a:xfrm>
            <a:off x="287526" y="499082"/>
            <a:ext cx="7588035" cy="461665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NND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Dryer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전극표면 온도관모형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(physics-informed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Model)</a:t>
            </a:r>
            <a:endParaRPr lang="ko-KR" altLang="en-US" sz="2400" b="1" dirty="0">
              <a:solidFill>
                <a:srgbClr val="ECF1F7"/>
              </a:solidFill>
              <a:latin typeface="Apple SD Gothic Neo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6DB2583-ADC6-A407-71F3-E0ECCEEAF34C}"/>
              </a:ext>
            </a:extLst>
          </p:cNvPr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E695E3-5D61-02D2-E020-F2779F017835}"/>
              </a:ext>
            </a:extLst>
          </p:cNvPr>
          <p:cNvSpPr txBox="1"/>
          <p:nvPr/>
        </p:nvSpPr>
        <p:spPr>
          <a:xfrm>
            <a:off x="384048" y="237744"/>
            <a:ext cx="9601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적용 사례</a:t>
            </a:r>
            <a:endParaRPr sz="11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29639101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76949B-9C8B-0C94-8A22-0609500B19D5}"/>
              </a:ext>
            </a:extLst>
          </p:cNvPr>
          <p:cNvSpPr/>
          <p:nvPr/>
        </p:nvSpPr>
        <p:spPr>
          <a:xfrm>
            <a:off x="-50800" y="-48934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3DC061B-5A87-7072-6666-9F425B32AB33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7A472BB-0045-4386-8399-E649DCCC9B16}"/>
              </a:ext>
            </a:extLst>
          </p:cNvPr>
          <p:cNvSpPr/>
          <p:nvPr/>
        </p:nvSpPr>
        <p:spPr>
          <a:xfrm>
            <a:off x="469763" y="1488450"/>
            <a:ext cx="11338189" cy="55072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방법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예측모형과 온도 예측모형을 교차 학습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수집된 데이터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 방향성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Loss,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시뮬레이션 결과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등을 각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Step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따라 반영하여 모든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수렴하도록 학습을 유도함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 total Loss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대신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 term-wise </a:t>
            </a:r>
            <a:r>
              <a:rPr lang="ko-KR" altLang="en-US" sz="1050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역전파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예측모형 과 온도 예측모형이 학습이 완료되면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최적 제어값을 추론할 때는 출력 예측모형만을 사용해서 추론 진행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749EDD-9CFE-457A-8CE2-81AD43082C2F}"/>
              </a:ext>
            </a:extLst>
          </p:cNvPr>
          <p:cNvSpPr/>
          <p:nvPr/>
        </p:nvSpPr>
        <p:spPr>
          <a:xfrm>
            <a:off x="384048" y="1231329"/>
            <a:ext cx="9456156" cy="318677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marL="85725"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과정에서 기존 데이터 학습 셋 및 외삽을 가정한 데이터를 생성하고 온도예측모형에서 검증을 하며 학습이 이루어지는 모형으로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BCB69F2-2020-4C81-BD00-256EBDF5E36B}"/>
              </a:ext>
            </a:extLst>
          </p:cNvPr>
          <p:cNvSpPr/>
          <p:nvPr/>
        </p:nvSpPr>
        <p:spPr>
          <a:xfrm>
            <a:off x="236529" y="902883"/>
            <a:ext cx="2456122" cy="42152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pPr marL="85725"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온도제어 모델 관련 설명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02ADAE-60EF-B27B-FE72-90D7538C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792414"/>
            <a:ext cx="9906000" cy="10655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8FDDADF-974C-B660-724F-1A83479C3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14" y="2031773"/>
            <a:ext cx="9477727" cy="47906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CEA449-870C-E2FD-3128-6C130F297F66}"/>
              </a:ext>
            </a:extLst>
          </p:cNvPr>
          <p:cNvSpPr txBox="1"/>
          <p:nvPr/>
        </p:nvSpPr>
        <p:spPr>
          <a:xfrm>
            <a:off x="2563139" y="4393597"/>
            <a:ext cx="49947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rgbClr val="FFFF00"/>
                </a:solidFill>
                <a:latin typeface="+mj-ea"/>
                <a:ea typeface="+mj-ea"/>
              </a:rPr>
              <a:t>counterfactual </a:t>
            </a:r>
            <a:endParaRPr lang="ko-KR" altLang="en-US" sz="9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86A7C0-22E5-48B2-E860-7F43229F027E}"/>
              </a:ext>
            </a:extLst>
          </p:cNvPr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26F6E7-30CF-9648-D040-845E70EB036D}"/>
              </a:ext>
            </a:extLst>
          </p:cNvPr>
          <p:cNvSpPr txBox="1"/>
          <p:nvPr/>
        </p:nvSpPr>
        <p:spPr>
          <a:xfrm>
            <a:off x="287526" y="499082"/>
            <a:ext cx="7588035" cy="461665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NND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Dryer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전극표면 온도관모형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(physics-informed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Model)</a:t>
            </a:r>
            <a:endParaRPr lang="ko-KR" altLang="en-US" sz="2400" b="1" dirty="0">
              <a:solidFill>
                <a:srgbClr val="ECF1F7"/>
              </a:solidFill>
              <a:latin typeface="Apple SD Gothic Ne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9689A8-D165-2607-F1CC-7BE7FEB729F5}"/>
              </a:ext>
            </a:extLst>
          </p:cNvPr>
          <p:cNvSpPr txBox="1"/>
          <p:nvPr/>
        </p:nvSpPr>
        <p:spPr>
          <a:xfrm>
            <a:off x="384048" y="237744"/>
            <a:ext cx="9601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적용 사례</a:t>
            </a:r>
            <a:endParaRPr sz="11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4887340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708F7D1F-C18D-CA13-6B70-616BEF62B80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21E8EE6-D1E3-9A8B-A384-C5D7A7AAFECF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289157" y="951914"/>
            <a:ext cx="9790981" cy="96500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 모형 현장적용 결과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신규모형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(GCLN)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적용 결과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-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상용 알고리즘과 동일한 데이터 셋으로 학습 진행 후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GM1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호기에 적용한 결과</a:t>
            </a:r>
            <a:r>
              <a:rPr lang="en-US" altLang="ko-KR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약 </a:t>
            </a:r>
            <a:r>
              <a:rPr lang="en-US" altLang="ko-KR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50</a:t>
            </a:r>
            <a:r>
              <a:rPr lang="ko-KR" altLang="en-US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  <a:r>
              <a:rPr lang="en-US" altLang="ko-KR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 온도 </a:t>
            </a:r>
            <a:r>
              <a:rPr lang="ko-KR" altLang="en-US" sz="1100" b="1" u="sng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달성률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99.3%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수준 확보함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978FC3B-E7DF-4A74-9507-CE444D2A6B08}"/>
                  </a:ext>
                </a:extLst>
              </p:cNvPr>
              <p:cNvSpPr/>
              <p:nvPr/>
            </p:nvSpPr>
            <p:spPr>
              <a:xfrm>
                <a:off x="9370931" y="1095823"/>
                <a:ext cx="2584362" cy="416461"/>
              </a:xfrm>
              <a:prstGeom prst="rect">
                <a:avLst/>
              </a:prstGeom>
              <a:ln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1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※</a:t>
                </a:r>
                <a:r>
                  <a:rPr lang="ko-KR" altLang="en-US" sz="11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목표온도 달성률 </a:t>
                </a:r>
                <a:r>
                  <a:rPr lang="en-US" altLang="ko-KR" sz="11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fPr>
                      <m:num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목표온도</m:t>
                        </m:r>
                        <m:r>
                          <a:rPr lang="en-US" altLang="ko-KR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타겟인</m:t>
                        </m:r>
                        <m:r>
                          <a:rPr lang="en-US" altLang="ko-KR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비율</m:t>
                        </m:r>
                        <m:r>
                          <a:rPr lang="en-US" altLang="ko-KR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</m:num>
                      <m:den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재가동</m:t>
                        </m:r>
                        <m:r>
                          <a:rPr lang="en-US" altLang="ko-KR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횟수</m:t>
                        </m:r>
                      </m:den>
                    </m:f>
                  </m:oMath>
                </a14:m>
                <a:endPara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978FC3B-E7DF-4A74-9507-CE444D2A6B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0931" y="1095823"/>
                <a:ext cx="2584362" cy="416461"/>
              </a:xfrm>
              <a:prstGeom prst="rect">
                <a:avLst/>
              </a:prstGeom>
              <a:blipFill>
                <a:blip r:embed="rId2"/>
                <a:stretch>
                  <a:fillRect b="-4412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42A7806E-1C8F-4C22-AB80-7F52021A1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83265"/>
              </p:ext>
            </p:extLst>
          </p:nvPr>
        </p:nvGraphicFramePr>
        <p:xfrm>
          <a:off x="618820" y="2317116"/>
          <a:ext cx="3100381" cy="1848000"/>
        </p:xfrm>
        <a:graphic>
          <a:graphicData uri="http://schemas.openxmlformats.org/drawingml/2006/table">
            <a:tbl>
              <a:tblPr/>
              <a:tblGrid>
                <a:gridCol w="571086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837295">
                  <a:extLst>
                    <a:ext uri="{9D8B030D-6E8A-4147-A177-3AD203B41FA5}">
                      <a16:colId xmlns:a16="http://schemas.microsoft.com/office/drawing/2014/main" val="2092513496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</a:tblGrid>
              <a:tr h="251798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GCLN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(8/30~10/16, 572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121920">
                <a:tc rowSpan="3"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MAEP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82758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184228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2.07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697679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 방향 시뮬레이션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상관계수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8724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목표온도 달성률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u="none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99.3%</a:t>
                      </a:r>
                      <a:endParaRPr lang="en-US" altLang="ko-KR" sz="1000" b="0" u="none" dirty="0">
                        <a:solidFill>
                          <a:srgbClr val="E2E8F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581767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24FF8490-7CBC-4C4B-9E19-F73AE0ACFB94}"/>
              </a:ext>
            </a:extLst>
          </p:cNvPr>
          <p:cNvSpPr/>
          <p:nvPr/>
        </p:nvSpPr>
        <p:spPr>
          <a:xfrm>
            <a:off x="541653" y="2063200"/>
            <a:ext cx="1544012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및 현장적용 결과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F565C32-4421-410B-8927-3B8C2C575518}"/>
              </a:ext>
            </a:extLst>
          </p:cNvPr>
          <p:cNvSpPr/>
          <p:nvPr/>
        </p:nvSpPr>
        <p:spPr>
          <a:xfrm>
            <a:off x="4054153" y="1971196"/>
            <a:ext cx="1866217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제어방향성 시뮬레이션 결과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DBBDB2E0-DC4F-44EF-A55F-0E86BB07F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948" y="2225112"/>
            <a:ext cx="3139793" cy="19400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5B31F59-A82D-0F68-21F6-C7FD21C6B6DC}"/>
              </a:ext>
            </a:extLst>
          </p:cNvPr>
          <p:cNvSpPr/>
          <p:nvPr/>
        </p:nvSpPr>
        <p:spPr>
          <a:xfrm>
            <a:off x="1210218" y="3200972"/>
            <a:ext cx="2508982" cy="96414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D97DC18-C1C0-E1C6-D4C2-D144811B8D2A}"/>
              </a:ext>
            </a:extLst>
          </p:cNvPr>
          <p:cNvSpPr/>
          <p:nvPr/>
        </p:nvSpPr>
        <p:spPr>
          <a:xfrm>
            <a:off x="1232974" y="4278891"/>
            <a:ext cx="3469219" cy="246221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내삽에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대한 성능은 떨어지지만</a:t>
            </a:r>
            <a:r>
              <a:rPr lang="en-US" altLang="ko-KR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실제 </a:t>
            </a:r>
            <a:r>
              <a:rPr lang="ko-KR" altLang="en-US" sz="1000" dirty="0" err="1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외삽에서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성능이 </a:t>
            </a:r>
            <a:r>
              <a:rPr lang="ko-KR" altLang="en-US" sz="1000" dirty="0" err="1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잘나옴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057E0A5-12D6-E2E1-B331-73B0EDB82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6436473"/>
            <a:ext cx="9906000" cy="421527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37A4F62E-FA5D-50F3-5849-3BD97B52AD12}"/>
              </a:ext>
            </a:extLst>
          </p:cNvPr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1ACA71-AD27-E82D-0F97-DCFB2906E735}"/>
              </a:ext>
            </a:extLst>
          </p:cNvPr>
          <p:cNvSpPr txBox="1"/>
          <p:nvPr/>
        </p:nvSpPr>
        <p:spPr>
          <a:xfrm>
            <a:off x="287526" y="499082"/>
            <a:ext cx="7588035" cy="461665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NND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Dryer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전극표면 온도관모형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(physics-informed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Model)</a:t>
            </a:r>
            <a:endParaRPr lang="ko-KR" altLang="en-US" sz="2400" b="1" dirty="0">
              <a:solidFill>
                <a:srgbClr val="ECF1F7"/>
              </a:solidFill>
              <a:latin typeface="Apple SD Gothic Ne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5A1739-E031-06E2-A39A-47FB5710A315}"/>
              </a:ext>
            </a:extLst>
          </p:cNvPr>
          <p:cNvSpPr txBox="1"/>
          <p:nvPr/>
        </p:nvSpPr>
        <p:spPr>
          <a:xfrm>
            <a:off x="384048" y="237744"/>
            <a:ext cx="9601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적용 사례</a:t>
            </a:r>
            <a:endParaRPr sz="11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1974027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8425</Words>
  <Application>Microsoft Office PowerPoint</Application>
  <PresentationFormat>와이드스크린</PresentationFormat>
  <Paragraphs>794</Paragraphs>
  <Slides>31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9" baseType="lpstr">
      <vt:lpstr>Apple SD Gothic Neo</vt:lpstr>
      <vt:lpstr>LG스마트체 Regular</vt:lpstr>
      <vt:lpstr>LG스마트체2.0 Regular</vt:lpstr>
      <vt:lpstr>Arial</vt:lpstr>
      <vt:lpstr>Arial Narrow</vt:lpstr>
      <vt:lpstr>Calibri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박진서(JINSEO PARK)[pjs1207]</dc:creator>
  <cp:keywords/>
  <dc:description>generated using python-pptx</dc:description>
  <cp:lastModifiedBy>박진서(JINSEO PARK)[pjs1207]/선임/AI/빅데이터2.Multimodal AI팀</cp:lastModifiedBy>
  <cp:revision>29</cp:revision>
  <dcterms:created xsi:type="dcterms:W3CDTF">2013-01-27T09:14:16Z</dcterms:created>
  <dcterms:modified xsi:type="dcterms:W3CDTF">2026-08-01T07:05:21Z</dcterms:modified>
  <cp:category/>
</cp:coreProperties>
</file>