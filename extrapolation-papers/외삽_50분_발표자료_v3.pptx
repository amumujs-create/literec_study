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 30초. 오늘 목표: 외삽이 왜 어려운지 → 어떻게 방어하는지 → 우리 N-CMAPSS 결과로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핵심 메시지: '잘 맞는 테스트'가 보간일 수 있다. 외삽은 별도 프로토콜이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30초. 시간 배분 고지. Part3가 가장 김. Part4에서 우리 실험 숫자.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Bartley 2019 인용. '테스트 잘 나옴'만으로는 외삽 성공 주장 불가.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그림 가리키며 훈련 범위/외삽 영역 구분. 차수 올릴수록 밖이 더 위험.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2.5분. Pfister: 가정 없으면 밖은 식별 불가. 물리 제약이 왜 등장하는지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X 표시가 외삽. N-CMAPSS의 TRA 축을 이 그림으로 비유.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외삽에서 variance(epistemic)가 지배. UQ 없이 점추정만 내는 건 위험.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점추정→분포 추정으로 업그레이드. Part5 필독과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Part1 마무리: 예측값 &lt; 불확실성. Q로 넘기기 전 한 줄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Part4 예고. OOD를 추상 개념이 아닌 TRA 숫자로 체감.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N-CMAPSS는 covariate(+concept) 혼합. Liu 2023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ERM vs worst-case. 수식은 직관만.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IRM 직관만. DomainBed로 바로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가장 중요한 슬라이드 중 하나. '새 방법' 주장 전 ERM 재검증.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Part2 마무리. 시계열 OOD → Part4 RUL.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2.5분. 발표 핵심 논문 #1. 그림/정리만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회색 띠=훈련 범위.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수식을 배우면 외삽이 '공짜'로 따라옴.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숫자 연산이 필요한 과제에.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Part4 isotonic과 직접 연결.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PINN 만능 아님. UQ 결합이 현실적.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Mono NN 하이라이트 → Part4로.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3층 방어 프레임 먼저.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2분. '어디까지를 test로 볼 것인가'가 외삽 연구의 출발점.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Dual path가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Part3 Mono NN과 동일 철학.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2.5분. 메인 결과. 한계(유닛 민감)도 솔직히.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1분. Part4 클로징.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1분. 흐름만.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읽을 순서만 찍어주기.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1.5분. 클로징 메시지.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github.com/amumujs-create/literec_study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21808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Apple SD Gothic Neo"/>
                <a:ea typeface="Apple SD Gothic Neo"/>
              </a:rPr>
              <a:t>논문 기반 심화 세미나  ·  50분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ple SD Gothic Neo"/>
                <a:ea typeface="Apple SD Gothic Neo"/>
              </a:rPr>
              <a:t>외삽 (Extrapolation)
완전 정복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기초 이론  ·  OOD 일반화  ·  신경망 외삽 방법론  ·  N-CMAPSS APEX-Guard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9AAABA"/>
                </a:solidFill>
                <a:latin typeface="Apple SD Gothic Neo"/>
                <a:ea typeface="Apple SD Gothic Neo"/>
              </a:rPr>
              <a:t>literec_study · 36편 논문  · 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들어가며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왜 외삽을 공부해야 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6576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73152" cy="40233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329184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01  데이터가 항상 불완전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실험 범위 밖 조건 예측이 일상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N-CMAPSS: 미경험 TRA에서 RUL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미래 cycle · 극한 운용점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6576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73152" cy="40233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36192"/>
            <a:ext cx="329184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02  ML의 근본 한계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대부분 모델은 in-distribution 전제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범위 밖 오차는 급격히 증가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테스트셋 ≠ 외삽 평가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6576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73152" cy="40233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36192"/>
            <a:ext cx="329184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03  산업 리스크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잘못된 외삽 → 안전·비용 사고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예측값보다 UQ가 중요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물리 제약·불변성이 방어막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Intro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50분 구성 (Q&amp;A 별도)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46052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3063240"/>
            <a:ext cx="112471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3639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Apple SD Gothic Neo"/>
                <a:ea typeface="Apple SD Gothic Neo"/>
              </a:rPr>
              <a:t>Part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13639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ple SD Gothic Neo"/>
                <a:ea typeface="Apple SD Gothic Neo"/>
              </a:rPr>
              <a:t>외삽 기초 이론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136392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보간 vs 외삽 · Convex Hull · Richardson · UQ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313639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5C26"/>
                </a:solidFill>
                <a:latin typeface="Apple SD Gothic Neo"/>
                <a:ea typeface="Apple SD Gothic Neo"/>
              </a:rPr>
              <a:t>11분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3592"/>
            <a:ext cx="112471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66744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Apple SD Gothic Neo"/>
                <a:ea typeface="Apple SD Gothic Neo"/>
              </a:rPr>
              <a:t>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66674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ple SD Gothic Neo"/>
                <a:ea typeface="Apple SD Gothic Neo"/>
              </a:rPr>
              <a:t>OOD 일반화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66744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분포 이동 · IRM · DomainBed · 인과 · 시계열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666744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5C26"/>
                </a:solidFill>
                <a:latin typeface="Apple SD Gothic Neo"/>
                <a:ea typeface="Apple SD Gothic Neo"/>
              </a:rPr>
              <a:t>11분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23944"/>
            <a:ext cx="112471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97096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Apple SD Gothic Neo"/>
                <a:ea typeface="Apple SD Gothic Neo"/>
              </a:rP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19709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ple SD Gothic Neo"/>
                <a:ea typeface="Apple SD Gothic Neo"/>
              </a:rPr>
              <a:t>신경망 외삽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197096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Xu · EQL · NALU · Monotonic · PINN · DeepONet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4197096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5C26"/>
                </a:solidFill>
                <a:latin typeface="Apple SD Gothic Neo"/>
                <a:ea typeface="Apple SD Gothic Neo"/>
              </a:rPr>
              <a:t>14분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54295"/>
            <a:ext cx="112471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27447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Apple SD Gothic Neo"/>
                <a:ea typeface="Apple SD Gothic Neo"/>
              </a:rPr>
              <a:t>Part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727447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ple SD Gothic Neo"/>
                <a:ea typeface="Apple SD Gothic Neo"/>
              </a:rPr>
              <a:t>N-CMAPSS 응용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727447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Strict TRA · APEX-Guard · CA-CSS ·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4727447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5C26"/>
                </a:solidFill>
                <a:latin typeface="Apple SD Gothic Neo"/>
                <a:ea typeface="Apple SD Gothic Neo"/>
              </a:rPr>
              <a:t>10분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84648"/>
            <a:ext cx="112471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257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Apple SD Gothic Neo"/>
                <a:ea typeface="Apple SD Gothic Neo"/>
              </a:rPr>
              <a:t>Part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2578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ple SD Gothic Neo"/>
                <a:ea typeface="Apple SD Gothic Neo"/>
              </a:rPr>
              <a:t>동향 &amp; 가이드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25780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타임라인 · 필독 논문 · 연구 적용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5257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C45C26"/>
                </a:solidFill>
                <a:latin typeface="Apple SD Gothic Neo"/>
                <a:ea typeface="Apple SD Gothic Neo"/>
              </a:rPr>
              <a:t>4분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3 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Apple SD Gothic Neo"/>
                <a:ea typeface="Apple SD Gothic Neo"/>
              </a:rPr>
              <a:t>PART 1  ·  11분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</a:rPr>
              <a:t>외삽이란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기초 이론 · Convex Hull · Richardson · 불확실성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AAA"/>
                </a:solidFill>
                <a:latin typeface="Apple SD Gothic Neo"/>
                <a:ea typeface="Apple SD Gothic Neo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1 · 기초 이론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보간(Interpolation) vs 외삽(Extrapolation)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73152" cy="420624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51206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보간 — Interpolation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훈련 데이터 범위(지지 집합) 내부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신뢰도 일반적으로 높음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오차 제어·교차검증 가능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대표: 표준 ML 테스트셋 평가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예: 같은 운용 조건의 중간값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73152" cy="420624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1206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외삽 — Extrapolation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훈련 지지 집합 밖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신뢰도 급감 · 오차 거리 비례 폭발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추가 가정(물리·단조성) 없으면 식별 불가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대표: OOD, 미래 예측, RUL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예: 고TRA holdout unit의 RUL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1 · 직전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다항식 피팅의 외삽 실패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poly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498079" cy="36625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32588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0" y="1325880"/>
            <a:ext cx="73152" cy="420624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490472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교훈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범위 [0,5] 안: 잘 맞음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x&gt;5: 오차 급발산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고차 다항 = 외삽에 취약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test∈hull → 보간 평가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N-CMAPSS도 동일 구조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Bartley 2019 · Tsai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1 · 수학적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볼록 껍질(Convex Hull)과 외삽 영역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2286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212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정의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x ∈ Conv(X_train) → 보간 영역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x ∉ Conv(X_train) → 외삽 영역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Pfister 2024: support 밖은 추가 가정 없이 추론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2286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5120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차원의 저주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d↑ → hull 부피 비율 급감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고차원: 테스트 대부분 외삽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예: (T, C-rate, SOC, DOD) 4D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79476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794760"/>
            <a:ext cx="73152" cy="2011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59352"/>
            <a:ext cx="52120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불확실성 폭발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인근 관측 없을수록 bounds 확장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기존 CI는 coverage 보장 상실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→ extrapolation-aware CI 필요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9476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794760"/>
            <a:ext cx="73152" cy="2011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59352"/>
            <a:ext cx="51206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물리 지식 = 외삽 가정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단조성 · PDE · smoothness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가정이 hull을 '논리적으로' 확장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도메인 지식이 최고의 외삽 도구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1 ·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2D Convex Hull로 보간/외삽 구분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nvex_h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589520" cy="37071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325880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325880"/>
            <a:ext cx="73152" cy="420624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490472"/>
            <a:ext cx="3108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실무 체크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hull 안: 비교적 안전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hull 밖: epistemic UQ↑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d&gt;10: 대부분 외삽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대책: 물리 제약 주입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또는 외삽축만 따로 설계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Bartley · Pfister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8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1 · 오차 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외삽 오차는 왜 폭발하는가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오차 요인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80160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53312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보간 영역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353312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외삽 영역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1280160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353312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대책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92024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ple SD Gothic Neo"/>
                <a:ea typeface="Apple SD Gothic Neo"/>
              </a:rPr>
              <a:t>편향 (Bias)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92024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19456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복잡도 제어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92024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19456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가정 위반 시 누적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92024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19456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물리·smooth 가정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97180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4612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ple SD Gothic Neo"/>
                <a:ea typeface="Apple SD Gothic Neo"/>
              </a:rPr>
              <a:t>분산 (Variance)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97180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24612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인근 데이터 많음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97180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24612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관측 없음 → 급증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59" y="297180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324612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extrap-aware CI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02336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29768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ple SD Gothic Neo"/>
                <a:ea typeface="Apple SD Gothic Neo"/>
              </a:rPr>
              <a:t>노이즈 σ²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402336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429768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분리 측정 가능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02336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29768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epistemic에 혼재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59" y="402336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429768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Bayesian UQ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1 · 수치해석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Richardson 외삽 → Probabilistic Richardson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2120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고전 Richardson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A(h)=A* + c·h^p + O(h^(p+1))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두 step h1,h2로 A* 추정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수치 미분·적분·PDE 수렴값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점추정만 — 불확실성 없음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공학에서 오랜 표준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51206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Probabilistic (Teckentrup 2024)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Richardson + GP prior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사후분포 · 신뢰구간 제공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수치해석 × Bayesian 융합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공학 외삽의 안전장치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JRSS-B · 필독 ★★☆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1 · UQ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불확실성 정량화 — 외삽에서 왜 필수인가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6B7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Aleatoric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데이터 자체의 노이즈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데이터↑로도 안 사라짐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예: 센서 오차, 공정 변동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73152" cy="4297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Epistemic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모델 지식 부족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데이터↑로 줄일 수 있음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외삽 영역에서 급증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핵심: 얼마나 틀릴 수 있나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외삽 UQ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epistemic 지배 + aleatoric 혼재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기존 CI coverage 붕괴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bounds + CI 결합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Ghahramani 2013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Pfister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Apple SD Gothic Neo"/>
                <a:ea typeface="Apple SD Gothic Neo"/>
              </a:rPr>
              <a:t>PART 2  ·  11분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</a:rPr>
              <a:t>OOD 일반화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분포 이동 · IRM · DomainBed · 인과 · 시계열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AAA"/>
                </a:solidFill>
                <a:latin typeface="Apple SD Gothic Neo"/>
                <a:ea typeface="Apple SD Gothic Neo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2 · 실전 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미경험 TRA 조건 = 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설정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Train: 저TRA (≤q70)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Test: 고TRA holdout (&gt;q90)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Unit holdout: 10, 20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Late band: RUL≤50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73152" cy="4297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실패 모드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ERM → 저TRA overfit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고TRA에서 급락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전이 window가 RMSE 오염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→ strict 프로토콜 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방어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CA-CSS 제약 학습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Isotonic 단조 후처리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ERM baseline 항상 비교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DomainBed 교훈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2 ·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분포 이동(Distribution Shift) 유형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27889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73152" cy="41148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2423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Covariate Shift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P(X)↑  P(Y|X) 동일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다른 장비 의료영상 · 고TRA 센서 분포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25880"/>
            <a:ext cx="27889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325880"/>
            <a:ext cx="73152" cy="4114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90472"/>
            <a:ext cx="2423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Label Shift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P(Y)↑  P(X|Y) 동일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클래스 비율 변화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27889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73152" cy="41148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90472"/>
            <a:ext cx="2423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Concept Drift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P(Y|X) 자체 변화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시간 경과 열화 법칙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325880"/>
            <a:ext cx="27889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9720" y="1325880"/>
            <a:ext cx="73152" cy="4114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490472"/>
            <a:ext cx="2423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Domain Shift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생성과정 전체 변화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시뮬→실기 전이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2 ·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OOD 일반화의 공식 목표 (Ye et al., 2021)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11338560" cy="16459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</a:rPr>
              <a:t>min_h   max_{e ∈ E_all}   R^e(h)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B8C4D0"/>
                </a:solidFill>
                <a:latin typeface="Apple SD Gothic Neo"/>
                <a:ea typeface="Apple SD Gothic Neo"/>
              </a:rPr>
              <a:t>훈련 환경 E_train에서 학습 → 미지 e_test에서도 낮은 리스크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29184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3291840"/>
            <a:ext cx="73152" cy="24688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51206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표준 ERM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min 평균_{e∈E_train} R^e(h)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훈련 분포 평균에 overfit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OOD에서 깨지기 쉬움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291840"/>
            <a:ext cx="73152" cy="24688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56432"/>
            <a:ext cx="51206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OOD 목표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min 최악 환경 리스크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robust / invariant 학습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Ye 2021 · Arjovsky 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2 · 알고리즘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Invariant Risk Minimization (IRM)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2120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핵심 아이디어 (Arjovsky)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모든 환경에서 동시에 최적인 w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그런 w를 유도하는 표현 Φ 학습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IRMv1: R + λ‖∇_{w=1} R‖²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Colored MNIST: 색 함정 vs 숫자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환경 정의가 애매하면 약해짐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51206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비교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ERM — 평균 리스크, 단순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IRM — 불변 특징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GroupDRO — 최악 그룹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Causal ML — 진짜 원인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실무: ERM baseline 먼저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2 · 벤치마크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DomainBed — 충격적인 재평가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공정한 HP 탐색 하에서 ERM ≥ 대부분의 OOD 알고리즘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Gulrajani &amp; Lopez-Paz (2020) · ICML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01752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3017520"/>
            <a:ext cx="73152" cy="27432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82112"/>
            <a:ext cx="32918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모델 선택이 핵심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성능 차의 상당 부분 = HP·선택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알고리즘 자체보다 튜닝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01752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3017520"/>
            <a:ext cx="73152" cy="27432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182112"/>
            <a:ext cx="32918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공정 비교 체크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① ERM baseline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② 동일 HP budget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③ 동일 capacity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④ target val 전략 명시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01752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017520"/>
            <a:ext cx="73152" cy="27432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182112"/>
            <a:ext cx="32918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우리 실험에 적용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strict_late에서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TabPFN·XGB·TF·TCN 동시 비교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유닛 바꾸면 순위 뒤집힘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2 · 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인과적 OOD · 시계열 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통계적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상관 최대화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데이터↑ · 정규화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허위상관에 취약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불변성 / 인과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IRM · GroupDRO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SCM · 진짜 원인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개입에도 강건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73152" cy="4297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시계열 OOD (Wu 2025)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① 시간적 분포 이동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② 주기적 분포 이동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RUL = 둘 다 해당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충방전/비행 주기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Apple SD Gothic Neo"/>
                <a:ea typeface="Apple SD Gothic Neo"/>
              </a:rPr>
              <a:t>PART 3  ·  14분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</a:rPr>
              <a:t>신경망 외삽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왜 실패하는가 · EQL · NALU · Monotonic · PINN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AAA"/>
                </a:solidFill>
                <a:latin typeface="Apple SD Gothic Neo"/>
                <a:ea typeface="Apple SD Gothic Neo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3 · Xu et al. (2021)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신경망은 왜 외삽에 실패하는가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관측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훈련 밖: 평면/직선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ReLU MLP의 전형 패턴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ICLR 2021 바이블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Theorem 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방향 v로 O(1/t) affine 수렴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마지막 활성 선형구간 연장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Appendix: R²&gt;0.99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73152" cy="4297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함의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비선형 타깃 외삽 실패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활성화 = 외삽 가정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구조 없이 '학습만'으론 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3 · 활성화 함수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활성화 선택이 곧 외삽 가정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155680" cy="40525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4572000"/>
            <a:ext cx="11338560" cy="128016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0B1F3A"/>
                </a:solidFill>
                <a:latin typeface="Apple SD Gothic Neo"/>
                <a:ea typeface="Apple SD Gothic Neo"/>
              </a:rPr>
              <a:t>ReLU: 방향별 조각 선형  ·  Tanh/Sigmoid: 상수 포화(회귀 치명)  ·  Sin: 주기 반복(물리엔 유용/과적합 위험)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Xu et al. §3.3 — 활성화 함수를 고르는 순간, 범위 밖 거동을 이미 선택한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3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EQL — Equation Learner (Martius &amp; Lampert, 2016)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2120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아이디어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뉴런 = {sin, cos, ×, ÷, id, σ}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학습 결과 = 해석 가능한 수식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진짜 sin을 배우면 밖에서도 sin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MLP는 조각선형 근사 → 발산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소량 데이터 · 물리 관계 발견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51206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적용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Symbolic regression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전기화학 관계 모델링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센서 곡선 외삽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해석 가능성이 최우선일 때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arxiv:1610.02995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3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NALU — Neural Arithmetic Logic Units (Trask 2018)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2120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구조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NAC: W=tanh(Ŵ)⊙σ(M̂) → +/−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NALU: g·NAC + (1−g)·exp(NAC(log|x|))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× ÷ 까지 명시적 학습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카운팅·누적합 외삽 특화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51206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벤치마크 요지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덧셈/뺄셈: MLP 대비 대폭 향상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훈련범위 5× 밖에서도 유지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체계적 수치 외삽 가능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arxiv:1808.00508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3 · 제약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단조 제약 신경망 (Monotonic NN)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왜?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공학 관계에 단조성 흔함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제약을 강제 → 밖에서도 타당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SOC↑ → OCV↑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cycle↑ → RUL↓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방법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Weight clipping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Certified MNN (Liu 2022)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CMNN (Runje 2023)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Min-Max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우리 연결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APEX-Guard isotonic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cycle_mono hinge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H1 위반 28%→0%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물리 제약 = 외삽 가드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3 · 물리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PINN — 가능성과 실패 (Fesser 2023)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2120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PINN (Raissi 2019)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L = L_data + λ L_physics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L_physics = ‖N[u]‖² (PDE 잔차)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데이터 희소 영역도 물리 일관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전기화학·열전달에 매력적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4297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51206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왜 그래도 실패하나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Spectral bias (저주파 우선)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경계 손실 가중 불균형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외삽 방향 훈련점 희박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DeepONet+UQ (Zhu 2022)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신뢰도 낮으면 경고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3 · 종합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외삽 방법론 한눈에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2194560" cy="411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</a:rPr>
              <a:t>방법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234440"/>
            <a:ext cx="2194560" cy="411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2801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</a:rPr>
              <a:t>원리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234440"/>
            <a:ext cx="2194560" cy="411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2801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</a:rPr>
              <a:t>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234440"/>
            <a:ext cx="2194560" cy="411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2801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</a:rPr>
              <a:t>해석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234440"/>
            <a:ext cx="2194560" cy="411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12801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</a:rPr>
              <a:t>공학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6916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8013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</a:rPr>
              <a:t>MLP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16916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18013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경험 근사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16916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18013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대량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16916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18013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낮음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6916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18013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기준선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28600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3957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</a:rPr>
              <a:t>EQL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228600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23957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수식 발견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228600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23957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소량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228600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23957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매우 높음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228600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5480" y="23957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물리 관계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288036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9900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</a:rPr>
              <a:t>NALU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51760" y="288036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29900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수치 연산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37760" y="288036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29900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중간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288036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9480" y="29900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중간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60" y="288036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29900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카운팅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47472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1A7A6D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584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</a:rPr>
              <a:t>Mono NN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51760" y="347472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97480" y="3584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단조 제약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37760" y="347472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83480" y="3584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중간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23760" y="347472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9480" y="3584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높음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09760" y="347472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5480" y="3584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SOC/RUL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5760" y="40690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17880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</a:rPr>
              <a:t>PINN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51760" y="40690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97480" y="417880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PDE 내재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37760" y="40690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3480" y="417880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소량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23760" y="40690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69480" y="417880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높음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09760" y="40690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55480" y="417880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전기화학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" y="46634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47731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</a:rPr>
              <a:t>IRM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651760" y="46634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97480" y="47731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불변 특징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937760" y="46634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83480" y="47731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다환경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23760" y="46634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69480" y="47731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낮음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509760" y="466344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55480" y="47731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도메인이동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5760" y="525780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53675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</a:rPr>
              <a:t>DeepONet+UQ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651760" y="525780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97480" y="53675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연산자+UQ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937760" y="525780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83480" y="53675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많음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223760" y="525780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69480" y="53675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중간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509760" y="525780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55480" y="53675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ple SD Gothic Neo"/>
                <a:ea typeface="Apple SD Gothic Neo"/>
              </a:rPr>
              <a:t>다물리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Apple SD Gothic Neo"/>
                <a:ea typeface="Apple SD Gothic Neo"/>
              </a:rPr>
              <a:t>PART 4  ·  10분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</a:rPr>
              <a:t>N-CMAPSS 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Strict TRA · APEX-Guard · CA-CSS · 실험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AAA"/>
                </a:solidFill>
                <a:latin typeface="Apple SD Gothic Neo"/>
                <a:ea typeface="Apple SD Gothic Neo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4 ·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APEX-Guard — 외삽을 설계한 RUL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11338560" cy="10972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</a:rPr>
              <a:t>Adaptive Physics EXtrapolation Guard  ·  외삽은 피할 수 없다 → 설계로 방어한다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651760"/>
            <a:ext cx="36576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651760"/>
            <a:ext cx="73152" cy="31089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32918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L1 평가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strict_late 프로토콜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순수 외삽만 측정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전이 window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651760"/>
            <a:ext cx="36576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2651760"/>
            <a:ext cx="73152" cy="31089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816352"/>
            <a:ext cx="32918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L2 학습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CA-CSS 제약 발견·컴파일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TRA(−) + cycle_mono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hull을 논리적으로 확장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651760"/>
            <a:ext cx="36576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2651760"/>
            <a:ext cx="73152" cy="3108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816352"/>
            <a:ext cx="32918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L3 추론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unit별 isotonic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H1 위반 → 0%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단조 RUL 궤적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4 · 프로토콜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Strict TRA Extrap — 3겹으로 강제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① TRA shift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저TRA train → 고TRA test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covariate shift 직접 검증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tra_end&gt;q90 · high_frac≥0.7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② Unit holdout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test units: 10, 20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엔진 간 일반화 분리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tra_rich 선정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73152" cy="4297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③ Late-life band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RUL≤50만 측정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전이 window RMSE 오염 차단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strict_late n=201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4 ·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v4_disentangled — Dual Encoder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24231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입력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OC-Norm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운용점 편차 분리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cycle channel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444752"/>
            <a:ext cx="24231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Health Enc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TRA=0 masking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열화 패턴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 overfit 방지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280160"/>
            <a:ext cx="27889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80160"/>
            <a:ext cx="73152" cy="4297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44752"/>
            <a:ext cx="24231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Load Enc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TRA, φ, T30, cycle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외삽 축 전담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280160"/>
            <a:ext cx="2468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444752"/>
            <a:ext cx="21031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RUL 분해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RUL=health−damage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w≥0 제약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d=64, L=2, ep=15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4 ·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CA-CSS + Isotonic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CA-CSS 파이프라인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Discovery → Pseudo-extrap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→ Compile → Train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train-band만 (leakage 방지)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TRA(−) λ=0.05 adopt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cycle_mono adopt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손실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L = L_RUL + L_physics + L_TRA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TRA(−) hinge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cycle_mono hinge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물리 감독 = 외삽 가드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73152" cy="4297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Isotonic 후처리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unit별 cycle 정렬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decreasing isotonic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H1: 28% → 0%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단조 궤적 보장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4 ·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strict_late 검증 (tra_rich · seed=42)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strict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132320" cy="3434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280160"/>
            <a:ext cx="40233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444752"/>
            <a:ext cx="36576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숫자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APEX-Guard RMSE 3.26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TabPFN 3.80 · R² 0.927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Transformer 7.31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TCN 14.09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주의: nasa_drop14면 순위 뒤집힘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→ multi-seed · unit 규칙 명시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4 · 교훈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설계 → 성능으로 이어지는 한 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11338560" cy="40233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4241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외삽을 '우연히' 잘하길 바라지 말고
평가(L1) · 제약(L2) · 단조(L3)를 설계하라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3D4A56"/>
                </a:solidFill>
                <a:latin typeface="Apple SD Gothic Neo"/>
                <a:ea typeface="Apple SD Gothic Neo"/>
              </a:rPr>
              <a:t/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이론(Xu · DomainBed · Monotonic) → 프로토콜(strict_late) → 모델(APEX-Guard)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Apple SD Gothic Neo"/>
                <a:ea typeface="Apple SD Gothic Neo"/>
              </a:rPr>
              <a:t>PART 5  ·  4분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</a:rPr>
              <a:t>연구 동향 &amp; 논문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30년 타임라인 · 필독 · 연구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AAA"/>
                </a:solidFill>
                <a:latin typeface="Apple SD Gothic Neo"/>
                <a:ea typeface="Apple SD Gothic Neo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5 · 타임라인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외삽 연구 30년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18288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1828800" cy="5029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019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1990s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6459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Vapnik · VC
보간 이론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1828800"/>
            <a:ext cx="18288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828800"/>
            <a:ext cx="18288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9019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2000s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560320"/>
            <a:ext cx="16459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GP · Covariate
Shift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18288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1828800" cy="5029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9019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2016-19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60320"/>
            <a:ext cx="16459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EQL · NALU
IRM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18288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18288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9019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2020-21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60320"/>
            <a:ext cx="16459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DomainBed
Xu · PINN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828800"/>
            <a:ext cx="18288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828800"/>
            <a:ext cx="1828800" cy="5029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019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2022-23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60320"/>
            <a:ext cx="16459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CMNN
DeepONet+UQ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1828800"/>
            <a:ext cx="18288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95560" y="1828800"/>
            <a:ext cx="18288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19019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2024-25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2560320"/>
            <a:ext cx="16459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Pfister
Prob.Richardson
Wu 시계열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5 · 필독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우선순위 가이드 (레포 PDF 동봉)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3152" cy="4297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★★★ 필수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Xu 2021 — NN 외삽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Gulrajani 2020 — DomainBed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Liu 2023 — OOD Survey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★★☆ 방법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Trask 2018 NALU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Runje 2023 CMNN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Fesser 2023 PINN 실패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Teckentrup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73152" cy="42976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44752"/>
            <a:ext cx="3291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ple SD Gothic Neo"/>
                <a:ea typeface="Apple SD Gothic Neo"/>
              </a:rPr>
              <a:t>★☆☆ 응용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Aykol 2021 Battery+Phys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Li 2023 Lifetime OOD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Wu 2025 시계열 OOD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•  총 36편 / extrapolation-papers/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PART 5 ·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연구에 바로 붙이는 매핑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703320" cy="457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문제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80160"/>
            <a:ext cx="3703320" cy="457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353312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추천 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280160"/>
            <a:ext cx="3703320" cy="457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353312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논문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82880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84832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ple SD Gothic Neo"/>
                <a:ea typeface="Apple SD Gothic Neo"/>
              </a:rPr>
              <a:t>단조 관계 외삽 (SOC-OCV, RUL)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82880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084832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B1F3A"/>
                </a:solidFill>
                <a:latin typeface="Apple SD Gothic Neo"/>
                <a:ea typeface="Apple SD Gothic Neo"/>
              </a:rPr>
              <a:t>Monotonic NN + isotonic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084832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B1F3A"/>
                </a:solidFill>
                <a:latin typeface="Apple SD Gothic Neo"/>
                <a:ea typeface="Apple SD Gothic Neo"/>
              </a:rPr>
              <a:t>Runje 2023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78892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44952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ple SD Gothic Neo"/>
                <a:ea typeface="Apple SD Gothic Neo"/>
              </a:rPr>
              <a:t>조건 OOD (고TRA)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78892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044952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B1F3A"/>
                </a:solidFill>
                <a:latin typeface="Apple SD Gothic Neo"/>
                <a:ea typeface="Apple SD Gothic Neo"/>
              </a:rPr>
              <a:t>제약 학습 + ERM 비교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78892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3044952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B1F3A"/>
                </a:solidFill>
                <a:latin typeface="Apple SD Gothic Neo"/>
                <a:ea typeface="Apple SD Gothic Neo"/>
              </a:rPr>
              <a:t>Liu · Gulrajani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749039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05071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ple SD Gothic Neo"/>
                <a:ea typeface="Apple SD Gothic Neo"/>
              </a:rPr>
              <a:t>물리 PDE 영역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749039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005071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B1F3A"/>
                </a:solidFill>
                <a:latin typeface="Apple SD Gothic Neo"/>
                <a:ea typeface="Apple SD Gothic Neo"/>
              </a:rPr>
              <a:t>PINN + UQ (DeepONet)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3749039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4005071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B1F3A"/>
                </a:solidFill>
                <a:latin typeface="Apple SD Gothic Neo"/>
                <a:ea typeface="Apple SD Gothic Neo"/>
              </a:rPr>
              <a:t>Fesser · Zhu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70916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965192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ple SD Gothic Neo"/>
                <a:ea typeface="Apple SD Gothic Neo"/>
              </a:rPr>
              <a:t>소량·해석 필요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470916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4965192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B1F3A"/>
                </a:solidFill>
                <a:latin typeface="Apple SD Gothic Neo"/>
                <a:ea typeface="Apple SD Gothic Neo"/>
              </a:rPr>
              <a:t>EQL + Bayesian UQ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470916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965192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0B1F3A"/>
                </a:solidFill>
                <a:latin typeface="Apple SD Gothic Neo"/>
                <a:ea typeface="Apple SD Gothic Neo"/>
              </a:rPr>
              <a:t>Martius · Teckentrup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·  Part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핵심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외삽을 정복하는 4가지 열쇠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78892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81328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01  이론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24231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3D4A56"/>
                </a:solidFill>
                <a:latin typeface="Apple SD Gothic Neo"/>
                <a:ea typeface="Apple SD Gothic Neo"/>
              </a:rPr>
              <a:t>보간 ≠ 외삽
support 밖은 가정 없으면 식별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788920" cy="6400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81328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02  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24231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3D4A56"/>
                </a:solidFill>
                <a:latin typeface="Apple SD Gothic Neo"/>
                <a:ea typeface="Apple SD Gothic Neo"/>
              </a:rPr>
              <a:t>ERM 실패 가능
DomainBed로 재검증 필수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2788920" cy="6400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481328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03 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24231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3D4A56"/>
                </a:solidFill>
                <a:latin typeface="Apple SD Gothic Neo"/>
                <a:ea typeface="Apple SD Gothic Neo"/>
              </a:rPr>
              <a:t>물리·단조 제약이
최고의 외삽 도구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37160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2788920" cy="64008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481328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04  UQ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377440"/>
            <a:ext cx="24231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3D4A56"/>
                </a:solidFill>
                <a:latin typeface="Apple SD Gothic Neo"/>
                <a:ea typeface="Apple SD Gothic Neo"/>
              </a:rPr>
              <a:t>예측값보다
얼마나 틀릴 수 있는가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A7A6D"/>
                </a:solidFill>
                <a:latin typeface="Apple SD Gothic Neo"/>
                <a:ea typeface="Apple SD Gothic Neo"/>
              </a:rPr>
              <a:t>최종 조언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</a:rPr>
              <a:t>외삽을 풀 때 가장 할 일:
어떤 물리적·수학적 불변성이 존재하는가?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단조성 · PDE · 보존법칙 — 있다면 그것이 최고의 외삽 도구다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7A6D"/>
                </a:solidFill>
                <a:latin typeface="Apple SD Gothic Neo"/>
                <a:ea typeface="Apple SD Gothic Neo"/>
              </a:rPr>
              <a:t>참고문헌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ple SD Gothic Neo"/>
                <a:ea typeface="Apple SD Gothic Neo"/>
              </a:rPr>
              <a:t>주요 논문 (전체 PDF는 literec_study/extrapolation-papers)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11338560" cy="1905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556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Xu et al. (2021) How Neural Networks Extrapolate — arxiv:2009.11848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Gulrajani &amp; Lopez-Paz (2020) In Search of Lost Domain Generalization — arxiv:2007.01434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Liu et al. (2023) Towards OOD Generalization: A Survey — arxiv:2108.13624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Arjovsky (2021) OOD Generalization in ML — arxiv:2103.02667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Martius &amp; Lampert (2016) Extrapolation and Learning Equations — arxiv:1610.02995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Trask et al. (2018) Neural Arithmetic Logic Units — arxiv:1808.00508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Runje &amp; Shankaranarayana (2023) Constrained Monotonic NN — arxiv:2205.11775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Fesser et al. (2023) Extrapolation Failures in PINNs — arxiv:2306.09478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Teckentrup et al. (2024) Probabilistic Richardson Extrapolation — JRSS-B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Wu et al. (2025) OOD Generalization in Time Series — arxiv:2503.13868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Zhu et al. (2022) Reliable Extrapolation with DeepONet — arxiv:2212.06347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3D4A56"/>
                </a:solidFill>
                <a:latin typeface="Apple SD Gothic Neo"/>
                <a:ea typeface="Apple SD Gothic Neo"/>
              </a:rPr>
              <a:t>Pfister &amp; Bühlmann (2024) Extrapolation-Aware Nonparametric Inference — arxiv:2402.09758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외삽 완전 정복  ·  Kookmin Univ. IE Lab  ·  2026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2"/>
                </a:solidFill>
                <a:latin typeface="Apple SD Gothic Neo"/>
                <a:ea typeface="Apple SD Gothic Neo"/>
              </a:rPr>
              <a:t>40 /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