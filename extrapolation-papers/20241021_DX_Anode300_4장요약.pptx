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460036"/>
            <a:ext cx="11814759" cy="3437543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1/4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과제·EDA  ·  Pain → Case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 DX 과제완료 · GM1 음극 300mm/s · 빅데이터분석1팀 · slide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63500" wrap="square"/>
          <a:lstStyle/>
          <a:p>
            <a:pPr algn="ctr"/>
            <a:r>
              <a:rPr sz="1400" b="1">
                <a:solidFill>
                  <a:srgbClr val="7DD3FC"/>
                </a:solidFill>
                <a:latin typeface="맑은 고딕"/>
              </a:rPr>
              <a:t>핵심  Target-In 3.78% — 1000속 Feature가 300속에도 유효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맑은 고딕"/>
              </a:rPr>
              <a:t>  ·  OUT Zone 110±10°C · Case 2(PLC 수정 없음)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맑은 고딕"/>
              </a:rPr>
              <a:t>  ·  300속 OUT ~17.7s · Feature 7개</a:t>
            </a:r>
          </a:p>
        </p:txBody>
      </p:sp>
      <p:pic>
        <p:nvPicPr>
          <p:cNvPr id="9" name="Picture 8" descr="01_ed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472736"/>
            <a:ext cx="11789359" cy="34121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원본 Figure · 01_eda_scatter.png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108708"/>
            <a:ext cx="9989576" cy="414020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2/4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GCLN  ·  dual-DNN · 5-loss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 DX 과제완료 · GM1 음극 300mm/s · 빅데이터분석1팀 · slide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63500" wrap="square"/>
          <a:lstStyle/>
          <a:p>
            <a:pPr algn="ctr"/>
            <a:r>
              <a:rPr sz="1400" b="1">
                <a:solidFill>
                  <a:srgbClr val="7DD3FC"/>
                </a:solidFill>
                <a:latin typeface="맑은 고딕"/>
              </a:rPr>
              <a:t>핵심  출력 DNN ⇄ 온도 DNN — MAPE ≠ KPI 문제 해결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맑은 고딕"/>
              </a:rPr>
              <a:t>  ·  방향성 + 시뮬 Loss · FC 5×100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맑은 고딕"/>
              </a:rPr>
              <a:t>  ·  추론: 출력 모형만 사용</a:t>
            </a:r>
          </a:p>
        </p:txBody>
      </p:sp>
      <p:pic>
        <p:nvPicPr>
          <p:cNvPr id="9" name="Picture 8" descr="02_gcln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121408"/>
            <a:ext cx="9964176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원본 Figure · 02_gcln_structure.png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108708"/>
            <a:ext cx="7414530" cy="414020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3/4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현장 성과  ·  DX 인증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 DX 과제완료 · GM1 음극 300mm/s · 빅데이터분석1팀 · slide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63500" wrap="square"/>
          <a:lstStyle/>
          <a:p>
            <a:pPr algn="ctr"/>
            <a:r>
              <a:rPr sz="1400" b="1">
                <a:solidFill>
                  <a:srgbClr val="7DD3FC"/>
                </a:solidFill>
                <a:latin typeface="맑은 고딕"/>
              </a:rPr>
              <a:t>핵심  50일 현장 · Target-In 99.3%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맑은 고딕"/>
              </a:rPr>
              <a:t>  ·  3.78% → 99.3%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맑은 고딕"/>
              </a:rPr>
              <a:t>  ·  PLC–PC · 시뮬 선행 검증</a:t>
            </a:r>
          </a:p>
        </p:txBody>
      </p:sp>
      <p:pic>
        <p:nvPicPr>
          <p:cNvPr id="9" name="Picture 8" descr="03_field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121408"/>
            <a:ext cx="738913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원본 Figure · 03_field_result.png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2108708"/>
            <a:ext cx="7438703" cy="4140200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4/4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Takeaway  ·  Before →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20241021 DX 과제완료 · GM1 음극 300mm/s · 빅데이터분석1팀 · slide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63500" wrap="square"/>
          <a:lstStyle/>
          <a:p>
            <a:pPr algn="ctr"/>
            <a:r>
              <a:rPr sz="1400" b="1">
                <a:solidFill>
                  <a:srgbClr val="7DD3FC"/>
                </a:solidFill>
                <a:latin typeface="맑은 고딕"/>
              </a:rPr>
              <a:t>핵심  상용 회귀 한계 극복 · 800mm/s·GM2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맑은 고딕"/>
              </a:rPr>
              <a:t>  ·  MAPE ↓ ≠ Target-In ↑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200" b="0">
                <a:solidFill>
                  <a:srgbClr val="E2E8F0"/>
                </a:solidFill>
                <a:latin typeface="맑은 고딕"/>
              </a:rPr>
              <a:t>  ·  GCLN으로 KPI 정합</a:t>
            </a:r>
          </a:p>
        </p:txBody>
      </p:sp>
      <p:pic>
        <p:nvPicPr>
          <p:cNvPr id="9" name="Picture 8" descr="04_model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2121408"/>
            <a:ext cx="7413303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원본 Figure · 04_model_eval.png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